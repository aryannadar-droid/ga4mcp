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345" r:id="rId52"/>
    <p:sldId id="308" r:id="rId61"/>
    <p:sldId id="309" r:id="rId62"/>
    <p:sldId id="258" r:id="rId9"/>
    <p:sldId id="317" r:id="rId70"/>
    <p:sldId id="318" r:id="rId71"/>
    <p:sldId id="346" r:id="rId98"/>
    <p:sldId id="310" r:id="rId63"/>
    <p:sldId id="319" r:id="rId72"/>
    <p:sldId id="257" r:id="rId8"/>
    <p:sldId id="320" r:id="rId73"/>
    <p:sldId id="311" r:id="rId64"/>
    <p:sldId id="347" r:id="rId99"/>
    <p:sldId id="264" r:id="rId15"/>
    <p:sldId id="321" r:id="rId74"/>
    <p:sldId id="322" r:id="rId75"/>
    <p:sldId id="261" r:id="rId12"/>
    <p:sldId id="267" r:id="rId18"/>
    <p:sldId id="323" r:id="rId76"/>
    <p:sldId id="262" r:id="rId13"/>
    <p:sldId id="271" r:id="rId22"/>
    <p:sldId id="324" r:id="rId77"/>
    <p:sldId id="325" r:id="rId78"/>
    <p:sldId id="272" r:id="rId23"/>
    <p:sldId id="273" r:id="rId24"/>
    <p:sldId id="274" r:id="rId25"/>
    <p:sldId id="326" r:id="rId79"/>
    <p:sldId id="278" r:id="rId29"/>
    <p:sldId id="327" r:id="rId80"/>
    <p:sldId id="328" r:id="rId81"/>
    <p:sldId id="329" r:id="rId82"/>
    <p:sldId id="279" r:id="rId30"/>
    <p:sldId id="280" r:id="rId31"/>
    <p:sldId id="281" r:id="rId32"/>
    <p:sldId id="282" r:id="rId33"/>
    <p:sldId id="294" r:id="rId45"/>
    <p:sldId id="330" r:id="rId83"/>
    <p:sldId id="331" r:id="rId84"/>
    <p:sldId id="295" r:id="rId46"/>
    <p:sldId id="296" r:id="rId47"/>
    <p:sldId id="297" r:id="rId48"/>
    <p:sldId id="298" r:id="rId49"/>
    <p:sldId id="285" r:id="rId36"/>
    <p:sldId id="332" r:id="rId85"/>
    <p:sldId id="333" r:id="rId86"/>
    <p:sldId id="286" r:id="rId37"/>
    <p:sldId id="287" r:id="rId38"/>
    <p:sldId id="288" r:id="rId39"/>
    <p:sldId id="312" r:id="rId65"/>
    <p:sldId id="259" r:id="rId10"/>
    <p:sldId id="334" r:id="rId87"/>
    <p:sldId id="335" r:id="rId88"/>
    <p:sldId id="313" r:id="rId66"/>
    <p:sldId id="302" r:id="rId53"/>
    <p:sldId id="303" r:id="rId54"/>
    <p:sldId id="304" r:id="rId55"/>
    <p:sldId id="305" r:id="rId56"/>
    <p:sldId id="306" r:id="rId57"/>
    <p:sldId id="307" r:id="rId58"/>
    <p:sldId id="348" r:id="rId100"/>
    <p:sldId id="314" r:id="rId67"/>
    <p:sldId id="260" r:id="rId11"/>
    <p:sldId id="336" r:id="rId89"/>
    <p:sldId id="268" r:id="rId19"/>
    <p:sldId id="270" r:id="rId21"/>
    <p:sldId id="337" r:id="rId90"/>
    <p:sldId id="275" r:id="rId26"/>
    <p:sldId id="276" r:id="rId27"/>
    <p:sldId id="277" r:id="rId28"/>
    <p:sldId id="338" r:id="rId91"/>
    <p:sldId id="283" r:id="rId34"/>
    <p:sldId id="284" r:id="rId35"/>
    <p:sldId id="339" r:id="rId92"/>
    <p:sldId id="299" r:id="rId50"/>
    <p:sldId id="300" r:id="rId51"/>
    <p:sldId id="340" r:id="rId93"/>
    <p:sldId id="292" r:id="rId43"/>
    <p:sldId id="293" r:id="rId44"/>
    <p:sldId id="290" r:id="rId41"/>
    <p:sldId id="291" r:id="rId42"/>
    <p:sldId id="315" r:id="rId68"/>
    <p:sldId id="263" r:id="rId14"/>
    <p:sldId id="341" r:id="rId94"/>
    <p:sldId id="342" r:id="rId95"/>
    <p:sldId id="343" r:id="rId96"/>
    <p:sldId id="344" r:id="rId97"/>
    <p:sldId id="349" r:id="rId101"/>
    <p:sldId id="350" r:id="rId102"/>
    <p:sldId id="316" r:id="rId69"/>
    <p:sldId id="265" r:id="rId16"/>
    <p:sldId id="266" r:id="rId17"/>
    <p:sldId id="269" r:id="rId20"/>
    <p:sldId id="289" r:id="rId40"/>
  </p:sldIdLst>
  <p:sldSz cy="6858000" cx="12192000"/>
  <p:notesSz cx="6858000" cy="12192000"/>
  <p:embeddedFontLst>
    <p:embeddedFont>
      <p:font typeface="Sora"/>
      <p:regular r:id="rId59"/>
      <p:bold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987E92-83FC-4B9D-A84D-E1139F2F7CFC}">
  <a:tblStyle styleId="{AF987E92-83FC-4B9D-A84D-E1139F2F7C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9.xml"/><Relationship Id="rId9" Type="http://schemas.openxmlformats.org/officeDocument/2006/relationships/slide" Target="slides/slide4.xml"/><Relationship Id="rId10" Type="http://schemas.openxmlformats.org/officeDocument/2006/relationships/slide" Target="slides/slide50.xml"/><Relationship Id="rId11" Type="http://schemas.openxmlformats.org/officeDocument/2006/relationships/slide" Target="slides/slide61.xml"/><Relationship Id="rId12" Type="http://schemas.openxmlformats.org/officeDocument/2006/relationships/slide" Target="slides/slide17.xml"/><Relationship Id="rId13" Type="http://schemas.openxmlformats.org/officeDocument/2006/relationships/slide" Target="slides/slide20.xml"/><Relationship Id="rId14" Type="http://schemas.openxmlformats.org/officeDocument/2006/relationships/slide" Target="slides/slide82.xml"/><Relationship Id="rId15" Type="http://schemas.openxmlformats.org/officeDocument/2006/relationships/slide" Target="slides/slide12.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8.xml"/><Relationship Id="rId19" Type="http://schemas.openxmlformats.org/officeDocument/2006/relationships/slide" Target="slides/slide63.xml"/><Relationship Id="rId20" Type="http://schemas.openxmlformats.org/officeDocument/2006/relationships/slide" Target="slides/slide87.xml"/><Relationship Id="rId21" Type="http://schemas.openxmlformats.org/officeDocument/2006/relationships/slide" Target="slides/slide64.xml"/><Relationship Id="rId22" Type="http://schemas.openxmlformats.org/officeDocument/2006/relationships/slide" Target="slides/slide21.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66.xml"/><Relationship Id="rId27" Type="http://schemas.openxmlformats.org/officeDocument/2006/relationships/slide" Target="slides/slide67.xml"/><Relationship Id="rId28" Type="http://schemas.openxmlformats.org/officeDocument/2006/relationships/slide" Target="slides/slide68.xml"/><Relationship Id="rId29" Type="http://schemas.openxmlformats.org/officeDocument/2006/relationships/slide" Target="slides/slide28.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4.xml"/><Relationship Id="rId33" Type="http://schemas.openxmlformats.org/officeDocument/2006/relationships/slide" Target="slides/slide35.xml"/><Relationship Id="rId34" Type="http://schemas.openxmlformats.org/officeDocument/2006/relationships/slide" Target="slides/slide70.xml"/><Relationship Id="rId35" Type="http://schemas.openxmlformats.org/officeDocument/2006/relationships/slide" Target="slides/slide71.xml"/><Relationship Id="rId36" Type="http://schemas.openxmlformats.org/officeDocument/2006/relationships/slide" Target="slides/slide43.xml"/><Relationship Id="rId37" Type="http://schemas.openxmlformats.org/officeDocument/2006/relationships/slide" Target="slides/slide46.xml"/><Relationship Id="rId38" Type="http://schemas.openxmlformats.org/officeDocument/2006/relationships/slide" Target="slides/slide47.xml"/><Relationship Id="rId39" Type="http://schemas.openxmlformats.org/officeDocument/2006/relationships/slide" Target="slides/slide48.xml"/><Relationship Id="rId40" Type="http://schemas.openxmlformats.org/officeDocument/2006/relationships/slide" Target="slides/slide88.xml"/><Relationship Id="rId41" Type="http://schemas.openxmlformats.org/officeDocument/2006/relationships/slide" Target="slides/slide78.xml"/><Relationship Id="rId42" Type="http://schemas.openxmlformats.org/officeDocument/2006/relationships/slide" Target="slides/slide79.xml"/><Relationship Id="rId43" Type="http://schemas.openxmlformats.org/officeDocument/2006/relationships/slide" Target="slides/slide76.xml"/><Relationship Id="rId44" Type="http://schemas.openxmlformats.org/officeDocument/2006/relationships/slide" Target="slides/slide77.xml"/><Relationship Id="rId45" Type="http://schemas.openxmlformats.org/officeDocument/2006/relationships/slide" Target="slides/slide36.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73.xml"/><Relationship Id="rId51" Type="http://schemas.openxmlformats.org/officeDocument/2006/relationships/slide" Target="slides/slide74.xml"/><Relationship Id="rId52" Type="http://schemas.openxmlformats.org/officeDocument/2006/relationships/slide" Target="slides/slide89.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font" Target="fonts/Sora-regular.fntdata"/><Relationship Id="rId60" Type="http://schemas.openxmlformats.org/officeDocument/2006/relationships/font" Target="fonts/Sora-bold.fntdata"/><Relationship Id="rId61" Type="http://schemas.openxmlformats.org/officeDocument/2006/relationships/slide" Target="slides/slide2.xml"/><Relationship Id="rId62" Type="http://schemas.openxmlformats.org/officeDocument/2006/relationships/slide" Target="slides/slide3.xml"/><Relationship Id="rId63" Type="http://schemas.openxmlformats.org/officeDocument/2006/relationships/slide" Target="slides/slide7.xml"/><Relationship Id="rId64" Type="http://schemas.openxmlformats.org/officeDocument/2006/relationships/slide" Target="slides/slide11.xml"/><Relationship Id="rId65" Type="http://schemas.openxmlformats.org/officeDocument/2006/relationships/slide" Target="slides/slide49.xml"/><Relationship Id="rId66" Type="http://schemas.openxmlformats.org/officeDocument/2006/relationships/slide" Target="slides/slide53.xml"/><Relationship Id="rId67" Type="http://schemas.openxmlformats.org/officeDocument/2006/relationships/slide" Target="slides/slide60.xml"/><Relationship Id="rId68" Type="http://schemas.openxmlformats.org/officeDocument/2006/relationships/slide" Target="slides/slide80.xml"/><Relationship Id="rId69" Type="http://schemas.openxmlformats.org/officeDocument/2006/relationships/slide" Target="slides/slide86.xml"/><Relationship Id="rId70" Type="http://schemas.openxmlformats.org/officeDocument/2006/relationships/slide" Target="slides/slide5.xml"/><Relationship Id="rId71" Type="http://schemas.openxmlformats.org/officeDocument/2006/relationships/slide" Target="slides/slide6.xml"/><Relationship Id="rId72" Type="http://schemas.openxmlformats.org/officeDocument/2006/relationships/slide" Target="slides/slide8.xml"/><Relationship Id="rId73" Type="http://schemas.openxmlformats.org/officeDocument/2006/relationships/slide" Target="slides/slide10.xml"/><Relationship Id="rId74" Type="http://schemas.openxmlformats.org/officeDocument/2006/relationships/slide" Target="slides/slide13.xml"/><Relationship Id="rId75" Type="http://schemas.openxmlformats.org/officeDocument/2006/relationships/slide" Target="slides/slide14.xml"/><Relationship Id="rId76" Type="http://schemas.openxmlformats.org/officeDocument/2006/relationships/slide" Target="slides/slide19.xml"/><Relationship Id="rId77" Type="http://schemas.openxmlformats.org/officeDocument/2006/relationships/slide" Target="slides/slide22.xml"/><Relationship Id="rId78" Type="http://schemas.openxmlformats.org/officeDocument/2006/relationships/slide" Target="slides/slide23.xml"/><Relationship Id="rId79" Type="http://schemas.openxmlformats.org/officeDocument/2006/relationships/slide" Target="slides/slide27.xml"/><Relationship Id="rId80" Type="http://schemas.openxmlformats.org/officeDocument/2006/relationships/slide" Target="slides/slide29.xml"/><Relationship Id="rId81" Type="http://schemas.openxmlformats.org/officeDocument/2006/relationships/slide" Target="slides/slide30.xml"/><Relationship Id="rId82" Type="http://schemas.openxmlformats.org/officeDocument/2006/relationships/slide" Target="slides/slide31.xml"/><Relationship Id="rId83" Type="http://schemas.openxmlformats.org/officeDocument/2006/relationships/slide" Target="slides/slide37.xml"/><Relationship Id="rId84" Type="http://schemas.openxmlformats.org/officeDocument/2006/relationships/slide" Target="slides/slide38.xml"/><Relationship Id="rId85" Type="http://schemas.openxmlformats.org/officeDocument/2006/relationships/slide" Target="slides/slide44.xml"/><Relationship Id="rId86" Type="http://schemas.openxmlformats.org/officeDocument/2006/relationships/slide" Target="slides/slide45.xml"/><Relationship Id="rId87" Type="http://schemas.openxmlformats.org/officeDocument/2006/relationships/slide" Target="slides/slide51.xml"/><Relationship Id="rId88" Type="http://schemas.openxmlformats.org/officeDocument/2006/relationships/slide" Target="slides/slide52.xml"/><Relationship Id="rId89" Type="http://schemas.openxmlformats.org/officeDocument/2006/relationships/slide" Target="slides/slide62.xml"/><Relationship Id="rId90" Type="http://schemas.openxmlformats.org/officeDocument/2006/relationships/slide" Target="slides/slide65.xml"/><Relationship Id="rId91" Type="http://schemas.openxmlformats.org/officeDocument/2006/relationships/slide" Target="slides/slide69.xml"/><Relationship Id="rId92" Type="http://schemas.openxmlformats.org/officeDocument/2006/relationships/slide" Target="slides/slide72.xml"/><Relationship Id="rId93" Type="http://schemas.openxmlformats.org/officeDocument/2006/relationships/slide" Target="slides/slide75.xml"/><Relationship Id="rId94" Type="http://schemas.openxmlformats.org/officeDocument/2006/relationships/slide" Target="slides/slide81.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Share of landings</c:v>
                </c:pt>
              </c:strCache>
            </c:strRef>
          </c:tx>
          <c:spPr>
            <a:solidFill>
              <a:srgbClr val="96A1B0"/>
            </a:solidFill>
          </c:spPr>
          <c:dLbls>
            <c:numFmt formatCode="0.0&quot;%&quot;" sourceLinked="0"/>
            <c:txPr>
              <a:bodyPr/>
              <a:lstStyle/>
              <a:p>
                <a:pPr>
                  <a:defRPr sz="800">
                    <a:solidFill>
                      <a:srgbClr val="5A6472"/>
                    </a:solidFill>
                    <a:latin typeface="Sora"/>
                  </a:defRPr>
                </a:pPr>
              </a:p>
            </c:txPr>
            <c:dLblPos val="outEnd"/>
            <c:showLegendKey val="0"/>
            <c:showVal val="1"/>
            <c:showCatName val="0"/>
            <c:showSerName val="0"/>
            <c:showPercent val="0"/>
            <c:showBubbleSize val="0"/>
            <c:showLeaderLines val="1"/>
          </c:dLbls>
          <c:cat>
            <c:strRef>
              <c:f>Sheet1!$A$2:$A$8</c:f>
              <c:strCache>
                <c:ptCount val="7"/>
                <c:pt idx="0">
                  <c:v>Homepage (unassigned)</c:v>
                </c:pt>
                <c:pt idx="1">
                  <c:v>Institution root · Shortlister</c:v>
                </c:pt>
                <c:pt idx="2">
                  <c:v>Course pages · Course Researcher</c:v>
                </c:pt>
                <c:pt idx="3">
                  <c:v>Fee &amp; admissions · Cost Checker</c:v>
                </c:pt>
                <c:pt idx="4">
                  <c:v>Blog · Early Explorer</c:v>
                </c:pt>
                <c:pt idx="5">
                  <c:v>Campus life · Proof Seeker</c:v>
                </c:pt>
                <c:pt idx="6">
                  <c:v>Student utility · non-prospect</c:v>
                </c:pt>
              </c:strCache>
            </c:strRef>
          </c:cat>
          <c:val>
            <c:numRef>
              <c:f>Sheet1!$B$2:$B$8</c:f>
              <c:numCache>
                <c:formatCode>General</c:formatCode>
                <c:ptCount val="7"/>
                <c:pt idx="0">
                  <c:v>36.2</c:v>
                </c:pt>
                <c:pt idx="1">
                  <c:v>11.8</c:v>
                </c:pt>
                <c:pt idx="2">
                  <c:v>11.9</c:v>
                </c:pt>
                <c:pt idx="3">
                  <c:v>7.0</c:v>
                </c:pt>
                <c:pt idx="4">
                  <c:v>24.2</c:v>
                </c:pt>
                <c:pt idx="5">
                  <c:v>0.1</c:v>
                </c:pt>
                <c:pt idx="6">
                  <c:v>8.7</c:v>
                </c:pt>
              </c:numCache>
            </c:numRef>
          </c:val>
        </c:ser>
        <c:ser>
          <c:idx val="1"/>
          <c:order val="1"/>
          <c:tx>
            <c:strRef>
              <c:f>Sheet1!$C$1</c:f>
              <c:strCache>
                <c:ptCount val="1"/>
                <c:pt idx="0">
                  <c:v>Share of form_submit events</c:v>
                </c:pt>
              </c:strCache>
            </c:strRef>
          </c:tx>
          <c:spPr>
            <a:solidFill>
              <a:srgbClr val="C8102E"/>
            </a:solidFill>
          </c:spPr>
          <c:dLbls>
            <c:numFmt formatCode="0.0&quot;%&quot;" sourceLinked="0"/>
            <c:txPr>
              <a:bodyPr/>
              <a:lstStyle/>
              <a:p>
                <a:pPr>
                  <a:defRPr sz="800">
                    <a:solidFill>
                      <a:srgbClr val="5A6472"/>
                    </a:solidFill>
                    <a:latin typeface="Sora"/>
                  </a:defRPr>
                </a:pPr>
              </a:p>
            </c:txPr>
            <c:dLblPos val="outEnd"/>
            <c:showLegendKey val="0"/>
            <c:showVal val="1"/>
            <c:showCatName val="0"/>
            <c:showSerName val="0"/>
            <c:showPercent val="0"/>
            <c:showBubbleSize val="0"/>
            <c:showLeaderLines val="1"/>
          </c:dLbls>
          <c:cat>
            <c:strRef>
              <c:f>Sheet1!$A$2:$A$8</c:f>
              <c:strCache>
                <c:ptCount val="7"/>
                <c:pt idx="0">
                  <c:v>Homepage (unassigned)</c:v>
                </c:pt>
                <c:pt idx="1">
                  <c:v>Institution root · Shortlister</c:v>
                </c:pt>
                <c:pt idx="2">
                  <c:v>Course pages · Course Researcher</c:v>
                </c:pt>
                <c:pt idx="3">
                  <c:v>Fee &amp; admissions · Cost Checker</c:v>
                </c:pt>
                <c:pt idx="4">
                  <c:v>Blog · Early Explorer</c:v>
                </c:pt>
                <c:pt idx="5">
                  <c:v>Campus life · Proof Seeker</c:v>
                </c:pt>
                <c:pt idx="6">
                  <c:v>Student utility · non-prospect</c:v>
                </c:pt>
              </c:strCache>
            </c:strRef>
          </c:cat>
          <c:val>
            <c:numRef>
              <c:f>Sheet1!$C$2:$C$8</c:f>
              <c:numCache>
                <c:formatCode>General</c:formatCode>
                <c:ptCount val="7"/>
                <c:pt idx="0">
                  <c:v>60.3</c:v>
                </c:pt>
                <c:pt idx="1">
                  <c:v>26.8</c:v>
                </c:pt>
                <c:pt idx="2">
                  <c:v>9.8</c:v>
                </c:pt>
                <c:pt idx="3">
                  <c:v>1.5</c:v>
                </c:pt>
                <c:pt idx="4">
                  <c:v>0.9</c:v>
                </c:pt>
                <c:pt idx="5">
                  <c:v>0.0</c:v>
                </c:pt>
                <c:pt idx="6">
                  <c:v>0.5</c:v>
                </c:pt>
              </c:numCache>
            </c:numRef>
          </c:val>
        </c:ser>
        <c:ser>
          <c:idx val="2"/>
          <c:order val="2"/>
          <c:tx>
            <c:strRef>
              <c:f>Sheet1!$D$1</c:f>
              <c:strCache>
                <c:ptCount val="1"/>
                <c:pt idx="0">
                  <c:v>Share of phone-click events</c:v>
                </c:pt>
              </c:strCache>
            </c:strRef>
          </c:tx>
          <c:spPr>
            <a:solidFill>
              <a:srgbClr val="0F2C5C"/>
            </a:solidFill>
          </c:spPr>
          <c:dLbls>
            <c:numFmt formatCode="0.0&quot;%&quot;" sourceLinked="0"/>
            <c:txPr>
              <a:bodyPr/>
              <a:lstStyle/>
              <a:p>
                <a:pPr>
                  <a:defRPr sz="800">
                    <a:solidFill>
                      <a:srgbClr val="5A6472"/>
                    </a:solidFill>
                    <a:latin typeface="Sora"/>
                  </a:defRPr>
                </a:pPr>
              </a:p>
            </c:txPr>
            <c:dLblPos val="outEnd"/>
            <c:showLegendKey val="0"/>
            <c:showVal val="1"/>
            <c:showCatName val="0"/>
            <c:showSerName val="0"/>
            <c:showPercent val="0"/>
            <c:showBubbleSize val="0"/>
            <c:showLeaderLines val="1"/>
          </c:dLbls>
          <c:cat>
            <c:strRef>
              <c:f>Sheet1!$A$2:$A$8</c:f>
              <c:strCache>
                <c:ptCount val="7"/>
                <c:pt idx="0">
                  <c:v>Homepage (unassigned)</c:v>
                </c:pt>
                <c:pt idx="1">
                  <c:v>Institution root · Shortlister</c:v>
                </c:pt>
                <c:pt idx="2">
                  <c:v>Course pages · Course Researcher</c:v>
                </c:pt>
                <c:pt idx="3">
                  <c:v>Fee &amp; admissions · Cost Checker</c:v>
                </c:pt>
                <c:pt idx="4">
                  <c:v>Blog · Early Explorer</c:v>
                </c:pt>
                <c:pt idx="5">
                  <c:v>Campus life · Proof Seeker</c:v>
                </c:pt>
                <c:pt idx="6">
                  <c:v>Student utility · non-prospect</c:v>
                </c:pt>
              </c:strCache>
            </c:strRef>
          </c:cat>
          <c:val>
            <c:numRef>
              <c:f>Sheet1!$D$2:$D$8</c:f>
              <c:numCache>
                <c:formatCode>General</c:formatCode>
                <c:ptCount val="7"/>
                <c:pt idx="0">
                  <c:v>41.2</c:v>
                </c:pt>
                <c:pt idx="1">
                  <c:v>39.5</c:v>
                </c:pt>
                <c:pt idx="2">
                  <c:v>3.8</c:v>
                </c:pt>
                <c:pt idx="3">
                  <c:v>13.8</c:v>
                </c:pt>
                <c:pt idx="4">
                  <c:v>0.0</c:v>
                </c:pt>
                <c:pt idx="5">
                  <c:v>0.3</c:v>
                </c:pt>
                <c:pt idx="6">
                  <c:v>1.4</c:v>
                </c:pt>
              </c:numCache>
            </c:numRef>
          </c:val>
        </c:ser>
        <c:gapWidth val="55"/>
        <c:axId val="-2068027336"/>
        <c:axId val="-2113994440"/>
      </c:barChart>
      <c:catAx>
        <c:axId val="-2068027336"/>
        <c:scaling>
          <c:orientation val="maxMin"/>
        </c:scaling>
        <c:delete val="0"/>
        <c:axPos val="l"/>
        <c:majorTickMark val="out"/>
        <c:minorTickMark val="none"/>
        <c:tickLblPos val="nextTo"/>
        <c:spPr>
          <a:ln>
            <a:solidFill>
              <a:srgbClr val="D8DFE8"/>
            </a:solidFill>
          </a:ln>
        </c:spPr>
        <c:txPr>
          <a:bodyPr/>
          <a:lstStyle/>
          <a:p>
            <a:pPr>
              <a:defRPr sz="900">
                <a:solidFill>
                  <a:srgbClr val="0F2C5C"/>
                </a:solidFill>
                <a:latin typeface="Sora"/>
              </a:defRPr>
            </a:pPr>
          </a:p>
        </c:txPr>
        <c:crossAx val="-2113994440"/>
        <c:crosses val="autoZero"/>
        <c:auto val="1"/>
        <c:lblAlgn val="ctr"/>
        <c:lblOffset val="100"/>
        <c:noMultiLvlLbl val="0"/>
      </c:catAx>
      <c:valAx>
        <c:axId val="-2113994440"/>
        <c:scaling>
          <c:max val="75.0"/>
        </c:scaling>
        <c:delete/>
        <c:axPos val="b"/>
        <c:majorTickMark val="out"/>
        <c:minorTickMark val="none"/>
        <c:tickLblPos val="nextTo"/>
        <c:crossAx val="-2068027336"/>
        <c:crosses val="autoZero"/>
      </c:valAx>
    </c:plotArea>
    <c:legend>
      <c:legendPos val="t"/>
      <c:overlay val="0"/>
      <c:txPr>
        <a:bodyPr/>
        <a:lstStyle/>
        <a:p>
          <a:pPr>
            <a:defRPr sz="900">
              <a:solidFill>
                <a:srgbClr val="5A6472"/>
              </a:solidFill>
              <a:latin typeface="Sora"/>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40a1d588023_0_33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40a1d588023_0_3391: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frame: the client asked for 100% organic lead growth. SEO drives the traffic multiplier; CRO drives the conversion multiplier. This deck covers the CRO half.</a:t>
            </a:r>
            <a:endParaRPr/>
          </a:p>
        </p:txBody>
      </p:sp>
      <p:sp>
        <p:nvSpPr>
          <p:cNvPr id="60" name="Google Shape;60;g40a1d588023_0_33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40a1d588023_0_3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40a1d588023_0_3408: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Personas are derived from observed landing behaviour, not assumed demographics. Shortlister is highlighted because it is the one journey that already works.</a:t>
            </a:r>
            <a:endParaRPr/>
          </a:p>
        </p:txBody>
      </p:sp>
      <p:sp>
        <p:nvSpPr>
          <p:cNvPr id="78" name="Google Shape;78;g40a1d588023_0_34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40a1d588023_0_34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40a1d588023_0_3465: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The point of this slide: traffic is not the problem and engagement is not the problem. The conversion surface is missing.</a:t>
            </a:r>
          </a:p>
          <a:p/>
          <a:p>
            <a:r>
              <a:t>RECONCILE BEFORE SENDING: this slide says B.Tech CSE produced 21 form starts and 5 Apply Now clicks in 90 days. The event slide shows 47 Apply Now clicks on the same page, and the appendix journey slide shows 3 + 20 = 23 form starts and 38 main-nav Apply clicks. These are probably different buttons / event definitions — name the one used here.</a:t>
            </a:r>
          </a:p>
        </p:txBody>
      </p:sp>
      <p:sp>
        <p:nvSpPr>
          <p:cNvPr id="136" name="Google Shape;136;g40a1d588023_0_34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40a1d588023_0_34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40a1d588023_0_3494: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gaps, not three problems per page. This is what makes the fix scalable across templates rather than page by page.</a:t>
            </a:r>
            <a:endParaRPr/>
          </a:p>
        </p:txBody>
      </p:sp>
      <p:sp>
        <p:nvSpPr>
          <p:cNvPr id="166" name="Google Shape;166;g40a1d588023_0_34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40a1d588023_0_35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40a1d588023_0_3522: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intervention is a CRO change: placement, structure and capture. None of it requires new content strategy or SEO work.</a:t>
            </a:r>
            <a:endParaRPr/>
          </a:p>
        </p:txBody>
      </p:sp>
      <p:sp>
        <p:nvSpPr>
          <p:cNvPr id="195" name="Google Shape;195;g40a1d588023_0_35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40a1d588023_0_3563: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40a1d588023_0_356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These are event counts, not sessions — so they compare cleanly against each other on the same page.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The brochure on a course page is a direct PDF link: no form, no name, no email. The dedicated brochure page carries 2,746 downloads and has no form on it either.</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This is not an argument for gating information. Fee, eligibility and curriculum stay free. A marketing brochure is the one asset where a short, honest exchange is fair — and it is currently the most wanted thing on the site.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40a1d588023_0_3596: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40a1d588023_0_3596: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On the fee page, phone clicks outnumber form submits 76 to 30 — and this is the only prospect page in the export where that happens. On the course page the number is 1.</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Read together with the previous slide: the course page moment wants a document, the fee page moment wants a person. Neither is served well today — one gives the document away anonymously, the other offers no way to start the conversation.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This is the evidence behind treating the fee page as a conversion surface rather than a reference page.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40a1d588023_0_36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40a1d588023_0_3637: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Close on measurement. The absence of lead events is the single biggest blocker to proving the 100% target either way. The target is multiplicative: 1.33 × 1.50 = 2.0. A 50% conversion lift alone is +50% leads, not the same as +33% traffic.</a:t>
            </a:r>
          </a:p>
        </p:txBody>
      </p:sp>
      <p:sp>
        <p:nvSpPr>
          <p:cNvPr id="313" name="Google Shape;313;g40a1d588023_0_36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40a1d588023_0_3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40a1d588023_0_3662: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Course Researcher — the largest persona. Evidence first, then the page path, then current state.</a:t>
            </a:r>
          </a:p>
        </p:txBody>
      </p:sp>
      <p:sp>
        <p:nvSpPr>
          <p:cNvPr id="339" name="Google Shape;339;g40a1d588023_0_36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40a1d588023_0_36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40a1d588023_0_3667: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This is the core slide. Users research thoroughly, complete a fee round-trip, and the journey simply ends. Device split on this path is 3.9K desktop / 3.0K mobile, so this is not a mobile-specific issue.</a:t>
            </a:r>
          </a:p>
          <a:p/>
          <a:p>
            <a:r>
              <a:t>APPENDIX — retained from an earlier cut. Figures differ from the page-path slide in section 03 (83.0% / 99.6% / 22 of 6,097 here vs 84.3% / 99.3% / 6 of 6,964 there; 3 + 20 form starts vs 21). Likely a different date range or filter — reconcile before using externally.</a:t>
            </a:r>
          </a:p>
        </p:txBody>
      </p:sp>
      <p:sp>
        <p:nvSpPr>
          <p:cNvPr id="345" name="Google Shape;345;g40a1d588023_0_36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40a1d588023_0_37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40a1d588023_0_3701: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Read order: metrics first, then the path. The page does everything right except give the user the last piece of information they need, so they leave to find it and the journey ends on the return trip.</a:t>
            </a:r>
          </a:p>
          <a:p/>
          <a:p>
            <a:r>
              <a:t>APPENDIX — retained from an earlier cut. Figures differ from the page-path slide in section 03 (83.0% / 99.6% / 22 of 6,097 here vs 84.3% / 99.3% / 6 of 6,964 there; 3 + 20 form starts vs 21). Likely a different date range or filter — reconcile before using externally.</a:t>
            </a:r>
          </a:p>
        </p:txBody>
      </p:sp>
      <p:sp>
        <p:nvSpPr>
          <p:cNvPr id="380" name="Google Shape;380;g40a1d588023_0_37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40a1d588023_0_37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40a1d588023_0_3740: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g40a1d588023_0_37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40a1d588023_0_3774: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g40a1d588023_0_37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40a1d588023_0_37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40a1d588023_0_3796: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40a1d588023_0_37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40a1d588023_0_38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40a1d588023_0_3806: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g40a1d588023_0_38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40a1d588023_0_38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g40a1d588023_0_3815: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Cost Checker — highest-intent visitor. Evidence, page path, current state, findability test.</a:t>
            </a:r>
          </a:p>
        </p:txBody>
      </p:sp>
      <p:sp>
        <p:nvSpPr>
          <p:cNvPr id="499" name="Google Shape;499;g40a1d588023_0_38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40a1d588023_0_3820: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g40a1d588023_0_38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40a1d588023_0_3850: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g40a1d588023_0_3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40a1d588023_0_3882: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g40a1d588023_0_38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40a1d588023_0_3909: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g40a1d588023_0_39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40a1d588023_0_3931: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g40a1d588023_0_39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40a1d588023_0_3952: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g40a1d588023_0_39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40a1d588023_0_39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40a1d588023_0_3962: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Proof Seeker — proof exists; the question is whether it reaches the programme decision.</a:t>
            </a:r>
          </a:p>
        </p:txBody>
      </p:sp>
      <p:sp>
        <p:nvSpPr>
          <p:cNvPr id="653" name="Google Shape;653;g40a1d588023_0_39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40a1d588023_0_3967: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g40a1d588023_0_39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40a1d588023_0_3994: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g40a1d588023_0_39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40a1d588023_0_4018: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g40a1d588023_0_40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40a1d588023_0_4046: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g40a1d588023_0_40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40a1d588023_0_4067: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 name="Google Shape;762;g40a1d588023_0_40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40a1d588023_0_4077: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3" name="Google Shape;773;g40a1d588023_0_40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40a1d588023_0_40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g40a1d588023_0_4099: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University Shortlister — the journey that already works; the benchmark for other templates.</a:t>
            </a:r>
          </a:p>
        </p:txBody>
      </p:sp>
      <p:sp>
        <p:nvSpPr>
          <p:cNvPr id="797" name="Google Shape;797;g40a1d588023_0_40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40a1d588023_0_4104: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2" name="Google Shape;802;g40a1d588023_0_4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40a1d588023_0_4128: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 name="Google Shape;827;g40a1d588023_0_4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40a1d588023_0_4152: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g40a1d588023_0_4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40a1d588023_0_4182: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3" name="Google Shape;883;g40a1d588023_0_4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40a1d588023_0_4194: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 name="Google Shape;896;g40a1d588023_0_4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40a1d588023_0_4203: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g40a1d588023_0_4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40a1d588023_0_4230: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4" name="Google Shape;934;g40a1d588023_0_4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40a1d588023_0_4240: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g40a1d588023_0_4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40a1d588023_0_4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8" name="Google Shape;968;g40a1d588023_0_4262: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r>
              <a:t>Early Explorer — informational traffic; the question is progression to programmes.</a:t>
            </a:r>
          </a:p>
        </p:txBody>
      </p:sp>
      <p:sp>
        <p:nvSpPr>
          <p:cNvPr id="969" name="Google Shape;969;g40a1d588023_0_42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40a1d588023_0_4267: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4" name="Google Shape;974;g40a1d588023_0_42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40a1d588023_0_4288: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6" name="Google Shape;996;g40a1d588023_0_4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40a1d588023_0_4309: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g40a1d588023_0_4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40a1d588023_0_4346: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g40a1d588023_0_4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40a1d588023_0_4367: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8" name="Google Shape;1078;g40a1d588023_0_43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40a1d588023_0_4377:notes"/>
          <p:cNvSpPr txBox="1"/>
          <p:nvPr>
            <p:ph idx="1" type="body"/>
          </p:nvPr>
        </p:nvSpPr>
        <p:spPr>
          <a:xfrm>
            <a:off x="685800" y="4400550"/>
            <a:ext cx="5486400" cy="360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9" name="Google Shape;1089;g40a1d588023_0_4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Open with the answer. Three things: where the constraint is (reach to a next step, not traffic), what has to happen first (measurement — there is no lead event), and what the target means in numbers. The credit line at the bottom matters: the institution hubs already work, and the plan protects them.</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40a1d588023_0_44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8" name="Google Shape;1118;g40a1d588023_0_4404:notes"/>
          <p:cNvSpPr txBox="1"/>
          <p:nvPr>
            <p:ph idx="1" type="body"/>
          </p:nvPr>
        </p:nvSpPr>
        <p:spPr>
          <a:xfrm>
            <a:off x="685800" y="4400550"/>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Evidence: on almost every page explored, the homepage or a hub page is a top-two next step (e.g. fees → "/" 1,236; MRIIRS → "/" 673; MRU → "/" 373). Conversion pages barely register: admission-process 48, financial aid 4–71, eligibility 7–201, brochure 234 (homepage only). The fix: every program and fee page becomes a hub with its own forward routes.</a:t>
            </a:r>
            <a:endParaRPr/>
          </a:p>
        </p:txBody>
      </p:sp>
      <p:sp>
        <p:nvSpPr>
          <p:cNvPr id="1119" name="Google Shape;1119;g40a1d588023_0_44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40a1d588023_0_44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6" name="Google Shape;1156;g40a1d588023_0_4441:notes"/>
          <p:cNvSpPr txBox="1"/>
          <p:nvPr>
            <p:ph idx="1" type="body"/>
          </p:nvPr>
        </p:nvSpPr>
        <p:spPr>
          <a:xfrm>
            <a:off x="685800" y="4400550"/>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success test for every page: did the visitor act, discover, or decide? Today most sessions do none of the three and loop back to the homepage or /search (817 from the homepage, 292 from MRIIRS, 110 from MRU).</a:t>
            </a:r>
            <a:endParaRPr/>
          </a:p>
        </p:txBody>
      </p:sp>
      <p:sp>
        <p:nvSpPr>
          <p:cNvPr id="1157" name="Google Shape;1157;g40a1d588023_0_44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40a1d588023_0_44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0" name="Google Shape;1180;g40a1d588023_0_4464:notes"/>
          <p:cNvSpPr txBox="1"/>
          <p:nvPr>
            <p:ph idx="1" type="body"/>
          </p:nvPr>
        </p:nvSpPr>
        <p:spPr>
          <a:xfrm>
            <a:off x="685800" y="4400550"/>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three journeys map to the three loops in the path data: course pages climbing back to listings (01), fee pages sending users to the homepage (02), and users crossing between the MREI, MRIIRS and MRU copies of the same section (03).</a:t>
            </a:r>
            <a:endParaRPr/>
          </a:p>
        </p:txBody>
      </p:sp>
      <p:sp>
        <p:nvSpPr>
          <p:cNvPr id="1181" name="Google Shape;1181;g40a1d588023_0_44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40a1d588023_0_4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g40a1d588023_0_4491:notes"/>
          <p:cNvSpPr txBox="1"/>
          <p:nvPr>
            <p:ph idx="1" type="body"/>
          </p:nvPr>
        </p:nvSpPr>
        <p:spPr>
          <a:xfrm>
            <a:off x="685800" y="4400550"/>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B.Tech CSE path exploration: apart from fees, every next page is a parent page — UG listings 202 + 167, homepage 70, /mriirs 52 (491 in total). The fee page round-trips back to CSE. Journey 01 puts fees, eligibility, scholarships and apply on the course page itself.</a:t>
            </a:r>
            <a:endParaRPr/>
          </a:p>
        </p:txBody>
      </p:sp>
      <p:sp>
        <p:nvSpPr>
          <p:cNvPr id="1209" name="Google Shape;1209;g40a1d588023_0_44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40a1d588023_0_45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3" name="Google Shape;1253;g40a1d588023_0_4535:notes"/>
          <p:cNvSpPr txBox="1"/>
          <p:nvPr>
            <p:ph idx="1" type="body"/>
          </p:nvPr>
        </p:nvSpPr>
        <p:spPr>
          <a:xfrm>
            <a:off x="685800" y="4400550"/>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Fee structure path exploration: B.Tech CSE is #1 next step (7,070), the homepage is #2 (1,236), and 494 cross to the MRU fee page. Financial aid (4–71) and eligibility (7–201) barely register. Journey 02 turns the fee page into a question-led route: fee → scholarships/aid → eligibility → process → apply.</a:t>
            </a:r>
            <a:endParaRPr/>
          </a:p>
        </p:txBody>
      </p:sp>
      <p:sp>
        <p:nvSpPr>
          <p:cNvPr id="1254" name="Google Shape;1254;g40a1d588023_0_45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40a1d588023_0_4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4" name="Google Shape;1294;g40a1d588023_0_4575:notes"/>
          <p:cNvSpPr txBox="1"/>
          <p:nvPr>
            <p:ph idx="1" type="body"/>
          </p:nvPr>
        </p:nvSpPr>
        <p:spPr>
          <a:xfrm>
            <a:off x="685800" y="4400550"/>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MREI (/academics/undergraduate), MRIIRS and MRU each carry their own copy of the same section, and users cross between them: B.Tech → /academics/undergraduate 167, fees → MRU fees 494, MRU → /mriirs 166. Journey 03 captures intent once and returns a single shortlist — a lead with context, not a cold form fill.</a:t>
            </a:r>
            <a:endParaRPr/>
          </a:p>
        </p:txBody>
      </p:sp>
      <p:sp>
        <p:nvSpPr>
          <p:cNvPr id="1295" name="Google Shape;1295;g40a1d588023_0_4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Story spine. The two GA4 pulls are built differently: explorations report sessions and path movement; the event export counts events on the page type where they fired. We use both, label both, and never divide one by the other.</a:t>
            </a:r>
          </a:p>
          <a:p/>
          <a:p>
            <a:r>
              <a:t>Claim labels: every content slide carries one in the top-right corner. MEASURED = observed in GA4 or on the live site. TO VALIDATE = measured, but the event behind it is not a clean definition (form_submit, file_download) or two cuts disagree. HYPOTHESIS = a proposal that a test or MREI confirmation has to prove.</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Hook 1. Read as: where people arrive vs where intent events fire. Events are counted on the page type where they fired, so a homepage form_submit may come from a user who landed elsewhere — this is why we call it a comparison of shares, not a conversion rate.</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Primary KPI hierarchy: 1) Leads, 2) meaningful micro-conversions, 3) progression. The macro KPI cannot be baselined until a lead event exists — this is why Phase 0 in section 07 is measurement.</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Event counts are not users and not sessions. The first column (landings) is session_start by landing page type; every other column counts events on the page type where they fired.</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Hook 2. Every figure on this slide is from the path explorations already in this deck (course, fee, institution and journey slides). Nothing new is computed here — the slide just puts the three patterns side by side.</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Unique to this persona: the round-trip to fees and the download-first behaviour. Sticky CTAs, chat and CTA duplication are covered in the sitewide section, not here.</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Same path as the journey slides that follow; this slide adds the interpretation, the question and the opportunity. Audit caveat: the fee block was observed on 24 Sept; if it was added after 10 Sept the round-trip may partly predate it.</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Measured with a headless browser: fee heading at y=11,288px on a 16,456px document at 390x844. That is ~13.4 viewport heights from the top.</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Unique to this persona: phone behaviour, the fee-to-homepage exit and the calculator dead end. The link between the calculator redirect and the homepage exits is a hypothesis until a fee_calculator_click event exists.</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Figures from the fee-structure path exploration already in this deck (journey 02 notes) and the Cost Checker slides; event counts from the export are labelled separately.</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Marker 5 on the scrolled table: the vertical Apply/Enquire tabs sit over the fee values — covered in the sitewide section. The findability problems (1–4) are unique to this template.</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export’s persona mapping differs from the deck’s landing-page classification — we keep the deck’s 27,579 sessions and treat the export as silent on proof pages.</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All path figures are from the Proof Seeker slides already in this deck.</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Verified = stated on an official MREI page as quoted. It does not mean independently audited. Rows marked unscoped / conflicting / not found must be confirmed by MREI before they appear in any recommendation or test variant.</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Unique to this persona: link graph and zero intent signal. The deck’s session figure for this persona (22,813) stays as is; the export groups the blog differently.</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Path figures are from the Early Explorer slides already in this deck.</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Unique to this persona: it works. The recommendation is protect and replicate, plus a comparison route.</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Distribution figures from the Shortlister slide already in this deck; loops from the journey slides. Apply-click counts from the event export.</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Earlier captures (22 Sept) on the persona current-state slides show further instances. Two earlier claims did not reproduce on 24 Sept and are not repeated here: the chat auto-opening a full panel over the form, and ranking numbers shown only as images on the awards page.</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Kept deliberately lower in the story: cosmetic issues are only raised where they plausibly affect discoverability, comprehension or interaction.</a:t>
            </a:r>
          </a:p>
        </p:txBody>
      </p:sp>
      <p:sp>
        <p:nvSpPr>
          <p:cNvPr id="4" name="Slide Number Placeholder 3"/>
          <p:cNvSpPr>
            <a:spLocks noGrp="1"/>
          </p:cNvSpPr>
          <p:nvPr>
            <p:ph type="sldNum" idx="12"/>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Detailed orchestration and fix list follow on the next two slides (from the earlier deck).</a:t>
            </a:r>
          </a:p>
        </p:txBody>
      </p:sp>
      <p:sp>
        <p:nvSpPr>
          <p:cNvPr id="4" name="Slide Number Placeholder 3"/>
          <p:cNvSpPr>
            <a:spLocks noGrp="1"/>
          </p:cNvSpPr>
          <p:nvPr>
            <p:ph type="sldNum" idx="12"/>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Fee values in the concept are the live MRIIRS table values for B.Tech-CSE (185,900 + 119,900 = 305,800) and the industry-partner specialisation row (333,800). The Fee Calculator redirect must be fixed regardless of the test.</a:t>
            </a:r>
          </a:p>
        </p:txBody>
      </p:sp>
      <p:sp>
        <p:nvSpPr>
          <p:cNvPr id="4" name="Slide Number Placeholder 3"/>
          <p:cNvSpPr>
            <a:spLocks noGrp="1"/>
          </p:cNvSpPr>
          <p:nvPr>
            <p:ph type="sldNum" idx="12"/>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 proof claim goes into a test variant until MREI confirms it (see proof inventory).</a:t>
            </a:r>
          </a:p>
        </p:txBody>
      </p:sp>
      <p:sp>
        <p:nvSpPr>
          <p:cNvPr id="4" name="Slide Number Placeholder 3"/>
          <p:cNvSpPr>
            <a:spLocks noGrp="1"/>
          </p:cNvSpPr>
          <p:nvPr>
            <p:ph type="sldNum" idx="12"/>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Blog data-quality check is a precondition, not a test.</a:t>
            </a:r>
          </a:p>
        </p:txBody>
      </p:sp>
      <p:sp>
        <p:nvSpPr>
          <p:cNvPr id="4" name="Slide Number Placeholder 3"/>
          <p:cNvSpPr>
            <a:spLocks noGrp="1"/>
          </p:cNvSpPr>
          <p:nvPr>
            <p:ph type="sldNum" idx="12"/>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Lowest-risk change first: add, don’t redesign.</a:t>
            </a:r>
          </a:p>
        </p:txBody>
      </p:sp>
      <p:sp>
        <p:nvSpPr>
          <p:cNvPr id="4" name="Slide Number Placeholder 3"/>
          <p:cNvSpPr>
            <a:spLocks noGrp="1"/>
          </p:cNvSpPr>
          <p:nvPr>
            <p:ph type="sldNum" idx="12"/>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Phase 0 is the detail behind the first column of the roadmap on the previous slide: until generate_lead exists, the macro KPI in every test that follows cannot be read.</a:t>
            </a:r>
          </a:p>
        </p:txBody>
      </p:sp>
      <p:sp>
        <p:nvSpPr>
          <p:cNvPr id="4" name="Slide Number Placeholder 3"/>
          <p:cNvSpPr>
            <a:spLocks noGrp="1"/>
          </p:cNvSpPr>
          <p:nvPr>
            <p:ph type="sldNum" idx="12"/>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Generic tests (button colours etc.) are deliberately excluded. Each row names the observed behaviour it responds to.</a:t>
            </a:r>
          </a:p>
        </p:txBody>
      </p:sp>
      <p:sp>
        <p:nvSpPr>
          <p:cNvPr id="4" name="Slide Number Placeholder 3"/>
          <p:cNvSpPr>
            <a:spLocks noGrp="1"/>
          </p:cNvSpPr>
          <p:nvPr>
            <p:ph type="sldNum" idx="12"/>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Generic tests (button colours etc.) are deliberately excluded. Each row names the observed behaviour it responds to.</a:t>
            </a:r>
          </a:p>
        </p:txBody>
      </p:sp>
      <p:sp>
        <p:nvSpPr>
          <p:cNvPr id="4" name="Slide Number Placeholder 3"/>
          <p:cNvSpPr>
            <a:spLocks noGrp="1"/>
          </p:cNvSpPr>
          <p:nvPr>
            <p:ph type="sldNum" idx="12"/>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Generic tests (button colours etc.) are deliberately excluded. Each row names the observed behaviour it responds to.</a:t>
            </a:r>
          </a:p>
        </p:txBody>
      </p:sp>
      <p:sp>
        <p:nvSpPr>
          <p:cNvPr id="4" name="Slide Number Placeholder 3"/>
          <p:cNvSpPr>
            <a:spLocks noGrp="1"/>
          </p:cNvSpPr>
          <p:nvPr>
            <p:ph type="sldNum" idx="12"/>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Funnel economics: Leads = organic sessions × share that reaches a capture point × capture rate. Traffic is SEO's term. Capture rate cannot be ranked until Phase 0 gives it a number. Reach is both the leak (0.6%) and the lever (43% of landings meet no next step). The worked illustration is a hypothesis — its assumptions are printed on the slide.</a:t>
            </a:r>
          </a:p>
        </p:txBody>
      </p:sp>
      <p:sp>
        <p:nvSpPr>
          <p:cNvPr id="4" name="Slide Number Placeholder 3"/>
          <p:cNvSpPr>
            <a:spLocks noGrp="1"/>
          </p:cNvSpPr>
          <p:nvPr>
            <p:ph type="sldNum" idx="12"/>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Audit the question, not the template. Each row is a persona with the question it arrives with; each column is a point in the visit. Verdicts come from the live audit (24 Sept) and the GA4 paths already in this deck. Priority = sessions × how close the intent is to a lead — the Cost Checker ranks above the Proof Seeker despite fewer sessions because it is the highest-intent visitor (73.4% engagement, 82 phone clicks). The Shortlister ranks last because it already works: protect it.</a:t>
            </a:r>
          </a:p>
        </p:txBody>
      </p:sp>
      <p:sp>
        <p:nvSpPr>
          <p:cNvPr id="4" name="Slide Number Placeholder 3"/>
          <p:cNvSpPr>
            <a:spLocks noGrp="1"/>
          </p:cNvSpPr>
          <p:nvPr>
            <p:ph type="sldNum" idx="12"/>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Personalisation, kept small: three rules, each fed by a first-party session signal, each with a 10% holdout. If a rule does not beat the default, it comes off. City or campaign signals wait until consent handling is in place. R1 is the cheapest — it is a URL parameter and overlaps with test T4.</a:t>
            </a:r>
          </a:p>
        </p:txBody>
      </p:sp>
      <p:sp>
        <p:nvSpPr>
          <p:cNvPr id="4" name="Slide Number Placeholder 3"/>
          <p:cNvSpPr>
            <a:spLocks noGrp="1"/>
          </p:cNvSpPr>
          <p:nvPr>
            <p:ph type="sldNum" idx="12"/>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How the test programme runs. One live test per template so tests don't contaminate each other, six live at most. Decision rules are agreed before a test starts, not after the result. The freeze window must be agreed with MREI admissions: the dates are theirs, not ours. Never switch off media to create a control — split traffic already arriving.</a:t>
            </a:r>
          </a:p>
        </p:txBody>
      </p:sp>
      <p:sp>
        <p:nvSpPr>
          <p:cNvPr id="4" name="Slide Number Placeholder 3"/>
          <p:cNvSpPr>
            <a:spLocks noGrp="1"/>
          </p:cNvSpPr>
          <p:nvPr>
            <p:ph type="sldNum" idx="12"/>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we would not recommend, and why. This slide is part of the answer: it protects the parts of the site that already work and stops the programme measuring noise.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8" name="Google Shape;18;p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9" name="Google Shape;19;p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6"/>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2" name="Google Shape;22;p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5" name="Google Shape;25;p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6" name="Google Shape;26;p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9" name="Google Shape;29;p8"/>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0" name="Google Shape;30;p8"/>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1" name="Google Shape;31;p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4" name="Google Shape;34;p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1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7" name="Google Shape;37;p1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8" name="Google Shape;38;p1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11"/>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41" name="Google Shape;41;p1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12"/>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4" name="Google Shape;44;p12"/>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5" name="Google Shape;45;p12"/>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 name="Google Shape;46;p12"/>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47" name="Google Shape;47;p1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50" name="Google Shape;50;p1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3" name="Google Shape;53;p1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54" name="Google Shape;54;p1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3" name="Google Shape;13;p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4" name="Google Shape;14;p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5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6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manavrachna.edu.in/mriirs/admissions/fee-structure" TargetMode="External"/><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 Id="rId3" Type="http://schemas.openxmlformats.org/officeDocument/2006/relationships/image" Target="../media/image45.png"/><Relationship Id="rId4" Type="http://schemas.openxmlformats.org/officeDocument/2006/relationships/notesSlide" Target="../notesSlides/notesSlide6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6.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5.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9.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3.png"/><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image" Target="../media/image45.png"/><Relationship Id="rId4" Type="http://schemas.openxmlformats.org/officeDocument/2006/relationships/notesSlide" Target="../notesSlides/notesSlide7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png"/><Relationship Id="rId3" Type="http://schemas.openxmlformats.org/officeDocument/2006/relationships/notesSlide" Target="../notesSlides/notesSlide7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2.png"/><Relationship Id="rId4" Type="http://schemas.openxmlformats.org/officeDocument/2006/relationships/image" Target="../media/image27.png"/><Relationship Id="rId5"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6.png"/><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8.png"/><Relationship Id="rId4" Type="http://schemas.openxmlformats.org/officeDocument/2006/relationships/image" Target="../media/image46.png"/><Relationship Id="rId5" Type="http://schemas.openxmlformats.org/officeDocument/2006/relationships/image" Target="../media/image41.png"/><Relationship Id="rId6" Type="http://schemas.openxmlformats.org/officeDocument/2006/relationships/image" Target="../media/image44.png"/><Relationship Id="rId7"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53.png"/><Relationship Id="rId4" Type="http://schemas.openxmlformats.org/officeDocument/2006/relationships/image" Target="../media/image50.png"/><Relationship Id="rId5"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1.png"/><Relationship Id="rId4" Type="http://schemas.openxmlformats.org/officeDocument/2006/relationships/image" Target="../media/image54.png"/><Relationship Id="rId5" Type="http://schemas.openxmlformats.org/officeDocument/2006/relationships/image" Target="../media/image58.png"/><Relationship Id="rId6" Type="http://schemas.openxmlformats.org/officeDocument/2006/relationships/image" Target="../media/image6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3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C5C"/>
        </a:solidFill>
      </p:bgPr>
    </p:bg>
    <p:spTree>
      <p:nvGrpSpPr>
        <p:cNvPr id="61" name="Shape 61"/>
        <p:cNvGrpSpPr/>
        <p:nvPr/>
      </p:nvGrpSpPr>
      <p:grpSpPr>
        <a:xfrm>
          <a:off x="0" y="0"/>
          <a:ext cx="0" cy="0"/>
          <a:chOff x="0" y="0"/>
          <a:chExt cx="0" cy="0"/>
        </a:xfrm>
      </p:grpSpPr>
      <p:sp>
        <p:nvSpPr>
          <p:cNvPr id="62" name="Google Shape;62;p16"/>
          <p:cNvSpPr/>
          <p:nvPr/>
        </p:nvSpPr>
        <p:spPr>
          <a:xfrm>
            <a:off x="548640" y="1371600"/>
            <a:ext cx="822900" cy="54900"/>
          </a:xfrm>
          <a:prstGeom prst="roundRect">
            <a:avLst>
              <a:gd fmla="val 50000" name="adj"/>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6"/>
          <p:cNvSpPr txBox="1"/>
          <p:nvPr/>
        </p:nvSpPr>
        <p:spPr>
          <a:xfrm>
            <a:off x="548640" y="1691640"/>
            <a:ext cx="10058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Sora"/>
              <a:buNone/>
            </a:pPr>
            <a:r>
              <a:rPr b="1" i="0" lang="en-US" sz="4000" u="none" cap="none" strike="noStrike">
                <a:solidFill>
                  <a:srgbClr val="FFFFFF"/>
                </a:solidFill>
                <a:latin typeface="Sora"/>
                <a:ea typeface="Sora"/>
                <a:cs typeface="Sora"/>
                <a:sym typeface="Sora"/>
              </a:rPr>
              <a:t>Conversion Rate Optimisation</a:t>
            </a:r>
            <a:endParaRPr b="0" i="0" sz="4000" u="none" cap="none" strike="noStrike">
              <a:solidFill>
                <a:schemeClr val="dk1"/>
              </a:solidFill>
              <a:latin typeface="Calibri"/>
              <a:ea typeface="Calibri"/>
              <a:cs typeface="Calibri"/>
              <a:sym typeface="Calibri"/>
            </a:endParaRPr>
          </a:p>
        </p:txBody>
      </p:sp>
      <p:sp>
        <p:nvSpPr>
          <p:cNvPr id="64" name="Google Shape;64;p16"/>
          <p:cNvSpPr txBox="1"/>
          <p:nvPr/>
        </p:nvSpPr>
        <p:spPr>
          <a:xfrm>
            <a:off x="548640" y="233172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7DC"/>
              </a:buClr>
              <a:buSzPts val="2000"/>
              <a:buFont typeface="Sora"/>
              <a:buNone/>
            </a:pPr>
            <a:r>
              <a:rPr b="0" i="0" lang="en-US" sz="2000" u="none" cap="none" strike="noStrike">
                <a:solidFill>
                  <a:srgbClr val="B9C7DC"/>
                </a:solidFill>
                <a:latin typeface="Sora"/>
                <a:ea typeface="Sora"/>
                <a:cs typeface="Sora"/>
                <a:sym typeface="Sora"/>
              </a:rPr>
              <a:t>Building the journeys that turn organic traffic into leads</a:t>
            </a:r>
            <a:endParaRPr b="0" i="0" sz="2000" u="none" cap="none" strike="noStrike">
              <a:solidFill>
                <a:schemeClr val="dk1"/>
              </a:solidFill>
              <a:latin typeface="Calibri"/>
              <a:ea typeface="Calibri"/>
              <a:cs typeface="Calibri"/>
              <a:sym typeface="Calibri"/>
            </a:endParaRPr>
          </a:p>
        </p:txBody>
      </p:sp>
      <p:sp>
        <p:nvSpPr>
          <p:cNvPr id="65" name="Google Shape;65;p16"/>
          <p:cNvSpPr txBox="1"/>
          <p:nvPr/>
        </p:nvSpPr>
        <p:spPr>
          <a:xfrm>
            <a:off x="548640" y="3154680"/>
            <a:ext cx="10058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Manav Rachna Educational Institutions  |  MRIIRS  ·  MRU</a:t>
            </a:r>
            <a:endParaRPr b="0" i="0" sz="1500" u="none" cap="none" strike="noStrike">
              <a:solidFill>
                <a:schemeClr val="dk1"/>
              </a:solidFill>
              <a:latin typeface="Calibri"/>
              <a:ea typeface="Calibri"/>
              <a:cs typeface="Calibri"/>
              <a:sym typeface="Calibri"/>
            </a:endParaRPr>
          </a:p>
        </p:txBody>
      </p:sp>
      <p:sp>
        <p:nvSpPr>
          <p:cNvPr id="66" name="Google Shape;66;p16"/>
          <p:cNvSpPr txBox="1"/>
          <p:nvPr/>
        </p:nvSpPr>
        <p:spPr>
          <a:xfrm>
            <a:off x="548640" y="4114800"/>
            <a:ext cx="256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00"/>
              <a:buFont typeface="Sora"/>
              <a:buNone/>
            </a:pPr>
            <a:r>
              <a:rPr b="1" i="0" lang="en-US" sz="3100" u="none" cap="none" strike="noStrike">
                <a:solidFill>
                  <a:srgbClr val="FFFFFF"/>
                </a:solidFill>
                <a:latin typeface="Sora"/>
                <a:ea typeface="Sora"/>
                <a:cs typeface="Sora"/>
                <a:sym typeface="Sora"/>
              </a:rPr>
              <a:t>2,91,492</a:t>
            </a:r>
            <a:endParaRPr b="0" i="0" sz="3100" u="none" cap="none" strike="noStrike">
              <a:solidFill>
                <a:schemeClr val="dk1"/>
              </a:solidFill>
              <a:latin typeface="Calibri"/>
              <a:ea typeface="Calibri"/>
              <a:cs typeface="Calibri"/>
              <a:sym typeface="Calibri"/>
            </a:endParaRPr>
          </a:p>
        </p:txBody>
      </p:sp>
      <p:sp>
        <p:nvSpPr>
          <p:cNvPr id="67" name="Google Shape;67;p16"/>
          <p:cNvSpPr txBox="1"/>
          <p:nvPr/>
        </p:nvSpPr>
        <p:spPr>
          <a:xfrm>
            <a:off x="548640" y="4645152"/>
            <a:ext cx="256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1100"/>
              <a:buFont typeface="Sora"/>
              <a:buNone/>
            </a:pPr>
            <a:r>
              <a:rPr b="0" i="0" lang="en-US" sz="1100" u="none" cap="none" strike="noStrike">
                <a:solidFill>
                  <a:srgbClr val="8FA3BF"/>
                </a:solidFill>
                <a:latin typeface="Sora"/>
                <a:ea typeface="Sora"/>
                <a:cs typeface="Sora"/>
                <a:sym typeface="Sora"/>
              </a:rPr>
              <a:t>Sessions analysed</a:t>
            </a:r>
            <a:endParaRPr b="0" i="0" sz="1100" u="none" cap="none" strike="noStrike">
              <a:solidFill>
                <a:schemeClr val="dk1"/>
              </a:solidFill>
              <a:latin typeface="Calibri"/>
              <a:ea typeface="Calibri"/>
              <a:cs typeface="Calibri"/>
              <a:sym typeface="Calibri"/>
            </a:endParaRPr>
          </a:p>
        </p:txBody>
      </p:sp>
      <p:sp>
        <p:nvSpPr>
          <p:cNvPr id="68" name="Google Shape;68;p16"/>
          <p:cNvSpPr txBox="1"/>
          <p:nvPr/>
        </p:nvSpPr>
        <p:spPr>
          <a:xfrm>
            <a:off x="3291840" y="4114800"/>
            <a:ext cx="256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00"/>
              <a:buFont typeface="Sora"/>
              <a:buNone/>
            </a:pPr>
            <a:r>
              <a:rPr b="1" i="0" lang="en-US" sz="3100" u="none" cap="none" strike="noStrike">
                <a:solidFill>
                  <a:srgbClr val="FFFFFF"/>
                </a:solidFill>
                <a:latin typeface="Sora"/>
                <a:ea typeface="Sora"/>
                <a:cs typeface="Sora"/>
                <a:sym typeface="Sora"/>
              </a:rPr>
              <a:t>67.4%</a:t>
            </a:r>
            <a:endParaRPr b="0" i="0" sz="3100" u="none" cap="none" strike="noStrike">
              <a:solidFill>
                <a:schemeClr val="dk1"/>
              </a:solidFill>
              <a:latin typeface="Calibri"/>
              <a:ea typeface="Calibri"/>
              <a:cs typeface="Calibri"/>
              <a:sym typeface="Calibri"/>
            </a:endParaRPr>
          </a:p>
        </p:txBody>
      </p:sp>
      <p:sp>
        <p:nvSpPr>
          <p:cNvPr id="69" name="Google Shape;69;p16"/>
          <p:cNvSpPr txBox="1"/>
          <p:nvPr/>
        </p:nvSpPr>
        <p:spPr>
          <a:xfrm>
            <a:off x="3291840" y="4645152"/>
            <a:ext cx="256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1100"/>
              <a:buFont typeface="Sora"/>
              <a:buNone/>
            </a:pPr>
            <a:r>
              <a:rPr b="0" i="0" lang="en-US" sz="1100" u="none" cap="none" strike="noStrike">
                <a:solidFill>
                  <a:srgbClr val="8FA3BF"/>
                </a:solidFill>
                <a:latin typeface="Sora"/>
                <a:ea typeface="Sora"/>
                <a:cs typeface="Sora"/>
                <a:sym typeface="Sora"/>
              </a:rPr>
              <a:t>From organic search</a:t>
            </a:r>
            <a:endParaRPr b="0" i="0" sz="1100" u="none" cap="none" strike="noStrike">
              <a:solidFill>
                <a:schemeClr val="dk1"/>
              </a:solidFill>
              <a:latin typeface="Calibri"/>
              <a:ea typeface="Calibri"/>
              <a:cs typeface="Calibri"/>
              <a:sym typeface="Calibri"/>
            </a:endParaRPr>
          </a:p>
        </p:txBody>
      </p:sp>
      <p:sp>
        <p:nvSpPr>
          <p:cNvPr id="70" name="Google Shape;70;p16"/>
          <p:cNvSpPr txBox="1"/>
          <p:nvPr/>
        </p:nvSpPr>
        <p:spPr>
          <a:xfrm>
            <a:off x="6035040" y="4114800"/>
            <a:ext cx="256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00"/>
              <a:buFont typeface="Sora"/>
              <a:buNone/>
            </a:pPr>
            <a:r>
              <a:rPr b="1" i="0" lang="en-US" sz="3100" u="none" cap="none" strike="noStrike">
                <a:solidFill>
                  <a:srgbClr val="FFFFFF"/>
                </a:solidFill>
                <a:latin typeface="Sora"/>
                <a:ea typeface="Sora"/>
                <a:cs typeface="Sora"/>
                <a:sym typeface="Sora"/>
              </a:rPr>
              <a:t>90 days</a:t>
            </a:r>
            <a:endParaRPr b="0" i="0" sz="3100" u="none" cap="none" strike="noStrike">
              <a:solidFill>
                <a:schemeClr val="dk1"/>
              </a:solidFill>
              <a:latin typeface="Calibri"/>
              <a:ea typeface="Calibri"/>
              <a:cs typeface="Calibri"/>
              <a:sym typeface="Calibri"/>
            </a:endParaRPr>
          </a:p>
        </p:txBody>
      </p:sp>
      <p:sp>
        <p:nvSpPr>
          <p:cNvPr id="71" name="Google Shape;71;p16"/>
          <p:cNvSpPr txBox="1"/>
          <p:nvPr/>
        </p:nvSpPr>
        <p:spPr>
          <a:xfrm>
            <a:off x="6035040" y="4645152"/>
            <a:ext cx="256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1100"/>
              <a:buFont typeface="Sora"/>
              <a:buNone/>
            </a:pPr>
            <a:r>
              <a:rPr b="0" i="0" lang="en-US" sz="1100" u="none" cap="none" strike="noStrike">
                <a:solidFill>
                  <a:srgbClr val="8FA3BF"/>
                </a:solidFill>
                <a:latin typeface="Sora"/>
                <a:ea typeface="Sora"/>
                <a:cs typeface="Sora"/>
                <a:sym typeface="Sora"/>
              </a:rPr>
              <a:t>GA4 behavioural data</a:t>
            </a:r>
            <a:endParaRPr b="0" i="0" sz="1100" u="none" cap="none" strike="noStrike">
              <a:solidFill>
                <a:schemeClr val="dk1"/>
              </a:solidFill>
              <a:latin typeface="Calibri"/>
              <a:ea typeface="Calibri"/>
              <a:cs typeface="Calibri"/>
              <a:sym typeface="Calibri"/>
            </a:endParaRPr>
          </a:p>
        </p:txBody>
      </p:sp>
      <p:sp>
        <p:nvSpPr>
          <p:cNvPr id="72" name="Google Shape;72;p16"/>
          <p:cNvSpPr txBox="1"/>
          <p:nvPr/>
        </p:nvSpPr>
        <p:spPr>
          <a:xfrm>
            <a:off x="8778240" y="4114800"/>
            <a:ext cx="256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00"/>
              <a:buFont typeface="Sora"/>
              <a:buNone/>
            </a:pPr>
            <a:r>
              <a:rPr b="1" i="0" lang="en-US" sz="3100" u="none" cap="none" strike="noStrike">
                <a:solidFill>
                  <a:srgbClr val="FFFFFF"/>
                </a:solidFill>
                <a:latin typeface="Sora"/>
                <a:ea typeface="Sora"/>
                <a:cs typeface="Sora"/>
                <a:sym typeface="Sora"/>
              </a:rPr>
              <a:t>5</a:t>
            </a:r>
            <a:endParaRPr b="0" i="0" sz="3100" u="none" cap="none" strike="noStrike">
              <a:solidFill>
                <a:schemeClr val="dk1"/>
              </a:solidFill>
              <a:latin typeface="Calibri"/>
              <a:ea typeface="Calibri"/>
              <a:cs typeface="Calibri"/>
              <a:sym typeface="Calibri"/>
            </a:endParaRPr>
          </a:p>
        </p:txBody>
      </p:sp>
      <p:sp>
        <p:nvSpPr>
          <p:cNvPr id="73" name="Google Shape;73;p16"/>
          <p:cNvSpPr txBox="1"/>
          <p:nvPr/>
        </p:nvSpPr>
        <p:spPr>
          <a:xfrm>
            <a:off x="8778240" y="4645152"/>
            <a:ext cx="256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1100"/>
              <a:buFont typeface="Sora"/>
              <a:buNone/>
            </a:pPr>
            <a:r>
              <a:rPr b="0" i="0" lang="en-US" sz="1100" u="none" cap="none" strike="noStrike">
                <a:solidFill>
                  <a:srgbClr val="8FA3BF"/>
                </a:solidFill>
                <a:latin typeface="Sora"/>
                <a:ea typeface="Sora"/>
                <a:cs typeface="Sora"/>
                <a:sym typeface="Sora"/>
              </a:rPr>
              <a:t>Distinct user journeys</a:t>
            </a:r>
            <a:endParaRPr b="0" i="0" sz="1100" u="none" cap="none" strike="noStrike">
              <a:solidFill>
                <a:schemeClr val="dk1"/>
              </a:solidFill>
              <a:latin typeface="Calibri"/>
              <a:ea typeface="Calibri"/>
              <a:cs typeface="Calibri"/>
              <a:sym typeface="Calibri"/>
            </a:endParaRPr>
          </a:p>
        </p:txBody>
      </p:sp>
      <p:sp>
        <p:nvSpPr>
          <p:cNvPr id="74" name="Google Shape;74;p16"/>
          <p:cNvSpPr txBox="1"/>
          <p:nvPr/>
        </p:nvSpPr>
        <p:spPr>
          <a:xfrm>
            <a:off x="548640" y="6035040"/>
            <a:ext cx="100584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90AD"/>
              </a:buClr>
              <a:buSzPts val="1100"/>
              <a:buFont typeface="Sora"/>
              <a:buNone/>
            </a:pPr>
            <a:r>
              <a:rPr b="0" i="0" lang="en-US" sz="1100" u="none" cap="none" strike="noStrike">
                <a:solidFill>
                  <a:srgbClr val="7C90AD"/>
                </a:solidFill>
                <a:latin typeface="Sora"/>
                <a:ea typeface="Sora"/>
                <a:cs typeface="Sora"/>
                <a:sym typeface="Sora"/>
              </a:rPr>
              <a:t>Prepared by Schbang  ·  September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HOW THIS DECK IS BUILT</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Data first. Behaviour second. Only then, problems and fixes.</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Every recommendation traces back to a metric, a path, an event or a screenshot.</a:t>
            </a:r>
          </a:p>
        </p:txBody>
      </p:sp>
      <p:sp>
        <p:nvSpPr>
          <p:cNvPr id="5" name="Rounded Rectangle 4"/>
          <p:cNvSpPr/>
          <p:nvPr/>
        </p:nvSpPr>
        <p:spPr>
          <a:xfrm>
            <a:off x="548640" y="1691640"/>
            <a:ext cx="1486553" cy="210312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1810512"/>
            <a:ext cx="1230521" cy="274320"/>
          </a:xfrm>
          <a:prstGeom prst="rect">
            <a:avLst/>
          </a:prstGeom>
          <a:noFill/>
        </p:spPr>
        <p:txBody>
          <a:bodyPr wrap="square" lIns="0" rIns="0" tIns="0" bIns="0" anchor="t">
            <a:spAutoFit/>
          </a:bodyPr>
          <a:lstStyle/>
          <a:p>
            <a:pPr algn="l"/>
            <a:r>
              <a:rPr sz="1800" b="1" i="0">
                <a:solidFill>
                  <a:srgbClr val="CADCFC"/>
                </a:solidFill>
                <a:latin typeface="Sora"/>
              </a:rPr>
              <a:t>01</a:t>
            </a:r>
          </a:p>
        </p:txBody>
      </p:sp>
      <p:sp>
        <p:nvSpPr>
          <p:cNvPr id="7" name="TextBox 6"/>
          <p:cNvSpPr txBox="1"/>
          <p:nvPr/>
        </p:nvSpPr>
        <p:spPr>
          <a:xfrm>
            <a:off x="676656" y="2212848"/>
            <a:ext cx="1230521" cy="548640"/>
          </a:xfrm>
          <a:prstGeom prst="rect">
            <a:avLst/>
          </a:prstGeom>
          <a:noFill/>
        </p:spPr>
        <p:txBody>
          <a:bodyPr wrap="square" lIns="0" rIns="0" tIns="0" bIns="0" anchor="t">
            <a:spAutoFit/>
          </a:bodyPr>
          <a:lstStyle/>
          <a:p>
            <a:pPr algn="l"/>
            <a:r>
              <a:rPr sz="1050" b="1" i="0">
                <a:solidFill>
                  <a:srgbClr val="FFFFFF"/>
                </a:solidFill>
                <a:latin typeface="Sora"/>
              </a:rPr>
              <a:t>The opportunity</a:t>
            </a:r>
          </a:p>
        </p:txBody>
      </p:sp>
      <p:sp>
        <p:nvSpPr>
          <p:cNvPr id="8" name="TextBox 7"/>
          <p:cNvSpPr txBox="1"/>
          <p:nvPr/>
        </p:nvSpPr>
        <p:spPr>
          <a:xfrm>
            <a:off x="676656" y="2852928"/>
            <a:ext cx="1230521" cy="868680"/>
          </a:xfrm>
          <a:prstGeom prst="rect">
            <a:avLst/>
          </a:prstGeom>
          <a:noFill/>
        </p:spPr>
        <p:txBody>
          <a:bodyPr wrap="square" lIns="0" rIns="0" tIns="0" bIns="0" anchor="t">
            <a:spAutoFit/>
          </a:bodyPr>
          <a:lstStyle/>
          <a:p>
            <a:pPr algn="l"/>
            <a:r>
              <a:rPr sz="850" b="0" i="0">
                <a:solidFill>
                  <a:srgbClr val="CADCFC"/>
                </a:solidFill>
                <a:latin typeface="Sora"/>
              </a:rPr>
              <a:t>Traffic, organic share, where conversion happens</a:t>
            </a:r>
          </a:p>
        </p:txBody>
      </p:sp>
      <p:sp>
        <p:nvSpPr>
          <p:cNvPr id="9" name="Rounded Rectangle 8"/>
          <p:cNvSpPr/>
          <p:nvPr/>
        </p:nvSpPr>
        <p:spPr>
          <a:xfrm>
            <a:off x="2144921" y="1691640"/>
            <a:ext cx="1486553" cy="210312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72937" y="1810512"/>
            <a:ext cx="1230521" cy="274320"/>
          </a:xfrm>
          <a:prstGeom prst="rect">
            <a:avLst/>
          </a:prstGeom>
          <a:noFill/>
        </p:spPr>
        <p:txBody>
          <a:bodyPr wrap="square" lIns="0" rIns="0" tIns="0" bIns="0" anchor="t">
            <a:spAutoFit/>
          </a:bodyPr>
          <a:lstStyle/>
          <a:p>
            <a:pPr algn="l"/>
            <a:r>
              <a:rPr sz="1800" b="1" i="0">
                <a:solidFill>
                  <a:srgbClr val="CADCFC"/>
                </a:solidFill>
                <a:latin typeface="Sora"/>
              </a:rPr>
              <a:t>02</a:t>
            </a:r>
          </a:p>
        </p:txBody>
      </p:sp>
      <p:sp>
        <p:nvSpPr>
          <p:cNvPr id="11" name="TextBox 10"/>
          <p:cNvSpPr txBox="1"/>
          <p:nvPr/>
        </p:nvSpPr>
        <p:spPr>
          <a:xfrm>
            <a:off x="2272937" y="2212848"/>
            <a:ext cx="1230521" cy="548640"/>
          </a:xfrm>
          <a:prstGeom prst="rect">
            <a:avLst/>
          </a:prstGeom>
          <a:noFill/>
        </p:spPr>
        <p:txBody>
          <a:bodyPr wrap="square" lIns="0" rIns="0" tIns="0" bIns="0" anchor="t">
            <a:spAutoFit/>
          </a:bodyPr>
          <a:lstStyle/>
          <a:p>
            <a:pPr algn="l"/>
            <a:r>
              <a:rPr sz="1050" b="1" i="0">
                <a:solidFill>
                  <a:srgbClr val="FFFFFF"/>
                </a:solidFill>
                <a:latin typeface="Sora"/>
              </a:rPr>
              <a:t>What users actually do</a:t>
            </a:r>
          </a:p>
        </p:txBody>
      </p:sp>
      <p:sp>
        <p:nvSpPr>
          <p:cNvPr id="12" name="TextBox 11"/>
          <p:cNvSpPr txBox="1"/>
          <p:nvPr/>
        </p:nvSpPr>
        <p:spPr>
          <a:xfrm>
            <a:off x="2272937" y="2852928"/>
            <a:ext cx="1230521" cy="868680"/>
          </a:xfrm>
          <a:prstGeom prst="rect">
            <a:avLst/>
          </a:prstGeom>
          <a:noFill/>
        </p:spPr>
        <p:txBody>
          <a:bodyPr wrap="square" lIns="0" rIns="0" tIns="0" bIns="0" anchor="t">
            <a:spAutoFit/>
          </a:bodyPr>
          <a:lstStyle/>
          <a:p>
            <a:pPr algn="l"/>
            <a:r>
              <a:rPr sz="850" b="0" i="0">
                <a:solidFill>
                  <a:srgbClr val="CADCFC"/>
                </a:solidFill>
                <a:latin typeface="Sora"/>
              </a:rPr>
              <a:t>Events + page paths: move, stop, loop, signal</a:t>
            </a:r>
          </a:p>
        </p:txBody>
      </p:sp>
      <p:sp>
        <p:nvSpPr>
          <p:cNvPr id="13" name="Rounded Rectangle 12"/>
          <p:cNvSpPr/>
          <p:nvPr/>
        </p:nvSpPr>
        <p:spPr>
          <a:xfrm>
            <a:off x="3741202" y="1691640"/>
            <a:ext cx="1486553" cy="21031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69218" y="1810512"/>
            <a:ext cx="1230521" cy="274320"/>
          </a:xfrm>
          <a:prstGeom prst="rect">
            <a:avLst/>
          </a:prstGeom>
          <a:noFill/>
        </p:spPr>
        <p:txBody>
          <a:bodyPr wrap="square" lIns="0" rIns="0" tIns="0" bIns="0" anchor="t">
            <a:spAutoFit/>
          </a:bodyPr>
          <a:lstStyle/>
          <a:p>
            <a:pPr algn="l"/>
            <a:r>
              <a:rPr sz="1800" b="1" i="0">
                <a:solidFill>
                  <a:srgbClr val="C8102E"/>
                </a:solidFill>
                <a:latin typeface="Sora"/>
              </a:rPr>
              <a:t>03</a:t>
            </a:r>
          </a:p>
        </p:txBody>
      </p:sp>
      <p:sp>
        <p:nvSpPr>
          <p:cNvPr id="15" name="TextBox 14"/>
          <p:cNvSpPr txBox="1"/>
          <p:nvPr/>
        </p:nvSpPr>
        <p:spPr>
          <a:xfrm>
            <a:off x="3869218" y="2212848"/>
            <a:ext cx="1230521" cy="548640"/>
          </a:xfrm>
          <a:prstGeom prst="rect">
            <a:avLst/>
          </a:prstGeom>
          <a:noFill/>
        </p:spPr>
        <p:txBody>
          <a:bodyPr wrap="square" lIns="0" rIns="0" tIns="0" bIns="0" anchor="t">
            <a:spAutoFit/>
          </a:bodyPr>
          <a:lstStyle/>
          <a:p>
            <a:pPr algn="l"/>
            <a:r>
              <a:rPr sz="1050" b="1" i="0">
                <a:solidFill>
                  <a:srgbClr val="0F2C5C"/>
                </a:solidFill>
                <a:latin typeface="Sora"/>
              </a:rPr>
              <a:t>The five journeys</a:t>
            </a:r>
          </a:p>
        </p:txBody>
      </p:sp>
      <p:sp>
        <p:nvSpPr>
          <p:cNvPr id="16" name="TextBox 15"/>
          <p:cNvSpPr txBox="1"/>
          <p:nvPr/>
        </p:nvSpPr>
        <p:spPr>
          <a:xfrm>
            <a:off x="3869218" y="2852928"/>
            <a:ext cx="1230521" cy="868680"/>
          </a:xfrm>
          <a:prstGeom prst="rect">
            <a:avLst/>
          </a:prstGeom>
          <a:noFill/>
        </p:spPr>
        <p:txBody>
          <a:bodyPr wrap="square" lIns="0" rIns="0" tIns="0" bIns="0" anchor="t">
            <a:spAutoFit/>
          </a:bodyPr>
          <a:lstStyle/>
          <a:p>
            <a:pPr algn="l"/>
            <a:r>
              <a:rPr sz="850" b="0" i="0">
                <a:solidFill>
                  <a:srgbClr val="5A6472"/>
                </a:solidFill>
                <a:latin typeface="Sora"/>
              </a:rPr>
              <a:t>Evidence + page path for each persona</a:t>
            </a:r>
          </a:p>
        </p:txBody>
      </p:sp>
      <p:sp>
        <p:nvSpPr>
          <p:cNvPr id="17" name="Rounded Rectangle 16"/>
          <p:cNvSpPr/>
          <p:nvPr/>
        </p:nvSpPr>
        <p:spPr>
          <a:xfrm>
            <a:off x="5337483" y="1691640"/>
            <a:ext cx="1486553" cy="21031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65499" y="1810512"/>
            <a:ext cx="1230521" cy="274320"/>
          </a:xfrm>
          <a:prstGeom prst="rect">
            <a:avLst/>
          </a:prstGeom>
          <a:noFill/>
        </p:spPr>
        <p:txBody>
          <a:bodyPr wrap="square" lIns="0" rIns="0" tIns="0" bIns="0" anchor="t">
            <a:spAutoFit/>
          </a:bodyPr>
          <a:lstStyle/>
          <a:p>
            <a:pPr algn="l"/>
            <a:r>
              <a:rPr sz="1800" b="1" i="0">
                <a:solidFill>
                  <a:srgbClr val="C8102E"/>
                </a:solidFill>
                <a:latin typeface="Sora"/>
              </a:rPr>
              <a:t>04</a:t>
            </a:r>
          </a:p>
        </p:txBody>
      </p:sp>
      <p:sp>
        <p:nvSpPr>
          <p:cNvPr id="19" name="TextBox 18"/>
          <p:cNvSpPr txBox="1"/>
          <p:nvPr/>
        </p:nvSpPr>
        <p:spPr>
          <a:xfrm>
            <a:off x="5465499" y="2212848"/>
            <a:ext cx="1230521" cy="548640"/>
          </a:xfrm>
          <a:prstGeom prst="rect">
            <a:avLst/>
          </a:prstGeom>
          <a:noFill/>
        </p:spPr>
        <p:txBody>
          <a:bodyPr wrap="square" lIns="0" rIns="0" tIns="0" bIns="0" anchor="t">
            <a:spAutoFit/>
          </a:bodyPr>
          <a:lstStyle/>
          <a:p>
            <a:pPr algn="l"/>
            <a:r>
              <a:rPr sz="1050" b="1" i="0">
                <a:solidFill>
                  <a:srgbClr val="0F2C5C"/>
                </a:solidFill>
                <a:latin typeface="Sora"/>
              </a:rPr>
              <a:t>What breaks</a:t>
            </a:r>
          </a:p>
        </p:txBody>
      </p:sp>
      <p:sp>
        <p:nvSpPr>
          <p:cNvPr id="20" name="TextBox 19"/>
          <p:cNvSpPr txBox="1"/>
          <p:nvPr/>
        </p:nvSpPr>
        <p:spPr>
          <a:xfrm>
            <a:off x="5465499" y="2852928"/>
            <a:ext cx="1230521" cy="868680"/>
          </a:xfrm>
          <a:prstGeom prst="rect">
            <a:avLst/>
          </a:prstGeom>
          <a:noFill/>
        </p:spPr>
        <p:txBody>
          <a:bodyPr wrap="square" lIns="0" rIns="0" tIns="0" bIns="0" anchor="t">
            <a:spAutoFit/>
          </a:bodyPr>
          <a:lstStyle/>
          <a:p>
            <a:pPr algn="l"/>
            <a:r>
              <a:rPr sz="850" b="0" i="0">
                <a:solidFill>
                  <a:srgbClr val="5A6472"/>
                </a:solidFill>
                <a:latin typeface="Sora"/>
              </a:rPr>
              <a:t>Three gaps + sitewide template issues</a:t>
            </a:r>
          </a:p>
        </p:txBody>
      </p:sp>
      <p:sp>
        <p:nvSpPr>
          <p:cNvPr id="21" name="Rounded Rectangle 20"/>
          <p:cNvSpPr/>
          <p:nvPr/>
        </p:nvSpPr>
        <p:spPr>
          <a:xfrm>
            <a:off x="6933764" y="1691640"/>
            <a:ext cx="1486553" cy="21031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61780" y="1810512"/>
            <a:ext cx="1230521" cy="274320"/>
          </a:xfrm>
          <a:prstGeom prst="rect">
            <a:avLst/>
          </a:prstGeom>
          <a:noFill/>
        </p:spPr>
        <p:txBody>
          <a:bodyPr wrap="square" lIns="0" rIns="0" tIns="0" bIns="0" anchor="t">
            <a:spAutoFit/>
          </a:bodyPr>
          <a:lstStyle/>
          <a:p>
            <a:pPr algn="l"/>
            <a:r>
              <a:rPr sz="1800" b="1" i="0">
                <a:solidFill>
                  <a:srgbClr val="C8102E"/>
                </a:solidFill>
                <a:latin typeface="Sora"/>
              </a:rPr>
              <a:t>05</a:t>
            </a:r>
          </a:p>
        </p:txBody>
      </p:sp>
      <p:sp>
        <p:nvSpPr>
          <p:cNvPr id="23" name="TextBox 22"/>
          <p:cNvSpPr txBox="1"/>
          <p:nvPr/>
        </p:nvSpPr>
        <p:spPr>
          <a:xfrm>
            <a:off x="7061780" y="2212848"/>
            <a:ext cx="1230521" cy="548640"/>
          </a:xfrm>
          <a:prstGeom prst="rect">
            <a:avLst/>
          </a:prstGeom>
          <a:noFill/>
        </p:spPr>
        <p:txBody>
          <a:bodyPr wrap="square" lIns="0" rIns="0" tIns="0" bIns="0" anchor="t">
            <a:spAutoFit/>
          </a:bodyPr>
          <a:lstStyle/>
          <a:p>
            <a:pPr algn="l"/>
            <a:r>
              <a:rPr sz="1050" b="1" i="0">
                <a:solidFill>
                  <a:srgbClr val="0F2C5C"/>
                </a:solidFill>
                <a:latin typeface="Sora"/>
              </a:rPr>
              <a:t>What the site should do</a:t>
            </a:r>
          </a:p>
        </p:txBody>
      </p:sp>
      <p:sp>
        <p:nvSpPr>
          <p:cNvPr id="24" name="TextBox 23"/>
          <p:cNvSpPr txBox="1"/>
          <p:nvPr/>
        </p:nvSpPr>
        <p:spPr>
          <a:xfrm>
            <a:off x="7061780" y="2852928"/>
            <a:ext cx="1230521" cy="868680"/>
          </a:xfrm>
          <a:prstGeom prst="rect">
            <a:avLst/>
          </a:prstGeom>
          <a:noFill/>
        </p:spPr>
        <p:txBody>
          <a:bodyPr wrap="square" lIns="0" rIns="0" tIns="0" bIns="0" anchor="t">
            <a:spAutoFit/>
          </a:bodyPr>
          <a:lstStyle/>
          <a:p>
            <a:pPr algn="l"/>
            <a:r>
              <a:rPr sz="850" b="0" i="0">
                <a:solidFill>
                  <a:srgbClr val="5A6472"/>
                </a:solidFill>
                <a:latin typeface="Sora"/>
              </a:rPr>
              <a:t>Journey and interaction architecture</a:t>
            </a:r>
          </a:p>
        </p:txBody>
      </p:sp>
      <p:sp>
        <p:nvSpPr>
          <p:cNvPr id="25" name="Rounded Rectangle 24"/>
          <p:cNvSpPr/>
          <p:nvPr/>
        </p:nvSpPr>
        <p:spPr>
          <a:xfrm>
            <a:off x="8530045" y="1691640"/>
            <a:ext cx="1486553" cy="21031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58061" y="1810512"/>
            <a:ext cx="1230521" cy="274320"/>
          </a:xfrm>
          <a:prstGeom prst="rect">
            <a:avLst/>
          </a:prstGeom>
          <a:noFill/>
        </p:spPr>
        <p:txBody>
          <a:bodyPr wrap="square" lIns="0" rIns="0" tIns="0" bIns="0" anchor="t">
            <a:spAutoFit/>
          </a:bodyPr>
          <a:lstStyle/>
          <a:p>
            <a:pPr algn="l"/>
            <a:r>
              <a:rPr sz="1800" b="1" i="0">
                <a:solidFill>
                  <a:srgbClr val="C8102E"/>
                </a:solidFill>
                <a:latin typeface="Sora"/>
              </a:rPr>
              <a:t>06</a:t>
            </a:r>
          </a:p>
        </p:txBody>
      </p:sp>
      <p:sp>
        <p:nvSpPr>
          <p:cNvPr id="27" name="TextBox 26"/>
          <p:cNvSpPr txBox="1"/>
          <p:nvPr/>
        </p:nvSpPr>
        <p:spPr>
          <a:xfrm>
            <a:off x="8658061" y="2212848"/>
            <a:ext cx="1230521" cy="548640"/>
          </a:xfrm>
          <a:prstGeom prst="rect">
            <a:avLst/>
          </a:prstGeom>
          <a:noFill/>
        </p:spPr>
        <p:txBody>
          <a:bodyPr wrap="square" lIns="0" rIns="0" tIns="0" bIns="0" anchor="t">
            <a:spAutoFit/>
          </a:bodyPr>
          <a:lstStyle/>
          <a:p>
            <a:pPr algn="l"/>
            <a:r>
              <a:rPr sz="1050" b="1" i="0">
                <a:solidFill>
                  <a:srgbClr val="0F2C5C"/>
                </a:solidFill>
                <a:latin typeface="Sora"/>
              </a:rPr>
              <a:t>Page &amp; template fixes</a:t>
            </a:r>
          </a:p>
        </p:txBody>
      </p:sp>
      <p:sp>
        <p:nvSpPr>
          <p:cNvPr id="28" name="TextBox 27"/>
          <p:cNvSpPr txBox="1"/>
          <p:nvPr/>
        </p:nvSpPr>
        <p:spPr>
          <a:xfrm>
            <a:off x="8658061" y="2852928"/>
            <a:ext cx="1230521" cy="868680"/>
          </a:xfrm>
          <a:prstGeom prst="rect">
            <a:avLst/>
          </a:prstGeom>
          <a:noFill/>
        </p:spPr>
        <p:txBody>
          <a:bodyPr wrap="square" lIns="0" rIns="0" tIns="0" bIns="0" anchor="t">
            <a:spAutoFit/>
          </a:bodyPr>
          <a:lstStyle/>
          <a:p>
            <a:pPr algn="l"/>
            <a:r>
              <a:rPr sz="850" b="0" i="0">
                <a:solidFill>
                  <a:srgbClr val="5A6472"/>
                </a:solidFill>
                <a:latin typeface="Sora"/>
              </a:rPr>
              <a:t>Course · Fees · Proof · Blog · Institution</a:t>
            </a:r>
          </a:p>
        </p:txBody>
      </p:sp>
      <p:sp>
        <p:nvSpPr>
          <p:cNvPr id="29" name="Rounded Rectangle 28"/>
          <p:cNvSpPr/>
          <p:nvPr/>
        </p:nvSpPr>
        <p:spPr>
          <a:xfrm>
            <a:off x="10126326" y="1691640"/>
            <a:ext cx="1486553" cy="21031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54342" y="1810512"/>
            <a:ext cx="1230521" cy="274320"/>
          </a:xfrm>
          <a:prstGeom prst="rect">
            <a:avLst/>
          </a:prstGeom>
          <a:noFill/>
        </p:spPr>
        <p:txBody>
          <a:bodyPr wrap="square" lIns="0" rIns="0" tIns="0" bIns="0" anchor="t">
            <a:spAutoFit/>
          </a:bodyPr>
          <a:lstStyle/>
          <a:p>
            <a:pPr algn="l"/>
            <a:r>
              <a:rPr sz="1800" b="1" i="0">
                <a:solidFill>
                  <a:srgbClr val="C8102E"/>
                </a:solidFill>
                <a:latin typeface="Sora"/>
              </a:rPr>
              <a:t>07</a:t>
            </a:r>
          </a:p>
        </p:txBody>
      </p:sp>
      <p:sp>
        <p:nvSpPr>
          <p:cNvPr id="31" name="TextBox 30"/>
          <p:cNvSpPr txBox="1"/>
          <p:nvPr/>
        </p:nvSpPr>
        <p:spPr>
          <a:xfrm>
            <a:off x="10254342" y="2212848"/>
            <a:ext cx="1230521" cy="548640"/>
          </a:xfrm>
          <a:prstGeom prst="rect">
            <a:avLst/>
          </a:prstGeom>
          <a:noFill/>
        </p:spPr>
        <p:txBody>
          <a:bodyPr wrap="square" lIns="0" rIns="0" tIns="0" bIns="0" anchor="t">
            <a:spAutoFit/>
          </a:bodyPr>
          <a:lstStyle/>
          <a:p>
            <a:pPr algn="l"/>
            <a:r>
              <a:rPr sz="1050" b="1" i="0">
                <a:solidFill>
                  <a:srgbClr val="0F2C5C"/>
                </a:solidFill>
                <a:latin typeface="Sora"/>
              </a:rPr>
              <a:t>Experimentation</a:t>
            </a:r>
          </a:p>
        </p:txBody>
      </p:sp>
      <p:sp>
        <p:nvSpPr>
          <p:cNvPr id="32" name="TextBox 31"/>
          <p:cNvSpPr txBox="1"/>
          <p:nvPr/>
        </p:nvSpPr>
        <p:spPr>
          <a:xfrm>
            <a:off x="10254342" y="2852928"/>
            <a:ext cx="1230521" cy="868680"/>
          </a:xfrm>
          <a:prstGeom prst="rect">
            <a:avLst/>
          </a:prstGeom>
          <a:noFill/>
        </p:spPr>
        <p:txBody>
          <a:bodyPr wrap="square" lIns="0" rIns="0" tIns="0" bIns="0" anchor="t">
            <a:spAutoFit/>
          </a:bodyPr>
          <a:lstStyle/>
          <a:p>
            <a:pPr algn="l"/>
            <a:r>
              <a:rPr sz="850" b="0" i="0">
                <a:solidFill>
                  <a:srgbClr val="5A6472"/>
                </a:solidFill>
                <a:latin typeface="Sora"/>
              </a:rPr>
              <a:t>Fix-first list + A/B test backlog</a:t>
            </a:r>
          </a:p>
        </p:txBody>
      </p:sp>
      <p:sp>
        <p:nvSpPr>
          <p:cNvPr id="33" name="TextBox 32"/>
          <p:cNvSpPr txBox="1"/>
          <p:nvPr/>
        </p:nvSpPr>
        <p:spPr>
          <a:xfrm>
            <a:off x="548640" y="3931920"/>
            <a:ext cx="3200400" cy="228600"/>
          </a:xfrm>
          <a:prstGeom prst="rect">
            <a:avLst/>
          </a:prstGeom>
          <a:noFill/>
        </p:spPr>
        <p:txBody>
          <a:bodyPr wrap="square" lIns="0" rIns="0" tIns="0" bIns="0" anchor="t">
            <a:spAutoFit/>
          </a:bodyPr>
          <a:lstStyle/>
          <a:p>
            <a:pPr algn="l"/>
            <a:r>
              <a:rPr sz="900" b="1" i="0">
                <a:solidFill>
                  <a:srgbClr val="C8102E"/>
                </a:solidFill>
                <a:latin typeface="Sora"/>
              </a:rPr>
              <a:t>↑ THE HOOK: sections 01 and 02</a:t>
            </a:r>
          </a:p>
        </p:txBody>
      </p:sp>
      <p:sp>
        <p:nvSpPr>
          <p:cNvPr id="34" name="TextBox 33"/>
          <p:cNvSpPr txBox="1"/>
          <p:nvPr/>
        </p:nvSpPr>
        <p:spPr>
          <a:xfrm>
            <a:off x="548640" y="4434840"/>
            <a:ext cx="11064240" cy="274320"/>
          </a:xfrm>
          <a:prstGeom prst="rect">
            <a:avLst/>
          </a:prstGeom>
          <a:noFill/>
        </p:spPr>
        <p:txBody>
          <a:bodyPr wrap="square" lIns="0" rIns="0" tIns="0" bIns="0" anchor="t">
            <a:spAutoFit/>
          </a:bodyPr>
          <a:lstStyle/>
          <a:p>
            <a:pPr algn="l"/>
            <a:r>
              <a:rPr sz="900" b="1" i="0">
                <a:solidFill>
                  <a:srgbClr val="96A1B0"/>
                </a:solidFill>
                <a:latin typeface="Sora"/>
              </a:rPr>
              <a:t>THREE EVIDENCE SOURCES — LABELLED ON EVERY SLIDE, NEVER MIXED ON ONE METRIC</a:t>
            </a:r>
          </a:p>
        </p:txBody>
      </p:sp>
      <p:sp>
        <p:nvSpPr>
          <p:cNvPr id="35" name="Rounded Rectangle 34"/>
          <p:cNvSpPr/>
          <p:nvPr/>
        </p:nvSpPr>
        <p:spPr>
          <a:xfrm>
            <a:off x="548640" y="4754880"/>
            <a:ext cx="3566160" cy="146304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892040"/>
            <a:ext cx="3200400" cy="228600"/>
          </a:xfrm>
          <a:prstGeom prst="rect">
            <a:avLst/>
          </a:prstGeom>
          <a:noFill/>
        </p:spPr>
        <p:txBody>
          <a:bodyPr wrap="square" lIns="0" rIns="0" tIns="0" bIns="0" anchor="t">
            <a:spAutoFit/>
          </a:bodyPr>
          <a:lstStyle/>
          <a:p>
            <a:pPr algn="l"/>
            <a:r>
              <a:rPr sz="1000" b="1" i="0">
                <a:solidFill>
                  <a:srgbClr val="0F2C5C"/>
                </a:solidFill>
                <a:latin typeface="Sora"/>
              </a:rPr>
              <a:t>GA4 EXPLORATIONS</a:t>
            </a:r>
          </a:p>
        </p:txBody>
      </p:sp>
      <p:sp>
        <p:nvSpPr>
          <p:cNvPr id="37" name="TextBox 36"/>
          <p:cNvSpPr txBox="1"/>
          <p:nvPr/>
        </p:nvSpPr>
        <p:spPr>
          <a:xfrm>
            <a:off x="731520" y="5193792"/>
            <a:ext cx="3200400" cy="960120"/>
          </a:xfrm>
          <a:prstGeom prst="rect">
            <a:avLst/>
          </a:prstGeom>
          <a:noFill/>
        </p:spPr>
        <p:txBody>
          <a:bodyPr wrap="square" lIns="0" rIns="0" tIns="0" bIns="0" anchor="t">
            <a:spAutoFit/>
          </a:bodyPr>
          <a:lstStyle/>
          <a:p>
            <a:pPr algn="l"/>
            <a:r>
              <a:rPr sz="950" b="0" i="0">
                <a:solidFill>
                  <a:srgbClr val="0F2C5C"/>
                </a:solidFill>
                <a:latin typeface="Sora"/>
              </a:rPr>
              <a:t>Sessions, engagement, landing pages and Path Exploration, 13 Jun – 10 Sept 2026. The numbers already in this deck — unchanged.</a:t>
            </a:r>
          </a:p>
        </p:txBody>
      </p:sp>
      <p:sp>
        <p:nvSpPr>
          <p:cNvPr id="38" name="Rounded Rectangle 37"/>
          <p:cNvSpPr/>
          <p:nvPr/>
        </p:nvSpPr>
        <p:spPr>
          <a:xfrm>
            <a:off x="4297679" y="4754880"/>
            <a:ext cx="3566160" cy="146304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80559" y="4892040"/>
            <a:ext cx="3200400" cy="228600"/>
          </a:xfrm>
          <a:prstGeom prst="rect">
            <a:avLst/>
          </a:prstGeom>
          <a:noFill/>
        </p:spPr>
        <p:txBody>
          <a:bodyPr wrap="square" lIns="0" rIns="0" tIns="0" bIns="0" anchor="t">
            <a:spAutoFit/>
          </a:bodyPr>
          <a:lstStyle/>
          <a:p>
            <a:pPr algn="l"/>
            <a:r>
              <a:rPr sz="1000" b="1" i="0">
                <a:solidFill>
                  <a:srgbClr val="C8102E"/>
                </a:solidFill>
                <a:latin typeface="Sora"/>
              </a:rPr>
              <a:t>GA4 EVENT EXPORT</a:t>
            </a:r>
          </a:p>
        </p:txBody>
      </p:sp>
      <p:sp>
        <p:nvSpPr>
          <p:cNvPr id="40" name="TextBox 39"/>
          <p:cNvSpPr txBox="1"/>
          <p:nvPr/>
        </p:nvSpPr>
        <p:spPr>
          <a:xfrm>
            <a:off x="4480559" y="5193792"/>
            <a:ext cx="3200400" cy="960120"/>
          </a:xfrm>
          <a:prstGeom prst="rect">
            <a:avLst/>
          </a:prstGeom>
          <a:noFill/>
        </p:spPr>
        <p:txBody>
          <a:bodyPr wrap="square" lIns="0" rIns="0" tIns="0" bIns="0" anchor="t">
            <a:spAutoFit/>
          </a:bodyPr>
          <a:lstStyle/>
          <a:p>
            <a:pPr algn="l"/>
            <a:r>
              <a:rPr sz="950" b="0" i="0">
                <a:solidFill>
                  <a:srgbClr val="0F2C5C"/>
                </a:solidFill>
                <a:latin typeface="Sora"/>
              </a:rPr>
              <a:t>Event counts by page type and persona (form_start, form_submit, Apply, phone, brochure, scroll). A separate pull: event counts, not sessions.</a:t>
            </a:r>
          </a:p>
        </p:txBody>
      </p:sp>
      <p:sp>
        <p:nvSpPr>
          <p:cNvPr id="41" name="Rounded Rectangle 40"/>
          <p:cNvSpPr/>
          <p:nvPr/>
        </p:nvSpPr>
        <p:spPr>
          <a:xfrm>
            <a:off x="8046719" y="4754880"/>
            <a:ext cx="3566160" cy="1463040"/>
          </a:xfrm>
          <a:prstGeom prst="roundRect">
            <a:avLst>
              <a:gd name="adj" fmla="val 6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599" y="4892040"/>
            <a:ext cx="3200400" cy="228600"/>
          </a:xfrm>
          <a:prstGeom prst="rect">
            <a:avLst/>
          </a:prstGeom>
          <a:noFill/>
        </p:spPr>
        <p:txBody>
          <a:bodyPr wrap="square" lIns="0" rIns="0" tIns="0" bIns="0" anchor="t">
            <a:spAutoFit/>
          </a:bodyPr>
          <a:lstStyle/>
          <a:p>
            <a:pPr algn="l"/>
            <a:r>
              <a:rPr sz="1000" b="1" i="0">
                <a:solidFill>
                  <a:srgbClr val="1E7B4F"/>
                </a:solidFill>
                <a:latin typeface="Sora"/>
              </a:rPr>
              <a:t>LIVE SITE AUDIT</a:t>
            </a:r>
          </a:p>
        </p:txBody>
      </p:sp>
      <p:sp>
        <p:nvSpPr>
          <p:cNvPr id="43" name="TextBox 42"/>
          <p:cNvSpPr txBox="1"/>
          <p:nvPr/>
        </p:nvSpPr>
        <p:spPr>
          <a:xfrm>
            <a:off x="8229599" y="5193792"/>
            <a:ext cx="3200400" cy="960120"/>
          </a:xfrm>
          <a:prstGeom prst="rect">
            <a:avLst/>
          </a:prstGeom>
          <a:noFill/>
        </p:spPr>
        <p:txBody>
          <a:bodyPr wrap="square" lIns="0" rIns="0" tIns="0" bIns="0" anchor="t">
            <a:spAutoFit/>
          </a:bodyPr>
          <a:lstStyle/>
          <a:p>
            <a:pPr algn="l"/>
            <a:r>
              <a:rPr sz="950" b="0" i="0">
                <a:solidFill>
                  <a:srgbClr val="0F2C5C"/>
                </a:solidFill>
                <a:latin typeface="Sora"/>
              </a:rPr>
              <a:t>manavrachna.edu.in inspected 24 Sept 2026 at 390px mobile and 1440px desktop; official MREI pages for proof claims.</a:t>
            </a:r>
          </a:p>
        </p:txBody>
      </p:sp>
      <p:sp>
        <p:nvSpPr>
          <p:cNvPr id="44" name="TextBox 43"/>
          <p:cNvSpPr txBox="1"/>
          <p:nvPr/>
        </p:nvSpPr>
        <p:spPr>
          <a:xfrm>
            <a:off x="3794760" y="3941063"/>
            <a:ext cx="914400" cy="201168"/>
          </a:xfrm>
          <a:prstGeom prst="rect">
            <a:avLst/>
          </a:prstGeom>
          <a:noFill/>
        </p:spPr>
        <p:txBody>
          <a:bodyPr wrap="square" lIns="0" rIns="0" tIns="0" bIns="0" anchor="ctr">
            <a:spAutoFit/>
          </a:bodyPr>
          <a:lstStyle/>
          <a:p>
            <a:pPr algn="l"/>
            <a:r>
              <a:rPr sz="700" b="1" i="0">
                <a:solidFill>
                  <a:srgbClr val="96A1B0"/>
                </a:solidFill>
                <a:latin typeface="Sora"/>
              </a:rPr>
              <a:t>CLAIM LABELS</a:t>
            </a:r>
          </a:p>
        </p:txBody>
      </p:sp>
      <p:sp>
        <p:nvSpPr>
          <p:cNvPr id="45" name="Rounded Rectangle 44"/>
          <p:cNvSpPr/>
          <p:nvPr/>
        </p:nvSpPr>
        <p:spPr>
          <a:xfrm>
            <a:off x="4709160" y="3941063"/>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
        <p:nvSpPr>
          <p:cNvPr id="46" name="TextBox 45"/>
          <p:cNvSpPr txBox="1"/>
          <p:nvPr/>
        </p:nvSpPr>
        <p:spPr>
          <a:xfrm>
            <a:off x="5504688" y="3941063"/>
            <a:ext cx="1325880" cy="201168"/>
          </a:xfrm>
          <a:prstGeom prst="rect">
            <a:avLst/>
          </a:prstGeom>
          <a:noFill/>
        </p:spPr>
        <p:txBody>
          <a:bodyPr wrap="square" lIns="0" rIns="0" tIns="0" bIns="0" anchor="ctr">
            <a:spAutoFit/>
          </a:bodyPr>
          <a:lstStyle/>
          <a:p>
            <a:pPr algn="l"/>
            <a:r>
              <a:rPr sz="700" b="0" i="0">
                <a:solidFill>
                  <a:srgbClr val="5A6472"/>
                </a:solidFill>
                <a:latin typeface="Sora"/>
              </a:rPr>
              <a:t>seen in GA4 or on the site</a:t>
            </a:r>
          </a:p>
        </p:txBody>
      </p:sp>
      <p:sp>
        <p:nvSpPr>
          <p:cNvPr id="47" name="Rounded Rectangle 46"/>
          <p:cNvSpPr/>
          <p:nvPr/>
        </p:nvSpPr>
        <p:spPr>
          <a:xfrm>
            <a:off x="6922008" y="3941063"/>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
        <p:nvSpPr>
          <p:cNvPr id="48" name="TextBox 47"/>
          <p:cNvSpPr txBox="1"/>
          <p:nvPr/>
        </p:nvSpPr>
        <p:spPr>
          <a:xfrm>
            <a:off x="7923276" y="3941063"/>
            <a:ext cx="1325880" cy="201168"/>
          </a:xfrm>
          <a:prstGeom prst="rect">
            <a:avLst/>
          </a:prstGeom>
          <a:noFill/>
        </p:spPr>
        <p:txBody>
          <a:bodyPr wrap="square" lIns="0" rIns="0" tIns="0" bIns="0" anchor="ctr">
            <a:spAutoFit/>
          </a:bodyPr>
          <a:lstStyle/>
          <a:p>
            <a:pPr algn="l"/>
            <a:r>
              <a:rPr sz="700" b="0" i="0">
                <a:solidFill>
                  <a:srgbClr val="5A6472"/>
                </a:solidFill>
                <a:latin typeface="Sora"/>
              </a:rPr>
              <a:t>measured, dirty definition</a:t>
            </a:r>
          </a:p>
        </p:txBody>
      </p:sp>
      <p:sp>
        <p:nvSpPr>
          <p:cNvPr id="49" name="Rounded Rectangle 48"/>
          <p:cNvSpPr/>
          <p:nvPr/>
        </p:nvSpPr>
        <p:spPr>
          <a:xfrm>
            <a:off x="9340596" y="3941063"/>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50" name="TextBox 49"/>
          <p:cNvSpPr txBox="1"/>
          <p:nvPr/>
        </p:nvSpPr>
        <p:spPr>
          <a:xfrm>
            <a:off x="10273284" y="3941063"/>
            <a:ext cx="1097280" cy="201168"/>
          </a:xfrm>
          <a:prstGeom prst="rect">
            <a:avLst/>
          </a:prstGeom>
          <a:noFill/>
        </p:spPr>
        <p:txBody>
          <a:bodyPr wrap="square" lIns="0" rIns="0" tIns="0" bIns="0" anchor="ctr">
            <a:spAutoFit/>
          </a:bodyPr>
          <a:lstStyle/>
          <a:p>
            <a:pPr algn="l"/>
            <a:r>
              <a:rPr sz="700" b="0" i="0">
                <a:solidFill>
                  <a:srgbClr val="5A6472"/>
                </a:solidFill>
                <a:latin typeface="Sora"/>
              </a:rPr>
              <a:t>our proposal, to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C5C"/>
        </a:solidFill>
        <a:effectLst/>
      </p:bgPr>
    </p:bg>
    <p:spTree>
      <p:nvGrpSpPr>
        <p:cNvPr id="1" name=""/>
        <p:cNvGrpSpPr/>
        <p:nvPr/>
      </p:nvGrpSpPr>
      <p:grpSpPr/>
      <p:sp>
        <p:nvSpPr>
          <p:cNvPr id="2" name="TextBox 1"/>
          <p:cNvSpPr txBox="1"/>
          <p:nvPr/>
        </p:nvSpPr>
        <p:spPr>
          <a:xfrm>
            <a:off x="822960" y="2514600"/>
            <a:ext cx="2743200" cy="457200"/>
          </a:xfrm>
          <a:prstGeom prst="rect">
            <a:avLst/>
          </a:prstGeom>
          <a:noFill/>
        </p:spPr>
        <p:txBody>
          <a:bodyPr wrap="square" lIns="0" rIns="0" tIns="0" bIns="0" anchor="t">
            <a:spAutoFit/>
          </a:bodyPr>
          <a:lstStyle/>
          <a:p>
            <a:pPr algn="l"/>
            <a:r>
              <a:rPr sz="1600" b="1" i="0">
                <a:solidFill>
                  <a:srgbClr val="C8102E"/>
                </a:solidFill>
                <a:latin typeface="Sora"/>
              </a:rPr>
              <a:t>01</a:t>
            </a:r>
          </a:p>
        </p:txBody>
      </p:sp>
      <p:sp>
        <p:nvSpPr>
          <p:cNvPr id="3" name="TextBox 2"/>
          <p:cNvSpPr txBox="1"/>
          <p:nvPr/>
        </p:nvSpPr>
        <p:spPr>
          <a:xfrm>
            <a:off x="822960" y="2926080"/>
            <a:ext cx="10058400" cy="731520"/>
          </a:xfrm>
          <a:prstGeom prst="rect">
            <a:avLst/>
          </a:prstGeom>
          <a:noFill/>
        </p:spPr>
        <p:txBody>
          <a:bodyPr wrap="square" lIns="0" rIns="0" tIns="0" bIns="0" anchor="t">
            <a:spAutoFit/>
          </a:bodyPr>
          <a:lstStyle/>
          <a:p>
            <a:pPr algn="l"/>
            <a:r>
              <a:rPr sz="3400" b="1" i="0">
                <a:solidFill>
                  <a:srgbClr val="FFFFFF"/>
                </a:solidFill>
                <a:latin typeface="Sora"/>
              </a:rPr>
              <a:t>The opportunity</a:t>
            </a:r>
          </a:p>
        </p:txBody>
      </p:sp>
      <p:sp>
        <p:nvSpPr>
          <p:cNvPr id="4" name="TextBox 3"/>
          <p:cNvSpPr txBox="1"/>
          <p:nvPr/>
        </p:nvSpPr>
        <p:spPr>
          <a:xfrm>
            <a:off x="822960" y="3703320"/>
            <a:ext cx="9601200" cy="548640"/>
          </a:xfrm>
          <a:prstGeom prst="rect">
            <a:avLst/>
          </a:prstGeom>
          <a:noFill/>
        </p:spPr>
        <p:txBody>
          <a:bodyPr wrap="square" lIns="0" rIns="0" tIns="0" bIns="0" anchor="t">
            <a:spAutoFit/>
          </a:bodyPr>
          <a:lstStyle/>
          <a:p>
            <a:pPr algn="l"/>
            <a:r>
              <a:rPr sz="1400" b="0" i="0">
                <a:solidFill>
                  <a:srgbClr val="CADCFC"/>
                </a:solidFill>
                <a:latin typeface="Sora"/>
              </a:rPr>
              <a:t>Traffic is not the problem. Where it converts is.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nvSpPr>
        <p:spPr>
          <a:xfrm>
            <a:off x="548640" y="411480"/>
            <a:ext cx="110643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200"/>
              <a:buFont typeface="Sora"/>
              <a:buNone/>
            </a:pPr>
            <a:r>
              <a:rPr b="1" i="0" lang="en-US" sz="3200" u="none" cap="none" strike="noStrike">
                <a:solidFill>
                  <a:srgbClr val="0F2C5C"/>
                </a:solidFill>
                <a:latin typeface="Sora"/>
                <a:ea typeface="Sora"/>
                <a:cs typeface="Sora"/>
                <a:sym typeface="Sora"/>
              </a:rPr>
              <a:t>What the data says today</a:t>
            </a:r>
            <a:endParaRPr b="0" i="0" sz="3200" u="none" cap="none" strike="noStrike">
              <a:solidFill>
                <a:schemeClr val="dk1"/>
              </a:solidFill>
              <a:latin typeface="Calibri"/>
              <a:ea typeface="Calibri"/>
              <a:cs typeface="Calibri"/>
              <a:sym typeface="Calibri"/>
            </a:endParaRPr>
          </a:p>
        </p:txBody>
      </p:sp>
      <p:sp>
        <p:nvSpPr>
          <p:cNvPr id="139" name="Google Shape;139;p18"/>
          <p:cNvSpPr txBox="1"/>
          <p:nvPr/>
        </p:nvSpPr>
        <p:spPr>
          <a:xfrm>
            <a:off x="548640" y="1005840"/>
            <a:ext cx="11064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500"/>
              <a:buFont typeface="Sora"/>
              <a:buNone/>
            </a:pPr>
            <a:r>
              <a:rPr b="0" i="0" lang="en-US" sz="1500" u="none" cap="none" strike="noStrike">
                <a:solidFill>
                  <a:srgbClr val="5A6472"/>
                </a:solidFill>
                <a:latin typeface="Sora"/>
                <a:ea typeface="Sora"/>
                <a:cs typeface="Sora"/>
                <a:sym typeface="Sora"/>
              </a:rPr>
              <a:t>Organic already dominates. The site holds attention. It does not convert it.</a:t>
            </a:r>
            <a:endParaRPr b="0" i="0" sz="1500" u="none" cap="none" strike="noStrike">
              <a:solidFill>
                <a:schemeClr val="dk1"/>
              </a:solidFill>
              <a:latin typeface="Calibri"/>
              <a:ea typeface="Calibri"/>
              <a:cs typeface="Calibri"/>
              <a:sym typeface="Calibri"/>
            </a:endParaRPr>
          </a:p>
        </p:txBody>
      </p:sp>
      <p:sp>
        <p:nvSpPr>
          <p:cNvPr id="140" name="Google Shape;140;p18"/>
          <p:cNvSpPr/>
          <p:nvPr/>
        </p:nvSpPr>
        <p:spPr>
          <a:xfrm>
            <a:off x="548640" y="1554480"/>
            <a:ext cx="2514300" cy="1691700"/>
          </a:xfrm>
          <a:prstGeom prst="roundRect">
            <a:avLst>
              <a:gd fmla="val 432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8"/>
          <p:cNvSpPr txBox="1"/>
          <p:nvPr/>
        </p:nvSpPr>
        <p:spPr>
          <a:xfrm>
            <a:off x="749808" y="1719072"/>
            <a:ext cx="2102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100"/>
              <a:buFont typeface="Sora"/>
              <a:buNone/>
            </a:pPr>
            <a:r>
              <a:rPr b="1" i="0" lang="en-US" sz="3100" u="none" cap="none" strike="noStrike">
                <a:solidFill>
                  <a:srgbClr val="0F2C5C"/>
                </a:solidFill>
                <a:latin typeface="Sora"/>
                <a:ea typeface="Sora"/>
                <a:cs typeface="Sora"/>
                <a:sym typeface="Sora"/>
              </a:rPr>
              <a:t>67.4%</a:t>
            </a:r>
            <a:endParaRPr b="0" i="0" sz="3100" u="none" cap="none" strike="noStrike">
              <a:solidFill>
                <a:schemeClr val="dk1"/>
              </a:solidFill>
              <a:latin typeface="Calibri"/>
              <a:ea typeface="Calibri"/>
              <a:cs typeface="Calibri"/>
              <a:sym typeface="Calibri"/>
            </a:endParaRPr>
          </a:p>
        </p:txBody>
      </p:sp>
      <p:sp>
        <p:nvSpPr>
          <p:cNvPr id="142" name="Google Shape;142;p18"/>
          <p:cNvSpPr txBox="1"/>
          <p:nvPr/>
        </p:nvSpPr>
        <p:spPr>
          <a:xfrm>
            <a:off x="749808" y="2267712"/>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1" i="0" lang="en-US" sz="1200" u="none" cap="none" strike="noStrike">
                <a:solidFill>
                  <a:srgbClr val="0F2C5C"/>
                </a:solidFill>
                <a:latin typeface="Sora"/>
                <a:ea typeface="Sora"/>
                <a:cs typeface="Sora"/>
                <a:sym typeface="Sora"/>
              </a:rPr>
              <a:t>of sessions are organic search</a:t>
            </a:r>
            <a:endParaRPr b="0" i="0" sz="1200" u="none" cap="none" strike="noStrike">
              <a:solidFill>
                <a:schemeClr val="dk1"/>
              </a:solidFill>
              <a:latin typeface="Calibri"/>
              <a:ea typeface="Calibri"/>
              <a:cs typeface="Calibri"/>
              <a:sym typeface="Calibri"/>
            </a:endParaRPr>
          </a:p>
        </p:txBody>
      </p:sp>
      <p:sp>
        <p:nvSpPr>
          <p:cNvPr id="143" name="Google Shape;143;p18"/>
          <p:cNvSpPr txBox="1"/>
          <p:nvPr/>
        </p:nvSpPr>
        <p:spPr>
          <a:xfrm>
            <a:off x="749808" y="2724912"/>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1,96,542 sessions · 68.39% engagement</a:t>
            </a:r>
            <a:endParaRPr b="0" i="0" sz="1100" u="none" cap="none" strike="noStrike">
              <a:solidFill>
                <a:schemeClr val="dk1"/>
              </a:solidFill>
              <a:latin typeface="Calibri"/>
              <a:ea typeface="Calibri"/>
              <a:cs typeface="Calibri"/>
              <a:sym typeface="Calibri"/>
            </a:endParaRPr>
          </a:p>
        </p:txBody>
      </p:sp>
      <p:sp>
        <p:nvSpPr>
          <p:cNvPr id="144" name="Google Shape;144;p18"/>
          <p:cNvSpPr/>
          <p:nvPr/>
        </p:nvSpPr>
        <p:spPr>
          <a:xfrm>
            <a:off x="3291840" y="1554480"/>
            <a:ext cx="2514300" cy="1691700"/>
          </a:xfrm>
          <a:prstGeom prst="roundRect">
            <a:avLst>
              <a:gd fmla="val 432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txBox="1"/>
          <p:nvPr/>
        </p:nvSpPr>
        <p:spPr>
          <a:xfrm>
            <a:off x="3493008" y="1719072"/>
            <a:ext cx="2102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100"/>
              <a:buFont typeface="Sora"/>
              <a:buNone/>
            </a:pPr>
            <a:r>
              <a:rPr b="1" i="0" lang="en-US" sz="3100" u="none" cap="none" strike="noStrike">
                <a:solidFill>
                  <a:srgbClr val="0F2C5C"/>
                </a:solidFill>
                <a:latin typeface="Sora"/>
                <a:ea typeface="Sora"/>
                <a:cs typeface="Sora"/>
                <a:sym typeface="Sora"/>
              </a:rPr>
              <a:t>1.96</a:t>
            </a:r>
            <a:endParaRPr b="0" i="0" sz="3100" u="none" cap="none" strike="noStrike">
              <a:solidFill>
                <a:schemeClr val="dk1"/>
              </a:solidFill>
              <a:latin typeface="Calibri"/>
              <a:ea typeface="Calibri"/>
              <a:cs typeface="Calibri"/>
              <a:sym typeface="Calibri"/>
            </a:endParaRPr>
          </a:p>
        </p:txBody>
      </p:sp>
      <p:sp>
        <p:nvSpPr>
          <p:cNvPr id="146" name="Google Shape;146;p18"/>
          <p:cNvSpPr txBox="1"/>
          <p:nvPr/>
        </p:nvSpPr>
        <p:spPr>
          <a:xfrm>
            <a:off x="3493008" y="2267712"/>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1" i="0" lang="en-US" sz="1200" u="none" cap="none" strike="noStrike">
                <a:solidFill>
                  <a:srgbClr val="0F2C5C"/>
                </a:solidFill>
                <a:latin typeface="Sora"/>
                <a:ea typeface="Sora"/>
                <a:cs typeface="Sora"/>
                <a:sym typeface="Sora"/>
              </a:rPr>
              <a:t>average views per session</a:t>
            </a:r>
            <a:endParaRPr b="0" i="0" sz="1200" u="none" cap="none" strike="noStrike">
              <a:solidFill>
                <a:schemeClr val="dk1"/>
              </a:solidFill>
              <a:latin typeface="Calibri"/>
              <a:ea typeface="Calibri"/>
              <a:cs typeface="Calibri"/>
              <a:sym typeface="Calibri"/>
            </a:endParaRPr>
          </a:p>
        </p:txBody>
      </p:sp>
      <p:sp>
        <p:nvSpPr>
          <p:cNvPr id="147" name="Google Shape;147;p18"/>
          <p:cNvSpPr txBox="1"/>
          <p:nvPr/>
        </p:nvSpPr>
        <p:spPr>
          <a:xfrm>
            <a:off x="3493008" y="2724912"/>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Site-wide · most users see one page and leave</a:t>
            </a:r>
            <a:endParaRPr b="0" i="0" sz="1100" u="none" cap="none" strike="noStrike">
              <a:solidFill>
                <a:schemeClr val="dk1"/>
              </a:solidFill>
              <a:latin typeface="Calibri"/>
              <a:ea typeface="Calibri"/>
              <a:cs typeface="Calibri"/>
              <a:sym typeface="Calibri"/>
            </a:endParaRPr>
          </a:p>
        </p:txBody>
      </p:sp>
      <p:sp>
        <p:nvSpPr>
          <p:cNvPr id="148" name="Google Shape;148;p18"/>
          <p:cNvSpPr/>
          <p:nvPr/>
        </p:nvSpPr>
        <p:spPr>
          <a:xfrm>
            <a:off x="6035040" y="1554480"/>
            <a:ext cx="2514300" cy="1691700"/>
          </a:xfrm>
          <a:prstGeom prst="roundRect">
            <a:avLst>
              <a:gd fmla="val 432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txBox="1"/>
          <p:nvPr/>
        </p:nvSpPr>
        <p:spPr>
          <a:xfrm>
            <a:off x="6236208" y="1719072"/>
            <a:ext cx="2102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100"/>
              <a:buFont typeface="Sora"/>
              <a:buNone/>
            </a:pPr>
            <a:r>
              <a:rPr b="1" i="0" lang="en-US" sz="3100" u="none" cap="none" strike="noStrike">
                <a:solidFill>
                  <a:srgbClr val="0F2C5C"/>
                </a:solidFill>
                <a:latin typeface="Sora"/>
                <a:ea typeface="Sora"/>
                <a:cs typeface="Sora"/>
                <a:sym typeface="Sora"/>
              </a:rPr>
              <a:t>3m 08s</a:t>
            </a:r>
            <a:endParaRPr b="0" i="0" sz="3100" u="none" cap="none" strike="noStrike">
              <a:solidFill>
                <a:schemeClr val="dk1"/>
              </a:solidFill>
              <a:latin typeface="Calibri"/>
              <a:ea typeface="Calibri"/>
              <a:cs typeface="Calibri"/>
              <a:sym typeface="Calibri"/>
            </a:endParaRPr>
          </a:p>
        </p:txBody>
      </p:sp>
      <p:sp>
        <p:nvSpPr>
          <p:cNvPr id="150" name="Google Shape;150;p18"/>
          <p:cNvSpPr txBox="1"/>
          <p:nvPr/>
        </p:nvSpPr>
        <p:spPr>
          <a:xfrm>
            <a:off x="6236208" y="2267712"/>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1" i="0" lang="en-US" sz="1200" u="none" cap="none" strike="noStrike">
                <a:solidFill>
                  <a:srgbClr val="0F2C5C"/>
                </a:solidFill>
                <a:latin typeface="Sora"/>
                <a:ea typeface="Sora"/>
                <a:cs typeface="Sora"/>
                <a:sym typeface="Sora"/>
              </a:rPr>
              <a:t>average session duration</a:t>
            </a:r>
            <a:endParaRPr b="0" i="0" sz="1200" u="none" cap="none" strike="noStrike">
              <a:solidFill>
                <a:schemeClr val="dk1"/>
              </a:solidFill>
              <a:latin typeface="Calibri"/>
              <a:ea typeface="Calibri"/>
              <a:cs typeface="Calibri"/>
              <a:sym typeface="Calibri"/>
            </a:endParaRPr>
          </a:p>
        </p:txBody>
      </p:sp>
      <p:sp>
        <p:nvSpPr>
          <p:cNvPr id="151" name="Google Shape;151;p18"/>
          <p:cNvSpPr txBox="1"/>
          <p:nvPr/>
        </p:nvSpPr>
        <p:spPr>
          <a:xfrm>
            <a:off x="6236208" y="2724912"/>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Users are reading, not bouncing quickly</a:t>
            </a:r>
            <a:endParaRPr b="0" i="0" sz="1100" u="none" cap="none" strike="noStrike">
              <a:solidFill>
                <a:schemeClr val="dk1"/>
              </a:solidFill>
              <a:latin typeface="Calibri"/>
              <a:ea typeface="Calibri"/>
              <a:cs typeface="Calibri"/>
              <a:sym typeface="Calibri"/>
            </a:endParaRPr>
          </a:p>
        </p:txBody>
      </p:sp>
      <p:sp>
        <p:nvSpPr>
          <p:cNvPr id="152" name="Google Shape;152;p18"/>
          <p:cNvSpPr/>
          <p:nvPr/>
        </p:nvSpPr>
        <p:spPr>
          <a:xfrm>
            <a:off x="8778240" y="1554480"/>
            <a:ext cx="2514300" cy="1691700"/>
          </a:xfrm>
          <a:prstGeom prst="roundRect">
            <a:avLst>
              <a:gd fmla="val 432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txBox="1"/>
          <p:nvPr/>
        </p:nvSpPr>
        <p:spPr>
          <a:xfrm>
            <a:off x="8979408" y="1719072"/>
            <a:ext cx="2102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100"/>
              <a:buFont typeface="Sora"/>
              <a:buNone/>
            </a:pPr>
            <a:r>
              <a:rPr b="1" i="0" lang="en-US" sz="3100" u="none" cap="none" strike="noStrike">
                <a:solidFill>
                  <a:srgbClr val="0F2C5C"/>
                </a:solidFill>
                <a:latin typeface="Sora"/>
                <a:ea typeface="Sora"/>
                <a:cs typeface="Sora"/>
                <a:sym typeface="Sora"/>
              </a:rPr>
              <a:t>43.6%</a:t>
            </a:r>
            <a:endParaRPr b="0" i="0" sz="3100" u="none" cap="none" strike="noStrike">
              <a:solidFill>
                <a:schemeClr val="dk1"/>
              </a:solidFill>
              <a:latin typeface="Calibri"/>
              <a:ea typeface="Calibri"/>
              <a:cs typeface="Calibri"/>
              <a:sym typeface="Calibri"/>
            </a:endParaRPr>
          </a:p>
        </p:txBody>
      </p:sp>
      <p:sp>
        <p:nvSpPr>
          <p:cNvPr id="154" name="Google Shape;154;p18"/>
          <p:cNvSpPr txBox="1"/>
          <p:nvPr/>
        </p:nvSpPr>
        <p:spPr>
          <a:xfrm>
            <a:off x="8979408" y="2267712"/>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1" i="0" lang="en-US" sz="1200" u="none" cap="none" strike="noStrike">
                <a:solidFill>
                  <a:srgbClr val="0F2C5C"/>
                </a:solidFill>
                <a:latin typeface="Sora"/>
                <a:ea typeface="Sora"/>
                <a:cs typeface="Sora"/>
                <a:sym typeface="Sora"/>
              </a:rPr>
              <a:t>site-wide bounce rate</a:t>
            </a:r>
            <a:endParaRPr b="0" i="0" sz="1200" u="none" cap="none" strike="noStrike">
              <a:solidFill>
                <a:schemeClr val="dk1"/>
              </a:solidFill>
              <a:latin typeface="Calibri"/>
              <a:ea typeface="Calibri"/>
              <a:cs typeface="Calibri"/>
              <a:sym typeface="Calibri"/>
            </a:endParaRPr>
          </a:p>
        </p:txBody>
      </p:sp>
      <p:sp>
        <p:nvSpPr>
          <p:cNvPr id="155" name="Google Shape;155;p18"/>
          <p:cNvSpPr txBox="1"/>
          <p:nvPr/>
        </p:nvSpPr>
        <p:spPr>
          <a:xfrm>
            <a:off x="8979408" y="2724912"/>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Against 23.9% on the pages that work</a:t>
            </a:r>
            <a:endParaRPr b="0" i="0" sz="1100" u="none" cap="none" strike="noStrike">
              <a:solidFill>
                <a:schemeClr val="dk1"/>
              </a:solidFill>
              <a:latin typeface="Calibri"/>
              <a:ea typeface="Calibri"/>
              <a:cs typeface="Calibri"/>
              <a:sym typeface="Calibri"/>
            </a:endParaRPr>
          </a:p>
        </p:txBody>
      </p:sp>
      <p:sp>
        <p:nvSpPr>
          <p:cNvPr id="156" name="Google Shape;156;p18"/>
          <p:cNvSpPr/>
          <p:nvPr/>
        </p:nvSpPr>
        <p:spPr>
          <a:xfrm>
            <a:off x="548640" y="3474720"/>
            <a:ext cx="5212500" cy="2606100"/>
          </a:xfrm>
          <a:prstGeom prst="roundRect">
            <a:avLst>
              <a:gd fmla="val 2807" name="adj"/>
            </a:avLst>
          </a:prstGeom>
          <a:solidFill>
            <a:srgbClr val="E8EEF7"/>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
          <p:cNvSpPr txBox="1"/>
          <p:nvPr/>
        </p:nvSpPr>
        <p:spPr>
          <a:xfrm>
            <a:off x="822960" y="3657600"/>
            <a:ext cx="46635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THE ENGAGEMENT IS REAL</a:t>
            </a:r>
            <a:endParaRPr b="0" i="0" sz="1100" u="none" cap="none" strike="noStrike">
              <a:solidFill>
                <a:schemeClr val="dk1"/>
              </a:solidFill>
              <a:latin typeface="Calibri"/>
              <a:ea typeface="Calibri"/>
              <a:cs typeface="Calibri"/>
              <a:sym typeface="Calibri"/>
            </a:endParaRPr>
          </a:p>
        </p:txBody>
      </p:sp>
      <p:sp>
        <p:nvSpPr>
          <p:cNvPr id="158" name="Google Shape;158;p18"/>
          <p:cNvSpPr txBox="1"/>
          <p:nvPr/>
        </p:nvSpPr>
        <p:spPr>
          <a:xfrm>
            <a:off x="822960" y="3977640"/>
            <a:ext cx="4663500" cy="1920300"/>
          </a:xfrm>
          <a:prstGeom prst="rect">
            <a:avLst/>
          </a:prstGeom>
          <a:noFill/>
          <a:ln>
            <a:noFill/>
          </a:ln>
        </p:spPr>
        <p:txBody>
          <a:bodyPr anchorCtr="0" anchor="ctr" bIns="0" lIns="0" spcFirstLastPara="1" rIns="0" wrap="square" tIns="0">
            <a:noAutofit/>
          </a:bodyPr>
          <a:lstStyle/>
          <a:p>
            <a:pPr indent="-330200" lvl="0" marL="342900" marR="0" rtl="0" algn="l">
              <a:spcBef>
                <a:spcPts val="0"/>
              </a:spcBef>
              <a:spcAft>
                <a:spcPts val="0"/>
              </a:spcAft>
              <a:buClr>
                <a:srgbClr val="0F2C5C"/>
              </a:buClr>
              <a:buSzPts val="1200"/>
              <a:buFont typeface="Sora"/>
              <a:buChar char="•"/>
            </a:pPr>
            <a:r>
              <a:rPr b="0" i="0" lang="en-US" sz="1200" u="none" cap="none" strike="noStrike">
                <a:solidFill>
                  <a:srgbClr val="0F2C5C"/>
                </a:solidFill>
                <a:latin typeface="Sora"/>
                <a:ea typeface="Sora"/>
                <a:cs typeface="Sora"/>
                <a:sym typeface="Sora"/>
              </a:rPr>
              <a:t>Institution pages hold users for 5m 07s at 3.33 views per session</a:t>
            </a:r>
            <a:endParaRPr b="0" i="0" sz="12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0F2C5C"/>
              </a:buClr>
              <a:buSzPts val="1200"/>
              <a:buFont typeface="Sora"/>
              <a:buChar char="•"/>
            </a:pPr>
            <a:r>
              <a:rPr b="0" i="0" lang="en-US" sz="1200" u="none" cap="none" strike="noStrike">
                <a:solidFill>
                  <a:srgbClr val="0F2C5C"/>
                </a:solidFill>
                <a:latin typeface="Sora"/>
                <a:ea typeface="Sora"/>
                <a:cs typeface="Sora"/>
                <a:sym typeface="Sora"/>
              </a:rPr>
              <a:t>Fee and eligibility pages engage 73.4% of sessions at 26.6% bounce</a:t>
            </a:r>
            <a:endParaRPr b="0" i="0" sz="12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0F2C5C"/>
              </a:buClr>
              <a:buSzPts val="1200"/>
              <a:buFont typeface="Sora"/>
              <a:buChar char="•"/>
            </a:pPr>
            <a:r>
              <a:rPr b="0" i="0" lang="en-US" sz="1200" u="none" cap="none" strike="noStrike">
                <a:solidFill>
                  <a:srgbClr val="0F2C5C"/>
                </a:solidFill>
                <a:latin typeface="Sora"/>
                <a:ea typeface="Sora"/>
                <a:cs typeface="Sora"/>
                <a:sym typeface="Sora"/>
              </a:rPr>
              <a:t>Mobile engages at 65.4% against desktop at 47.7%</a:t>
            </a:r>
            <a:endParaRPr b="0" i="0" sz="12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0F2C5C"/>
              </a:buClr>
              <a:buSzPts val="1200"/>
              <a:buFont typeface="Sora"/>
              <a:buChar char="•"/>
            </a:pPr>
            <a:r>
              <a:rPr b="0" i="0" lang="en-US" sz="1200" u="none" cap="none" strike="noStrike">
                <a:solidFill>
                  <a:srgbClr val="0F2C5C"/>
                </a:solidFill>
                <a:latin typeface="Sora"/>
                <a:ea typeface="Sora"/>
                <a:cs typeface="Sora"/>
                <a:sym typeface="Sora"/>
              </a:rPr>
              <a:t>AI Assistant traffic is the deepest on the site at 2.43 views per session</a:t>
            </a:r>
            <a:endParaRPr b="0" i="0" sz="1200" u="none" cap="none" strike="noStrike">
              <a:solidFill>
                <a:schemeClr val="dk1"/>
              </a:solidFill>
              <a:latin typeface="Calibri"/>
              <a:ea typeface="Calibri"/>
              <a:cs typeface="Calibri"/>
              <a:sym typeface="Calibri"/>
            </a:endParaRPr>
          </a:p>
        </p:txBody>
      </p:sp>
      <p:sp>
        <p:nvSpPr>
          <p:cNvPr id="159" name="Google Shape;159;p18"/>
          <p:cNvSpPr/>
          <p:nvPr/>
        </p:nvSpPr>
        <p:spPr>
          <a:xfrm>
            <a:off x="6035040" y="3474720"/>
            <a:ext cx="5212500" cy="2606100"/>
          </a:xfrm>
          <a:prstGeom prst="roundRect">
            <a:avLst>
              <a:gd fmla="val 2807"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8"/>
          <p:cNvSpPr txBox="1"/>
          <p:nvPr/>
        </p:nvSpPr>
        <p:spPr>
          <a:xfrm>
            <a:off x="6309360" y="3657600"/>
            <a:ext cx="46635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THE CONVERSION IS NOT</a:t>
            </a:r>
            <a:endParaRPr b="0" i="0" sz="1100" u="none" cap="none" strike="noStrike">
              <a:solidFill>
                <a:schemeClr val="dk1"/>
              </a:solidFill>
              <a:latin typeface="Calibri"/>
              <a:ea typeface="Calibri"/>
              <a:cs typeface="Calibri"/>
              <a:sym typeface="Calibri"/>
            </a:endParaRPr>
          </a:p>
        </p:txBody>
      </p:sp>
      <p:sp>
        <p:nvSpPr>
          <p:cNvPr id="161" name="Google Shape;161;p18"/>
          <p:cNvSpPr txBox="1"/>
          <p:nvPr/>
        </p:nvSpPr>
        <p:spPr>
          <a:xfrm>
            <a:off x="6309360" y="3977640"/>
            <a:ext cx="4663500" cy="1920300"/>
          </a:xfrm>
          <a:prstGeom prst="rect">
            <a:avLst/>
          </a:prstGeom>
          <a:noFill/>
          <a:ln>
            <a:noFill/>
          </a:ln>
        </p:spPr>
        <p:txBody>
          <a:bodyPr anchorCtr="0" anchor="ctr" bIns="0" lIns="0" spcFirstLastPara="1" rIns="0" wrap="square" tIns="0">
            <a:noAutofit/>
          </a:bodyPr>
          <a:lstStyle/>
          <a:p>
            <a:pPr indent="-330200" lvl="0" marL="342900" marR="0" rtl="0" algn="l">
              <a:spcBef>
                <a:spcPts val="0"/>
              </a:spcBef>
              <a:spcAft>
                <a:spcPts val="0"/>
              </a:spcAft>
              <a:buClr>
                <a:srgbClr val="0F2C5C"/>
              </a:buClr>
              <a:buSzPts val="1200"/>
              <a:buFont typeface="Sora"/>
              <a:buChar char="•"/>
            </a:pPr>
            <a:r>
              <a:rPr b="0" i="0" lang="en-US" sz="1200" u="none" cap="none" strike="noStrike">
                <a:solidFill>
                  <a:srgbClr val="0F2C5C"/>
                </a:solidFill>
                <a:latin typeface="Sora"/>
                <a:ea typeface="Sora"/>
                <a:cs typeface="Sora"/>
                <a:sym typeface="Sora"/>
              </a:rPr>
              <a:t>Only 0.6% of sessions reach any page built to capture a lead</a:t>
            </a:r>
            <a:endParaRPr b="0" i="0" sz="12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0F2C5C"/>
              </a:buClr>
              <a:buSzPts val="1200"/>
              <a:buFont typeface="Sora"/>
              <a:buChar char="•"/>
            </a:pPr>
            <a:r>
              <a:rPr b="0" i="0" lang="en-US" sz="1200" u="none" cap="none" strike="noStrike">
                <a:solidFill>
                  <a:srgbClr val="0F2C5C"/>
                </a:solidFill>
                <a:latin typeface="Sora"/>
                <a:ea typeface="Sora"/>
                <a:cs typeface="Sora"/>
                <a:sym typeface="Sora"/>
              </a:rPr>
              <a:t>The highest-traffic course page produced 21 form starts in 90 days</a:t>
            </a:r>
            <a:endParaRPr b="0" i="0" sz="12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0F2C5C"/>
              </a:buClr>
              <a:buSzPts val="1200"/>
              <a:buFont typeface="Sora"/>
              <a:buChar char="•"/>
            </a:pPr>
            <a:r>
              <a:rPr b="0" i="0" lang="en-US" sz="1200" u="none" cap="none" strike="noStrike">
                <a:solidFill>
                  <a:srgbClr val="0F2C5C"/>
                </a:solidFill>
                <a:latin typeface="Sora"/>
                <a:ea typeface="Sora"/>
                <a:cs typeface="Sora"/>
                <a:sym typeface="Sora"/>
              </a:rPr>
              <a:t>Apply Now was clicked 5 times on that same page across 90 days</a:t>
            </a:r>
            <a:endParaRPr b="0" i="0" sz="12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0F2C5C"/>
              </a:buClr>
              <a:buSzPts val="1200"/>
              <a:buFont typeface="Sora"/>
              <a:buChar char="•"/>
            </a:pPr>
            <a:r>
              <a:rPr b="0" i="0" lang="en-US" sz="1200" u="none" cap="none" strike="noStrike">
                <a:solidFill>
                  <a:srgbClr val="0F2C5C"/>
                </a:solidFill>
                <a:latin typeface="Sora"/>
                <a:ea typeface="Sora"/>
                <a:cs typeface="Sora"/>
                <a:sym typeface="Sora"/>
              </a:rPr>
              <a:t>No lead event is configured in GA4, so nothing is being measured today</a:t>
            </a:r>
            <a:endParaRPr b="0" i="0" sz="1200" u="none" cap="none" strike="noStrike">
              <a:solidFill>
                <a:schemeClr val="dk1"/>
              </a:solidFill>
              <a:latin typeface="Calibri"/>
              <a:ea typeface="Calibri"/>
              <a:cs typeface="Calibri"/>
              <a:sym typeface="Calibri"/>
            </a:endParaRPr>
          </a:p>
        </p:txBody>
      </p:sp>
      <p:sp>
        <p:nvSpPr>
          <p:cNvPr id="162" name="Google Shape;162;p18"/>
          <p:cNvSpPr txBox="1"/>
          <p:nvPr/>
        </p:nvSpPr>
        <p:spPr>
          <a:xfrm>
            <a:off x="548640" y="6355080"/>
            <a:ext cx="110643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0" i="0" lang="en-US" sz="900" u="none" cap="none" strike="noStrike">
                <a:solidFill>
                  <a:srgbClr val="96A1B0"/>
                </a:solidFill>
                <a:latin typeface="Sora"/>
                <a:ea typeface="Sora"/>
                <a:cs typeface="Sora"/>
                <a:sym typeface="Sora"/>
              </a:rPr>
              <a:t>Source: GA4 — MREI Regular Website, 11 Jun – 8 Sept 2026 (traffic) and 13 Jun – 10 Sept 2026 (page and event data).</a:t>
            </a:r>
            <a:endParaRPr b="0" i="0" sz="900" u="none" cap="none" strike="noStrike">
              <a:solidFill>
                <a:schemeClr val="dk1"/>
              </a:solidFill>
              <a:latin typeface="Calibri"/>
              <a:ea typeface="Calibri"/>
              <a:cs typeface="Calibri"/>
              <a:sym typeface="Calibri"/>
            </a:endParaRPr>
          </a:p>
        </p:txBody>
      </p:sp>
      <p:sp>
        <p:nvSpPr>
          <p:cNvPr id="163" name="Rounded Rectangle 162"/>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THE OPPORTUNITY  ·  EVENT DATA</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Intent lands deep. Conversion happens shallow.</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Share of landings vs share of intent events, by page type — the pages built for each persona barely convert</a:t>
            </a:r>
          </a:p>
        </p:txBody>
      </p:sp>
      <p:graphicFrame>
        <p:nvGraphicFramePr>
          <p:cNvPr id="5" name="Chart 4"/>
          <p:cNvGraphicFramePr>
            <a:graphicFrameLocks noGrp="1"/>
          </p:cNvGraphicFramePr>
          <p:nvPr/>
        </p:nvGraphicFramePr>
        <p:xfrm>
          <a:off x="548640" y="1463040"/>
          <a:ext cx="7406640" cy="4892040"/>
        </p:xfrm>
        <a:graphic>
          <a:graphicData uri="http://schemas.openxmlformats.org/drawingml/2006/chart">
            <c:chart xmlns:c="http://schemas.openxmlformats.org/drawingml/2006/chart" r:id="rId2"/>
          </a:graphicData>
        </a:graphic>
      </p:graphicFrame>
      <p:sp>
        <p:nvSpPr>
          <p:cNvPr id="6" name="Rounded Rectangle 5"/>
          <p:cNvSpPr/>
          <p:nvPr/>
        </p:nvSpPr>
        <p:spPr>
          <a:xfrm>
            <a:off x="8229600" y="1463040"/>
            <a:ext cx="3383280" cy="233172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0" y="1600200"/>
            <a:ext cx="3017520" cy="228600"/>
          </a:xfrm>
          <a:prstGeom prst="rect">
            <a:avLst/>
          </a:prstGeom>
          <a:noFill/>
        </p:spPr>
        <p:txBody>
          <a:bodyPr wrap="square" lIns="0" rIns="0" tIns="0" bIns="0" anchor="t">
            <a:spAutoFit/>
          </a:bodyPr>
          <a:lstStyle/>
          <a:p>
            <a:pPr algn="l"/>
            <a:r>
              <a:rPr sz="850" b="1" i="0">
                <a:solidFill>
                  <a:srgbClr val="CADCFC"/>
                </a:solidFill>
                <a:latin typeface="Sora"/>
              </a:rPr>
              <a:t>HOMEPAGE + INSTITUTION ROOT</a:t>
            </a:r>
          </a:p>
        </p:txBody>
      </p:sp>
      <p:sp>
        <p:nvSpPr>
          <p:cNvPr id="8" name="TextBox 7"/>
          <p:cNvSpPr txBox="1"/>
          <p:nvPr/>
        </p:nvSpPr>
        <p:spPr>
          <a:xfrm>
            <a:off x="8412480" y="1874519"/>
            <a:ext cx="3017520" cy="548640"/>
          </a:xfrm>
          <a:prstGeom prst="rect">
            <a:avLst/>
          </a:prstGeom>
          <a:noFill/>
        </p:spPr>
        <p:txBody>
          <a:bodyPr wrap="square" lIns="0" rIns="0" tIns="0" bIns="0" anchor="t">
            <a:spAutoFit/>
          </a:bodyPr>
          <a:lstStyle/>
          <a:p>
            <a:pPr algn="l"/>
            <a:r>
              <a:rPr sz="2800" b="1" i="0">
                <a:solidFill>
                  <a:srgbClr val="FFFFFF"/>
                </a:solidFill>
                <a:latin typeface="Sora"/>
              </a:rPr>
              <a:t>48% → 87%</a:t>
            </a:r>
          </a:p>
        </p:txBody>
      </p:sp>
      <p:sp>
        <p:nvSpPr>
          <p:cNvPr id="9" name="TextBox 8"/>
          <p:cNvSpPr txBox="1"/>
          <p:nvPr/>
        </p:nvSpPr>
        <p:spPr>
          <a:xfrm>
            <a:off x="8412480" y="2468880"/>
            <a:ext cx="3017520" cy="1280160"/>
          </a:xfrm>
          <a:prstGeom prst="rect">
            <a:avLst/>
          </a:prstGeom>
          <a:noFill/>
        </p:spPr>
        <p:txBody>
          <a:bodyPr wrap="square" lIns="0" rIns="0" tIns="0" bIns="0" anchor="t">
            <a:spAutoFit/>
          </a:bodyPr>
          <a:lstStyle/>
          <a:p>
            <a:pPr algn="l"/>
            <a:r>
              <a:rPr sz="950" b="0" i="0">
                <a:solidFill>
                  <a:srgbClr val="CADCFC"/>
                </a:solidFill>
                <a:latin typeface="Sora"/>
              </a:rPr>
              <a:t>48% of landings, 87% of form_submit events and 96% of form_start events. The generic pages do almost all the converting.</a:t>
            </a:r>
          </a:p>
        </p:txBody>
      </p:sp>
      <p:sp>
        <p:nvSpPr>
          <p:cNvPr id="10" name="Rounded Rectangle 9"/>
          <p:cNvSpPr/>
          <p:nvPr/>
        </p:nvSpPr>
        <p:spPr>
          <a:xfrm>
            <a:off x="8229600" y="3931920"/>
            <a:ext cx="3383280" cy="242316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4069080"/>
            <a:ext cx="3017520" cy="228600"/>
          </a:xfrm>
          <a:prstGeom prst="rect">
            <a:avLst/>
          </a:prstGeom>
          <a:noFill/>
        </p:spPr>
        <p:txBody>
          <a:bodyPr wrap="square" lIns="0" rIns="0" tIns="0" bIns="0" anchor="t">
            <a:spAutoFit/>
          </a:bodyPr>
          <a:lstStyle/>
          <a:p>
            <a:pPr algn="l"/>
            <a:r>
              <a:rPr sz="850" b="1" i="0">
                <a:solidFill>
                  <a:srgbClr val="C8102E"/>
                </a:solidFill>
                <a:latin typeface="Sora"/>
              </a:rPr>
              <a:t>THE FIVE PERSONA TEMPLATES</a:t>
            </a:r>
          </a:p>
        </p:txBody>
      </p:sp>
      <p:sp>
        <p:nvSpPr>
          <p:cNvPr id="12" name="TextBox 11"/>
          <p:cNvSpPr txBox="1"/>
          <p:nvPr/>
        </p:nvSpPr>
        <p:spPr>
          <a:xfrm>
            <a:off x="8412480" y="4343400"/>
            <a:ext cx="3017520" cy="548640"/>
          </a:xfrm>
          <a:prstGeom prst="rect">
            <a:avLst/>
          </a:prstGeom>
          <a:noFill/>
        </p:spPr>
        <p:txBody>
          <a:bodyPr wrap="square" lIns="0" rIns="0" tIns="0" bIns="0" anchor="t">
            <a:spAutoFit/>
          </a:bodyPr>
          <a:lstStyle/>
          <a:p>
            <a:pPr algn="l"/>
            <a:r>
              <a:rPr sz="2800" b="1" i="0">
                <a:solidFill>
                  <a:srgbClr val="C8102E"/>
                </a:solidFill>
                <a:latin typeface="Sora"/>
              </a:rPr>
              <a:t>43% → 12%</a:t>
            </a:r>
          </a:p>
        </p:txBody>
      </p:sp>
      <p:sp>
        <p:nvSpPr>
          <p:cNvPr id="13" name="TextBox 12"/>
          <p:cNvSpPr txBox="1"/>
          <p:nvPr/>
        </p:nvSpPr>
        <p:spPr>
          <a:xfrm>
            <a:off x="8412480" y="4937760"/>
            <a:ext cx="3017520" cy="1371600"/>
          </a:xfrm>
          <a:prstGeom prst="rect">
            <a:avLst/>
          </a:prstGeom>
          <a:noFill/>
        </p:spPr>
        <p:txBody>
          <a:bodyPr wrap="square" lIns="0" rIns="0" tIns="0" bIns="0" anchor="t">
            <a:spAutoFit/>
          </a:bodyPr>
          <a:lstStyle/>
          <a:p>
            <a:pPr algn="l"/>
            <a:r>
              <a:rPr sz="950" b="0" i="0">
                <a:solidFill>
                  <a:srgbClr val="0F2C5C"/>
                </a:solidFill>
                <a:latin typeface="Sora"/>
              </a:rPr>
              <a:t>Course, fee, blog and proof pages take 43% of landings but only 12% of form submits. So what: the pages that answer each persona’s question have no working capture point.</a:t>
            </a:r>
          </a:p>
        </p:txBody>
      </p:sp>
      <p:sp>
        <p:nvSpPr>
          <p:cNvPr id="14" name="TextBox 13"/>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event export by page type (event counts; separate pull, not directly comparable). Shares compare landings with events fired on that page type — a directional comparison, not a conversion rate.</a:t>
            </a:r>
          </a:p>
        </p:txBody>
      </p:sp>
      <p:sp>
        <p:nvSpPr>
          <p:cNvPr id="15" name="Rounded Rectangle 14"/>
          <p:cNvSpPr/>
          <p:nvPr/>
        </p:nvSpPr>
        <p:spPr>
          <a:xfrm>
            <a:off x="10703052" y="274320"/>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THE OPPORTUNITY  ·  MEASUREMENT</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What we count — and what we can’t count yet</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The KPI hierarchy for this programme, with the honest status of each signal in GA4 today</a:t>
            </a:r>
          </a:p>
        </p:txBody>
      </p:sp>
      <p:sp>
        <p:nvSpPr>
          <p:cNvPr id="5" name="Rounded Rectangle 4"/>
          <p:cNvSpPr/>
          <p:nvPr/>
        </p:nvSpPr>
        <p:spPr>
          <a:xfrm>
            <a:off x="1828800" y="1600200"/>
            <a:ext cx="2011680" cy="1417320"/>
          </a:xfrm>
          <a:prstGeom prst="roundRect">
            <a:avLst>
              <a:gd name="adj" fmla="val 8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1920240"/>
            <a:ext cx="2011680" cy="274320"/>
          </a:xfrm>
          <a:prstGeom prst="rect">
            <a:avLst/>
          </a:prstGeom>
          <a:noFill/>
        </p:spPr>
        <p:txBody>
          <a:bodyPr wrap="square" lIns="0" rIns="0" tIns="0" bIns="0" anchor="t">
            <a:spAutoFit/>
          </a:bodyPr>
          <a:lstStyle/>
          <a:p>
            <a:pPr algn="ctr"/>
            <a:r>
              <a:rPr sz="900" b="1" i="0">
                <a:solidFill>
                  <a:srgbClr val="CADCFC"/>
                </a:solidFill>
                <a:latin typeface="Sora"/>
              </a:rPr>
              <a:t>MACRO</a:t>
            </a:r>
          </a:p>
        </p:txBody>
      </p:sp>
      <p:sp>
        <p:nvSpPr>
          <p:cNvPr id="7" name="TextBox 6"/>
          <p:cNvSpPr txBox="1"/>
          <p:nvPr/>
        </p:nvSpPr>
        <p:spPr>
          <a:xfrm>
            <a:off x="1828800" y="2194560"/>
            <a:ext cx="2011680" cy="457200"/>
          </a:xfrm>
          <a:prstGeom prst="rect">
            <a:avLst/>
          </a:prstGeom>
          <a:noFill/>
        </p:spPr>
        <p:txBody>
          <a:bodyPr wrap="square" lIns="0" rIns="0" tIns="0" bIns="0" anchor="t">
            <a:spAutoFit/>
          </a:bodyPr>
          <a:lstStyle/>
          <a:p>
            <a:pPr algn="ctr"/>
            <a:r>
              <a:rPr sz="1700" b="1" i="0">
                <a:solidFill>
                  <a:srgbClr val="FFFFFF"/>
                </a:solidFill>
                <a:latin typeface="Sora"/>
              </a:rPr>
              <a:t>Leads</a:t>
            </a:r>
          </a:p>
        </p:txBody>
      </p:sp>
      <p:sp>
        <p:nvSpPr>
          <p:cNvPr id="8" name="Rounded Rectangle 7"/>
          <p:cNvSpPr/>
          <p:nvPr/>
        </p:nvSpPr>
        <p:spPr>
          <a:xfrm>
            <a:off x="1188719" y="3172968"/>
            <a:ext cx="3291840" cy="1417320"/>
          </a:xfrm>
          <a:prstGeom prst="roundRect">
            <a:avLst>
              <a:gd name="adj" fmla="val 8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19" y="3493008"/>
            <a:ext cx="3291840" cy="274320"/>
          </a:xfrm>
          <a:prstGeom prst="rect">
            <a:avLst/>
          </a:prstGeom>
          <a:noFill/>
        </p:spPr>
        <p:txBody>
          <a:bodyPr wrap="square" lIns="0" rIns="0" tIns="0" bIns="0" anchor="t">
            <a:spAutoFit/>
          </a:bodyPr>
          <a:lstStyle/>
          <a:p>
            <a:pPr algn="ctr"/>
            <a:r>
              <a:rPr sz="900" b="1" i="0">
                <a:solidFill>
                  <a:srgbClr val="CADCFC"/>
                </a:solidFill>
                <a:latin typeface="Sora"/>
              </a:rPr>
              <a:t>MICRO</a:t>
            </a:r>
          </a:p>
        </p:txBody>
      </p:sp>
      <p:sp>
        <p:nvSpPr>
          <p:cNvPr id="10" name="TextBox 9"/>
          <p:cNvSpPr txBox="1"/>
          <p:nvPr/>
        </p:nvSpPr>
        <p:spPr>
          <a:xfrm>
            <a:off x="1188719" y="3767328"/>
            <a:ext cx="3291840" cy="457200"/>
          </a:xfrm>
          <a:prstGeom prst="rect">
            <a:avLst/>
          </a:prstGeom>
          <a:noFill/>
        </p:spPr>
        <p:txBody>
          <a:bodyPr wrap="square" lIns="0" rIns="0" tIns="0" bIns="0" anchor="t">
            <a:spAutoFit/>
          </a:bodyPr>
          <a:lstStyle/>
          <a:p>
            <a:pPr algn="ctr"/>
            <a:r>
              <a:rPr sz="1700" b="1" i="0">
                <a:solidFill>
                  <a:srgbClr val="FFFFFF"/>
                </a:solidFill>
                <a:latin typeface="Sora"/>
              </a:rPr>
              <a:t>Intent actions</a:t>
            </a:r>
          </a:p>
        </p:txBody>
      </p:sp>
      <p:sp>
        <p:nvSpPr>
          <p:cNvPr id="11" name="Rounded Rectangle 10"/>
          <p:cNvSpPr/>
          <p:nvPr/>
        </p:nvSpPr>
        <p:spPr>
          <a:xfrm>
            <a:off x="548640" y="4745736"/>
            <a:ext cx="4572000" cy="1417320"/>
          </a:xfrm>
          <a:prstGeom prst="roundRect">
            <a:avLst>
              <a:gd name="adj" fmla="val 8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065775"/>
            <a:ext cx="4572000" cy="274320"/>
          </a:xfrm>
          <a:prstGeom prst="rect">
            <a:avLst/>
          </a:prstGeom>
          <a:noFill/>
        </p:spPr>
        <p:txBody>
          <a:bodyPr wrap="square" lIns="0" rIns="0" tIns="0" bIns="0" anchor="t">
            <a:spAutoFit/>
          </a:bodyPr>
          <a:lstStyle/>
          <a:p>
            <a:pPr algn="ctr"/>
            <a:r>
              <a:rPr sz="900" b="1" i="0">
                <a:solidFill>
                  <a:srgbClr val="CADCFC"/>
                </a:solidFill>
                <a:latin typeface="Sora"/>
              </a:rPr>
              <a:t>BEHAVIOUR</a:t>
            </a:r>
          </a:p>
        </p:txBody>
      </p:sp>
      <p:sp>
        <p:nvSpPr>
          <p:cNvPr id="13" name="TextBox 12"/>
          <p:cNvSpPr txBox="1"/>
          <p:nvPr/>
        </p:nvSpPr>
        <p:spPr>
          <a:xfrm>
            <a:off x="548640" y="5340096"/>
            <a:ext cx="4572000" cy="457200"/>
          </a:xfrm>
          <a:prstGeom prst="rect">
            <a:avLst/>
          </a:prstGeom>
          <a:noFill/>
        </p:spPr>
        <p:txBody>
          <a:bodyPr wrap="square" lIns="0" rIns="0" tIns="0" bIns="0" anchor="t">
            <a:spAutoFit/>
          </a:bodyPr>
          <a:lstStyle/>
          <a:p>
            <a:pPr algn="ctr"/>
            <a:r>
              <a:rPr sz="1700" b="1" i="0">
                <a:solidFill>
                  <a:srgbClr val="FFFFFF"/>
                </a:solidFill>
                <a:latin typeface="Sora"/>
              </a:rPr>
              <a:t>Progression</a:t>
            </a:r>
          </a:p>
        </p:txBody>
      </p:sp>
      <p:sp>
        <p:nvSpPr>
          <p:cNvPr id="14" name="TextBox 13"/>
          <p:cNvSpPr txBox="1"/>
          <p:nvPr/>
        </p:nvSpPr>
        <p:spPr>
          <a:xfrm>
            <a:off x="5440680" y="1600200"/>
            <a:ext cx="2377440" cy="411480"/>
          </a:xfrm>
          <a:prstGeom prst="rect">
            <a:avLst/>
          </a:prstGeom>
          <a:noFill/>
        </p:spPr>
        <p:txBody>
          <a:bodyPr wrap="square" lIns="0" rIns="0" tIns="0" bIns="0" anchor="t">
            <a:spAutoFit/>
          </a:bodyPr>
          <a:lstStyle/>
          <a:p>
            <a:pPr algn="l"/>
            <a:r>
              <a:rPr sz="1000" b="1" i="0">
                <a:solidFill>
                  <a:srgbClr val="0F2C5C"/>
                </a:solidFill>
                <a:latin typeface="Sora"/>
              </a:rPr>
              <a:t>Leads</a:t>
            </a:r>
          </a:p>
        </p:txBody>
      </p:sp>
      <p:sp>
        <p:nvSpPr>
          <p:cNvPr id="15" name="TextBox 14"/>
          <p:cNvSpPr txBox="1"/>
          <p:nvPr/>
        </p:nvSpPr>
        <p:spPr>
          <a:xfrm>
            <a:off x="7863840" y="1600200"/>
            <a:ext cx="2743200" cy="640080"/>
          </a:xfrm>
          <a:prstGeom prst="rect">
            <a:avLst/>
          </a:prstGeom>
          <a:noFill/>
        </p:spPr>
        <p:txBody>
          <a:bodyPr wrap="square" lIns="0" rIns="0" tIns="0" bIns="0" anchor="t">
            <a:spAutoFit/>
          </a:bodyPr>
          <a:lstStyle/>
          <a:p>
            <a:pPr algn="l"/>
            <a:r>
              <a:rPr sz="850" b="0" i="0">
                <a:solidFill>
                  <a:srgbClr val="5A6472"/>
                </a:solidFill>
                <a:latin typeface="Sora"/>
              </a:rPr>
              <a:t>No lead event is configured in GA4 (see “What the data says today”). form_submit fires 2,266 times, but exceeds form_start on course pages (209 vs 64) — it is not a clean lead signal.</a:t>
            </a:r>
          </a:p>
        </p:txBody>
      </p:sp>
      <p:sp>
        <p:nvSpPr>
          <p:cNvPr id="16" name="Rounded Rectangle 15"/>
          <p:cNvSpPr/>
          <p:nvPr/>
        </p:nvSpPr>
        <p:spPr>
          <a:xfrm>
            <a:off x="10607040" y="1600200"/>
            <a:ext cx="1005840" cy="219456"/>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0" y="1600200"/>
            <a:ext cx="1005840" cy="219456"/>
          </a:xfrm>
          <a:prstGeom prst="rect">
            <a:avLst/>
          </a:prstGeom>
          <a:noFill/>
        </p:spPr>
        <p:txBody>
          <a:bodyPr wrap="square" lIns="0" rIns="0" tIns="0" bIns="0" anchor="ctr">
            <a:spAutoFit/>
          </a:bodyPr>
          <a:lstStyle/>
          <a:p>
            <a:pPr algn="ctr"/>
            <a:r>
              <a:rPr sz="600" b="1" i="0">
                <a:solidFill>
                  <a:srgbClr val="C8102E"/>
                </a:solidFill>
                <a:latin typeface="Sora"/>
              </a:rPr>
              <a:t>NOT MEASURABLE YET</a:t>
            </a:r>
          </a:p>
        </p:txBody>
      </p:sp>
      <p:sp>
        <p:nvSpPr>
          <p:cNvPr id="18" name="TextBox 17"/>
          <p:cNvSpPr txBox="1"/>
          <p:nvPr/>
        </p:nvSpPr>
        <p:spPr>
          <a:xfrm>
            <a:off x="5440680" y="2395728"/>
            <a:ext cx="2377440" cy="411480"/>
          </a:xfrm>
          <a:prstGeom prst="rect">
            <a:avLst/>
          </a:prstGeom>
          <a:noFill/>
        </p:spPr>
        <p:txBody>
          <a:bodyPr wrap="square" lIns="0" rIns="0" tIns="0" bIns="0" anchor="t">
            <a:spAutoFit/>
          </a:bodyPr>
          <a:lstStyle/>
          <a:p>
            <a:pPr algn="l"/>
            <a:r>
              <a:rPr sz="1000" b="1" i="0">
                <a:solidFill>
                  <a:srgbClr val="0F2C5C"/>
                </a:solidFill>
                <a:latin typeface="Sora"/>
              </a:rPr>
              <a:t>Phone clicks · 658 events</a:t>
            </a:r>
          </a:p>
        </p:txBody>
      </p:sp>
      <p:sp>
        <p:nvSpPr>
          <p:cNvPr id="19" name="TextBox 18"/>
          <p:cNvSpPr txBox="1"/>
          <p:nvPr/>
        </p:nvSpPr>
        <p:spPr>
          <a:xfrm>
            <a:off x="7863840" y="2395728"/>
            <a:ext cx="2743200" cy="640080"/>
          </a:xfrm>
          <a:prstGeom prst="rect">
            <a:avLst/>
          </a:prstGeom>
          <a:noFill/>
        </p:spPr>
        <p:txBody>
          <a:bodyPr wrap="square" lIns="0" rIns="0" tIns="0" bIns="0" anchor="t">
            <a:spAutoFit/>
          </a:bodyPr>
          <a:lstStyle/>
          <a:p>
            <a:pPr algn="l"/>
            <a:r>
              <a:rPr sz="850" b="0" i="0">
                <a:solidFill>
                  <a:srgbClr val="5A6472"/>
                </a:solidFill>
                <a:latin typeface="Sora"/>
              </a:rPr>
              <a:t>Number_footer 620 · Number MRIIRS 26 · MRU 7 · MROnline 5. Mail clicks: 54.</a:t>
            </a:r>
          </a:p>
        </p:txBody>
      </p:sp>
      <p:sp>
        <p:nvSpPr>
          <p:cNvPr id="20" name="Rounded Rectangle 19"/>
          <p:cNvSpPr/>
          <p:nvPr/>
        </p:nvSpPr>
        <p:spPr>
          <a:xfrm>
            <a:off x="10607040" y="2395728"/>
            <a:ext cx="1005840" cy="219456"/>
          </a:xfrm>
          <a:prstGeom prst="roundRect">
            <a:avLst>
              <a:gd name="adj" fmla="val 50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0" y="2395728"/>
            <a:ext cx="1005840" cy="219456"/>
          </a:xfrm>
          <a:prstGeom prst="rect">
            <a:avLst/>
          </a:prstGeom>
          <a:noFill/>
        </p:spPr>
        <p:txBody>
          <a:bodyPr wrap="square" lIns="0" rIns="0" tIns="0" bIns="0" anchor="ctr">
            <a:spAutoFit/>
          </a:bodyPr>
          <a:lstStyle/>
          <a:p>
            <a:pPr algn="ctr"/>
            <a:r>
              <a:rPr sz="600" b="1" i="0">
                <a:solidFill>
                  <a:srgbClr val="1E7B4F"/>
                </a:solidFill>
                <a:latin typeface="Sora"/>
              </a:rPr>
              <a:t>TRACKED</a:t>
            </a:r>
          </a:p>
        </p:txBody>
      </p:sp>
      <p:sp>
        <p:nvSpPr>
          <p:cNvPr id="22" name="TextBox 21"/>
          <p:cNvSpPr txBox="1"/>
          <p:nvPr/>
        </p:nvSpPr>
        <p:spPr>
          <a:xfrm>
            <a:off x="5440680" y="2834640"/>
            <a:ext cx="2377440" cy="411480"/>
          </a:xfrm>
          <a:prstGeom prst="rect">
            <a:avLst/>
          </a:prstGeom>
          <a:noFill/>
        </p:spPr>
        <p:txBody>
          <a:bodyPr wrap="square" lIns="0" rIns="0" tIns="0" bIns="0" anchor="t">
            <a:spAutoFit/>
          </a:bodyPr>
          <a:lstStyle/>
          <a:p>
            <a:pPr algn="l"/>
            <a:r>
              <a:rPr sz="1000" b="1" i="0">
                <a:solidFill>
                  <a:srgbClr val="0F2C5C"/>
                </a:solidFill>
                <a:latin typeface="Sora"/>
              </a:rPr>
              <a:t>Apply Now clicks · 3,028 events</a:t>
            </a:r>
          </a:p>
        </p:txBody>
      </p:sp>
      <p:sp>
        <p:nvSpPr>
          <p:cNvPr id="23" name="TextBox 22"/>
          <p:cNvSpPr txBox="1"/>
          <p:nvPr/>
        </p:nvSpPr>
        <p:spPr>
          <a:xfrm>
            <a:off x="7863840" y="2834640"/>
            <a:ext cx="2743200" cy="640080"/>
          </a:xfrm>
          <a:prstGeom prst="rect">
            <a:avLst/>
          </a:prstGeom>
          <a:noFill/>
        </p:spPr>
        <p:txBody>
          <a:bodyPr wrap="square" lIns="0" rIns="0" tIns="0" bIns="0" anchor="t">
            <a:spAutoFit/>
          </a:bodyPr>
          <a:lstStyle/>
          <a:p>
            <a:pPr algn="l"/>
            <a:r>
              <a:rPr sz="850" b="0" i="0">
                <a:solidFill>
                  <a:srgbClr val="5A6472"/>
                </a:solidFill>
                <a:latin typeface="Sora"/>
              </a:rPr>
              <a:t>Main 2,281 · MRIIRS 613 · MRU 134. form_start: 3,415.</a:t>
            </a:r>
          </a:p>
        </p:txBody>
      </p:sp>
      <p:sp>
        <p:nvSpPr>
          <p:cNvPr id="24" name="Rounded Rectangle 23"/>
          <p:cNvSpPr/>
          <p:nvPr/>
        </p:nvSpPr>
        <p:spPr>
          <a:xfrm>
            <a:off x="10607040" y="2834640"/>
            <a:ext cx="1005840" cy="219456"/>
          </a:xfrm>
          <a:prstGeom prst="roundRect">
            <a:avLst>
              <a:gd name="adj" fmla="val 50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07040" y="2834640"/>
            <a:ext cx="1005840" cy="219456"/>
          </a:xfrm>
          <a:prstGeom prst="rect">
            <a:avLst/>
          </a:prstGeom>
          <a:noFill/>
        </p:spPr>
        <p:txBody>
          <a:bodyPr wrap="square" lIns="0" rIns="0" tIns="0" bIns="0" anchor="ctr">
            <a:spAutoFit/>
          </a:bodyPr>
          <a:lstStyle/>
          <a:p>
            <a:pPr algn="ctr"/>
            <a:r>
              <a:rPr sz="600" b="1" i="0">
                <a:solidFill>
                  <a:srgbClr val="1E7B4F"/>
                </a:solidFill>
                <a:latin typeface="Sora"/>
              </a:rPr>
              <a:t>TRACKED</a:t>
            </a:r>
          </a:p>
        </p:txBody>
      </p:sp>
      <p:sp>
        <p:nvSpPr>
          <p:cNvPr id="26" name="TextBox 25"/>
          <p:cNvSpPr txBox="1"/>
          <p:nvPr/>
        </p:nvSpPr>
        <p:spPr>
          <a:xfrm>
            <a:off x="5440680" y="3273552"/>
            <a:ext cx="2377440" cy="411480"/>
          </a:xfrm>
          <a:prstGeom prst="rect">
            <a:avLst/>
          </a:prstGeom>
          <a:noFill/>
        </p:spPr>
        <p:txBody>
          <a:bodyPr wrap="square" lIns="0" rIns="0" tIns="0" bIns="0" anchor="t">
            <a:spAutoFit/>
          </a:bodyPr>
          <a:lstStyle/>
          <a:p>
            <a:pPr algn="l"/>
            <a:r>
              <a:rPr sz="1000" b="1" i="0">
                <a:solidFill>
                  <a:srgbClr val="0F2C5C"/>
                </a:solidFill>
                <a:latin typeface="Sora"/>
              </a:rPr>
              <a:t>Brochure · 2,746 + 971 events</a:t>
            </a:r>
          </a:p>
        </p:txBody>
      </p:sp>
      <p:sp>
        <p:nvSpPr>
          <p:cNvPr id="27" name="TextBox 26"/>
          <p:cNvSpPr txBox="1"/>
          <p:nvPr/>
        </p:nvSpPr>
        <p:spPr>
          <a:xfrm>
            <a:off x="7863840" y="3273552"/>
            <a:ext cx="2743200" cy="640080"/>
          </a:xfrm>
          <a:prstGeom prst="rect">
            <a:avLst/>
          </a:prstGeom>
          <a:noFill/>
        </p:spPr>
        <p:txBody>
          <a:bodyPr wrap="square" lIns="0" rIns="0" tIns="0" bIns="0" anchor="t">
            <a:spAutoFit/>
          </a:bodyPr>
          <a:lstStyle/>
          <a:p>
            <a:pPr algn="l"/>
            <a:r>
              <a:rPr sz="850" b="0" i="0">
                <a:solidFill>
                  <a:srgbClr val="5A6472"/>
                </a:solidFill>
                <a:latin typeface="Sora"/>
              </a:rPr>
              <a:t>Download_Brochure 2,746 (brochure page). file_download 971 fires on any file, not only brochures.</a:t>
            </a:r>
          </a:p>
        </p:txBody>
      </p:sp>
      <p:sp>
        <p:nvSpPr>
          <p:cNvPr id="28" name="Rounded Rectangle 27"/>
          <p:cNvSpPr/>
          <p:nvPr/>
        </p:nvSpPr>
        <p:spPr>
          <a:xfrm>
            <a:off x="10607040" y="3273552"/>
            <a:ext cx="1005840" cy="219456"/>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07040" y="3273552"/>
            <a:ext cx="1005840" cy="219456"/>
          </a:xfrm>
          <a:prstGeom prst="rect">
            <a:avLst/>
          </a:prstGeom>
          <a:noFill/>
        </p:spPr>
        <p:txBody>
          <a:bodyPr wrap="square" lIns="0" rIns="0" tIns="0" bIns="0" anchor="ctr">
            <a:spAutoFit/>
          </a:bodyPr>
          <a:lstStyle/>
          <a:p>
            <a:pPr algn="ctr"/>
            <a:r>
              <a:rPr sz="600" b="1" i="0">
                <a:solidFill>
                  <a:srgbClr val="B26B00"/>
                </a:solidFill>
                <a:latin typeface="Sora"/>
              </a:rPr>
              <a:t>PARTLY</a:t>
            </a:r>
          </a:p>
        </p:txBody>
      </p:sp>
      <p:sp>
        <p:nvSpPr>
          <p:cNvPr id="30" name="TextBox 29"/>
          <p:cNvSpPr txBox="1"/>
          <p:nvPr/>
        </p:nvSpPr>
        <p:spPr>
          <a:xfrm>
            <a:off x="5440680" y="3712463"/>
            <a:ext cx="2377440" cy="411480"/>
          </a:xfrm>
          <a:prstGeom prst="rect">
            <a:avLst/>
          </a:prstGeom>
          <a:noFill/>
        </p:spPr>
        <p:txBody>
          <a:bodyPr wrap="square" lIns="0" rIns="0" tIns="0" bIns="0" anchor="t">
            <a:spAutoFit/>
          </a:bodyPr>
          <a:lstStyle/>
          <a:p>
            <a:pPr algn="l"/>
            <a:r>
              <a:rPr sz="1000" b="1" i="0">
                <a:solidFill>
                  <a:srgbClr val="0F2C5C"/>
                </a:solidFill>
                <a:latin typeface="Sora"/>
              </a:rPr>
              <a:t>Google / GMB clicks · Save to shortlist</a:t>
            </a:r>
          </a:p>
        </p:txBody>
      </p:sp>
      <p:sp>
        <p:nvSpPr>
          <p:cNvPr id="31" name="TextBox 30"/>
          <p:cNvSpPr txBox="1"/>
          <p:nvPr/>
        </p:nvSpPr>
        <p:spPr>
          <a:xfrm>
            <a:off x="7863840" y="3712463"/>
            <a:ext cx="2743200" cy="640080"/>
          </a:xfrm>
          <a:prstGeom prst="rect">
            <a:avLst/>
          </a:prstGeom>
          <a:noFill/>
        </p:spPr>
        <p:txBody>
          <a:bodyPr wrap="square" lIns="0" rIns="0" tIns="0" bIns="0" anchor="t">
            <a:spAutoFit/>
          </a:bodyPr>
          <a:lstStyle/>
          <a:p>
            <a:pPr algn="l"/>
            <a:r>
              <a:rPr sz="850" b="0" i="0">
                <a:solidFill>
                  <a:srgbClr val="5A6472"/>
                </a:solidFill>
                <a:latin typeface="Sora"/>
              </a:rPr>
              <a:t>Evidence not available in current dataset. GMB clicks live in Google Business Profile, not site GA4; no shortlist feature was found on audited pages.</a:t>
            </a:r>
          </a:p>
        </p:txBody>
      </p:sp>
      <p:sp>
        <p:nvSpPr>
          <p:cNvPr id="32" name="Rounded Rectangle 31"/>
          <p:cNvSpPr/>
          <p:nvPr/>
        </p:nvSpPr>
        <p:spPr>
          <a:xfrm>
            <a:off x="10607040" y="3712463"/>
            <a:ext cx="1005840" cy="219456"/>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0" y="3712463"/>
            <a:ext cx="1005840" cy="219456"/>
          </a:xfrm>
          <a:prstGeom prst="rect">
            <a:avLst/>
          </a:prstGeom>
          <a:noFill/>
        </p:spPr>
        <p:txBody>
          <a:bodyPr wrap="square" lIns="0" rIns="0" tIns="0" bIns="0" anchor="ctr">
            <a:spAutoFit/>
          </a:bodyPr>
          <a:lstStyle/>
          <a:p>
            <a:pPr algn="ctr"/>
            <a:r>
              <a:rPr sz="600" b="1" i="0">
                <a:solidFill>
                  <a:srgbClr val="C8102E"/>
                </a:solidFill>
                <a:latin typeface="Sora"/>
              </a:rPr>
              <a:t>MISSING</a:t>
            </a:r>
          </a:p>
        </p:txBody>
      </p:sp>
      <p:sp>
        <p:nvSpPr>
          <p:cNvPr id="34" name="TextBox 33"/>
          <p:cNvSpPr txBox="1"/>
          <p:nvPr/>
        </p:nvSpPr>
        <p:spPr>
          <a:xfrm>
            <a:off x="5440680" y="4754880"/>
            <a:ext cx="2377440" cy="411480"/>
          </a:xfrm>
          <a:prstGeom prst="rect">
            <a:avLst/>
          </a:prstGeom>
          <a:noFill/>
        </p:spPr>
        <p:txBody>
          <a:bodyPr wrap="square" lIns="0" rIns="0" tIns="0" bIns="0" anchor="t">
            <a:spAutoFit/>
          </a:bodyPr>
          <a:lstStyle/>
          <a:p>
            <a:pPr algn="l"/>
            <a:r>
              <a:rPr sz="1000" b="1" i="0">
                <a:solidFill>
                  <a:srgbClr val="0F2C5C"/>
                </a:solidFill>
                <a:latin typeface="Sora"/>
              </a:rPr>
              <a:t>Progression</a:t>
            </a:r>
          </a:p>
        </p:txBody>
      </p:sp>
      <p:sp>
        <p:nvSpPr>
          <p:cNvPr id="35" name="TextBox 34"/>
          <p:cNvSpPr txBox="1"/>
          <p:nvPr/>
        </p:nvSpPr>
        <p:spPr>
          <a:xfrm>
            <a:off x="7863840" y="4754880"/>
            <a:ext cx="2743200" cy="640080"/>
          </a:xfrm>
          <a:prstGeom prst="rect">
            <a:avLst/>
          </a:prstGeom>
          <a:noFill/>
        </p:spPr>
        <p:txBody>
          <a:bodyPr wrap="square" lIns="0" rIns="0" tIns="0" bIns="0" anchor="t">
            <a:spAutoFit/>
          </a:bodyPr>
          <a:lstStyle/>
          <a:p>
            <a:pPr algn="l"/>
            <a:r>
              <a:rPr sz="850" b="0" i="0">
                <a:solidFill>
                  <a:srgbClr val="5A6472"/>
                </a:solidFill>
                <a:latin typeface="Sora"/>
              </a:rPr>
              <a:t>90% scroll: 35,150 events. Site search results: 99 (homepage only). Path movement: GA4 Path Exploration (section 02).</a:t>
            </a:r>
          </a:p>
        </p:txBody>
      </p:sp>
      <p:sp>
        <p:nvSpPr>
          <p:cNvPr id="36" name="Rounded Rectangle 35"/>
          <p:cNvSpPr/>
          <p:nvPr/>
        </p:nvSpPr>
        <p:spPr>
          <a:xfrm>
            <a:off x="10607040" y="4754880"/>
            <a:ext cx="1005840" cy="219456"/>
          </a:xfrm>
          <a:prstGeom prst="roundRect">
            <a:avLst>
              <a:gd name="adj" fmla="val 50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07040" y="4754880"/>
            <a:ext cx="1005840" cy="219456"/>
          </a:xfrm>
          <a:prstGeom prst="rect">
            <a:avLst/>
          </a:prstGeom>
          <a:noFill/>
        </p:spPr>
        <p:txBody>
          <a:bodyPr wrap="square" lIns="0" rIns="0" tIns="0" bIns="0" anchor="ctr">
            <a:spAutoFit/>
          </a:bodyPr>
          <a:lstStyle/>
          <a:p>
            <a:pPr algn="ctr"/>
            <a:r>
              <a:rPr sz="600" b="1" i="0">
                <a:solidFill>
                  <a:srgbClr val="1E7B4F"/>
                </a:solidFill>
                <a:latin typeface="Sora"/>
              </a:rPr>
              <a:t>TRACKED</a:t>
            </a:r>
          </a:p>
        </p:txBody>
      </p:sp>
      <p:sp>
        <p:nvSpPr>
          <p:cNvPr id="38" name="TextBox 37"/>
          <p:cNvSpPr txBox="1"/>
          <p:nvPr/>
        </p:nvSpPr>
        <p:spPr>
          <a:xfrm>
            <a:off x="5440680" y="5413248"/>
            <a:ext cx="2377440" cy="411480"/>
          </a:xfrm>
          <a:prstGeom prst="rect">
            <a:avLst/>
          </a:prstGeom>
          <a:noFill/>
        </p:spPr>
        <p:txBody>
          <a:bodyPr wrap="square" lIns="0" rIns="0" tIns="0" bIns="0" anchor="t">
            <a:spAutoFit/>
          </a:bodyPr>
          <a:lstStyle/>
          <a:p>
            <a:pPr algn="l"/>
            <a:r>
              <a:rPr sz="1000" b="1" i="0">
                <a:solidFill>
                  <a:srgbClr val="0F2C5C"/>
                </a:solidFill>
                <a:latin typeface="Sora"/>
              </a:rPr>
              <a:t>Fee search · Fee calculator</a:t>
            </a:r>
          </a:p>
        </p:txBody>
      </p:sp>
      <p:sp>
        <p:nvSpPr>
          <p:cNvPr id="39" name="TextBox 38"/>
          <p:cNvSpPr txBox="1"/>
          <p:nvPr/>
        </p:nvSpPr>
        <p:spPr>
          <a:xfrm>
            <a:off x="7863840" y="5413248"/>
            <a:ext cx="2743200" cy="640080"/>
          </a:xfrm>
          <a:prstGeom prst="rect">
            <a:avLst/>
          </a:prstGeom>
          <a:noFill/>
        </p:spPr>
        <p:txBody>
          <a:bodyPr wrap="square" lIns="0" rIns="0" tIns="0" bIns="0" anchor="t">
            <a:spAutoFit/>
          </a:bodyPr>
          <a:lstStyle/>
          <a:p>
            <a:pPr algn="l"/>
            <a:r>
              <a:rPr sz="850" b="0" i="0">
                <a:solidFill>
                  <a:srgbClr val="5A6472"/>
                </a:solidFill>
                <a:latin typeface="Sora"/>
              </a:rPr>
              <a:t>No event exists for either — usage of the fee page’s own tools is invisible today.</a:t>
            </a:r>
          </a:p>
        </p:txBody>
      </p:sp>
      <p:sp>
        <p:nvSpPr>
          <p:cNvPr id="40" name="Rounded Rectangle 39"/>
          <p:cNvSpPr/>
          <p:nvPr/>
        </p:nvSpPr>
        <p:spPr>
          <a:xfrm>
            <a:off x="10607040" y="5413248"/>
            <a:ext cx="1005840" cy="219456"/>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07040" y="5413248"/>
            <a:ext cx="1005840" cy="219456"/>
          </a:xfrm>
          <a:prstGeom prst="rect">
            <a:avLst/>
          </a:prstGeom>
          <a:noFill/>
        </p:spPr>
        <p:txBody>
          <a:bodyPr wrap="square" lIns="0" rIns="0" tIns="0" bIns="0" anchor="ctr">
            <a:spAutoFit/>
          </a:bodyPr>
          <a:lstStyle/>
          <a:p>
            <a:pPr algn="ctr"/>
            <a:r>
              <a:rPr sz="600" b="1" i="0">
                <a:solidFill>
                  <a:srgbClr val="C8102E"/>
                </a:solidFill>
                <a:latin typeface="Sora"/>
              </a:rPr>
              <a:t>MISSING</a:t>
            </a:r>
          </a:p>
        </p:txBody>
      </p:sp>
      <p:sp>
        <p:nvSpPr>
          <p:cNvPr id="42" name="TextBox 41"/>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event export by page type (event counts; separate pull, not directly comparable); lead-event status as stated in this deck; Live site audit, 24 Sept 2026.</a:t>
            </a:r>
          </a:p>
        </p:txBody>
      </p:sp>
      <p:sp>
        <p:nvSpPr>
          <p:cNvPr id="43" name="Rounded Rectangle 42"/>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C5C"/>
        </a:solidFill>
        <a:effectLst/>
      </p:bgPr>
    </p:bg>
    <p:spTree>
      <p:nvGrpSpPr>
        <p:cNvPr id="1" name=""/>
        <p:cNvGrpSpPr/>
        <p:nvPr/>
      </p:nvGrpSpPr>
      <p:grpSpPr/>
      <p:sp>
        <p:nvSpPr>
          <p:cNvPr id="2" name="TextBox 1"/>
          <p:cNvSpPr txBox="1"/>
          <p:nvPr/>
        </p:nvSpPr>
        <p:spPr>
          <a:xfrm>
            <a:off x="822960" y="2514600"/>
            <a:ext cx="2743200" cy="457200"/>
          </a:xfrm>
          <a:prstGeom prst="rect">
            <a:avLst/>
          </a:prstGeom>
          <a:noFill/>
        </p:spPr>
        <p:txBody>
          <a:bodyPr wrap="square" lIns="0" rIns="0" tIns="0" bIns="0" anchor="t">
            <a:spAutoFit/>
          </a:bodyPr>
          <a:lstStyle/>
          <a:p>
            <a:pPr algn="l"/>
            <a:r>
              <a:rPr sz="1600" b="1" i="0">
                <a:solidFill>
                  <a:srgbClr val="C8102E"/>
                </a:solidFill>
                <a:latin typeface="Sora"/>
              </a:rPr>
              <a:t>02</a:t>
            </a:r>
          </a:p>
        </p:txBody>
      </p:sp>
      <p:sp>
        <p:nvSpPr>
          <p:cNvPr id="3" name="TextBox 2"/>
          <p:cNvSpPr txBox="1"/>
          <p:nvPr/>
        </p:nvSpPr>
        <p:spPr>
          <a:xfrm>
            <a:off x="822960" y="2926080"/>
            <a:ext cx="10058400" cy="731520"/>
          </a:xfrm>
          <a:prstGeom prst="rect">
            <a:avLst/>
          </a:prstGeom>
          <a:noFill/>
        </p:spPr>
        <p:txBody>
          <a:bodyPr wrap="square" lIns="0" rIns="0" tIns="0" bIns="0" anchor="t">
            <a:spAutoFit/>
          </a:bodyPr>
          <a:lstStyle/>
          <a:p>
            <a:pPr algn="l"/>
            <a:r>
              <a:rPr sz="3400" b="1" i="0">
                <a:solidFill>
                  <a:srgbClr val="FFFFFF"/>
                </a:solidFill>
                <a:latin typeface="Sora"/>
              </a:rPr>
              <a:t>What users actually do</a:t>
            </a:r>
          </a:p>
        </p:txBody>
      </p:sp>
      <p:sp>
        <p:nvSpPr>
          <p:cNvPr id="4" name="TextBox 3"/>
          <p:cNvSpPr txBox="1"/>
          <p:nvPr/>
        </p:nvSpPr>
        <p:spPr>
          <a:xfrm>
            <a:off x="822960" y="3703320"/>
            <a:ext cx="9601200" cy="548640"/>
          </a:xfrm>
          <a:prstGeom prst="rect">
            <a:avLst/>
          </a:prstGeom>
          <a:noFill/>
        </p:spPr>
        <p:txBody>
          <a:bodyPr wrap="square" lIns="0" rIns="0" tIns="0" bIns="0" anchor="t">
            <a:spAutoFit/>
          </a:bodyPr>
          <a:lstStyle/>
          <a:p>
            <a:pPr algn="l"/>
            <a:r>
              <a:rPr sz="1400" b="0" i="0">
                <a:solidFill>
                  <a:srgbClr val="CADCFC"/>
                </a:solidFill>
                <a:latin typeface="Sora"/>
              </a:rPr>
              <a:t>Where users move, stop, loop back — and where they signal intent.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WHAT USERS ACTUALLY DO  ·  EVENT MAP</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Every page type signals intent differently</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Page type → event → volume → persona. Cell shade = that page type’s share of the column total</a:t>
            </a:r>
          </a:p>
        </p:txBody>
      </p:sp>
      <p:graphicFrame>
        <p:nvGraphicFramePr>
          <p:cNvPr id="5" name="Table 4"/>
          <p:cNvGraphicFramePr>
            <a:graphicFrameLocks noGrp="1"/>
          </p:cNvGraphicFramePr>
          <p:nvPr/>
        </p:nvGraphicFramePr>
        <p:xfrm>
          <a:off x="548640" y="1463040"/>
          <a:ext cx="8139984" cy="4846309"/>
        </p:xfrm>
        <a:graphic>
          <a:graphicData uri="http://schemas.openxmlformats.org/drawingml/2006/table">
            <a:tbl>
              <a:tblPr firstRow="1" bandRow="1">
                <a:tableStyleId>{5C22544A-7EE6-4342-B048-85BDC9FD1C3A}</a:tableStyleId>
              </a:tblPr>
              <a:tblGrid>
                <a:gridCol w="1600200"/>
                <a:gridCol w="1097280"/>
                <a:gridCol w="680313"/>
                <a:gridCol w="680313"/>
                <a:gridCol w="680313"/>
                <a:gridCol w="680313"/>
                <a:gridCol w="680313"/>
                <a:gridCol w="680313"/>
                <a:gridCol w="680313"/>
                <a:gridCol w="680313"/>
              </a:tblGrid>
              <a:tr h="372793">
                <a:tc>
                  <a:txBody>
                    <a:bodyPr/>
                    <a:lstStyle/>
                    <a:p>
                      <a:pPr algn="l"/>
                      <a:r>
                        <a:rPr sz="750" b="1">
                          <a:solidFill>
                            <a:srgbClr val="FFFFFF"/>
                          </a:solidFill>
                          <a:latin typeface="Sora"/>
                        </a:rPr>
                        <a:t>Page type</a:t>
                      </a:r>
                    </a:p>
                  </a:txBody>
                  <a:tcPr marL="36576" marR="36576" marT="18288" marB="18288" anchor="ctr">
                    <a:solidFill>
                      <a:srgbClr val="0F2C5C"/>
                    </a:solidFill>
                  </a:tcPr>
                </a:tc>
                <a:tc>
                  <a:txBody>
                    <a:bodyPr/>
                    <a:lstStyle/>
                    <a:p>
                      <a:pPr algn="l"/>
                      <a:r>
                        <a:rPr sz="750" b="1">
                          <a:solidFill>
                            <a:srgbClr val="FFFFFF"/>
                          </a:solidFill>
                          <a:latin typeface="Sora"/>
                        </a:rPr>
                        <a:t>Persona (export mapping)</a:t>
                      </a:r>
                    </a:p>
                  </a:txBody>
                  <a:tcPr marL="36576" marR="36576" marT="18288" marB="18288" anchor="ctr">
                    <a:solidFill>
                      <a:srgbClr val="0F2C5C"/>
                    </a:solidFill>
                  </a:tcPr>
                </a:tc>
                <a:tc>
                  <a:txBody>
                    <a:bodyPr/>
                    <a:lstStyle/>
                    <a:p>
                      <a:pPr algn="ctr"/>
                      <a:r>
                        <a:rPr sz="750" b="1">
                          <a:solidFill>
                            <a:srgbClr val="FFFFFF"/>
                          </a:solidFill>
                          <a:latin typeface="Sora"/>
                        </a:rPr>
                        <a:t>Landings</a:t>
                      </a:r>
                    </a:p>
                  </a:txBody>
                  <a:tcPr marL="36576" marR="36576" marT="18288" marB="18288" anchor="ctr">
                    <a:solidFill>
                      <a:srgbClr val="0F2C5C"/>
                    </a:solidFill>
                  </a:tcPr>
                </a:tc>
                <a:tc>
                  <a:txBody>
                    <a:bodyPr/>
                    <a:lstStyle/>
                    <a:p>
                      <a:pPr algn="ctr"/>
                      <a:r>
                        <a:rPr sz="750" b="1">
                          <a:solidFill>
                            <a:srgbClr val="FFFFFF"/>
                          </a:solidFill>
                          <a:latin typeface="Sora"/>
                        </a:rPr>
                        <a:t>Form start</a:t>
                      </a:r>
                    </a:p>
                  </a:txBody>
                  <a:tcPr marL="36576" marR="36576" marT="18288" marB="18288" anchor="ctr">
                    <a:solidFill>
                      <a:srgbClr val="0F2C5C"/>
                    </a:solidFill>
                  </a:tcPr>
                </a:tc>
                <a:tc>
                  <a:txBody>
                    <a:bodyPr/>
                    <a:lstStyle/>
                    <a:p>
                      <a:pPr algn="ctr"/>
                      <a:r>
                        <a:rPr sz="750" b="1">
                          <a:solidFill>
                            <a:srgbClr val="FFFFFF"/>
                          </a:solidFill>
                          <a:latin typeface="Sora"/>
                        </a:rPr>
                        <a:t>Form submit</a:t>
                      </a:r>
                    </a:p>
                  </a:txBody>
                  <a:tcPr marL="36576" marR="36576" marT="18288" marB="18288" anchor="ctr">
                    <a:solidFill>
                      <a:srgbClr val="0F2C5C"/>
                    </a:solidFill>
                  </a:tcPr>
                </a:tc>
                <a:tc>
                  <a:txBody>
                    <a:bodyPr/>
                    <a:lstStyle/>
                    <a:p>
                      <a:pPr algn="ctr"/>
                      <a:r>
                        <a:rPr sz="750" b="1">
                          <a:solidFill>
                            <a:srgbClr val="FFFFFF"/>
                          </a:solidFill>
                          <a:latin typeface="Sora"/>
                        </a:rPr>
                        <a:t>Apply</a:t>
                      </a:r>
                    </a:p>
                  </a:txBody>
                  <a:tcPr marL="36576" marR="36576" marT="18288" marB="18288" anchor="ctr">
                    <a:solidFill>
                      <a:srgbClr val="0F2C5C"/>
                    </a:solidFill>
                  </a:tcPr>
                </a:tc>
                <a:tc>
                  <a:txBody>
                    <a:bodyPr/>
                    <a:lstStyle/>
                    <a:p>
                      <a:pPr algn="ctr"/>
                      <a:r>
                        <a:rPr sz="750" b="1">
                          <a:solidFill>
                            <a:srgbClr val="FFFFFF"/>
                          </a:solidFill>
                          <a:latin typeface="Sora"/>
                        </a:rPr>
                        <a:t>Phone</a:t>
                      </a:r>
                    </a:p>
                  </a:txBody>
                  <a:tcPr marL="36576" marR="36576" marT="18288" marB="18288" anchor="ctr">
                    <a:solidFill>
                      <a:srgbClr val="0F2C5C"/>
                    </a:solidFill>
                  </a:tcPr>
                </a:tc>
                <a:tc>
                  <a:txBody>
                    <a:bodyPr/>
                    <a:lstStyle/>
                    <a:p>
                      <a:pPr algn="ctr"/>
                      <a:r>
                        <a:rPr sz="750" b="1">
                          <a:solidFill>
                            <a:srgbClr val="FFFFFF"/>
                          </a:solidFill>
                          <a:latin typeface="Sora"/>
                        </a:rPr>
                        <a:t>Brochure DL</a:t>
                      </a:r>
                    </a:p>
                  </a:txBody>
                  <a:tcPr marL="36576" marR="36576" marT="18288" marB="18288" anchor="ctr">
                    <a:solidFill>
                      <a:srgbClr val="0F2C5C"/>
                    </a:solidFill>
                  </a:tcPr>
                </a:tc>
                <a:tc>
                  <a:txBody>
                    <a:bodyPr/>
                    <a:lstStyle/>
                    <a:p>
                      <a:pPr algn="ctr"/>
                      <a:r>
                        <a:rPr sz="750" b="1">
                          <a:solidFill>
                            <a:srgbClr val="FFFFFF"/>
                          </a:solidFill>
                          <a:latin typeface="Sora"/>
                        </a:rPr>
                        <a:t>File DL</a:t>
                      </a:r>
                    </a:p>
                  </a:txBody>
                  <a:tcPr marL="36576" marR="36576" marT="18288" marB="18288" anchor="ctr">
                    <a:solidFill>
                      <a:srgbClr val="0F2C5C"/>
                    </a:solidFill>
                  </a:tcPr>
                </a:tc>
                <a:tc>
                  <a:txBody>
                    <a:bodyPr/>
                    <a:lstStyle/>
                    <a:p>
                      <a:pPr algn="ctr"/>
                      <a:r>
                        <a:rPr sz="750" b="1">
                          <a:solidFill>
                            <a:srgbClr val="FFFFFF"/>
                          </a:solidFill>
                          <a:latin typeface="Sora"/>
                        </a:rPr>
                        <a:t>90% scroll</a:t>
                      </a:r>
                    </a:p>
                  </a:txBody>
                  <a:tcPr marL="36576" marR="36576" marT="18288" marB="18288" anchor="ctr">
                    <a:solidFill>
                      <a:srgbClr val="0F2C5C"/>
                    </a:solidFill>
                  </a:tcPr>
                </a:tc>
              </a:tr>
              <a:tr h="372793">
                <a:tc>
                  <a:txBody>
                    <a:bodyPr/>
                    <a:lstStyle/>
                    <a:p>
                      <a:pPr algn="l"/>
                      <a:r>
                        <a:rPr sz="750" b="1">
                          <a:solidFill>
                            <a:srgbClr val="0F2C5C"/>
                          </a:solidFill>
                          <a:latin typeface="Sora"/>
                        </a:rPr>
                        <a:t>Homepage</a:t>
                      </a:r>
                    </a:p>
                  </a:txBody>
                  <a:tcPr marL="36576" marR="36576" marT="18288" marB="18288" anchor="ctr">
                    <a:solidFill>
                      <a:srgbClr val="F4F6FA"/>
                    </a:solidFill>
                  </a:tcPr>
                </a:tc>
                <a:tc>
                  <a:txBody>
                    <a:bodyPr/>
                    <a:lstStyle/>
                    <a:p>
                      <a:pPr algn="l"/>
                      <a:r>
                        <a:rPr sz="750" b="0">
                          <a:solidFill>
                            <a:srgbClr val="5A6472"/>
                          </a:solidFill>
                          <a:latin typeface="Sora"/>
                        </a:rPr>
                        <a:t>Unassigned</a:t>
                      </a:r>
                    </a:p>
                  </a:txBody>
                  <a:tcPr marL="36576" marR="36576" marT="18288" marB="18288" anchor="ctr">
                    <a:solidFill>
                      <a:srgbClr val="F4F6FA"/>
                    </a:solidFill>
                  </a:tcPr>
                </a:tc>
                <a:tc>
                  <a:txBody>
                    <a:bodyPr/>
                    <a:lstStyle/>
                    <a:p>
                      <a:pPr algn="ctr"/>
                      <a:r>
                        <a:rPr sz="800" b="1">
                          <a:solidFill>
                            <a:srgbClr val="FFFFFF"/>
                          </a:solidFill>
                          <a:latin typeface="Sora"/>
                        </a:rPr>
                        <a:t>48,383</a:t>
                      </a:r>
                    </a:p>
                  </a:txBody>
                  <a:tcPr marL="36576" marR="36576" marT="18288" marB="18288" anchor="ctr">
                    <a:solidFill>
                      <a:srgbClr val="DD6E80"/>
                    </a:solidFill>
                  </a:tcPr>
                </a:tc>
                <a:tc>
                  <a:txBody>
                    <a:bodyPr/>
                    <a:lstStyle/>
                    <a:p>
                      <a:pPr algn="ctr"/>
                      <a:r>
                        <a:rPr sz="800" b="1">
                          <a:solidFill>
                            <a:srgbClr val="FFFFFF"/>
                          </a:solidFill>
                          <a:latin typeface="Sora"/>
                        </a:rPr>
                        <a:t>2,432</a:t>
                      </a:r>
                    </a:p>
                  </a:txBody>
                  <a:tcPr marL="36576" marR="36576" marT="18288" marB="18288" anchor="ctr">
                    <a:solidFill>
                      <a:srgbClr val="C8102E"/>
                    </a:solidFill>
                  </a:tcPr>
                </a:tc>
                <a:tc>
                  <a:txBody>
                    <a:bodyPr/>
                    <a:lstStyle/>
                    <a:p>
                      <a:pPr algn="ctr"/>
                      <a:r>
                        <a:rPr sz="800" b="1">
                          <a:solidFill>
                            <a:srgbClr val="FFFFFF"/>
                          </a:solidFill>
                          <a:latin typeface="Sora"/>
                        </a:rPr>
                        <a:t>1,367</a:t>
                      </a:r>
                    </a:p>
                  </a:txBody>
                  <a:tcPr marL="36576" marR="36576" marT="18288" marB="18288" anchor="ctr">
                    <a:solidFill>
                      <a:srgbClr val="C8102E"/>
                    </a:solidFill>
                  </a:tcPr>
                </a:tc>
                <a:tc>
                  <a:txBody>
                    <a:bodyPr/>
                    <a:lstStyle/>
                    <a:p>
                      <a:pPr algn="ctr"/>
                      <a:r>
                        <a:rPr sz="800" b="1">
                          <a:solidFill>
                            <a:srgbClr val="FFFFFF"/>
                          </a:solidFill>
                          <a:latin typeface="Sora"/>
                        </a:rPr>
                        <a:t>1,952</a:t>
                      </a:r>
                    </a:p>
                  </a:txBody>
                  <a:tcPr marL="36576" marR="36576" marT="18288" marB="18288" anchor="ctr">
                    <a:solidFill>
                      <a:srgbClr val="C8102E"/>
                    </a:solidFill>
                  </a:tcPr>
                </a:tc>
                <a:tc>
                  <a:txBody>
                    <a:bodyPr/>
                    <a:lstStyle/>
                    <a:p>
                      <a:pPr algn="ctr"/>
                      <a:r>
                        <a:rPr sz="800" b="1">
                          <a:solidFill>
                            <a:srgbClr val="FFFFFF"/>
                          </a:solidFill>
                          <a:latin typeface="Sora"/>
                        </a:rPr>
                        <a:t>271</a:t>
                      </a:r>
                    </a:p>
                  </a:txBody>
                  <a:tcPr marL="36576" marR="36576" marT="18288" marB="18288" anchor="ctr">
                    <a:solidFill>
                      <a:srgbClr val="D95A6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111</a:t>
                      </a:r>
                    </a:p>
                  </a:txBody>
                  <a:tcPr marL="36576" marR="36576" marT="18288" marB="18288" anchor="ctr">
                    <a:solidFill>
                      <a:srgbClr val="F4D1D7"/>
                    </a:solidFill>
                  </a:tcPr>
                </a:tc>
                <a:tc>
                  <a:txBody>
                    <a:bodyPr/>
                    <a:lstStyle/>
                    <a:p>
                      <a:pPr algn="ctr"/>
                      <a:r>
                        <a:rPr sz="800" b="1">
                          <a:solidFill>
                            <a:srgbClr val="FFFFFF"/>
                          </a:solidFill>
                          <a:latin typeface="Sora"/>
                        </a:rPr>
                        <a:t>11,781</a:t>
                      </a:r>
                    </a:p>
                  </a:txBody>
                  <a:tcPr marL="36576" marR="36576" marT="18288" marB="18288" anchor="ctr">
                    <a:solidFill>
                      <a:srgbClr val="E0798A"/>
                    </a:solidFill>
                  </a:tcPr>
                </a:tc>
              </a:tr>
              <a:tr h="372793">
                <a:tc>
                  <a:txBody>
                    <a:bodyPr/>
                    <a:lstStyle/>
                    <a:p>
                      <a:pPr algn="l"/>
                      <a:r>
                        <a:rPr sz="750" b="1">
                          <a:solidFill>
                            <a:srgbClr val="0F2C5C"/>
                          </a:solidFill>
                          <a:latin typeface="Sora"/>
                        </a:rPr>
                        <a:t>Institution root</a:t>
                      </a:r>
                    </a:p>
                  </a:txBody>
                  <a:tcPr marL="36576" marR="36576" marT="18288" marB="18288" anchor="ctr">
                    <a:solidFill>
                      <a:srgbClr val="F4F6FA"/>
                    </a:solidFill>
                  </a:tcPr>
                </a:tc>
                <a:tc>
                  <a:txBody>
                    <a:bodyPr/>
                    <a:lstStyle/>
                    <a:p>
                      <a:pPr algn="l"/>
                      <a:r>
                        <a:rPr sz="750" b="0">
                          <a:solidFill>
                            <a:srgbClr val="5A6472"/>
                          </a:solidFill>
                          <a:latin typeface="Sora"/>
                        </a:rPr>
                        <a:t>Shortlister</a:t>
                      </a:r>
                    </a:p>
                  </a:txBody>
                  <a:tcPr marL="36576" marR="36576" marT="18288" marB="18288" anchor="ctr">
                    <a:solidFill>
                      <a:srgbClr val="F4F6FA"/>
                    </a:solidFill>
                  </a:tcPr>
                </a:tc>
                <a:tc>
                  <a:txBody>
                    <a:bodyPr/>
                    <a:lstStyle/>
                    <a:p>
                      <a:pPr algn="ctr"/>
                      <a:r>
                        <a:rPr sz="800" b="0">
                          <a:solidFill>
                            <a:srgbClr val="0F2C5C"/>
                          </a:solidFill>
                          <a:latin typeface="Sora"/>
                        </a:rPr>
                        <a:t>15,837</a:t>
                      </a:r>
                    </a:p>
                  </a:txBody>
                  <a:tcPr marL="36576" marR="36576" marT="18288" marB="18288" anchor="ctr">
                    <a:solidFill>
                      <a:srgbClr val="F4CFD5"/>
                    </a:solidFill>
                  </a:tcPr>
                </a:tc>
                <a:tc>
                  <a:txBody>
                    <a:bodyPr/>
                    <a:lstStyle/>
                    <a:p>
                      <a:pPr algn="ctr"/>
                      <a:r>
                        <a:rPr sz="800" b="0">
                          <a:solidFill>
                            <a:srgbClr val="0F2C5C"/>
                          </a:solidFill>
                          <a:latin typeface="Sora"/>
                        </a:rPr>
                        <a:t>833</a:t>
                      </a:r>
                    </a:p>
                  </a:txBody>
                  <a:tcPr marL="36576" marR="36576" marT="18288" marB="18288" anchor="ctr">
                    <a:solidFill>
                      <a:srgbClr val="E89DAA"/>
                    </a:solidFill>
                  </a:tcPr>
                </a:tc>
                <a:tc>
                  <a:txBody>
                    <a:bodyPr/>
                    <a:lstStyle/>
                    <a:p>
                      <a:pPr algn="ctr"/>
                      <a:r>
                        <a:rPr sz="800" b="0">
                          <a:solidFill>
                            <a:srgbClr val="0F2C5C"/>
                          </a:solidFill>
                          <a:latin typeface="Sora"/>
                        </a:rPr>
                        <a:t>607</a:t>
                      </a:r>
                    </a:p>
                  </a:txBody>
                  <a:tcPr marL="36576" marR="36576" marT="18288" marB="18288" anchor="ctr">
                    <a:solidFill>
                      <a:srgbClr val="E694A1"/>
                    </a:solidFill>
                  </a:tcPr>
                </a:tc>
                <a:tc>
                  <a:txBody>
                    <a:bodyPr/>
                    <a:lstStyle/>
                    <a:p>
                      <a:pPr algn="ctr"/>
                      <a:r>
                        <a:rPr sz="800" b="0">
                          <a:solidFill>
                            <a:srgbClr val="0F2C5C"/>
                          </a:solidFill>
                          <a:latin typeface="Sora"/>
                        </a:rPr>
                        <a:t>774</a:t>
                      </a:r>
                    </a:p>
                  </a:txBody>
                  <a:tcPr marL="36576" marR="36576" marT="18288" marB="18288" anchor="ctr">
                    <a:solidFill>
                      <a:srgbClr val="E799A5"/>
                    </a:solidFill>
                  </a:tcPr>
                </a:tc>
                <a:tc>
                  <a:txBody>
                    <a:bodyPr/>
                    <a:lstStyle/>
                    <a:p>
                      <a:pPr algn="ctr"/>
                      <a:r>
                        <a:rPr sz="800" b="1">
                          <a:solidFill>
                            <a:srgbClr val="FFFFFF"/>
                          </a:solidFill>
                          <a:latin typeface="Sora"/>
                        </a:rPr>
                        <a:t>260</a:t>
                      </a:r>
                    </a:p>
                  </a:txBody>
                  <a:tcPr marL="36576" marR="36576" marT="18288" marB="18288" anchor="ctr">
                    <a:solidFill>
                      <a:srgbClr val="DA6175"/>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302</a:t>
                      </a:r>
                    </a:p>
                  </a:txBody>
                  <a:tcPr marL="36576" marR="36576" marT="18288" marB="18288" anchor="ctr">
                    <a:solidFill>
                      <a:srgbClr val="E28392"/>
                    </a:solidFill>
                  </a:tcPr>
                </a:tc>
                <a:tc>
                  <a:txBody>
                    <a:bodyPr/>
                    <a:lstStyle/>
                    <a:p>
                      <a:pPr algn="ctr"/>
                      <a:r>
                        <a:rPr sz="800" b="0">
                          <a:solidFill>
                            <a:srgbClr val="0F2C5C"/>
                          </a:solidFill>
                          <a:latin typeface="Sora"/>
                        </a:rPr>
                        <a:t>6,900</a:t>
                      </a:r>
                    </a:p>
                  </a:txBody>
                  <a:tcPr marL="36576" marR="36576" marT="18288" marB="18288" anchor="ctr">
                    <a:solidFill>
                      <a:srgbClr val="EDB0BA"/>
                    </a:solidFill>
                  </a:tcPr>
                </a:tc>
              </a:tr>
              <a:tr h="372793">
                <a:tc>
                  <a:txBody>
                    <a:bodyPr/>
                    <a:lstStyle/>
                    <a:p>
                      <a:pPr algn="l"/>
                      <a:r>
                        <a:rPr sz="750" b="1">
                          <a:solidFill>
                            <a:srgbClr val="0F2C5C"/>
                          </a:solidFill>
                          <a:latin typeface="Sora"/>
                        </a:rPr>
                        <a:t>Course page</a:t>
                      </a:r>
                    </a:p>
                  </a:txBody>
                  <a:tcPr marL="36576" marR="36576" marT="18288" marB="18288" anchor="ctr">
                    <a:solidFill>
                      <a:srgbClr val="F4F6FA"/>
                    </a:solidFill>
                  </a:tcPr>
                </a:tc>
                <a:tc>
                  <a:txBody>
                    <a:bodyPr/>
                    <a:lstStyle/>
                    <a:p>
                      <a:pPr algn="l"/>
                      <a:r>
                        <a:rPr sz="750" b="0">
                          <a:solidFill>
                            <a:srgbClr val="5A6472"/>
                          </a:solidFill>
                          <a:latin typeface="Sora"/>
                        </a:rPr>
                        <a:t>Course Researcher</a:t>
                      </a:r>
                    </a:p>
                  </a:txBody>
                  <a:tcPr marL="36576" marR="36576" marT="18288" marB="18288" anchor="ctr">
                    <a:solidFill>
                      <a:srgbClr val="F4F6FA"/>
                    </a:solidFill>
                  </a:tcPr>
                </a:tc>
                <a:tc>
                  <a:txBody>
                    <a:bodyPr/>
                    <a:lstStyle/>
                    <a:p>
                      <a:pPr algn="ctr"/>
                      <a:r>
                        <a:rPr sz="800" b="0">
                          <a:solidFill>
                            <a:srgbClr val="0F2C5C"/>
                          </a:solidFill>
                          <a:latin typeface="Sora"/>
                        </a:rPr>
                        <a:t>14,615</a:t>
                      </a:r>
                    </a:p>
                  </a:txBody>
                  <a:tcPr marL="36576" marR="36576" marT="18288" marB="18288" anchor="ctr">
                    <a:solidFill>
                      <a:srgbClr val="F4D3D8"/>
                    </a:solidFill>
                  </a:tcPr>
                </a:tc>
                <a:tc>
                  <a:txBody>
                    <a:bodyPr/>
                    <a:lstStyle/>
                    <a:p>
                      <a:pPr algn="ctr"/>
                      <a:r>
                        <a:rPr sz="800" b="0">
                          <a:solidFill>
                            <a:srgbClr val="0F2C5C"/>
                          </a:solidFill>
                          <a:latin typeface="Sora"/>
                        </a:rPr>
                        <a:t>64</a:t>
                      </a:r>
                    </a:p>
                  </a:txBody>
                  <a:tcPr marL="36576" marR="36576" marT="18288" marB="18288" anchor="ctr">
                    <a:solidFill>
                      <a:srgbClr val="FDF7F8"/>
                    </a:solidFill>
                  </a:tcPr>
                </a:tc>
                <a:tc>
                  <a:txBody>
                    <a:bodyPr/>
                    <a:lstStyle/>
                    <a:p>
                      <a:pPr algn="ctr"/>
                      <a:r>
                        <a:rPr sz="800" b="0">
                          <a:solidFill>
                            <a:srgbClr val="0F2C5C"/>
                          </a:solidFill>
                          <a:latin typeface="Sora"/>
                        </a:rPr>
                        <a:t>209</a:t>
                      </a:r>
                    </a:p>
                  </a:txBody>
                  <a:tcPr marL="36576" marR="36576" marT="18288" marB="18288" anchor="ctr">
                    <a:solidFill>
                      <a:srgbClr val="F6DADE"/>
                    </a:solidFill>
                  </a:tcPr>
                </a:tc>
                <a:tc>
                  <a:txBody>
                    <a:bodyPr/>
                    <a:lstStyle/>
                    <a:p>
                      <a:pPr algn="ctr"/>
                      <a:r>
                        <a:rPr sz="800" b="0">
                          <a:solidFill>
                            <a:srgbClr val="0F2C5C"/>
                          </a:solidFill>
                          <a:latin typeface="Sora"/>
                        </a:rPr>
                        <a:t>50</a:t>
                      </a:r>
                    </a:p>
                  </a:txBody>
                  <a:tcPr marL="36576" marR="36576" marT="18288" marB="18288" anchor="ctr">
                    <a:solidFill>
                      <a:srgbClr val="FDF8F9"/>
                    </a:solidFill>
                  </a:tcPr>
                </a:tc>
                <a:tc>
                  <a:txBody>
                    <a:bodyPr/>
                    <a:lstStyle/>
                    <a:p>
                      <a:pPr algn="ctr"/>
                      <a:r>
                        <a:rPr sz="800" b="0">
                          <a:solidFill>
                            <a:srgbClr val="0F2C5C"/>
                          </a:solidFill>
                          <a:latin typeface="Sora"/>
                        </a:rPr>
                        <a:t>4</a:t>
                      </a:r>
                    </a:p>
                  </a:txBody>
                  <a:tcPr marL="36576" marR="36576" marT="18288" marB="18288" anchor="ctr">
                    <a:solidFill>
                      <a:srgbClr val="FEFCFC"/>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1">
                          <a:solidFill>
                            <a:srgbClr val="FFFFFF"/>
                          </a:solidFill>
                          <a:latin typeface="Sora"/>
                        </a:rPr>
                        <a:t>516</a:t>
                      </a:r>
                    </a:p>
                  </a:txBody>
                  <a:tcPr marL="36576" marR="36576" marT="18288" marB="18288" anchor="ctr">
                    <a:solidFill>
                      <a:srgbClr val="CE2B45"/>
                    </a:solidFill>
                  </a:tcPr>
                </a:tc>
                <a:tc>
                  <a:txBody>
                    <a:bodyPr/>
                    <a:lstStyle/>
                    <a:p>
                      <a:pPr algn="ctr"/>
                      <a:r>
                        <a:rPr sz="800" b="0">
                          <a:solidFill>
                            <a:srgbClr val="0F2C5C"/>
                          </a:solidFill>
                          <a:latin typeface="Sora"/>
                        </a:rPr>
                        <a:t>916</a:t>
                      </a:r>
                    </a:p>
                  </a:txBody>
                  <a:tcPr marL="36576" marR="36576" marT="18288" marB="18288" anchor="ctr">
                    <a:solidFill>
                      <a:srgbClr val="FCF4F5"/>
                    </a:solidFill>
                  </a:tcPr>
                </a:tc>
              </a:tr>
              <a:tr h="372793">
                <a:tc>
                  <a:txBody>
                    <a:bodyPr/>
                    <a:lstStyle/>
                    <a:p>
                      <a:pPr algn="l"/>
                      <a:r>
                        <a:rPr sz="750" b="1">
                          <a:solidFill>
                            <a:srgbClr val="0F2C5C"/>
                          </a:solidFill>
                          <a:latin typeface="Sora"/>
                        </a:rPr>
                        <a:t>Programme-type hub</a:t>
                      </a:r>
                    </a:p>
                  </a:txBody>
                  <a:tcPr marL="36576" marR="36576" marT="18288" marB="18288" anchor="ctr">
                    <a:solidFill>
                      <a:srgbClr val="F4F6FA"/>
                    </a:solidFill>
                  </a:tcPr>
                </a:tc>
                <a:tc>
                  <a:txBody>
                    <a:bodyPr/>
                    <a:lstStyle/>
                    <a:p>
                      <a:pPr algn="l"/>
                      <a:r>
                        <a:rPr sz="750" b="0">
                          <a:solidFill>
                            <a:srgbClr val="5A6472"/>
                          </a:solidFill>
                          <a:latin typeface="Sora"/>
                        </a:rPr>
                        <a:t>Course Researcher</a:t>
                      </a:r>
                    </a:p>
                  </a:txBody>
                  <a:tcPr marL="36576" marR="36576" marT="18288" marB="18288" anchor="ctr">
                    <a:solidFill>
                      <a:srgbClr val="F4F6FA"/>
                    </a:solidFill>
                  </a:tcPr>
                </a:tc>
                <a:tc>
                  <a:txBody>
                    <a:bodyPr/>
                    <a:lstStyle/>
                    <a:p>
                      <a:pPr algn="ctr"/>
                      <a:r>
                        <a:rPr sz="800" b="0">
                          <a:solidFill>
                            <a:srgbClr val="0F2C5C"/>
                          </a:solidFill>
                          <a:latin typeface="Sora"/>
                        </a:rPr>
                        <a:t>1,320</a:t>
                      </a:r>
                    </a:p>
                  </a:txBody>
                  <a:tcPr marL="36576" marR="36576" marT="18288" marB="18288" anchor="ctr">
                    <a:solidFill>
                      <a:srgbClr val="FEFBFB"/>
                    </a:solidFill>
                  </a:tcPr>
                </a:tc>
                <a:tc>
                  <a:txBody>
                    <a:bodyPr/>
                    <a:lstStyle/>
                    <a:p>
                      <a:pPr algn="ctr"/>
                      <a:r>
                        <a:rPr sz="800" b="0">
                          <a:solidFill>
                            <a:srgbClr val="0F2C5C"/>
                          </a:solidFill>
                          <a:latin typeface="Sora"/>
                        </a:rPr>
                        <a:t>13</a:t>
                      </a:r>
                    </a:p>
                  </a:txBody>
                  <a:tcPr marL="36576" marR="36576" marT="18288" marB="18288" anchor="ctr">
                    <a:solidFill>
                      <a:srgbClr val="FEFDFD"/>
                    </a:solidFill>
                  </a:tcPr>
                </a:tc>
                <a:tc>
                  <a:txBody>
                    <a:bodyPr/>
                    <a:lstStyle/>
                    <a:p>
                      <a:pPr algn="ctr"/>
                      <a:r>
                        <a:rPr sz="800" b="0">
                          <a:solidFill>
                            <a:srgbClr val="0F2C5C"/>
                          </a:solidFill>
                          <a:latin typeface="Sora"/>
                        </a:rPr>
                        <a:t>14</a:t>
                      </a:r>
                    </a:p>
                  </a:txBody>
                  <a:tcPr marL="36576" marR="36576" marT="18288" marB="18288" anchor="ctr">
                    <a:solidFill>
                      <a:srgbClr val="FEFCFC"/>
                    </a:solidFill>
                  </a:tcPr>
                </a:tc>
                <a:tc>
                  <a:txBody>
                    <a:bodyPr/>
                    <a:lstStyle/>
                    <a:p>
                      <a:pPr algn="ctr"/>
                      <a:r>
                        <a:rPr sz="800" b="0">
                          <a:solidFill>
                            <a:srgbClr val="0F2C5C"/>
                          </a:solidFill>
                          <a:latin typeface="Sora"/>
                        </a:rPr>
                        <a:t>71</a:t>
                      </a:r>
                    </a:p>
                  </a:txBody>
                  <a:tcPr marL="36576" marR="36576" marT="18288" marB="18288" anchor="ctr">
                    <a:solidFill>
                      <a:srgbClr val="FCF5F6"/>
                    </a:solidFill>
                  </a:tcPr>
                </a:tc>
                <a:tc>
                  <a:txBody>
                    <a:bodyPr/>
                    <a:lstStyle/>
                    <a:p>
                      <a:pPr algn="ctr"/>
                      <a:r>
                        <a:rPr sz="800" b="0">
                          <a:solidFill>
                            <a:srgbClr val="0F2C5C"/>
                          </a:solidFill>
                          <a:latin typeface="Sora"/>
                        </a:rPr>
                        <a:t>21</a:t>
                      </a:r>
                    </a:p>
                  </a:txBody>
                  <a:tcPr marL="36576" marR="36576" marT="18288" marB="18288" anchor="ctr">
                    <a:solidFill>
                      <a:srgbClr val="FCF2F3"/>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2,892</a:t>
                      </a:r>
                    </a:p>
                  </a:txBody>
                  <a:tcPr marL="36576" marR="36576" marT="18288" marB="18288" anchor="ctr">
                    <a:solidFill>
                      <a:srgbClr val="F7DEE2"/>
                    </a:solidFill>
                  </a:tcPr>
                </a:tc>
              </a:tr>
              <a:tr h="372793">
                <a:tc>
                  <a:txBody>
                    <a:bodyPr/>
                    <a:lstStyle/>
                    <a:p>
                      <a:pPr algn="l"/>
                      <a:r>
                        <a:rPr sz="750" b="1">
                          <a:solidFill>
                            <a:srgbClr val="0F2C5C"/>
                          </a:solidFill>
                          <a:latin typeface="Sora"/>
                        </a:rPr>
                        <a:t>Cost &amp; eligibility</a:t>
                      </a:r>
                    </a:p>
                  </a:txBody>
                  <a:tcPr marL="36576" marR="36576" marT="18288" marB="18288" anchor="ctr">
                    <a:solidFill>
                      <a:srgbClr val="F4F6FA"/>
                    </a:solidFill>
                  </a:tcPr>
                </a:tc>
                <a:tc>
                  <a:txBody>
                    <a:bodyPr/>
                    <a:lstStyle/>
                    <a:p>
                      <a:pPr algn="l"/>
                      <a:r>
                        <a:rPr sz="750" b="0">
                          <a:solidFill>
                            <a:srgbClr val="5A6472"/>
                          </a:solidFill>
                          <a:latin typeface="Sora"/>
                        </a:rPr>
                        <a:t>Cost Checker</a:t>
                      </a:r>
                    </a:p>
                  </a:txBody>
                  <a:tcPr marL="36576" marR="36576" marT="18288" marB="18288" anchor="ctr">
                    <a:solidFill>
                      <a:srgbClr val="F4F6FA"/>
                    </a:solidFill>
                  </a:tcPr>
                </a:tc>
                <a:tc>
                  <a:txBody>
                    <a:bodyPr/>
                    <a:lstStyle/>
                    <a:p>
                      <a:pPr algn="ctr"/>
                      <a:r>
                        <a:rPr sz="800" b="0">
                          <a:solidFill>
                            <a:srgbClr val="0F2C5C"/>
                          </a:solidFill>
                          <a:latin typeface="Sora"/>
                        </a:rPr>
                        <a:t>8,995</a:t>
                      </a:r>
                    </a:p>
                  </a:txBody>
                  <a:tcPr marL="36576" marR="36576" marT="18288" marB="18288" anchor="ctr">
                    <a:solidFill>
                      <a:srgbClr val="F8E4E7"/>
                    </a:solidFill>
                  </a:tcPr>
                </a:tc>
                <a:tc>
                  <a:txBody>
                    <a:bodyPr/>
                    <a:lstStyle/>
                    <a:p>
                      <a:pPr algn="ctr"/>
                      <a:r>
                        <a:rPr sz="800" b="0">
                          <a:solidFill>
                            <a:srgbClr val="0F2C5C"/>
                          </a:solidFill>
                          <a:latin typeface="Sora"/>
                        </a:rPr>
                        <a:t>31</a:t>
                      </a:r>
                    </a:p>
                  </a:txBody>
                  <a:tcPr marL="36576" marR="36576" marT="18288" marB="18288" anchor="ctr">
                    <a:solidFill>
                      <a:srgbClr val="FEFBFB"/>
                    </a:solidFill>
                  </a:tcPr>
                </a:tc>
                <a:tc>
                  <a:txBody>
                    <a:bodyPr/>
                    <a:lstStyle/>
                    <a:p>
                      <a:pPr algn="ctr"/>
                      <a:r>
                        <a:rPr sz="800" b="0">
                          <a:solidFill>
                            <a:srgbClr val="0F2C5C"/>
                          </a:solidFill>
                          <a:latin typeface="Sora"/>
                        </a:rPr>
                        <a:t>31</a:t>
                      </a:r>
                    </a:p>
                  </a:txBody>
                  <a:tcPr marL="36576" marR="36576" marT="18288" marB="18288" anchor="ctr">
                    <a:solidFill>
                      <a:srgbClr val="FDF9FA"/>
                    </a:solidFill>
                  </a:tcPr>
                </a:tc>
                <a:tc>
                  <a:txBody>
                    <a:bodyPr/>
                    <a:lstStyle/>
                    <a:p>
                      <a:pPr algn="ctr"/>
                      <a:r>
                        <a:rPr sz="800" b="0">
                          <a:solidFill>
                            <a:srgbClr val="0F2C5C"/>
                          </a:solidFill>
                          <a:latin typeface="Sora"/>
                        </a:rPr>
                        <a:t>112</a:t>
                      </a:r>
                    </a:p>
                  </a:txBody>
                  <a:tcPr marL="36576" marR="36576" marT="18288" marB="18288" anchor="ctr">
                    <a:solidFill>
                      <a:srgbClr val="FBF0F2"/>
                    </a:solidFill>
                  </a:tcPr>
                </a:tc>
                <a:tc>
                  <a:txBody>
                    <a:bodyPr/>
                    <a:lstStyle/>
                    <a:p>
                      <a:pPr algn="ctr"/>
                      <a:r>
                        <a:rPr sz="800" b="0">
                          <a:solidFill>
                            <a:srgbClr val="0F2C5C"/>
                          </a:solidFill>
                          <a:latin typeface="Sora"/>
                        </a:rPr>
                        <a:t>82</a:t>
                      </a:r>
                    </a:p>
                  </a:txBody>
                  <a:tcPr marL="36576" marR="36576" marT="18288" marB="18288" anchor="ctr">
                    <a:solidFill>
                      <a:srgbClr val="F3CDD3"/>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39</a:t>
                      </a:r>
                    </a:p>
                  </a:txBody>
                  <a:tcPr marL="36576" marR="36576" marT="18288" marB="18288" anchor="ctr">
                    <a:solidFill>
                      <a:srgbClr val="FBEFF1"/>
                    </a:solidFill>
                  </a:tcPr>
                </a:tc>
                <a:tc>
                  <a:txBody>
                    <a:bodyPr/>
                    <a:lstStyle/>
                    <a:p>
                      <a:pPr algn="ctr"/>
                      <a:r>
                        <a:rPr sz="800" b="0">
                          <a:solidFill>
                            <a:srgbClr val="0F2C5C"/>
                          </a:solidFill>
                          <a:latin typeface="Sora"/>
                        </a:rPr>
                        <a:t>5,899</a:t>
                      </a:r>
                    </a:p>
                  </a:txBody>
                  <a:tcPr marL="36576" marR="36576" marT="18288" marB="18288" anchor="ctr">
                    <a:solidFill>
                      <a:srgbClr val="EFBCC4"/>
                    </a:solidFill>
                  </a:tcPr>
                </a:tc>
              </a:tr>
              <a:tr h="372793">
                <a:tc>
                  <a:txBody>
                    <a:bodyPr/>
                    <a:lstStyle/>
                    <a:p>
                      <a:pPr algn="l"/>
                      <a:r>
                        <a:rPr sz="750" b="1">
                          <a:solidFill>
                            <a:srgbClr val="0F2C5C"/>
                          </a:solidFill>
                          <a:latin typeface="Sora"/>
                        </a:rPr>
                        <a:t>Admissions info</a:t>
                      </a:r>
                    </a:p>
                  </a:txBody>
                  <a:tcPr marL="36576" marR="36576" marT="18288" marB="18288" anchor="ctr">
                    <a:solidFill>
                      <a:srgbClr val="F4F6FA"/>
                    </a:solidFill>
                  </a:tcPr>
                </a:tc>
                <a:tc>
                  <a:txBody>
                    <a:bodyPr/>
                    <a:lstStyle/>
                    <a:p>
                      <a:pPr algn="l"/>
                      <a:r>
                        <a:rPr sz="750" b="0">
                          <a:solidFill>
                            <a:srgbClr val="5A6472"/>
                          </a:solidFill>
                          <a:latin typeface="Sora"/>
                        </a:rPr>
                        <a:t>Cost Checker</a:t>
                      </a:r>
                    </a:p>
                  </a:txBody>
                  <a:tcPr marL="36576" marR="36576" marT="18288" marB="18288" anchor="ctr">
                    <a:solidFill>
                      <a:srgbClr val="F4F6FA"/>
                    </a:solidFill>
                  </a:tcPr>
                </a:tc>
                <a:tc>
                  <a:txBody>
                    <a:bodyPr/>
                    <a:lstStyle/>
                    <a:p>
                      <a:pPr algn="ctr"/>
                      <a:r>
                        <a:rPr sz="800" b="0">
                          <a:solidFill>
                            <a:srgbClr val="0F2C5C"/>
                          </a:solidFill>
                          <a:latin typeface="Sora"/>
                        </a:rPr>
                        <a:t>307</a:t>
                      </a:r>
                    </a:p>
                  </a:txBody>
                  <a:tcPr marL="36576" marR="36576" marT="18288" marB="18288" anchor="ctr">
                    <a:solidFill>
                      <a:srgbClr val="FEFEFE"/>
                    </a:solidFill>
                  </a:tcPr>
                </a:tc>
                <a:tc>
                  <a:txBody>
                    <a:bodyPr/>
                    <a:lstStyle/>
                    <a:p>
                      <a:pPr algn="ctr"/>
                      <a:r>
                        <a:rPr sz="800" b="0">
                          <a:solidFill>
                            <a:srgbClr val="0F2C5C"/>
                          </a:solidFill>
                          <a:latin typeface="Sora"/>
                        </a:rPr>
                        <a:t>8</a:t>
                      </a:r>
                    </a:p>
                  </a:txBody>
                  <a:tcPr marL="36576" marR="36576" marT="18288" marB="18288" anchor="ctr">
                    <a:solidFill>
                      <a:srgbClr val="FEFEFE"/>
                    </a:solidFill>
                  </a:tcPr>
                </a:tc>
                <a:tc>
                  <a:txBody>
                    <a:bodyPr/>
                    <a:lstStyle/>
                    <a:p>
                      <a:pPr algn="ctr"/>
                      <a:r>
                        <a:rPr sz="800" b="0">
                          <a:solidFill>
                            <a:srgbClr val="0F2C5C"/>
                          </a:solidFill>
                          <a:latin typeface="Sora"/>
                        </a:rPr>
                        <a:t>4</a:t>
                      </a:r>
                    </a:p>
                  </a:txBody>
                  <a:tcPr marL="36576" marR="36576" marT="18288" marB="18288" anchor="ctr">
                    <a:solidFill>
                      <a:srgbClr val="FEFEFE"/>
                    </a:solidFill>
                  </a:tcPr>
                </a:tc>
                <a:tc>
                  <a:txBody>
                    <a:bodyPr/>
                    <a:lstStyle/>
                    <a:p>
                      <a:pPr algn="ctr"/>
                      <a:r>
                        <a:rPr sz="800" b="0">
                          <a:solidFill>
                            <a:srgbClr val="0F2C5C"/>
                          </a:solidFill>
                          <a:latin typeface="Sora"/>
                        </a:rPr>
                        <a:t>13</a:t>
                      </a:r>
                    </a:p>
                  </a:txBody>
                  <a:tcPr marL="36576" marR="36576" marT="18288" marB="18288" anchor="ctr">
                    <a:solidFill>
                      <a:srgbClr val="FEFDFD"/>
                    </a:solidFill>
                  </a:tcPr>
                </a:tc>
                <a:tc>
                  <a:txBody>
                    <a:bodyPr/>
                    <a:lstStyle/>
                    <a:p>
                      <a:pPr algn="ctr"/>
                      <a:r>
                        <a:rPr sz="800" b="0">
                          <a:solidFill>
                            <a:srgbClr val="0F2C5C"/>
                          </a:solidFill>
                          <a:latin typeface="Sora"/>
                        </a:rPr>
                        <a:t>9</a:t>
                      </a:r>
                    </a:p>
                  </a:txBody>
                  <a:tcPr marL="36576" marR="36576" marT="18288" marB="18288" anchor="ctr">
                    <a:solidFill>
                      <a:srgbClr val="FDF9FA"/>
                    </a:solidFill>
                  </a:tcPr>
                </a:tc>
                <a:tc>
                  <a:txBody>
                    <a:bodyPr/>
                    <a:lstStyle/>
                    <a:p>
                      <a:pPr algn="ctr"/>
                      <a:r>
                        <a:rPr sz="800" b="1">
                          <a:solidFill>
                            <a:srgbClr val="FFFFFF"/>
                          </a:solidFill>
                          <a:latin typeface="Sora"/>
                        </a:rPr>
                        <a:t>2,746</a:t>
                      </a:r>
                    </a:p>
                  </a:txBody>
                  <a:tcPr marL="36576" marR="36576" marT="18288" marB="18288" anchor="ctr">
                    <a:solidFill>
                      <a:srgbClr val="C8102E"/>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1,016</a:t>
                      </a:r>
                    </a:p>
                  </a:txBody>
                  <a:tcPr marL="36576" marR="36576" marT="18288" marB="18288" anchor="ctr">
                    <a:solidFill>
                      <a:srgbClr val="FCF3F4"/>
                    </a:solidFill>
                  </a:tcPr>
                </a:tc>
              </a:tr>
              <a:tr h="372793">
                <a:tc>
                  <a:txBody>
                    <a:bodyPr/>
                    <a:lstStyle/>
                    <a:p>
                      <a:pPr algn="l"/>
                      <a:r>
                        <a:rPr sz="750" b="1">
                          <a:solidFill>
                            <a:srgbClr val="0F2C5C"/>
                          </a:solidFill>
                          <a:latin typeface="Sora"/>
                        </a:rPr>
                        <a:t>Blog index</a:t>
                      </a:r>
                    </a:p>
                  </a:txBody>
                  <a:tcPr marL="36576" marR="36576" marT="18288" marB="18288" anchor="ctr">
                    <a:solidFill>
                      <a:srgbClr val="F4F6FA"/>
                    </a:solidFill>
                  </a:tcPr>
                </a:tc>
                <a:tc>
                  <a:txBody>
                    <a:bodyPr/>
                    <a:lstStyle/>
                    <a:p>
                      <a:pPr algn="l"/>
                      <a:r>
                        <a:rPr sz="750" b="0">
                          <a:solidFill>
                            <a:srgbClr val="5A6472"/>
                          </a:solidFill>
                          <a:latin typeface="Sora"/>
                        </a:rPr>
                        <a:t>Early Explorer</a:t>
                      </a:r>
                    </a:p>
                  </a:txBody>
                  <a:tcPr marL="36576" marR="36576" marT="18288" marB="18288" anchor="ctr">
                    <a:solidFill>
                      <a:srgbClr val="F4F6FA"/>
                    </a:solidFill>
                  </a:tcPr>
                </a:tc>
                <a:tc>
                  <a:txBody>
                    <a:bodyPr/>
                    <a:lstStyle/>
                    <a:p>
                      <a:pPr algn="ctr"/>
                      <a:r>
                        <a:rPr sz="800" b="0">
                          <a:solidFill>
                            <a:srgbClr val="0F2C5C"/>
                          </a:solidFill>
                          <a:latin typeface="Sora"/>
                        </a:rPr>
                        <a:t>32,318</a:t>
                      </a:r>
                    </a:p>
                  </a:txBody>
                  <a:tcPr marL="36576" marR="36576" marT="18288" marB="18288" anchor="ctr">
                    <a:solidFill>
                      <a:srgbClr val="E89EAA"/>
                    </a:solidFill>
                  </a:tcPr>
                </a:tc>
                <a:tc>
                  <a:txBody>
                    <a:bodyPr/>
                    <a:lstStyle/>
                    <a:p>
                      <a:pPr algn="ctr"/>
                      <a:r>
                        <a:rPr sz="800" b="0">
                          <a:solidFill>
                            <a:srgbClr val="0F2C5C"/>
                          </a:solidFill>
                          <a:latin typeface="Sora"/>
                        </a:rPr>
                        <a:t>22</a:t>
                      </a:r>
                    </a:p>
                  </a:txBody>
                  <a:tcPr marL="36576" marR="36576" marT="18288" marB="18288" anchor="ctr">
                    <a:solidFill>
                      <a:srgbClr val="FEFCFC"/>
                    </a:solidFill>
                  </a:tcPr>
                </a:tc>
                <a:tc>
                  <a:txBody>
                    <a:bodyPr/>
                    <a:lstStyle/>
                    <a:p>
                      <a:pPr algn="ctr"/>
                      <a:r>
                        <a:rPr sz="800" b="0">
                          <a:solidFill>
                            <a:srgbClr val="0F2C5C"/>
                          </a:solidFill>
                          <a:latin typeface="Sora"/>
                        </a:rPr>
                        <a:t>21</a:t>
                      </a:r>
                    </a:p>
                  </a:txBody>
                  <a:tcPr marL="36576" marR="36576" marT="18288" marB="18288" anchor="ctr">
                    <a:solidFill>
                      <a:srgbClr val="FEFBFB"/>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42</a:t>
                      </a:r>
                    </a:p>
                  </a:txBody>
                  <a:tcPr marL="36576" marR="36576" marT="18288" marB="18288" anchor="ctr">
                    <a:solidFill>
                      <a:srgbClr val="FEFEFE"/>
                    </a:solidFill>
                  </a:tcPr>
                </a:tc>
              </a:tr>
              <a:tr h="372793">
                <a:tc>
                  <a:txBody>
                    <a:bodyPr/>
                    <a:lstStyle/>
                    <a:p>
                      <a:pPr algn="l"/>
                      <a:r>
                        <a:rPr sz="750" b="1">
                          <a:solidFill>
                            <a:srgbClr val="0F2C5C"/>
                          </a:solidFill>
                          <a:latin typeface="Sora"/>
                        </a:rPr>
                        <a:t>Blog article</a:t>
                      </a:r>
                    </a:p>
                  </a:txBody>
                  <a:tcPr marL="36576" marR="36576" marT="18288" marB="18288" anchor="ctr">
                    <a:solidFill>
                      <a:srgbClr val="F4F6FA"/>
                    </a:solidFill>
                  </a:tcPr>
                </a:tc>
                <a:tc>
                  <a:txBody>
                    <a:bodyPr/>
                    <a:lstStyle/>
                    <a:p>
                      <a:pPr algn="l"/>
                      <a:r>
                        <a:rPr sz="750" b="0">
                          <a:solidFill>
                            <a:srgbClr val="5A6472"/>
                          </a:solidFill>
                          <a:latin typeface="Sora"/>
                        </a:rPr>
                        <a:t>Early Explorer</a:t>
                      </a:r>
                    </a:p>
                  </a:txBody>
                  <a:tcPr marL="36576" marR="36576" marT="18288" marB="18288" anchor="ctr">
                    <a:solidFill>
                      <a:srgbClr val="F4F6FA"/>
                    </a:solidFill>
                  </a:tcPr>
                </a:tc>
                <a:tc>
                  <a:txBody>
                    <a:bodyPr/>
                    <a:lstStyle/>
                    <a:p>
                      <a:pPr algn="ctr"/>
                      <a:r>
                        <a:rPr sz="800" b="0">
                          <a:solidFill>
                            <a:srgbClr val="0F2C5C"/>
                          </a:solidFill>
                          <a:latin typeface="Sora"/>
                        </a:rPr>
                        <a:t>26</a:t>
                      </a:r>
                    </a:p>
                  </a:txBody>
                  <a:tcPr marL="36576" marR="36576" marT="18288" marB="18288" anchor="ctr">
                    <a:solidFill>
                      <a:srgbClr val="FEFEFE"/>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6</a:t>
                      </a:r>
                    </a:p>
                  </a:txBody>
                  <a:tcPr marL="36576" marR="36576" marT="18288" marB="18288" anchor="ctr">
                    <a:solidFill>
                      <a:srgbClr val="FEFEFE"/>
                    </a:solidFill>
                  </a:tcPr>
                </a:tc>
              </a:tr>
              <a:tr h="372793">
                <a:tc>
                  <a:txBody>
                    <a:bodyPr/>
                    <a:lstStyle/>
                    <a:p>
                      <a:pPr algn="l"/>
                      <a:r>
                        <a:rPr sz="750" b="1">
                          <a:solidFill>
                            <a:srgbClr val="0F2C5C"/>
                          </a:solidFill>
                          <a:latin typeface="Sora"/>
                        </a:rPr>
                        <a:t>Campus life &amp; experience</a:t>
                      </a:r>
                    </a:p>
                  </a:txBody>
                  <a:tcPr marL="36576" marR="36576" marT="18288" marB="18288" anchor="ctr">
                    <a:solidFill>
                      <a:srgbClr val="F4F6FA"/>
                    </a:solidFill>
                  </a:tcPr>
                </a:tc>
                <a:tc>
                  <a:txBody>
                    <a:bodyPr/>
                    <a:lstStyle/>
                    <a:p>
                      <a:pPr algn="l"/>
                      <a:r>
                        <a:rPr sz="750" b="0">
                          <a:solidFill>
                            <a:srgbClr val="5A6472"/>
                          </a:solidFill>
                          <a:latin typeface="Sora"/>
                        </a:rPr>
                        <a:t>Proof Seeker</a:t>
                      </a:r>
                    </a:p>
                  </a:txBody>
                  <a:tcPr marL="36576" marR="36576" marT="18288" marB="18288" anchor="ctr">
                    <a:solidFill>
                      <a:srgbClr val="F4F6FA"/>
                    </a:solidFill>
                  </a:tcPr>
                </a:tc>
                <a:tc>
                  <a:txBody>
                    <a:bodyPr/>
                    <a:lstStyle/>
                    <a:p>
                      <a:pPr algn="ctr"/>
                      <a:r>
                        <a:rPr sz="800" b="0">
                          <a:solidFill>
                            <a:srgbClr val="0F2C5C"/>
                          </a:solidFill>
                          <a:latin typeface="Sora"/>
                        </a:rPr>
                        <a:t>191</a:t>
                      </a:r>
                    </a:p>
                  </a:txBody>
                  <a:tcPr marL="36576" marR="36576" marT="18288" marB="18288" anchor="ctr">
                    <a:solidFill>
                      <a:srgbClr val="FEFEFE"/>
                    </a:solidFill>
                  </a:tcPr>
                </a:tc>
                <a:tc>
                  <a:txBody>
                    <a:bodyPr/>
                    <a:lstStyle/>
                    <a:p>
                      <a:pPr algn="ctr"/>
                      <a:r>
                        <a:rPr sz="800" b="0">
                          <a:solidFill>
                            <a:srgbClr val="0F2C5C"/>
                          </a:solidFill>
                          <a:latin typeface="Sora"/>
                        </a:rPr>
                        <a:t>1</a:t>
                      </a:r>
                    </a:p>
                  </a:txBody>
                  <a:tcPr marL="36576" marR="36576" marT="18288" marB="18288" anchor="ctr">
                    <a:solidFill>
                      <a:srgbClr val="FEFEFE"/>
                    </a:solidFill>
                  </a:tcPr>
                </a:tc>
                <a:tc>
                  <a:txBody>
                    <a:bodyPr/>
                    <a:lstStyle/>
                    <a:p>
                      <a:pPr algn="ctr"/>
                      <a:r>
                        <a:rPr sz="800" b="0">
                          <a:solidFill>
                            <a:srgbClr val="0F2C5C"/>
                          </a:solidFill>
                          <a:latin typeface="Sora"/>
                        </a:rPr>
                        <a:t>1</a:t>
                      </a:r>
                    </a:p>
                  </a:txBody>
                  <a:tcPr marL="36576" marR="36576" marT="18288" marB="18288" anchor="ctr">
                    <a:solidFill>
                      <a:srgbClr val="FEFEFE"/>
                    </a:solidFill>
                  </a:tcPr>
                </a:tc>
                <a:tc>
                  <a:txBody>
                    <a:bodyPr/>
                    <a:lstStyle/>
                    <a:p>
                      <a:pPr algn="ctr"/>
                      <a:r>
                        <a:rPr sz="800" b="0">
                          <a:solidFill>
                            <a:srgbClr val="0F2C5C"/>
                          </a:solidFill>
                          <a:latin typeface="Sora"/>
                        </a:rPr>
                        <a:t>3</a:t>
                      </a:r>
                    </a:p>
                  </a:txBody>
                  <a:tcPr marL="36576" marR="36576" marT="18288" marB="18288" anchor="ctr">
                    <a:solidFill>
                      <a:srgbClr val="FEFEFE"/>
                    </a:solidFill>
                  </a:tcPr>
                </a:tc>
                <a:tc>
                  <a:txBody>
                    <a:bodyPr/>
                    <a:lstStyle/>
                    <a:p>
                      <a:pPr algn="ctr"/>
                      <a:r>
                        <a:rPr sz="800" b="0">
                          <a:solidFill>
                            <a:srgbClr val="0F2C5C"/>
                          </a:solidFill>
                          <a:latin typeface="Sora"/>
                        </a:rPr>
                        <a:t>2</a:t>
                      </a:r>
                    </a:p>
                  </a:txBody>
                  <a:tcPr marL="36576" marR="36576" marT="18288" marB="18288" anchor="ctr">
                    <a:solidFill>
                      <a:srgbClr val="FEFDFD"/>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2</a:t>
                      </a:r>
                    </a:p>
                  </a:txBody>
                  <a:tcPr marL="36576" marR="36576" marT="18288" marB="18288" anchor="ctr">
                    <a:solidFill>
                      <a:srgbClr val="FEFEFE"/>
                    </a:solidFill>
                  </a:tcPr>
                </a:tc>
                <a:tc>
                  <a:txBody>
                    <a:bodyPr/>
                    <a:lstStyle/>
                    <a:p>
                      <a:pPr algn="ctr"/>
                      <a:r>
                        <a:rPr sz="800" b="0">
                          <a:solidFill>
                            <a:srgbClr val="0F2C5C"/>
                          </a:solidFill>
                          <a:latin typeface="Sora"/>
                        </a:rPr>
                        <a:t>248</a:t>
                      </a:r>
                    </a:p>
                  </a:txBody>
                  <a:tcPr marL="36576" marR="36576" marT="18288" marB="18288" anchor="ctr">
                    <a:solidFill>
                      <a:srgbClr val="FEFCFC"/>
                    </a:solidFill>
                  </a:tcPr>
                </a:tc>
              </a:tr>
              <a:tr h="372793">
                <a:tc>
                  <a:txBody>
                    <a:bodyPr/>
                    <a:lstStyle/>
                    <a:p>
                      <a:pPr algn="l"/>
                      <a:r>
                        <a:rPr sz="750" b="1">
                          <a:solidFill>
                            <a:srgbClr val="0F2C5C"/>
                          </a:solidFill>
                          <a:latin typeface="Sora"/>
                        </a:rPr>
                        <a:t>Student utility</a:t>
                      </a:r>
                    </a:p>
                  </a:txBody>
                  <a:tcPr marL="36576" marR="36576" marT="18288" marB="18288" anchor="ctr">
                    <a:solidFill>
                      <a:srgbClr val="F4F6FA"/>
                    </a:solidFill>
                  </a:tcPr>
                </a:tc>
                <a:tc>
                  <a:txBody>
                    <a:bodyPr/>
                    <a:lstStyle/>
                    <a:p>
                      <a:pPr algn="l"/>
                      <a:r>
                        <a:rPr sz="750" b="0">
                          <a:solidFill>
                            <a:srgbClr val="5A6472"/>
                          </a:solidFill>
                          <a:latin typeface="Sora"/>
                        </a:rPr>
                        <a:t>Non-prospect</a:t>
                      </a:r>
                    </a:p>
                  </a:txBody>
                  <a:tcPr marL="36576" marR="36576" marT="18288" marB="18288" anchor="ctr">
                    <a:solidFill>
                      <a:srgbClr val="F4F6FA"/>
                    </a:solidFill>
                  </a:tcPr>
                </a:tc>
                <a:tc>
                  <a:txBody>
                    <a:bodyPr/>
                    <a:lstStyle/>
                    <a:p>
                      <a:pPr algn="ctr"/>
                      <a:r>
                        <a:rPr sz="800" b="0">
                          <a:solidFill>
                            <a:srgbClr val="0F2C5C"/>
                          </a:solidFill>
                          <a:latin typeface="Sora"/>
                        </a:rPr>
                        <a:t>11,610</a:t>
                      </a:r>
                    </a:p>
                  </a:txBody>
                  <a:tcPr marL="36576" marR="36576" marT="18288" marB="18288" anchor="ctr">
                    <a:solidFill>
                      <a:srgbClr val="F7DCE0"/>
                    </a:solidFill>
                  </a:tcPr>
                </a:tc>
                <a:tc>
                  <a:txBody>
                    <a:bodyPr/>
                    <a:lstStyle/>
                    <a:p>
                      <a:pPr algn="ctr"/>
                      <a:r>
                        <a:rPr sz="800" b="0">
                          <a:solidFill>
                            <a:srgbClr val="0F2C5C"/>
                          </a:solidFill>
                          <a:latin typeface="Sora"/>
                        </a:rPr>
                        <a:t>11</a:t>
                      </a:r>
                    </a:p>
                  </a:txBody>
                  <a:tcPr marL="36576" marR="36576" marT="18288" marB="18288" anchor="ctr">
                    <a:solidFill>
                      <a:srgbClr val="FEFDFD"/>
                    </a:solidFill>
                  </a:tcPr>
                </a:tc>
                <a:tc>
                  <a:txBody>
                    <a:bodyPr/>
                    <a:lstStyle/>
                    <a:p>
                      <a:pPr algn="ctr"/>
                      <a:r>
                        <a:rPr sz="800" b="0">
                          <a:solidFill>
                            <a:srgbClr val="0F2C5C"/>
                          </a:solidFill>
                          <a:latin typeface="Sora"/>
                        </a:rPr>
                        <a:t>12</a:t>
                      </a:r>
                    </a:p>
                  </a:txBody>
                  <a:tcPr marL="36576" marR="36576" marT="18288" marB="18288" anchor="ctr">
                    <a:solidFill>
                      <a:srgbClr val="FEFCFD"/>
                    </a:solidFill>
                  </a:tcPr>
                </a:tc>
                <a:tc>
                  <a:txBody>
                    <a:bodyPr/>
                    <a:lstStyle/>
                    <a:p>
                      <a:pPr algn="ctr"/>
                      <a:r>
                        <a:rPr sz="800" b="0">
                          <a:solidFill>
                            <a:srgbClr val="0F2C5C"/>
                          </a:solidFill>
                          <a:latin typeface="Sora"/>
                        </a:rPr>
                        <a:t>53</a:t>
                      </a:r>
                    </a:p>
                  </a:txBody>
                  <a:tcPr marL="36576" marR="36576" marT="18288" marB="18288" anchor="ctr">
                    <a:solidFill>
                      <a:srgbClr val="FDF8F8"/>
                    </a:solidFill>
                  </a:tcPr>
                </a:tc>
                <a:tc>
                  <a:txBody>
                    <a:bodyPr/>
                    <a:lstStyle/>
                    <a:p>
                      <a:pPr algn="ctr"/>
                      <a:r>
                        <a:rPr sz="800" b="0">
                          <a:solidFill>
                            <a:srgbClr val="0F2C5C"/>
                          </a:solidFill>
                          <a:latin typeface="Sora"/>
                        </a:rPr>
                        <a:t>9</a:t>
                      </a:r>
                    </a:p>
                  </a:txBody>
                  <a:tcPr marL="36576" marR="36576" marT="18288" marB="18288" anchor="ctr">
                    <a:solidFill>
                      <a:srgbClr val="FDF9FA"/>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1</a:t>
                      </a:r>
                    </a:p>
                  </a:txBody>
                  <a:tcPr marL="36576" marR="36576" marT="18288" marB="18288" anchor="ctr">
                    <a:solidFill>
                      <a:srgbClr val="FEFEFE"/>
                    </a:solidFill>
                  </a:tcPr>
                </a:tc>
                <a:tc>
                  <a:txBody>
                    <a:bodyPr/>
                    <a:lstStyle/>
                    <a:p>
                      <a:pPr algn="ctr"/>
                      <a:r>
                        <a:rPr sz="800" b="0">
                          <a:solidFill>
                            <a:srgbClr val="0F2C5C"/>
                          </a:solidFill>
                          <a:latin typeface="Sora"/>
                        </a:rPr>
                        <a:t>5,340</a:t>
                      </a:r>
                    </a:p>
                  </a:txBody>
                  <a:tcPr marL="36576" marR="36576" marT="18288" marB="18288" anchor="ctr">
                    <a:solidFill>
                      <a:srgbClr val="F1C2CA"/>
                    </a:solidFill>
                  </a:tcPr>
                </a:tc>
              </a:tr>
              <a:tr h="372793">
                <a:tc>
                  <a:txBody>
                    <a:bodyPr/>
                    <a:lstStyle/>
                    <a:p>
                      <a:pPr algn="l"/>
                      <a:r>
                        <a:rPr sz="750" b="1">
                          <a:solidFill>
                            <a:srgbClr val="0F2C5C"/>
                          </a:solidFill>
                          <a:latin typeface="Sora"/>
                        </a:rPr>
                        <a:t>Other / unclassified</a:t>
                      </a:r>
                    </a:p>
                  </a:txBody>
                  <a:tcPr marL="36576" marR="36576" marT="18288" marB="18288" anchor="ctr">
                    <a:solidFill>
                      <a:srgbClr val="F4F6FA"/>
                    </a:solidFill>
                  </a:tcPr>
                </a:tc>
                <a:tc>
                  <a:txBody>
                    <a:bodyPr/>
                    <a:lstStyle/>
                    <a:p>
                      <a:pPr algn="l"/>
                      <a:r>
                        <a:rPr sz="750" b="0">
                          <a:solidFill>
                            <a:srgbClr val="5A6472"/>
                          </a:solidFill>
                          <a:latin typeface="Sora"/>
                        </a:rPr>
                        <a:t>Non-prospect</a:t>
                      </a:r>
                    </a:p>
                  </a:txBody>
                  <a:tcPr marL="36576" marR="36576" marT="18288" marB="18288" anchor="ctr">
                    <a:solidFill>
                      <a:srgbClr val="F4F6FA"/>
                    </a:solidFill>
                  </a:tcPr>
                </a:tc>
                <a:tc>
                  <a:txBody>
                    <a:bodyPr/>
                    <a:lstStyle/>
                    <a:p>
                      <a:pPr algn="ctr"/>
                      <a:r>
                        <a:rPr sz="800" b="0">
                          <a:solidFill>
                            <a:srgbClr val="0F2C5C"/>
                          </a:solidFill>
                          <a:latin typeface="Sora"/>
                        </a:rPr>
                        <a:t>51</a:t>
                      </a:r>
                    </a:p>
                  </a:txBody>
                  <a:tcPr marL="36576" marR="36576" marT="18288" marB="18288" anchor="ctr">
                    <a:solidFill>
                      <a:srgbClr val="FEFEFE"/>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0</a:t>
                      </a:r>
                    </a:p>
                  </a:txBody>
                  <a:tcPr marL="36576" marR="36576" marT="18288" marB="18288" anchor="ctr">
                    <a:solidFill>
                      <a:srgbClr val="FFFFFF"/>
                    </a:solidFill>
                  </a:tcPr>
                </a:tc>
                <a:tc>
                  <a:txBody>
                    <a:bodyPr/>
                    <a:lstStyle/>
                    <a:p>
                      <a:pPr algn="ctr"/>
                      <a:r>
                        <a:rPr sz="800" b="0">
                          <a:solidFill>
                            <a:srgbClr val="0F2C5C"/>
                          </a:solidFill>
                          <a:latin typeface="Sora"/>
                        </a:rPr>
                        <a:t>110</a:t>
                      </a:r>
                    </a:p>
                  </a:txBody>
                  <a:tcPr marL="36576" marR="36576" marT="18288" marB="18288" anchor="ctr">
                    <a:solidFill>
                      <a:srgbClr val="FEFDFD"/>
                    </a:solidFill>
                  </a:tcPr>
                </a:tc>
              </a:tr>
              <a:tr h="372793">
                <a:tc>
                  <a:txBody>
                    <a:bodyPr/>
                    <a:lstStyle/>
                    <a:p>
                      <a:pPr algn="l"/>
                      <a:r>
                        <a:rPr sz="750" b="1">
                          <a:solidFill>
                            <a:srgbClr val="0F2C5C"/>
                          </a:solidFill>
                          <a:latin typeface="Sora"/>
                        </a:rPr>
                        <a:t>Total</a:t>
                      </a:r>
                    </a:p>
                  </a:txBody>
                  <a:tcPr marL="36576" marR="36576" marT="18288" marB="18288" anchor="ctr">
                    <a:solidFill>
                      <a:srgbClr val="E8EEF7"/>
                    </a:solidFill>
                  </a:tcPr>
                </a:tc>
                <a:tc>
                  <a:txBody>
                    <a:bodyPr/>
                    <a:lstStyle/>
                    <a:p>
                      <a:pPr algn="ctr"/>
                      <a:r>
                        <a:rPr sz="800" b="0">
                          <a:solidFill>
                            <a:srgbClr val="0F2C5C"/>
                          </a:solidFill>
                          <a:latin typeface="Sora"/>
                        </a:rPr>
                        <a:t/>
                      </a:r>
                    </a:p>
                  </a:txBody>
                  <a:tcPr marL="36576" marR="36576" marT="18288" marB="18288" anchor="ctr">
                    <a:solidFill>
                      <a:srgbClr val="E8EEF7"/>
                    </a:solidFill>
                  </a:tcPr>
                </a:tc>
                <a:tc>
                  <a:txBody>
                    <a:bodyPr/>
                    <a:lstStyle/>
                    <a:p>
                      <a:pPr algn="ctr"/>
                      <a:r>
                        <a:rPr sz="800" b="1">
                          <a:solidFill>
                            <a:srgbClr val="0F2C5C"/>
                          </a:solidFill>
                          <a:latin typeface="Sora"/>
                        </a:rPr>
                        <a:t>133,653</a:t>
                      </a:r>
                    </a:p>
                  </a:txBody>
                  <a:tcPr marL="36576" marR="36576" marT="18288" marB="18288" anchor="ctr">
                    <a:solidFill>
                      <a:srgbClr val="E8EEF7"/>
                    </a:solidFill>
                  </a:tcPr>
                </a:tc>
                <a:tc>
                  <a:txBody>
                    <a:bodyPr/>
                    <a:lstStyle/>
                    <a:p>
                      <a:pPr algn="ctr"/>
                      <a:r>
                        <a:rPr sz="800" b="1">
                          <a:solidFill>
                            <a:srgbClr val="0F2C5C"/>
                          </a:solidFill>
                          <a:latin typeface="Sora"/>
                        </a:rPr>
                        <a:t>3,415</a:t>
                      </a:r>
                    </a:p>
                  </a:txBody>
                  <a:tcPr marL="36576" marR="36576" marT="18288" marB="18288" anchor="ctr">
                    <a:solidFill>
                      <a:srgbClr val="E8EEF7"/>
                    </a:solidFill>
                  </a:tcPr>
                </a:tc>
                <a:tc>
                  <a:txBody>
                    <a:bodyPr/>
                    <a:lstStyle/>
                    <a:p>
                      <a:pPr algn="ctr"/>
                      <a:r>
                        <a:rPr sz="800" b="1">
                          <a:solidFill>
                            <a:srgbClr val="0F2C5C"/>
                          </a:solidFill>
                          <a:latin typeface="Sora"/>
                        </a:rPr>
                        <a:t>2,266</a:t>
                      </a:r>
                    </a:p>
                  </a:txBody>
                  <a:tcPr marL="36576" marR="36576" marT="18288" marB="18288" anchor="ctr">
                    <a:solidFill>
                      <a:srgbClr val="E8EEF7"/>
                    </a:solidFill>
                  </a:tcPr>
                </a:tc>
                <a:tc>
                  <a:txBody>
                    <a:bodyPr/>
                    <a:lstStyle/>
                    <a:p>
                      <a:pPr algn="ctr"/>
                      <a:r>
                        <a:rPr sz="800" b="1">
                          <a:solidFill>
                            <a:srgbClr val="0F2C5C"/>
                          </a:solidFill>
                          <a:latin typeface="Sora"/>
                        </a:rPr>
                        <a:t>3,028</a:t>
                      </a:r>
                    </a:p>
                  </a:txBody>
                  <a:tcPr marL="36576" marR="36576" marT="18288" marB="18288" anchor="ctr">
                    <a:solidFill>
                      <a:srgbClr val="E8EEF7"/>
                    </a:solidFill>
                  </a:tcPr>
                </a:tc>
                <a:tc>
                  <a:txBody>
                    <a:bodyPr/>
                    <a:lstStyle/>
                    <a:p>
                      <a:pPr algn="ctr"/>
                      <a:r>
                        <a:rPr sz="800" b="1">
                          <a:solidFill>
                            <a:srgbClr val="0F2C5C"/>
                          </a:solidFill>
                          <a:latin typeface="Sora"/>
                        </a:rPr>
                        <a:t>658</a:t>
                      </a:r>
                    </a:p>
                  </a:txBody>
                  <a:tcPr marL="36576" marR="36576" marT="18288" marB="18288" anchor="ctr">
                    <a:solidFill>
                      <a:srgbClr val="E8EEF7"/>
                    </a:solidFill>
                  </a:tcPr>
                </a:tc>
                <a:tc>
                  <a:txBody>
                    <a:bodyPr/>
                    <a:lstStyle/>
                    <a:p>
                      <a:pPr algn="ctr"/>
                      <a:r>
                        <a:rPr sz="800" b="1">
                          <a:solidFill>
                            <a:srgbClr val="0F2C5C"/>
                          </a:solidFill>
                          <a:latin typeface="Sora"/>
                        </a:rPr>
                        <a:t>2,746</a:t>
                      </a:r>
                    </a:p>
                  </a:txBody>
                  <a:tcPr marL="36576" marR="36576" marT="18288" marB="18288" anchor="ctr">
                    <a:solidFill>
                      <a:srgbClr val="E8EEF7"/>
                    </a:solidFill>
                  </a:tcPr>
                </a:tc>
                <a:tc>
                  <a:txBody>
                    <a:bodyPr/>
                    <a:lstStyle/>
                    <a:p>
                      <a:pPr algn="ctr"/>
                      <a:r>
                        <a:rPr sz="800" b="1">
                          <a:solidFill>
                            <a:srgbClr val="0F2C5C"/>
                          </a:solidFill>
                          <a:latin typeface="Sora"/>
                        </a:rPr>
                        <a:t>971</a:t>
                      </a:r>
                    </a:p>
                  </a:txBody>
                  <a:tcPr marL="36576" marR="36576" marT="18288" marB="18288" anchor="ctr">
                    <a:solidFill>
                      <a:srgbClr val="E8EEF7"/>
                    </a:solidFill>
                  </a:tcPr>
                </a:tc>
                <a:tc>
                  <a:txBody>
                    <a:bodyPr/>
                    <a:lstStyle/>
                    <a:p>
                      <a:pPr algn="ctr"/>
                      <a:r>
                        <a:rPr sz="800" b="1">
                          <a:solidFill>
                            <a:srgbClr val="0F2C5C"/>
                          </a:solidFill>
                          <a:latin typeface="Sora"/>
                        </a:rPr>
                        <a:t>35,150</a:t>
                      </a:r>
                    </a:p>
                  </a:txBody>
                  <a:tcPr marL="36576" marR="36576" marT="18288" marB="18288" anchor="ctr">
                    <a:solidFill>
                      <a:srgbClr val="E8EEF7"/>
                    </a:solidFill>
                  </a:tcPr>
                </a:tc>
              </a:tr>
            </a:tbl>
          </a:graphicData>
        </a:graphic>
      </p:graphicFrame>
      <p:sp>
        <p:nvSpPr>
          <p:cNvPr id="6" name="Rounded Rectangle 5"/>
          <p:cNvSpPr/>
          <p:nvPr/>
        </p:nvSpPr>
        <p:spPr>
          <a:xfrm>
            <a:off x="8915400" y="1463040"/>
            <a:ext cx="2697480" cy="112471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0" y="1554480"/>
            <a:ext cx="2423160" cy="228600"/>
          </a:xfrm>
          <a:prstGeom prst="rect">
            <a:avLst/>
          </a:prstGeom>
          <a:noFill/>
        </p:spPr>
        <p:txBody>
          <a:bodyPr wrap="square" lIns="0" rIns="0" tIns="0" bIns="0" anchor="t">
            <a:spAutoFit/>
          </a:bodyPr>
          <a:lstStyle/>
          <a:p>
            <a:pPr algn="l"/>
            <a:r>
              <a:rPr sz="800" b="1" i="0">
                <a:solidFill>
                  <a:srgbClr val="C8102E"/>
                </a:solidFill>
                <a:latin typeface="Sora"/>
              </a:rPr>
              <a:t>COURSE PAGES DOWNLOAD</a:t>
            </a:r>
          </a:p>
        </p:txBody>
      </p:sp>
      <p:sp>
        <p:nvSpPr>
          <p:cNvPr id="8" name="TextBox 7"/>
          <p:cNvSpPr txBox="1"/>
          <p:nvPr/>
        </p:nvSpPr>
        <p:spPr>
          <a:xfrm>
            <a:off x="9052560" y="1792224"/>
            <a:ext cx="2423160" cy="777240"/>
          </a:xfrm>
          <a:prstGeom prst="rect">
            <a:avLst/>
          </a:prstGeom>
          <a:noFill/>
        </p:spPr>
        <p:txBody>
          <a:bodyPr wrap="square" lIns="0" rIns="0" tIns="0" bIns="0" anchor="t">
            <a:spAutoFit/>
          </a:bodyPr>
          <a:lstStyle/>
          <a:p>
            <a:pPr algn="l"/>
            <a:r>
              <a:rPr sz="850" b="0" i="0">
                <a:solidFill>
                  <a:srgbClr val="0F2C5C"/>
                </a:solidFill>
                <a:latin typeface="Sora"/>
              </a:rPr>
              <a:t>516 file downloads vs 50 Apply clicks and 4 phone clicks. The course moment wants a document.</a:t>
            </a:r>
          </a:p>
        </p:txBody>
      </p:sp>
      <p:sp>
        <p:nvSpPr>
          <p:cNvPr id="9" name="Rounded Rectangle 8"/>
          <p:cNvSpPr/>
          <p:nvPr/>
        </p:nvSpPr>
        <p:spPr>
          <a:xfrm>
            <a:off x="8915400" y="2697480"/>
            <a:ext cx="2697480" cy="112471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2788920"/>
            <a:ext cx="2423160" cy="228600"/>
          </a:xfrm>
          <a:prstGeom prst="rect">
            <a:avLst/>
          </a:prstGeom>
          <a:noFill/>
        </p:spPr>
        <p:txBody>
          <a:bodyPr wrap="square" lIns="0" rIns="0" tIns="0" bIns="0" anchor="t">
            <a:spAutoFit/>
          </a:bodyPr>
          <a:lstStyle/>
          <a:p>
            <a:pPr algn="l"/>
            <a:r>
              <a:rPr sz="800" b="1" i="0">
                <a:solidFill>
                  <a:srgbClr val="C8102E"/>
                </a:solidFill>
                <a:latin typeface="Sora"/>
              </a:rPr>
              <a:t>FEE PAGES CALL</a:t>
            </a:r>
          </a:p>
        </p:txBody>
      </p:sp>
      <p:sp>
        <p:nvSpPr>
          <p:cNvPr id="11" name="TextBox 10"/>
          <p:cNvSpPr txBox="1"/>
          <p:nvPr/>
        </p:nvSpPr>
        <p:spPr>
          <a:xfrm>
            <a:off x="9052560" y="3026664"/>
            <a:ext cx="2423160" cy="777240"/>
          </a:xfrm>
          <a:prstGeom prst="rect">
            <a:avLst/>
          </a:prstGeom>
          <a:noFill/>
        </p:spPr>
        <p:txBody>
          <a:bodyPr wrap="square" lIns="0" rIns="0" tIns="0" bIns="0" anchor="t">
            <a:spAutoFit/>
          </a:bodyPr>
          <a:lstStyle/>
          <a:p>
            <a:pPr algn="l"/>
            <a:r>
              <a:rPr sz="850" b="0" i="0">
                <a:solidFill>
                  <a:srgbClr val="0F2C5C"/>
                </a:solidFill>
                <a:latin typeface="Sora"/>
              </a:rPr>
              <a:t>82 phone clicks vs 31 form submits — the only high-volume page type where calls beat submits.</a:t>
            </a:r>
          </a:p>
        </p:txBody>
      </p:sp>
      <p:sp>
        <p:nvSpPr>
          <p:cNvPr id="12" name="Rounded Rectangle 11"/>
          <p:cNvSpPr/>
          <p:nvPr/>
        </p:nvSpPr>
        <p:spPr>
          <a:xfrm>
            <a:off x="8915400" y="3931920"/>
            <a:ext cx="2697480" cy="112471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4023360"/>
            <a:ext cx="2423160" cy="228600"/>
          </a:xfrm>
          <a:prstGeom prst="rect">
            <a:avLst/>
          </a:prstGeom>
          <a:noFill/>
        </p:spPr>
        <p:txBody>
          <a:bodyPr wrap="square" lIns="0" rIns="0" tIns="0" bIns="0" anchor="t">
            <a:spAutoFit/>
          </a:bodyPr>
          <a:lstStyle/>
          <a:p>
            <a:pPr algn="l"/>
            <a:r>
              <a:rPr sz="800" b="1" i="0">
                <a:solidFill>
                  <a:srgbClr val="C8102E"/>
                </a:solidFill>
                <a:latin typeface="Sora"/>
              </a:rPr>
              <a:t>HUBS APPLY</a:t>
            </a:r>
          </a:p>
        </p:txBody>
      </p:sp>
      <p:sp>
        <p:nvSpPr>
          <p:cNvPr id="14" name="TextBox 13"/>
          <p:cNvSpPr txBox="1"/>
          <p:nvPr/>
        </p:nvSpPr>
        <p:spPr>
          <a:xfrm>
            <a:off x="9052560" y="4261104"/>
            <a:ext cx="2423160" cy="777240"/>
          </a:xfrm>
          <a:prstGeom prst="rect">
            <a:avLst/>
          </a:prstGeom>
          <a:noFill/>
        </p:spPr>
        <p:txBody>
          <a:bodyPr wrap="square" lIns="0" rIns="0" tIns="0" bIns="0" anchor="t">
            <a:spAutoFit/>
          </a:bodyPr>
          <a:lstStyle/>
          <a:p>
            <a:pPr algn="l"/>
            <a:r>
              <a:rPr sz="850" b="0" i="0">
                <a:solidFill>
                  <a:srgbClr val="0F2C5C"/>
                </a:solidFill>
                <a:latin typeface="Sora"/>
              </a:rPr>
              <a:t>Institution roots carry 517 of 613 Apply-MRIIRS clicks and all 134 Apply-MRU clicks.</a:t>
            </a:r>
          </a:p>
        </p:txBody>
      </p:sp>
      <p:sp>
        <p:nvSpPr>
          <p:cNvPr id="15" name="Rounded Rectangle 14"/>
          <p:cNvSpPr/>
          <p:nvPr/>
        </p:nvSpPr>
        <p:spPr>
          <a:xfrm>
            <a:off x="8915400" y="5166360"/>
            <a:ext cx="2697480" cy="112471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5257800"/>
            <a:ext cx="2423160" cy="228600"/>
          </a:xfrm>
          <a:prstGeom prst="rect">
            <a:avLst/>
          </a:prstGeom>
          <a:noFill/>
        </p:spPr>
        <p:txBody>
          <a:bodyPr wrap="square" lIns="0" rIns="0" tIns="0" bIns="0" anchor="t">
            <a:spAutoFit/>
          </a:bodyPr>
          <a:lstStyle/>
          <a:p>
            <a:pPr algn="l"/>
            <a:r>
              <a:rPr sz="800" b="1" i="0">
                <a:solidFill>
                  <a:srgbClr val="C8102E"/>
                </a:solidFill>
                <a:latin typeface="Sora"/>
              </a:rPr>
              <a:t>BLOG DOES NOTHING</a:t>
            </a:r>
          </a:p>
        </p:txBody>
      </p:sp>
      <p:sp>
        <p:nvSpPr>
          <p:cNvPr id="17" name="TextBox 16"/>
          <p:cNvSpPr txBox="1"/>
          <p:nvPr/>
        </p:nvSpPr>
        <p:spPr>
          <a:xfrm>
            <a:off x="9052560" y="5495544"/>
            <a:ext cx="2423160" cy="777240"/>
          </a:xfrm>
          <a:prstGeom prst="rect">
            <a:avLst/>
          </a:prstGeom>
          <a:noFill/>
        </p:spPr>
        <p:txBody>
          <a:bodyPr wrap="square" lIns="0" rIns="0" tIns="0" bIns="0" anchor="t">
            <a:spAutoFit/>
          </a:bodyPr>
          <a:lstStyle/>
          <a:p>
            <a:pPr algn="l"/>
            <a:r>
              <a:rPr sz="850" b="0" i="0">
                <a:solidFill>
                  <a:srgbClr val="0F2C5C"/>
                </a:solidFill>
                <a:latin typeface="Sora"/>
              </a:rPr>
              <a:t>32,318 blog-index landings → 0 Apply, 0 phone, 42 scroll events. Check traffic quality before optimising.</a:t>
            </a:r>
          </a:p>
        </p:txBody>
      </p:sp>
      <p:sp>
        <p:nvSpPr>
          <p:cNvPr id="18" name="TextBox 17"/>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event export by page type (event counts; separate pull, not directly comparable). Apply = Main + MRIIRS + MRU; Phone = Number_footer + MRIIRS + MRU + MROnline.</a:t>
            </a:r>
          </a:p>
        </p:txBody>
      </p:sp>
      <p:sp>
        <p:nvSpPr>
          <p:cNvPr id="19" name="Rounded Rectangle 18"/>
          <p:cNvSpPr/>
          <p:nvPr/>
        </p:nvSpPr>
        <p:spPr>
          <a:xfrm>
            <a:off x="10703052" y="274320"/>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nvSpPr>
        <p:spPr>
          <a:xfrm>
            <a:off x="548640" y="411480"/>
            <a:ext cx="110643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200"/>
              <a:buFont typeface="Sora"/>
              <a:buNone/>
            </a:pPr>
            <a:r>
              <a:rPr b="1" i="0" lang="en-US" sz="3200" u="none" cap="none" strike="noStrike">
                <a:solidFill>
                  <a:srgbClr val="0F2C5C"/>
                </a:solidFill>
                <a:latin typeface="Sora"/>
                <a:ea typeface="Sora"/>
                <a:cs typeface="Sora"/>
                <a:sym typeface="Sora"/>
              </a:rPr>
              <a:t>Five questions, arriving at one site</a:t>
            </a:r>
            <a:endParaRPr b="0" i="0" sz="3200" u="none" cap="none" strike="noStrike">
              <a:solidFill>
                <a:schemeClr val="dk1"/>
              </a:solidFill>
              <a:latin typeface="Calibri"/>
              <a:ea typeface="Calibri"/>
              <a:cs typeface="Calibri"/>
              <a:sym typeface="Calibri"/>
            </a:endParaRPr>
          </a:p>
        </p:txBody>
      </p:sp>
      <p:sp>
        <p:nvSpPr>
          <p:cNvPr id="81" name="Google Shape;81;p17"/>
          <p:cNvSpPr txBox="1"/>
          <p:nvPr/>
        </p:nvSpPr>
        <p:spPr>
          <a:xfrm>
            <a:off x="548640" y="1005840"/>
            <a:ext cx="11064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500"/>
              <a:buFont typeface="Sora"/>
              <a:buNone/>
            </a:pPr>
            <a:r>
              <a:rPr b="0" i="0" lang="en-US" sz="1500" u="none" cap="none" strike="noStrike">
                <a:solidFill>
                  <a:srgbClr val="5A6472"/>
                </a:solidFill>
                <a:latin typeface="Sora"/>
                <a:ea typeface="Sora"/>
                <a:cs typeface="Sora"/>
                <a:sym typeface="Sora"/>
              </a:rPr>
              <a:t>Every landing page classified by the question the user came with — 1,52,694 prospect sessions</a:t>
            </a:r>
            <a:endParaRPr b="0" i="0" sz="1500" u="none" cap="none" strike="noStrike">
              <a:solidFill>
                <a:schemeClr val="dk1"/>
              </a:solidFill>
              <a:latin typeface="Calibri"/>
              <a:ea typeface="Calibri"/>
              <a:cs typeface="Calibri"/>
              <a:sym typeface="Calibri"/>
            </a:endParaRPr>
          </a:p>
        </p:txBody>
      </p:sp>
      <p:sp>
        <p:nvSpPr>
          <p:cNvPr id="82" name="Google Shape;82;p17"/>
          <p:cNvSpPr/>
          <p:nvPr/>
        </p:nvSpPr>
        <p:spPr>
          <a:xfrm>
            <a:off x="548640" y="1508760"/>
            <a:ext cx="10881300" cy="841200"/>
          </a:xfrm>
          <a:prstGeom prst="roundRect">
            <a:avLst>
              <a:gd fmla="val 8696"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7"/>
          <p:cNvSpPr/>
          <p:nvPr/>
        </p:nvSpPr>
        <p:spPr>
          <a:xfrm>
            <a:off x="713232" y="1655064"/>
            <a:ext cx="548700" cy="548700"/>
          </a:xfrm>
          <a:prstGeom prst="roundRect">
            <a:avLst>
              <a:gd fmla="val 50000" name="adj"/>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7"/>
          <p:cNvSpPr txBox="1"/>
          <p:nvPr/>
        </p:nvSpPr>
        <p:spPr>
          <a:xfrm>
            <a:off x="713232" y="1764792"/>
            <a:ext cx="548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1</a:t>
            </a:r>
            <a:endParaRPr b="0" i="0" sz="1500" u="none" cap="none" strike="noStrike">
              <a:solidFill>
                <a:schemeClr val="dk1"/>
              </a:solidFill>
              <a:latin typeface="Calibri"/>
              <a:ea typeface="Calibri"/>
              <a:cs typeface="Calibri"/>
              <a:sym typeface="Calibri"/>
            </a:endParaRPr>
          </a:p>
        </p:txBody>
      </p:sp>
      <p:sp>
        <p:nvSpPr>
          <p:cNvPr id="85" name="Google Shape;85;p17"/>
          <p:cNvSpPr txBox="1"/>
          <p:nvPr/>
        </p:nvSpPr>
        <p:spPr>
          <a:xfrm>
            <a:off x="1417320" y="1636776"/>
            <a:ext cx="228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500"/>
              <a:buFont typeface="Sora"/>
              <a:buNone/>
            </a:pPr>
            <a:r>
              <a:rPr b="1" i="0" lang="en-US" sz="1500" u="none" cap="none" strike="noStrike">
                <a:solidFill>
                  <a:srgbClr val="0F2C5C"/>
                </a:solidFill>
                <a:latin typeface="Sora"/>
                <a:ea typeface="Sora"/>
                <a:cs typeface="Sora"/>
                <a:sym typeface="Sora"/>
              </a:rPr>
              <a:t>Course Researcher</a:t>
            </a:r>
            <a:endParaRPr b="0" i="0" sz="1500" u="none" cap="none" strike="noStrike">
              <a:solidFill>
                <a:schemeClr val="dk1"/>
              </a:solidFill>
              <a:latin typeface="Calibri"/>
              <a:ea typeface="Calibri"/>
              <a:cs typeface="Calibri"/>
              <a:sym typeface="Calibri"/>
            </a:endParaRPr>
          </a:p>
        </p:txBody>
      </p:sp>
      <p:sp>
        <p:nvSpPr>
          <p:cNvPr id="86" name="Google Shape;86;p17"/>
          <p:cNvSpPr txBox="1"/>
          <p:nvPr/>
        </p:nvSpPr>
        <p:spPr>
          <a:xfrm>
            <a:off x="1417320" y="1965960"/>
            <a:ext cx="22860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53,812  sessions  ·  35%</a:t>
            </a:r>
            <a:endParaRPr b="0" i="0" sz="1100" u="none" cap="none" strike="noStrike">
              <a:solidFill>
                <a:schemeClr val="dk1"/>
              </a:solidFill>
              <a:latin typeface="Calibri"/>
              <a:ea typeface="Calibri"/>
              <a:cs typeface="Calibri"/>
              <a:sym typeface="Calibri"/>
            </a:endParaRPr>
          </a:p>
        </p:txBody>
      </p:sp>
      <p:sp>
        <p:nvSpPr>
          <p:cNvPr id="87" name="Google Shape;87;p17"/>
          <p:cNvSpPr txBox="1"/>
          <p:nvPr/>
        </p:nvSpPr>
        <p:spPr>
          <a:xfrm>
            <a:off x="3931920" y="1636776"/>
            <a:ext cx="3932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0" i="1" lang="en-US" sz="1300" u="none" cap="none" strike="noStrike">
                <a:solidFill>
                  <a:srgbClr val="0F2C5C"/>
                </a:solidFill>
                <a:latin typeface="Sora"/>
                <a:ea typeface="Sora"/>
                <a:cs typeface="Sora"/>
                <a:sym typeface="Sora"/>
              </a:rPr>
              <a:t>"What is this course, and is it worth it?"</a:t>
            </a:r>
            <a:endParaRPr b="0" i="0" sz="1300" u="none" cap="none" strike="noStrike">
              <a:solidFill>
                <a:schemeClr val="dk1"/>
              </a:solidFill>
              <a:latin typeface="Calibri"/>
              <a:ea typeface="Calibri"/>
              <a:cs typeface="Calibri"/>
              <a:sym typeface="Calibri"/>
            </a:endParaRPr>
          </a:p>
        </p:txBody>
      </p:sp>
      <p:sp>
        <p:nvSpPr>
          <p:cNvPr id="88" name="Google Shape;88;p17"/>
          <p:cNvSpPr txBox="1"/>
          <p:nvPr/>
        </p:nvSpPr>
        <p:spPr>
          <a:xfrm>
            <a:off x="3931920" y="1965960"/>
            <a:ext cx="39321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66.2% engagement · 1.78 views/session</a:t>
            </a:r>
            <a:endParaRPr b="0" i="0" sz="1100" u="none" cap="none" strike="noStrike">
              <a:solidFill>
                <a:schemeClr val="dk1"/>
              </a:solidFill>
              <a:latin typeface="Calibri"/>
              <a:ea typeface="Calibri"/>
              <a:cs typeface="Calibri"/>
              <a:sym typeface="Calibri"/>
            </a:endParaRPr>
          </a:p>
        </p:txBody>
      </p:sp>
      <p:sp>
        <p:nvSpPr>
          <p:cNvPr id="89" name="Google Shape;89;p17"/>
          <p:cNvSpPr/>
          <p:nvPr/>
        </p:nvSpPr>
        <p:spPr>
          <a:xfrm>
            <a:off x="8183880" y="1819656"/>
            <a:ext cx="2743200" cy="219600"/>
          </a:xfrm>
          <a:prstGeom prst="rect">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p:nvPr/>
        </p:nvSpPr>
        <p:spPr>
          <a:xfrm>
            <a:off x="8183880" y="1819656"/>
            <a:ext cx="2743200" cy="219600"/>
          </a:xfrm>
          <a:prstGeom prst="rect">
            <a:avLst/>
          </a:prstGeom>
          <a:solidFill>
            <a:srgbClr val="FFFFFF">
              <a:alpha val="0"/>
            </a:srgbClr>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txBox="1"/>
          <p:nvPr/>
        </p:nvSpPr>
        <p:spPr>
          <a:xfrm>
            <a:off x="11018520" y="1801368"/>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1" i="0" lang="en-US" sz="1100" u="none" cap="none" strike="noStrike">
                <a:solidFill>
                  <a:srgbClr val="5A6472"/>
                </a:solidFill>
                <a:latin typeface="Sora"/>
                <a:ea typeface="Sora"/>
                <a:cs typeface="Sora"/>
                <a:sym typeface="Sora"/>
              </a:rPr>
              <a:t>35%</a:t>
            </a:r>
            <a:endParaRPr b="0" i="0" sz="1100" u="none" cap="none" strike="noStrike">
              <a:solidFill>
                <a:schemeClr val="dk1"/>
              </a:solidFill>
              <a:latin typeface="Calibri"/>
              <a:ea typeface="Calibri"/>
              <a:cs typeface="Calibri"/>
              <a:sym typeface="Calibri"/>
            </a:endParaRPr>
          </a:p>
        </p:txBody>
      </p:sp>
      <p:sp>
        <p:nvSpPr>
          <p:cNvPr id="92" name="Google Shape;92;p17"/>
          <p:cNvSpPr/>
          <p:nvPr/>
        </p:nvSpPr>
        <p:spPr>
          <a:xfrm>
            <a:off x="548640" y="2468880"/>
            <a:ext cx="10881300" cy="841200"/>
          </a:xfrm>
          <a:prstGeom prst="roundRect">
            <a:avLst>
              <a:gd fmla="val 8696"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a:off x="713232" y="2615184"/>
            <a:ext cx="548700" cy="548700"/>
          </a:xfrm>
          <a:prstGeom prst="roundRect">
            <a:avLst>
              <a:gd fmla="val 50000" name="adj"/>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txBox="1"/>
          <p:nvPr/>
        </p:nvSpPr>
        <p:spPr>
          <a:xfrm>
            <a:off x="713232" y="2724912"/>
            <a:ext cx="548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2</a:t>
            </a:r>
            <a:endParaRPr b="0" i="0" sz="1500" u="none" cap="none" strike="noStrike">
              <a:solidFill>
                <a:schemeClr val="dk1"/>
              </a:solidFill>
              <a:latin typeface="Calibri"/>
              <a:ea typeface="Calibri"/>
              <a:cs typeface="Calibri"/>
              <a:sym typeface="Calibri"/>
            </a:endParaRPr>
          </a:p>
        </p:txBody>
      </p:sp>
      <p:sp>
        <p:nvSpPr>
          <p:cNvPr id="95" name="Google Shape;95;p17"/>
          <p:cNvSpPr txBox="1"/>
          <p:nvPr/>
        </p:nvSpPr>
        <p:spPr>
          <a:xfrm>
            <a:off x="1417320" y="2596896"/>
            <a:ext cx="228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500"/>
              <a:buFont typeface="Sora"/>
              <a:buNone/>
            </a:pPr>
            <a:r>
              <a:rPr b="1" i="0" lang="en-US" sz="1500" u="none" cap="none" strike="noStrike">
                <a:solidFill>
                  <a:srgbClr val="0F2C5C"/>
                </a:solidFill>
                <a:latin typeface="Sora"/>
                <a:ea typeface="Sora"/>
                <a:cs typeface="Sora"/>
                <a:sym typeface="Sora"/>
              </a:rPr>
              <a:t>Proof Seeker</a:t>
            </a:r>
            <a:endParaRPr b="0" i="0" sz="1500" u="none" cap="none" strike="noStrike">
              <a:solidFill>
                <a:schemeClr val="dk1"/>
              </a:solidFill>
              <a:latin typeface="Calibri"/>
              <a:ea typeface="Calibri"/>
              <a:cs typeface="Calibri"/>
              <a:sym typeface="Calibri"/>
            </a:endParaRPr>
          </a:p>
        </p:txBody>
      </p:sp>
      <p:sp>
        <p:nvSpPr>
          <p:cNvPr id="96" name="Google Shape;96;p17"/>
          <p:cNvSpPr txBox="1"/>
          <p:nvPr/>
        </p:nvSpPr>
        <p:spPr>
          <a:xfrm>
            <a:off x="1417320" y="2926080"/>
            <a:ext cx="22860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27,579  sessions  ·  18%</a:t>
            </a:r>
            <a:endParaRPr b="0" i="0" sz="1100" u="none" cap="none" strike="noStrike">
              <a:solidFill>
                <a:schemeClr val="dk1"/>
              </a:solidFill>
              <a:latin typeface="Calibri"/>
              <a:ea typeface="Calibri"/>
              <a:cs typeface="Calibri"/>
              <a:sym typeface="Calibri"/>
            </a:endParaRPr>
          </a:p>
        </p:txBody>
      </p:sp>
      <p:sp>
        <p:nvSpPr>
          <p:cNvPr id="97" name="Google Shape;97;p17"/>
          <p:cNvSpPr txBox="1"/>
          <p:nvPr/>
        </p:nvSpPr>
        <p:spPr>
          <a:xfrm>
            <a:off x="3931920" y="2596896"/>
            <a:ext cx="3932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0" i="1" lang="en-US" sz="1300" u="none" cap="none" strike="noStrike">
                <a:solidFill>
                  <a:srgbClr val="0F2C5C"/>
                </a:solidFill>
                <a:latin typeface="Sora"/>
                <a:ea typeface="Sora"/>
                <a:cs typeface="Sora"/>
                <a:sym typeface="Sora"/>
              </a:rPr>
              <a:t>"Should I believe what they claim?"</a:t>
            </a:r>
            <a:endParaRPr b="0" i="0" sz="1300" u="none" cap="none" strike="noStrike">
              <a:solidFill>
                <a:schemeClr val="dk1"/>
              </a:solidFill>
              <a:latin typeface="Calibri"/>
              <a:ea typeface="Calibri"/>
              <a:cs typeface="Calibri"/>
              <a:sym typeface="Calibri"/>
            </a:endParaRPr>
          </a:p>
        </p:txBody>
      </p:sp>
      <p:sp>
        <p:nvSpPr>
          <p:cNvPr id="98" name="Google Shape;98;p17"/>
          <p:cNvSpPr txBox="1"/>
          <p:nvPr/>
        </p:nvSpPr>
        <p:spPr>
          <a:xfrm>
            <a:off x="3931920" y="2926080"/>
            <a:ext cx="39321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Faculty, placements, rankings, campus life</a:t>
            </a:r>
            <a:endParaRPr b="0" i="0" sz="1100" u="none" cap="none" strike="noStrike">
              <a:solidFill>
                <a:schemeClr val="dk1"/>
              </a:solidFill>
              <a:latin typeface="Calibri"/>
              <a:ea typeface="Calibri"/>
              <a:cs typeface="Calibri"/>
              <a:sym typeface="Calibri"/>
            </a:endParaRPr>
          </a:p>
        </p:txBody>
      </p:sp>
      <p:sp>
        <p:nvSpPr>
          <p:cNvPr id="99" name="Google Shape;99;p17"/>
          <p:cNvSpPr/>
          <p:nvPr/>
        </p:nvSpPr>
        <p:spPr>
          <a:xfrm>
            <a:off x="8183880" y="2779776"/>
            <a:ext cx="1410900" cy="219600"/>
          </a:xfrm>
          <a:prstGeom prst="rect">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7"/>
          <p:cNvSpPr/>
          <p:nvPr/>
        </p:nvSpPr>
        <p:spPr>
          <a:xfrm>
            <a:off x="8183880" y="2779776"/>
            <a:ext cx="2743200" cy="219600"/>
          </a:xfrm>
          <a:prstGeom prst="rect">
            <a:avLst/>
          </a:prstGeom>
          <a:solidFill>
            <a:srgbClr val="FFFFFF">
              <a:alpha val="0"/>
            </a:srgbClr>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7"/>
          <p:cNvSpPr txBox="1"/>
          <p:nvPr/>
        </p:nvSpPr>
        <p:spPr>
          <a:xfrm>
            <a:off x="11018520" y="2761488"/>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1" i="0" lang="en-US" sz="1100" u="none" cap="none" strike="noStrike">
                <a:solidFill>
                  <a:srgbClr val="5A6472"/>
                </a:solidFill>
                <a:latin typeface="Sora"/>
                <a:ea typeface="Sora"/>
                <a:cs typeface="Sora"/>
                <a:sym typeface="Sora"/>
              </a:rPr>
              <a:t>18%</a:t>
            </a:r>
            <a:endParaRPr b="0" i="0" sz="1100" u="none" cap="none" strike="noStrike">
              <a:solidFill>
                <a:schemeClr val="dk1"/>
              </a:solidFill>
              <a:latin typeface="Calibri"/>
              <a:ea typeface="Calibri"/>
              <a:cs typeface="Calibri"/>
              <a:sym typeface="Calibri"/>
            </a:endParaRPr>
          </a:p>
        </p:txBody>
      </p:sp>
      <p:sp>
        <p:nvSpPr>
          <p:cNvPr id="102" name="Google Shape;102;p17"/>
          <p:cNvSpPr/>
          <p:nvPr/>
        </p:nvSpPr>
        <p:spPr>
          <a:xfrm>
            <a:off x="548640" y="3429000"/>
            <a:ext cx="10881300" cy="841200"/>
          </a:xfrm>
          <a:prstGeom prst="roundRect">
            <a:avLst>
              <a:gd fmla="val 8696"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713232" y="3575304"/>
            <a:ext cx="548700" cy="548700"/>
          </a:xfrm>
          <a:prstGeom prst="roundRect">
            <a:avLst>
              <a:gd fmla="val 50000" name="adj"/>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txBox="1"/>
          <p:nvPr/>
        </p:nvSpPr>
        <p:spPr>
          <a:xfrm>
            <a:off x="713232" y="3685032"/>
            <a:ext cx="548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3</a:t>
            </a:r>
            <a:endParaRPr b="0" i="0" sz="1500" u="none" cap="none" strike="noStrike">
              <a:solidFill>
                <a:schemeClr val="dk1"/>
              </a:solidFill>
              <a:latin typeface="Calibri"/>
              <a:ea typeface="Calibri"/>
              <a:cs typeface="Calibri"/>
              <a:sym typeface="Calibri"/>
            </a:endParaRPr>
          </a:p>
        </p:txBody>
      </p:sp>
      <p:sp>
        <p:nvSpPr>
          <p:cNvPr id="105" name="Google Shape;105;p17"/>
          <p:cNvSpPr txBox="1"/>
          <p:nvPr/>
        </p:nvSpPr>
        <p:spPr>
          <a:xfrm>
            <a:off x="1417320" y="3557016"/>
            <a:ext cx="228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500"/>
              <a:buFont typeface="Sora"/>
              <a:buNone/>
            </a:pPr>
            <a:r>
              <a:rPr b="1" i="0" lang="en-US" sz="1500" u="none" cap="none" strike="noStrike">
                <a:solidFill>
                  <a:srgbClr val="0F2C5C"/>
                </a:solidFill>
                <a:latin typeface="Sora"/>
                <a:ea typeface="Sora"/>
                <a:cs typeface="Sora"/>
                <a:sym typeface="Sora"/>
              </a:rPr>
              <a:t>Cost Checker</a:t>
            </a:r>
            <a:endParaRPr b="0" i="0" sz="1500" u="none" cap="none" strike="noStrike">
              <a:solidFill>
                <a:schemeClr val="dk1"/>
              </a:solidFill>
              <a:latin typeface="Calibri"/>
              <a:ea typeface="Calibri"/>
              <a:cs typeface="Calibri"/>
              <a:sym typeface="Calibri"/>
            </a:endParaRPr>
          </a:p>
        </p:txBody>
      </p:sp>
      <p:sp>
        <p:nvSpPr>
          <p:cNvPr id="106" name="Google Shape;106;p17"/>
          <p:cNvSpPr txBox="1"/>
          <p:nvPr/>
        </p:nvSpPr>
        <p:spPr>
          <a:xfrm>
            <a:off x="1417320" y="3886200"/>
            <a:ext cx="22860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23,219  sessions  ·  15%</a:t>
            </a:r>
            <a:endParaRPr b="0" i="0" sz="1100" u="none" cap="none" strike="noStrike">
              <a:solidFill>
                <a:schemeClr val="dk1"/>
              </a:solidFill>
              <a:latin typeface="Calibri"/>
              <a:ea typeface="Calibri"/>
              <a:cs typeface="Calibri"/>
              <a:sym typeface="Calibri"/>
            </a:endParaRPr>
          </a:p>
        </p:txBody>
      </p:sp>
      <p:sp>
        <p:nvSpPr>
          <p:cNvPr id="107" name="Google Shape;107;p17"/>
          <p:cNvSpPr txBox="1"/>
          <p:nvPr/>
        </p:nvSpPr>
        <p:spPr>
          <a:xfrm>
            <a:off x="3931920" y="3557016"/>
            <a:ext cx="3932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0" i="1" lang="en-US" sz="1300" u="none" cap="none" strike="noStrike">
                <a:solidFill>
                  <a:srgbClr val="0F2C5C"/>
                </a:solidFill>
                <a:latin typeface="Sora"/>
                <a:ea typeface="Sora"/>
                <a:cs typeface="Sora"/>
                <a:sym typeface="Sora"/>
              </a:rPr>
              <a:t>"What does it cost, and can I get in?"</a:t>
            </a:r>
            <a:endParaRPr b="0" i="0" sz="1300" u="none" cap="none" strike="noStrike">
              <a:solidFill>
                <a:schemeClr val="dk1"/>
              </a:solidFill>
              <a:latin typeface="Calibri"/>
              <a:ea typeface="Calibri"/>
              <a:cs typeface="Calibri"/>
              <a:sym typeface="Calibri"/>
            </a:endParaRPr>
          </a:p>
        </p:txBody>
      </p:sp>
      <p:sp>
        <p:nvSpPr>
          <p:cNvPr id="108" name="Google Shape;108;p17"/>
          <p:cNvSpPr txBox="1"/>
          <p:nvPr/>
        </p:nvSpPr>
        <p:spPr>
          <a:xfrm>
            <a:off x="3931920" y="3886200"/>
            <a:ext cx="39321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73.4% engagement · 26.6% bounce — highest intent</a:t>
            </a:r>
            <a:endParaRPr b="0" i="0" sz="1100" u="none" cap="none" strike="noStrike">
              <a:solidFill>
                <a:schemeClr val="dk1"/>
              </a:solidFill>
              <a:latin typeface="Calibri"/>
              <a:ea typeface="Calibri"/>
              <a:cs typeface="Calibri"/>
              <a:sym typeface="Calibri"/>
            </a:endParaRPr>
          </a:p>
        </p:txBody>
      </p:sp>
      <p:sp>
        <p:nvSpPr>
          <p:cNvPr id="109" name="Google Shape;109;p17"/>
          <p:cNvSpPr/>
          <p:nvPr/>
        </p:nvSpPr>
        <p:spPr>
          <a:xfrm>
            <a:off x="8183880" y="3739896"/>
            <a:ext cx="1175700" cy="219600"/>
          </a:xfrm>
          <a:prstGeom prst="rect">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7"/>
          <p:cNvSpPr/>
          <p:nvPr/>
        </p:nvSpPr>
        <p:spPr>
          <a:xfrm>
            <a:off x="8183880" y="3739896"/>
            <a:ext cx="2743200" cy="219600"/>
          </a:xfrm>
          <a:prstGeom prst="rect">
            <a:avLst/>
          </a:prstGeom>
          <a:solidFill>
            <a:srgbClr val="FFFFFF">
              <a:alpha val="0"/>
            </a:srgbClr>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
          <p:cNvSpPr txBox="1"/>
          <p:nvPr/>
        </p:nvSpPr>
        <p:spPr>
          <a:xfrm>
            <a:off x="11018520" y="3721608"/>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1" i="0" lang="en-US" sz="1100" u="none" cap="none" strike="noStrike">
                <a:solidFill>
                  <a:srgbClr val="5A6472"/>
                </a:solidFill>
                <a:latin typeface="Sora"/>
                <a:ea typeface="Sora"/>
                <a:cs typeface="Sora"/>
                <a:sym typeface="Sora"/>
              </a:rPr>
              <a:t>15%</a:t>
            </a:r>
            <a:endParaRPr b="0" i="0" sz="1100" u="none" cap="none" strike="noStrike">
              <a:solidFill>
                <a:schemeClr val="dk1"/>
              </a:solidFill>
              <a:latin typeface="Calibri"/>
              <a:ea typeface="Calibri"/>
              <a:cs typeface="Calibri"/>
              <a:sym typeface="Calibri"/>
            </a:endParaRPr>
          </a:p>
        </p:txBody>
      </p:sp>
      <p:sp>
        <p:nvSpPr>
          <p:cNvPr id="112" name="Google Shape;112;p17"/>
          <p:cNvSpPr/>
          <p:nvPr/>
        </p:nvSpPr>
        <p:spPr>
          <a:xfrm>
            <a:off x="548640" y="4389120"/>
            <a:ext cx="10881300" cy="841200"/>
          </a:xfrm>
          <a:prstGeom prst="roundRect">
            <a:avLst>
              <a:gd fmla="val 8696"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713232" y="4535424"/>
            <a:ext cx="548700" cy="548700"/>
          </a:xfrm>
          <a:prstGeom prst="roundRect">
            <a:avLst>
              <a:gd fmla="val 50000" name="adj"/>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txBox="1"/>
          <p:nvPr/>
        </p:nvSpPr>
        <p:spPr>
          <a:xfrm>
            <a:off x="713232" y="4645152"/>
            <a:ext cx="548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4</a:t>
            </a:r>
            <a:endParaRPr b="0" i="0" sz="1500" u="none" cap="none" strike="noStrike">
              <a:solidFill>
                <a:schemeClr val="dk1"/>
              </a:solidFill>
              <a:latin typeface="Calibri"/>
              <a:ea typeface="Calibri"/>
              <a:cs typeface="Calibri"/>
              <a:sym typeface="Calibri"/>
            </a:endParaRPr>
          </a:p>
        </p:txBody>
      </p:sp>
      <p:sp>
        <p:nvSpPr>
          <p:cNvPr id="115" name="Google Shape;115;p17"/>
          <p:cNvSpPr txBox="1"/>
          <p:nvPr/>
        </p:nvSpPr>
        <p:spPr>
          <a:xfrm>
            <a:off x="1417320" y="4517136"/>
            <a:ext cx="228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500"/>
              <a:buFont typeface="Sora"/>
              <a:buNone/>
            </a:pPr>
            <a:r>
              <a:rPr b="1" i="0" lang="en-US" sz="1500" u="none" cap="none" strike="noStrike">
                <a:solidFill>
                  <a:srgbClr val="0F2C5C"/>
                </a:solidFill>
                <a:latin typeface="Sora"/>
                <a:ea typeface="Sora"/>
                <a:cs typeface="Sora"/>
                <a:sym typeface="Sora"/>
              </a:rPr>
              <a:t>Early Explorer</a:t>
            </a:r>
            <a:endParaRPr b="0" i="0" sz="1500" u="none" cap="none" strike="noStrike">
              <a:solidFill>
                <a:schemeClr val="dk1"/>
              </a:solidFill>
              <a:latin typeface="Calibri"/>
              <a:ea typeface="Calibri"/>
              <a:cs typeface="Calibri"/>
              <a:sym typeface="Calibri"/>
            </a:endParaRPr>
          </a:p>
        </p:txBody>
      </p:sp>
      <p:sp>
        <p:nvSpPr>
          <p:cNvPr id="116" name="Google Shape;116;p17"/>
          <p:cNvSpPr txBox="1"/>
          <p:nvPr/>
        </p:nvSpPr>
        <p:spPr>
          <a:xfrm>
            <a:off x="1417320" y="4846320"/>
            <a:ext cx="22860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22,813  sessions  ·  15%</a:t>
            </a:r>
            <a:endParaRPr b="0" i="0" sz="1100" u="none" cap="none" strike="noStrike">
              <a:solidFill>
                <a:schemeClr val="dk1"/>
              </a:solidFill>
              <a:latin typeface="Calibri"/>
              <a:ea typeface="Calibri"/>
              <a:cs typeface="Calibri"/>
              <a:sym typeface="Calibri"/>
            </a:endParaRPr>
          </a:p>
        </p:txBody>
      </p:sp>
      <p:sp>
        <p:nvSpPr>
          <p:cNvPr id="117" name="Google Shape;117;p17"/>
          <p:cNvSpPr txBox="1"/>
          <p:nvPr/>
        </p:nvSpPr>
        <p:spPr>
          <a:xfrm>
            <a:off x="3931920" y="4517136"/>
            <a:ext cx="3932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0" i="1" lang="en-US" sz="1300" u="none" cap="none" strike="noStrike">
                <a:solidFill>
                  <a:srgbClr val="0F2C5C"/>
                </a:solidFill>
                <a:latin typeface="Sora"/>
                <a:ea typeface="Sora"/>
                <a:cs typeface="Sora"/>
                <a:sym typeface="Sora"/>
              </a:rPr>
              <a:t>"What should I even study after 12th?"</a:t>
            </a:r>
            <a:endParaRPr b="0" i="0" sz="1300" u="none" cap="none" strike="noStrike">
              <a:solidFill>
                <a:schemeClr val="dk1"/>
              </a:solidFill>
              <a:latin typeface="Calibri"/>
              <a:ea typeface="Calibri"/>
              <a:cs typeface="Calibri"/>
              <a:sym typeface="Calibri"/>
            </a:endParaRPr>
          </a:p>
        </p:txBody>
      </p:sp>
      <p:sp>
        <p:nvSpPr>
          <p:cNvPr id="118" name="Google Shape;118;p17"/>
          <p:cNvSpPr txBox="1"/>
          <p:nvPr/>
        </p:nvSpPr>
        <p:spPr>
          <a:xfrm>
            <a:off x="3931920" y="4846320"/>
            <a:ext cx="39321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59.6% engagement · 1.20 views/session — lowest depth</a:t>
            </a:r>
            <a:endParaRPr b="0" i="0" sz="1100" u="none" cap="none" strike="noStrike">
              <a:solidFill>
                <a:schemeClr val="dk1"/>
              </a:solidFill>
              <a:latin typeface="Calibri"/>
              <a:ea typeface="Calibri"/>
              <a:cs typeface="Calibri"/>
              <a:sym typeface="Calibri"/>
            </a:endParaRPr>
          </a:p>
        </p:txBody>
      </p:sp>
      <p:sp>
        <p:nvSpPr>
          <p:cNvPr id="119" name="Google Shape;119;p17"/>
          <p:cNvSpPr/>
          <p:nvPr/>
        </p:nvSpPr>
        <p:spPr>
          <a:xfrm>
            <a:off x="8183880" y="4700016"/>
            <a:ext cx="1175700" cy="219600"/>
          </a:xfrm>
          <a:prstGeom prst="rect">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7"/>
          <p:cNvSpPr/>
          <p:nvPr/>
        </p:nvSpPr>
        <p:spPr>
          <a:xfrm>
            <a:off x="8183880" y="4700016"/>
            <a:ext cx="2743200" cy="219600"/>
          </a:xfrm>
          <a:prstGeom prst="rect">
            <a:avLst/>
          </a:prstGeom>
          <a:solidFill>
            <a:srgbClr val="FFFFFF">
              <a:alpha val="0"/>
            </a:srgbClr>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txBox="1"/>
          <p:nvPr/>
        </p:nvSpPr>
        <p:spPr>
          <a:xfrm>
            <a:off x="11018520" y="4681728"/>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1" i="0" lang="en-US" sz="1100" u="none" cap="none" strike="noStrike">
                <a:solidFill>
                  <a:srgbClr val="5A6472"/>
                </a:solidFill>
                <a:latin typeface="Sora"/>
                <a:ea typeface="Sora"/>
                <a:cs typeface="Sora"/>
                <a:sym typeface="Sora"/>
              </a:rPr>
              <a:t>15%</a:t>
            </a:r>
            <a:endParaRPr b="0" i="0" sz="1100" u="none" cap="none" strike="noStrike">
              <a:solidFill>
                <a:schemeClr val="dk1"/>
              </a:solidFill>
              <a:latin typeface="Calibri"/>
              <a:ea typeface="Calibri"/>
              <a:cs typeface="Calibri"/>
              <a:sym typeface="Calibri"/>
            </a:endParaRPr>
          </a:p>
        </p:txBody>
      </p:sp>
      <p:sp>
        <p:nvSpPr>
          <p:cNvPr id="122" name="Google Shape;122;p17"/>
          <p:cNvSpPr/>
          <p:nvPr/>
        </p:nvSpPr>
        <p:spPr>
          <a:xfrm>
            <a:off x="548640" y="5349240"/>
            <a:ext cx="10881300" cy="841200"/>
          </a:xfrm>
          <a:prstGeom prst="roundRect">
            <a:avLst>
              <a:gd fmla="val 8696" name="adj"/>
            </a:avLst>
          </a:prstGeom>
          <a:solidFill>
            <a:srgbClr val="E8EEF7"/>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713232" y="5495544"/>
            <a:ext cx="548700" cy="548700"/>
          </a:xfrm>
          <a:prstGeom prst="roundRect">
            <a:avLst>
              <a:gd fmla="val 50000" name="adj"/>
            </a:avLst>
          </a:prstGeom>
          <a:solidFill>
            <a:srgbClr val="0F2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txBox="1"/>
          <p:nvPr/>
        </p:nvSpPr>
        <p:spPr>
          <a:xfrm>
            <a:off x="713232" y="5605272"/>
            <a:ext cx="548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5</a:t>
            </a:r>
            <a:endParaRPr b="0" i="0" sz="1500" u="none" cap="none" strike="noStrike">
              <a:solidFill>
                <a:schemeClr val="dk1"/>
              </a:solidFill>
              <a:latin typeface="Calibri"/>
              <a:ea typeface="Calibri"/>
              <a:cs typeface="Calibri"/>
              <a:sym typeface="Calibri"/>
            </a:endParaRPr>
          </a:p>
        </p:txBody>
      </p:sp>
      <p:sp>
        <p:nvSpPr>
          <p:cNvPr id="125" name="Google Shape;125;p17"/>
          <p:cNvSpPr txBox="1"/>
          <p:nvPr/>
        </p:nvSpPr>
        <p:spPr>
          <a:xfrm>
            <a:off x="1417320" y="5477256"/>
            <a:ext cx="228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500"/>
              <a:buFont typeface="Sora"/>
              <a:buNone/>
            </a:pPr>
            <a:r>
              <a:rPr b="1" i="0" lang="en-US" sz="1500" u="none" cap="none" strike="noStrike">
                <a:solidFill>
                  <a:srgbClr val="0F2C5C"/>
                </a:solidFill>
                <a:latin typeface="Sora"/>
                <a:ea typeface="Sora"/>
                <a:cs typeface="Sora"/>
                <a:sym typeface="Sora"/>
              </a:rPr>
              <a:t>University Shortlister</a:t>
            </a:r>
            <a:endParaRPr b="0" i="0" sz="1500" u="none" cap="none" strike="noStrike">
              <a:solidFill>
                <a:schemeClr val="dk1"/>
              </a:solidFill>
              <a:latin typeface="Calibri"/>
              <a:ea typeface="Calibri"/>
              <a:cs typeface="Calibri"/>
              <a:sym typeface="Calibri"/>
            </a:endParaRPr>
          </a:p>
        </p:txBody>
      </p:sp>
      <p:sp>
        <p:nvSpPr>
          <p:cNvPr id="126" name="Google Shape;126;p17"/>
          <p:cNvSpPr txBox="1"/>
          <p:nvPr/>
        </p:nvSpPr>
        <p:spPr>
          <a:xfrm>
            <a:off x="1417320" y="5806440"/>
            <a:ext cx="22860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18,752  sessions  ·  12%</a:t>
            </a:r>
            <a:endParaRPr b="0" i="0" sz="1100" u="none" cap="none" strike="noStrike">
              <a:solidFill>
                <a:schemeClr val="dk1"/>
              </a:solidFill>
              <a:latin typeface="Calibri"/>
              <a:ea typeface="Calibri"/>
              <a:cs typeface="Calibri"/>
              <a:sym typeface="Calibri"/>
            </a:endParaRPr>
          </a:p>
        </p:txBody>
      </p:sp>
      <p:sp>
        <p:nvSpPr>
          <p:cNvPr id="127" name="Google Shape;127;p17"/>
          <p:cNvSpPr txBox="1"/>
          <p:nvPr/>
        </p:nvSpPr>
        <p:spPr>
          <a:xfrm>
            <a:off x="3931920" y="5477256"/>
            <a:ext cx="3932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0" i="1" lang="en-US" sz="1300" u="none" cap="none" strike="noStrike">
                <a:solidFill>
                  <a:srgbClr val="0F2C5C"/>
                </a:solidFill>
                <a:latin typeface="Sora"/>
                <a:ea typeface="Sora"/>
                <a:cs typeface="Sora"/>
                <a:sym typeface="Sora"/>
              </a:rPr>
              <a:t>"Is this university right for me?"</a:t>
            </a:r>
            <a:endParaRPr b="0" i="0" sz="1300" u="none" cap="none" strike="noStrike">
              <a:solidFill>
                <a:schemeClr val="dk1"/>
              </a:solidFill>
              <a:latin typeface="Calibri"/>
              <a:ea typeface="Calibri"/>
              <a:cs typeface="Calibri"/>
              <a:sym typeface="Calibri"/>
            </a:endParaRPr>
          </a:p>
        </p:txBody>
      </p:sp>
      <p:sp>
        <p:nvSpPr>
          <p:cNvPr id="128" name="Google Shape;128;p17"/>
          <p:cNvSpPr txBox="1"/>
          <p:nvPr/>
        </p:nvSpPr>
        <p:spPr>
          <a:xfrm>
            <a:off x="3931920" y="5806440"/>
            <a:ext cx="39321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76.1% engagement · 3.33 views/session — best on site</a:t>
            </a:r>
            <a:endParaRPr b="0" i="0" sz="1100" u="none" cap="none" strike="noStrike">
              <a:solidFill>
                <a:schemeClr val="dk1"/>
              </a:solidFill>
              <a:latin typeface="Calibri"/>
              <a:ea typeface="Calibri"/>
              <a:cs typeface="Calibri"/>
              <a:sym typeface="Calibri"/>
            </a:endParaRPr>
          </a:p>
        </p:txBody>
      </p:sp>
      <p:sp>
        <p:nvSpPr>
          <p:cNvPr id="129" name="Google Shape;129;p17"/>
          <p:cNvSpPr/>
          <p:nvPr/>
        </p:nvSpPr>
        <p:spPr>
          <a:xfrm>
            <a:off x="8183880" y="5660136"/>
            <a:ext cx="940500" cy="219600"/>
          </a:xfrm>
          <a:prstGeom prst="rect">
            <a:avLst/>
          </a:prstGeom>
          <a:solidFill>
            <a:srgbClr val="0F2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7"/>
          <p:cNvSpPr/>
          <p:nvPr/>
        </p:nvSpPr>
        <p:spPr>
          <a:xfrm>
            <a:off x="8183880" y="5660136"/>
            <a:ext cx="2743200" cy="219600"/>
          </a:xfrm>
          <a:prstGeom prst="rect">
            <a:avLst/>
          </a:prstGeom>
          <a:solidFill>
            <a:srgbClr val="FFFFFF">
              <a:alpha val="0"/>
            </a:srgbClr>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txBox="1"/>
          <p:nvPr/>
        </p:nvSpPr>
        <p:spPr>
          <a:xfrm>
            <a:off x="11018520" y="5641848"/>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1" i="0" lang="en-US" sz="1100" u="none" cap="none" strike="noStrike">
                <a:solidFill>
                  <a:srgbClr val="5A6472"/>
                </a:solidFill>
                <a:latin typeface="Sora"/>
                <a:ea typeface="Sora"/>
                <a:cs typeface="Sora"/>
                <a:sym typeface="Sora"/>
              </a:rPr>
              <a:t>12%</a:t>
            </a:r>
            <a:endParaRPr b="0" i="0" sz="1100" u="none" cap="none" strike="noStrike">
              <a:solidFill>
                <a:schemeClr val="dk1"/>
              </a:solidFill>
              <a:latin typeface="Calibri"/>
              <a:ea typeface="Calibri"/>
              <a:cs typeface="Calibri"/>
              <a:sym typeface="Calibri"/>
            </a:endParaRPr>
          </a:p>
        </p:txBody>
      </p:sp>
      <p:sp>
        <p:nvSpPr>
          <p:cNvPr id="132" name="Google Shape;132;p17"/>
          <p:cNvSpPr txBox="1"/>
          <p:nvPr/>
        </p:nvSpPr>
        <p:spPr>
          <a:xfrm>
            <a:off x="548640" y="6355080"/>
            <a:ext cx="110643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0" i="0" lang="en-US" sz="900" u="none" cap="none" strike="noStrike">
                <a:solidFill>
                  <a:srgbClr val="96A1B0"/>
                </a:solidFill>
                <a:latin typeface="Sora"/>
                <a:ea typeface="Sora"/>
                <a:cs typeface="Sora"/>
                <a:sym typeface="Sora"/>
              </a:rPr>
              <a:t>Source: GA4 — Landing page + query string, 13 Jun – 10 Sept 2026. Excludes existing-student utility pages, news, research and pages under 20 sessions.</a:t>
            </a:r>
            <a:endParaRPr b="0" i="0" sz="900" u="none" cap="none" strike="noStrike">
              <a:solidFill>
                <a:schemeClr val="dk1"/>
              </a:solidFill>
              <a:latin typeface="Calibri"/>
              <a:ea typeface="Calibri"/>
              <a:cs typeface="Calibri"/>
              <a:sym typeface="Calibri"/>
            </a:endParaRPr>
          </a:p>
        </p:txBody>
      </p:sp>
      <p:sp>
        <p:nvSpPr>
          <p:cNvPr id="133" name="Rounded Rectangle 132"/>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WHAT USERS ACTUALLY DO  ·  PAGE PATH EXPLORATION</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Three movement patterns repeat across the site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Users rarely move forward. They round-trip, climb back up, or hop between the MREI, MRIIRS and MRU copies of a section</a:t>
            </a:r>
          </a:p>
        </p:txBody>
      </p:sp>
      <p:sp>
        <p:nvSpPr>
          <p:cNvPr id="5" name="Rounded Rectangle 4"/>
          <p:cNvSpPr/>
          <p:nvPr/>
        </p:nvSpPr>
        <p:spPr>
          <a:xfrm>
            <a:off x="548640" y="1508760"/>
            <a:ext cx="3566160" cy="484632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48640" cy="320040"/>
          </a:xfrm>
          <a:prstGeom prst="rect">
            <a:avLst/>
          </a:prstGeom>
          <a:noFill/>
        </p:spPr>
        <p:txBody>
          <a:bodyPr wrap="square" lIns="0" rIns="0" tIns="0" bIns="0" anchor="t">
            <a:spAutoFit/>
          </a:bodyPr>
          <a:lstStyle/>
          <a:p>
            <a:pPr algn="l"/>
            <a:r>
              <a:rPr sz="1600" b="1" i="0">
                <a:solidFill>
                  <a:srgbClr val="C8102E"/>
                </a:solidFill>
                <a:latin typeface="Sora"/>
              </a:rPr>
              <a:t>01</a:t>
            </a:r>
          </a:p>
        </p:txBody>
      </p:sp>
      <p:sp>
        <p:nvSpPr>
          <p:cNvPr id="7" name="TextBox 6"/>
          <p:cNvSpPr txBox="1"/>
          <p:nvPr/>
        </p:nvSpPr>
        <p:spPr>
          <a:xfrm>
            <a:off x="1234440" y="1700784"/>
            <a:ext cx="2743200" cy="274320"/>
          </a:xfrm>
          <a:prstGeom prst="rect">
            <a:avLst/>
          </a:prstGeom>
          <a:noFill/>
        </p:spPr>
        <p:txBody>
          <a:bodyPr wrap="square" lIns="0" rIns="0" tIns="0" bIns="0" anchor="t">
            <a:spAutoFit/>
          </a:bodyPr>
          <a:lstStyle/>
          <a:p>
            <a:pPr algn="l"/>
            <a:r>
              <a:rPr sz="1100" b="1" i="0">
                <a:solidFill>
                  <a:srgbClr val="0F2C5C"/>
                </a:solidFill>
                <a:latin typeface="Sora"/>
              </a:rPr>
              <a:t>ROUND-TRIP</a:t>
            </a:r>
          </a:p>
        </p:txBody>
      </p:sp>
      <p:sp>
        <p:nvSpPr>
          <p:cNvPr id="8" name="Rounded Rectangle 7"/>
          <p:cNvSpPr/>
          <p:nvPr/>
        </p:nvSpPr>
        <p:spPr>
          <a:xfrm>
            <a:off x="731520" y="2148840"/>
            <a:ext cx="883920" cy="457200"/>
          </a:xfrm>
          <a:prstGeom prst="roundRect">
            <a:avLst>
              <a:gd name="adj" fmla="val 3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883920" cy="457200"/>
          </a:xfrm>
          <a:prstGeom prst="rect">
            <a:avLst/>
          </a:prstGeom>
          <a:noFill/>
        </p:spPr>
        <p:txBody>
          <a:bodyPr wrap="square" lIns="0" rIns="0" tIns="0" bIns="0" anchor="ctr">
            <a:spAutoFit/>
          </a:bodyPr>
          <a:lstStyle/>
          <a:p>
            <a:pPr algn="ctr"/>
            <a:r>
              <a:rPr sz="850" b="1" i="0">
                <a:solidFill>
                  <a:srgbClr val="FFFFFF"/>
                </a:solidFill>
                <a:latin typeface="Sora"/>
              </a:rPr>
              <a:t>B.Tech CSE</a:t>
            </a:r>
          </a:p>
        </p:txBody>
      </p:sp>
      <p:sp>
        <p:nvSpPr>
          <p:cNvPr id="10" name="Right Arrow 9"/>
          <p:cNvSpPr/>
          <p:nvPr/>
        </p:nvSpPr>
        <p:spPr>
          <a:xfrm>
            <a:off x="1652016" y="2286000"/>
            <a:ext cx="201168" cy="182880"/>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889759" y="2148840"/>
            <a:ext cx="883920" cy="457200"/>
          </a:xfrm>
          <a:prstGeom prst="roundRect">
            <a:avLst>
              <a:gd name="adj" fmla="val 3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89759" y="2148840"/>
            <a:ext cx="883920" cy="457200"/>
          </a:xfrm>
          <a:prstGeom prst="rect">
            <a:avLst/>
          </a:prstGeom>
          <a:noFill/>
        </p:spPr>
        <p:txBody>
          <a:bodyPr wrap="square" lIns="0" rIns="0" tIns="0" bIns="0" anchor="ctr">
            <a:spAutoFit/>
          </a:bodyPr>
          <a:lstStyle/>
          <a:p>
            <a:pPr algn="ctr"/>
            <a:r>
              <a:rPr sz="850" b="1" i="0">
                <a:solidFill>
                  <a:srgbClr val="FFFFFF"/>
                </a:solidFill>
                <a:latin typeface="Sora"/>
              </a:rPr>
              <a:t>Fee structure</a:t>
            </a:r>
          </a:p>
        </p:txBody>
      </p:sp>
      <p:sp>
        <p:nvSpPr>
          <p:cNvPr id="13" name="Right Arrow 12"/>
          <p:cNvSpPr/>
          <p:nvPr/>
        </p:nvSpPr>
        <p:spPr>
          <a:xfrm>
            <a:off x="2810256" y="2286000"/>
            <a:ext cx="201168" cy="182880"/>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47999" y="2148840"/>
            <a:ext cx="883920" cy="457200"/>
          </a:xfrm>
          <a:prstGeom prst="roundRect">
            <a:avLst>
              <a:gd name="adj" fmla="val 3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47999" y="2148840"/>
            <a:ext cx="883920" cy="457200"/>
          </a:xfrm>
          <a:prstGeom prst="rect">
            <a:avLst/>
          </a:prstGeom>
          <a:noFill/>
        </p:spPr>
        <p:txBody>
          <a:bodyPr wrap="square" lIns="0" rIns="0" tIns="0" bIns="0" anchor="ctr">
            <a:spAutoFit/>
          </a:bodyPr>
          <a:lstStyle/>
          <a:p>
            <a:pPr algn="ctr"/>
            <a:r>
              <a:rPr sz="850" b="1" i="0">
                <a:solidFill>
                  <a:srgbClr val="FFFFFF"/>
                </a:solidFill>
                <a:latin typeface="Sora"/>
              </a:rPr>
              <a:t>B.Tech CSE</a:t>
            </a:r>
          </a:p>
        </p:txBody>
      </p:sp>
      <p:sp>
        <p:nvSpPr>
          <p:cNvPr id="16" name="TextBox 15"/>
          <p:cNvSpPr txBox="1"/>
          <p:nvPr/>
        </p:nvSpPr>
        <p:spPr>
          <a:xfrm>
            <a:off x="731520" y="2834640"/>
            <a:ext cx="1143000" cy="365760"/>
          </a:xfrm>
          <a:prstGeom prst="rect">
            <a:avLst/>
          </a:prstGeom>
          <a:noFill/>
        </p:spPr>
        <p:txBody>
          <a:bodyPr wrap="square" lIns="0" rIns="0" tIns="0" bIns="0" anchor="t">
            <a:spAutoFit/>
          </a:bodyPr>
          <a:lstStyle/>
          <a:p>
            <a:pPr algn="l"/>
            <a:r>
              <a:rPr sz="1800" b="1" i="0">
                <a:solidFill>
                  <a:srgbClr val="C8102E"/>
                </a:solidFill>
                <a:latin typeface="Sora"/>
              </a:rPr>
              <a:t>84.3%</a:t>
            </a:r>
          </a:p>
        </p:txBody>
      </p:sp>
      <p:sp>
        <p:nvSpPr>
          <p:cNvPr id="17" name="TextBox 16"/>
          <p:cNvSpPr txBox="1"/>
          <p:nvPr/>
        </p:nvSpPr>
        <p:spPr>
          <a:xfrm>
            <a:off x="1874519" y="2852928"/>
            <a:ext cx="2103120" cy="566928"/>
          </a:xfrm>
          <a:prstGeom prst="rect">
            <a:avLst/>
          </a:prstGeom>
          <a:noFill/>
        </p:spPr>
        <p:txBody>
          <a:bodyPr wrap="square" lIns="0" rIns="0" tIns="0" bIns="0" anchor="t">
            <a:spAutoFit/>
          </a:bodyPr>
          <a:lstStyle/>
          <a:p>
            <a:pPr algn="l"/>
            <a:r>
              <a:rPr sz="850" b="0" i="0">
                <a:solidFill>
                  <a:srgbClr val="0F2C5C"/>
                </a:solidFill>
                <a:latin typeface="Sora"/>
              </a:rPr>
              <a:t>of onward movement from CSE goes to the fee page</a:t>
            </a:r>
          </a:p>
        </p:txBody>
      </p:sp>
      <p:sp>
        <p:nvSpPr>
          <p:cNvPr id="18" name="TextBox 17"/>
          <p:cNvSpPr txBox="1"/>
          <p:nvPr/>
        </p:nvSpPr>
        <p:spPr>
          <a:xfrm>
            <a:off x="731520" y="3493008"/>
            <a:ext cx="1143000" cy="365760"/>
          </a:xfrm>
          <a:prstGeom prst="rect">
            <a:avLst/>
          </a:prstGeom>
          <a:noFill/>
        </p:spPr>
        <p:txBody>
          <a:bodyPr wrap="square" lIns="0" rIns="0" tIns="0" bIns="0" anchor="t">
            <a:spAutoFit/>
          </a:bodyPr>
          <a:lstStyle/>
          <a:p>
            <a:pPr algn="l"/>
            <a:r>
              <a:rPr sz="1800" b="1" i="0">
                <a:solidFill>
                  <a:srgbClr val="C8102E"/>
                </a:solidFill>
                <a:latin typeface="Sora"/>
              </a:rPr>
              <a:t>99.3%</a:t>
            </a:r>
          </a:p>
        </p:txBody>
      </p:sp>
      <p:sp>
        <p:nvSpPr>
          <p:cNvPr id="19" name="TextBox 18"/>
          <p:cNvSpPr txBox="1"/>
          <p:nvPr/>
        </p:nvSpPr>
        <p:spPr>
          <a:xfrm>
            <a:off x="1874519" y="3511296"/>
            <a:ext cx="2103120" cy="566928"/>
          </a:xfrm>
          <a:prstGeom prst="rect">
            <a:avLst/>
          </a:prstGeom>
          <a:noFill/>
        </p:spPr>
        <p:txBody>
          <a:bodyPr wrap="square" lIns="0" rIns="0" tIns="0" bIns="0" anchor="t">
            <a:spAutoFit/>
          </a:bodyPr>
          <a:lstStyle/>
          <a:p>
            <a:pPr algn="l"/>
            <a:r>
              <a:rPr sz="850" b="0" i="0">
                <a:solidFill>
                  <a:srgbClr val="0F2C5C"/>
                </a:solidFill>
                <a:latin typeface="Sora"/>
              </a:rPr>
              <a:t>of movement from the fee page comes straight back</a:t>
            </a:r>
          </a:p>
        </p:txBody>
      </p:sp>
      <p:sp>
        <p:nvSpPr>
          <p:cNvPr id="20" name="TextBox 19"/>
          <p:cNvSpPr txBox="1"/>
          <p:nvPr/>
        </p:nvSpPr>
        <p:spPr>
          <a:xfrm>
            <a:off x="731520" y="4151376"/>
            <a:ext cx="1143000" cy="365760"/>
          </a:xfrm>
          <a:prstGeom prst="rect">
            <a:avLst/>
          </a:prstGeom>
          <a:noFill/>
        </p:spPr>
        <p:txBody>
          <a:bodyPr wrap="square" lIns="0" rIns="0" tIns="0" bIns="0" anchor="t">
            <a:spAutoFit/>
          </a:bodyPr>
          <a:lstStyle/>
          <a:p>
            <a:pPr algn="l"/>
            <a:r>
              <a:rPr sz="1800" b="1" i="0">
                <a:solidFill>
                  <a:srgbClr val="C8102E"/>
                </a:solidFill>
                <a:latin typeface="Sora"/>
              </a:rPr>
              <a:t>6</a:t>
            </a:r>
          </a:p>
        </p:txBody>
      </p:sp>
      <p:sp>
        <p:nvSpPr>
          <p:cNvPr id="21" name="TextBox 20"/>
          <p:cNvSpPr txBox="1"/>
          <p:nvPr/>
        </p:nvSpPr>
        <p:spPr>
          <a:xfrm>
            <a:off x="1874519" y="4169663"/>
            <a:ext cx="2103120" cy="566928"/>
          </a:xfrm>
          <a:prstGeom prst="rect">
            <a:avLst/>
          </a:prstGeom>
          <a:noFill/>
        </p:spPr>
        <p:txBody>
          <a:bodyPr wrap="square" lIns="0" rIns="0" tIns="0" bIns="0" anchor="t">
            <a:spAutoFit/>
          </a:bodyPr>
          <a:lstStyle/>
          <a:p>
            <a:pPr algn="l"/>
            <a:r>
              <a:rPr sz="850" b="0" i="0">
                <a:solidFill>
                  <a:srgbClr val="0F2C5C"/>
                </a:solidFill>
                <a:latin typeface="Sora"/>
              </a:rPr>
              <a:t>users continue anywhere after that</a:t>
            </a:r>
          </a:p>
        </p:txBody>
      </p:sp>
      <p:sp>
        <p:nvSpPr>
          <p:cNvPr id="22" name="Rounded Rectangle 21"/>
          <p:cNvSpPr/>
          <p:nvPr/>
        </p:nvSpPr>
        <p:spPr>
          <a:xfrm>
            <a:off x="731520" y="4937760"/>
            <a:ext cx="3200400" cy="123444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029200"/>
            <a:ext cx="2926080" cy="182880"/>
          </a:xfrm>
          <a:prstGeom prst="rect">
            <a:avLst/>
          </a:prstGeom>
          <a:noFill/>
        </p:spPr>
        <p:txBody>
          <a:bodyPr wrap="square" lIns="0" rIns="0" tIns="0" bIns="0" anchor="t">
            <a:spAutoFit/>
          </a:bodyPr>
          <a:lstStyle/>
          <a:p>
            <a:pPr algn="l"/>
            <a:r>
              <a:rPr sz="800" b="1" i="0">
                <a:solidFill>
                  <a:srgbClr val="CADCFC"/>
                </a:solidFill>
                <a:latin typeface="Sora"/>
              </a:rPr>
              <a:t>SO WHAT</a:t>
            </a:r>
          </a:p>
        </p:txBody>
      </p:sp>
      <p:sp>
        <p:nvSpPr>
          <p:cNvPr id="24" name="TextBox 23"/>
          <p:cNvSpPr txBox="1"/>
          <p:nvPr/>
        </p:nvSpPr>
        <p:spPr>
          <a:xfrm>
            <a:off x="868680" y="5257800"/>
            <a:ext cx="2926080" cy="868680"/>
          </a:xfrm>
          <a:prstGeom prst="rect">
            <a:avLst/>
          </a:prstGeom>
          <a:noFill/>
        </p:spPr>
        <p:txBody>
          <a:bodyPr wrap="square" lIns="0" rIns="0" tIns="0" bIns="0" anchor="t">
            <a:spAutoFit/>
          </a:bodyPr>
          <a:lstStyle/>
          <a:p>
            <a:pPr algn="l"/>
            <a:r>
              <a:rPr sz="1000" b="1" i="0">
                <a:solidFill>
                  <a:srgbClr val="FFFFFF"/>
                </a:solidFill>
                <a:latin typeface="Sora"/>
              </a:rPr>
              <a:t>The answer to the course decision lives on a different page — users fetch it and return.</a:t>
            </a:r>
          </a:p>
        </p:txBody>
      </p:sp>
      <p:sp>
        <p:nvSpPr>
          <p:cNvPr id="25" name="Rounded Rectangle 24"/>
          <p:cNvSpPr/>
          <p:nvPr/>
        </p:nvSpPr>
        <p:spPr>
          <a:xfrm>
            <a:off x="4297679" y="1508760"/>
            <a:ext cx="3566160" cy="484632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59" y="1645920"/>
            <a:ext cx="548640" cy="320040"/>
          </a:xfrm>
          <a:prstGeom prst="rect">
            <a:avLst/>
          </a:prstGeom>
          <a:noFill/>
        </p:spPr>
        <p:txBody>
          <a:bodyPr wrap="square" lIns="0" rIns="0" tIns="0" bIns="0" anchor="t">
            <a:spAutoFit/>
          </a:bodyPr>
          <a:lstStyle/>
          <a:p>
            <a:pPr algn="l"/>
            <a:r>
              <a:rPr sz="1600" b="1" i="0">
                <a:solidFill>
                  <a:srgbClr val="C8102E"/>
                </a:solidFill>
                <a:latin typeface="Sora"/>
              </a:rPr>
              <a:t>02</a:t>
            </a:r>
          </a:p>
        </p:txBody>
      </p:sp>
      <p:sp>
        <p:nvSpPr>
          <p:cNvPr id="27" name="TextBox 26"/>
          <p:cNvSpPr txBox="1"/>
          <p:nvPr/>
        </p:nvSpPr>
        <p:spPr>
          <a:xfrm>
            <a:off x="4983479" y="1700784"/>
            <a:ext cx="2743200" cy="274320"/>
          </a:xfrm>
          <a:prstGeom prst="rect">
            <a:avLst/>
          </a:prstGeom>
          <a:noFill/>
        </p:spPr>
        <p:txBody>
          <a:bodyPr wrap="square" lIns="0" rIns="0" tIns="0" bIns="0" anchor="t">
            <a:spAutoFit/>
          </a:bodyPr>
          <a:lstStyle/>
          <a:p>
            <a:pPr algn="l"/>
            <a:r>
              <a:rPr sz="1100" b="1" i="0">
                <a:solidFill>
                  <a:srgbClr val="0F2C5C"/>
                </a:solidFill>
                <a:latin typeface="Sora"/>
              </a:rPr>
              <a:t>CLIMB-BACK</a:t>
            </a:r>
          </a:p>
        </p:txBody>
      </p:sp>
      <p:sp>
        <p:nvSpPr>
          <p:cNvPr id="28" name="Rounded Rectangle 27"/>
          <p:cNvSpPr/>
          <p:nvPr/>
        </p:nvSpPr>
        <p:spPr>
          <a:xfrm>
            <a:off x="4480559" y="2148840"/>
            <a:ext cx="1463040" cy="457200"/>
          </a:xfrm>
          <a:prstGeom prst="roundRect">
            <a:avLst>
              <a:gd name="adj" fmla="val 3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59" y="2148840"/>
            <a:ext cx="1463040" cy="457200"/>
          </a:xfrm>
          <a:prstGeom prst="rect">
            <a:avLst/>
          </a:prstGeom>
          <a:noFill/>
        </p:spPr>
        <p:txBody>
          <a:bodyPr wrap="square" lIns="0" rIns="0" tIns="0" bIns="0" anchor="ctr">
            <a:spAutoFit/>
          </a:bodyPr>
          <a:lstStyle/>
          <a:p>
            <a:pPr algn="ctr"/>
            <a:r>
              <a:rPr sz="850" b="1" i="0">
                <a:solidFill>
                  <a:srgbClr val="FFFFFF"/>
                </a:solidFill>
                <a:latin typeface="Sora"/>
              </a:rPr>
              <a:t>B.Tech CSE</a:t>
            </a:r>
          </a:p>
        </p:txBody>
      </p:sp>
      <p:sp>
        <p:nvSpPr>
          <p:cNvPr id="30" name="Right Arrow 29"/>
          <p:cNvSpPr/>
          <p:nvPr/>
        </p:nvSpPr>
        <p:spPr>
          <a:xfrm>
            <a:off x="5980176" y="2286000"/>
            <a:ext cx="201168" cy="182880"/>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148840"/>
            <a:ext cx="1463040" cy="457200"/>
          </a:xfrm>
          <a:prstGeom prst="roundRect">
            <a:avLst>
              <a:gd name="adj" fmla="val 3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2148840"/>
            <a:ext cx="1463040" cy="457200"/>
          </a:xfrm>
          <a:prstGeom prst="rect">
            <a:avLst/>
          </a:prstGeom>
          <a:noFill/>
        </p:spPr>
        <p:txBody>
          <a:bodyPr wrap="square" lIns="0" rIns="0" tIns="0" bIns="0" anchor="ctr">
            <a:spAutoFit/>
          </a:bodyPr>
          <a:lstStyle/>
          <a:p>
            <a:pPr algn="ctr"/>
            <a:r>
              <a:rPr sz="850" b="1" i="0">
                <a:solidFill>
                  <a:srgbClr val="FFFFFF"/>
                </a:solidFill>
                <a:latin typeface="Sora"/>
              </a:rPr>
              <a:t>Listings · home</a:t>
            </a:r>
          </a:p>
        </p:txBody>
      </p:sp>
      <p:sp>
        <p:nvSpPr>
          <p:cNvPr id="33" name="TextBox 32"/>
          <p:cNvSpPr txBox="1"/>
          <p:nvPr/>
        </p:nvSpPr>
        <p:spPr>
          <a:xfrm>
            <a:off x="4480559" y="2834640"/>
            <a:ext cx="1143000" cy="365760"/>
          </a:xfrm>
          <a:prstGeom prst="rect">
            <a:avLst/>
          </a:prstGeom>
          <a:noFill/>
        </p:spPr>
        <p:txBody>
          <a:bodyPr wrap="square" lIns="0" rIns="0" tIns="0" bIns="0" anchor="t">
            <a:spAutoFit/>
          </a:bodyPr>
          <a:lstStyle/>
          <a:p>
            <a:pPr algn="l"/>
            <a:r>
              <a:rPr sz="1800" b="1" i="0">
                <a:solidFill>
                  <a:srgbClr val="C8102E"/>
                </a:solidFill>
                <a:latin typeface="Sora"/>
              </a:rPr>
              <a:t>491</a:t>
            </a:r>
          </a:p>
        </p:txBody>
      </p:sp>
      <p:sp>
        <p:nvSpPr>
          <p:cNvPr id="34" name="TextBox 33"/>
          <p:cNvSpPr txBox="1"/>
          <p:nvPr/>
        </p:nvSpPr>
        <p:spPr>
          <a:xfrm>
            <a:off x="5623559" y="2852928"/>
            <a:ext cx="2103120" cy="566928"/>
          </a:xfrm>
          <a:prstGeom prst="rect">
            <a:avLst/>
          </a:prstGeom>
          <a:noFill/>
        </p:spPr>
        <p:txBody>
          <a:bodyPr wrap="square" lIns="0" rIns="0" tIns="0" bIns="0" anchor="t">
            <a:spAutoFit/>
          </a:bodyPr>
          <a:lstStyle/>
          <a:p>
            <a:pPr algn="l"/>
            <a:r>
              <a:rPr sz="850" b="0" i="0">
                <a:solidFill>
                  <a:srgbClr val="0F2C5C"/>
                </a:solidFill>
                <a:latin typeface="Sora"/>
              </a:rPr>
              <a:t>next-step moves from CSE go up to UG listings (202 + 167), homepage (70), /mriirs (52)</a:t>
            </a:r>
          </a:p>
        </p:txBody>
      </p:sp>
      <p:sp>
        <p:nvSpPr>
          <p:cNvPr id="35" name="TextBox 34"/>
          <p:cNvSpPr txBox="1"/>
          <p:nvPr/>
        </p:nvSpPr>
        <p:spPr>
          <a:xfrm>
            <a:off x="4480559" y="3493008"/>
            <a:ext cx="1143000" cy="365760"/>
          </a:xfrm>
          <a:prstGeom prst="rect">
            <a:avLst/>
          </a:prstGeom>
          <a:noFill/>
        </p:spPr>
        <p:txBody>
          <a:bodyPr wrap="square" lIns="0" rIns="0" tIns="0" bIns="0" anchor="t">
            <a:spAutoFit/>
          </a:bodyPr>
          <a:lstStyle/>
          <a:p>
            <a:pPr algn="l"/>
            <a:r>
              <a:rPr sz="1800" b="1" i="0">
                <a:solidFill>
                  <a:srgbClr val="C8102E"/>
                </a:solidFill>
                <a:latin typeface="Sora"/>
              </a:rPr>
              <a:t>1,236</a:t>
            </a:r>
          </a:p>
        </p:txBody>
      </p:sp>
      <p:sp>
        <p:nvSpPr>
          <p:cNvPr id="36" name="TextBox 35"/>
          <p:cNvSpPr txBox="1"/>
          <p:nvPr/>
        </p:nvSpPr>
        <p:spPr>
          <a:xfrm>
            <a:off x="5623559" y="3511296"/>
            <a:ext cx="2103120" cy="566928"/>
          </a:xfrm>
          <a:prstGeom prst="rect">
            <a:avLst/>
          </a:prstGeom>
          <a:noFill/>
        </p:spPr>
        <p:txBody>
          <a:bodyPr wrap="square" lIns="0" rIns="0" tIns="0" bIns="0" anchor="t">
            <a:spAutoFit/>
          </a:bodyPr>
          <a:lstStyle/>
          <a:p>
            <a:pPr algn="l"/>
            <a:r>
              <a:rPr sz="850" b="0" i="0">
                <a:solidFill>
                  <a:srgbClr val="0F2C5C"/>
                </a:solidFill>
                <a:latin typeface="Sora"/>
              </a:rPr>
              <a:t>fee-page moves go to the homepage — its #2 next step</a:t>
            </a:r>
          </a:p>
        </p:txBody>
      </p:sp>
      <p:sp>
        <p:nvSpPr>
          <p:cNvPr id="37" name="TextBox 36"/>
          <p:cNvSpPr txBox="1"/>
          <p:nvPr/>
        </p:nvSpPr>
        <p:spPr>
          <a:xfrm>
            <a:off x="4480559" y="4151376"/>
            <a:ext cx="1143000" cy="365760"/>
          </a:xfrm>
          <a:prstGeom prst="rect">
            <a:avLst/>
          </a:prstGeom>
          <a:noFill/>
        </p:spPr>
        <p:txBody>
          <a:bodyPr wrap="square" lIns="0" rIns="0" tIns="0" bIns="0" anchor="t">
            <a:spAutoFit/>
          </a:bodyPr>
          <a:lstStyle/>
          <a:p>
            <a:pPr algn="l"/>
            <a:r>
              <a:rPr sz="1800" b="1" i="0">
                <a:solidFill>
                  <a:srgbClr val="C8102E"/>
                </a:solidFill>
                <a:latin typeface="Sora"/>
              </a:rPr>
              <a:t>673</a:t>
            </a:r>
          </a:p>
        </p:txBody>
      </p:sp>
      <p:sp>
        <p:nvSpPr>
          <p:cNvPr id="38" name="TextBox 37"/>
          <p:cNvSpPr txBox="1"/>
          <p:nvPr/>
        </p:nvSpPr>
        <p:spPr>
          <a:xfrm>
            <a:off x="5623559" y="4169663"/>
            <a:ext cx="2103120" cy="566928"/>
          </a:xfrm>
          <a:prstGeom prst="rect">
            <a:avLst/>
          </a:prstGeom>
          <a:noFill/>
        </p:spPr>
        <p:txBody>
          <a:bodyPr wrap="square" lIns="0" rIns="0" tIns="0" bIns="0" anchor="t">
            <a:spAutoFit/>
          </a:bodyPr>
          <a:lstStyle/>
          <a:p>
            <a:pPr algn="l"/>
            <a:r>
              <a:rPr sz="850" b="0" i="0">
                <a:solidFill>
                  <a:srgbClr val="0F2C5C"/>
                </a:solidFill>
                <a:latin typeface="Sora"/>
              </a:rPr>
              <a:t>moves from /mriirs go to the homepage</a:t>
            </a:r>
          </a:p>
        </p:txBody>
      </p:sp>
      <p:sp>
        <p:nvSpPr>
          <p:cNvPr id="39" name="Rounded Rectangle 38"/>
          <p:cNvSpPr/>
          <p:nvPr/>
        </p:nvSpPr>
        <p:spPr>
          <a:xfrm>
            <a:off x="4480559" y="4937760"/>
            <a:ext cx="3200400" cy="123444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17719" y="5029200"/>
            <a:ext cx="2926080" cy="182880"/>
          </a:xfrm>
          <a:prstGeom prst="rect">
            <a:avLst/>
          </a:prstGeom>
          <a:noFill/>
        </p:spPr>
        <p:txBody>
          <a:bodyPr wrap="square" lIns="0" rIns="0" tIns="0" bIns="0" anchor="t">
            <a:spAutoFit/>
          </a:bodyPr>
          <a:lstStyle/>
          <a:p>
            <a:pPr algn="l"/>
            <a:r>
              <a:rPr sz="800" b="1" i="0">
                <a:solidFill>
                  <a:srgbClr val="CADCFC"/>
                </a:solidFill>
                <a:latin typeface="Sora"/>
              </a:rPr>
              <a:t>SO WHAT</a:t>
            </a:r>
          </a:p>
        </p:txBody>
      </p:sp>
      <p:sp>
        <p:nvSpPr>
          <p:cNvPr id="41" name="TextBox 40"/>
          <p:cNvSpPr txBox="1"/>
          <p:nvPr/>
        </p:nvSpPr>
        <p:spPr>
          <a:xfrm>
            <a:off x="4617719" y="5257800"/>
            <a:ext cx="2926080" cy="868680"/>
          </a:xfrm>
          <a:prstGeom prst="rect">
            <a:avLst/>
          </a:prstGeom>
          <a:noFill/>
        </p:spPr>
        <p:txBody>
          <a:bodyPr wrap="square" lIns="0" rIns="0" tIns="0" bIns="0" anchor="t">
            <a:spAutoFit/>
          </a:bodyPr>
          <a:lstStyle/>
          <a:p>
            <a:pPr algn="l"/>
            <a:r>
              <a:rPr sz="1000" b="1" i="0">
                <a:solidFill>
                  <a:srgbClr val="FFFFFF"/>
                </a:solidFill>
                <a:latin typeface="Sora"/>
              </a:rPr>
              <a:t>When a page doesn’t offer the next step, users go back up the tree to look for it.</a:t>
            </a:r>
          </a:p>
        </p:txBody>
      </p:sp>
      <p:sp>
        <p:nvSpPr>
          <p:cNvPr id="42" name="Rounded Rectangle 41"/>
          <p:cNvSpPr/>
          <p:nvPr/>
        </p:nvSpPr>
        <p:spPr>
          <a:xfrm>
            <a:off x="8046719" y="1508760"/>
            <a:ext cx="3566160" cy="484632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599" y="1645920"/>
            <a:ext cx="548640" cy="320040"/>
          </a:xfrm>
          <a:prstGeom prst="rect">
            <a:avLst/>
          </a:prstGeom>
          <a:noFill/>
        </p:spPr>
        <p:txBody>
          <a:bodyPr wrap="square" lIns="0" rIns="0" tIns="0" bIns="0" anchor="t">
            <a:spAutoFit/>
          </a:bodyPr>
          <a:lstStyle/>
          <a:p>
            <a:pPr algn="l"/>
            <a:r>
              <a:rPr sz="1600" b="1" i="0">
                <a:solidFill>
                  <a:srgbClr val="C8102E"/>
                </a:solidFill>
                <a:latin typeface="Sora"/>
              </a:rPr>
              <a:t>03</a:t>
            </a:r>
          </a:p>
        </p:txBody>
      </p:sp>
      <p:sp>
        <p:nvSpPr>
          <p:cNvPr id="44" name="TextBox 43"/>
          <p:cNvSpPr txBox="1"/>
          <p:nvPr/>
        </p:nvSpPr>
        <p:spPr>
          <a:xfrm>
            <a:off x="8732519" y="1700784"/>
            <a:ext cx="2743200" cy="274320"/>
          </a:xfrm>
          <a:prstGeom prst="rect">
            <a:avLst/>
          </a:prstGeom>
          <a:noFill/>
        </p:spPr>
        <p:txBody>
          <a:bodyPr wrap="square" lIns="0" rIns="0" tIns="0" bIns="0" anchor="t">
            <a:spAutoFit/>
          </a:bodyPr>
          <a:lstStyle/>
          <a:p>
            <a:pPr algn="l"/>
            <a:r>
              <a:rPr sz="1100" b="1" i="0">
                <a:solidFill>
                  <a:srgbClr val="0F2C5C"/>
                </a:solidFill>
                <a:latin typeface="Sora"/>
              </a:rPr>
              <a:t>CROSS-BRAND HOP</a:t>
            </a:r>
          </a:p>
        </p:txBody>
      </p:sp>
      <p:sp>
        <p:nvSpPr>
          <p:cNvPr id="45" name="Rounded Rectangle 44"/>
          <p:cNvSpPr/>
          <p:nvPr/>
        </p:nvSpPr>
        <p:spPr>
          <a:xfrm>
            <a:off x="8229599" y="2148840"/>
            <a:ext cx="1463040" cy="457200"/>
          </a:xfrm>
          <a:prstGeom prst="roundRect">
            <a:avLst>
              <a:gd name="adj" fmla="val 3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599" y="2148840"/>
            <a:ext cx="1463040" cy="457200"/>
          </a:xfrm>
          <a:prstGeom prst="rect">
            <a:avLst/>
          </a:prstGeom>
          <a:noFill/>
        </p:spPr>
        <p:txBody>
          <a:bodyPr wrap="square" lIns="0" rIns="0" tIns="0" bIns="0" anchor="ctr">
            <a:spAutoFit/>
          </a:bodyPr>
          <a:lstStyle/>
          <a:p>
            <a:pPr algn="ctr"/>
            <a:r>
              <a:rPr sz="850" b="1" i="0">
                <a:solidFill>
                  <a:srgbClr val="FFFFFF"/>
                </a:solidFill>
                <a:latin typeface="Sora"/>
              </a:rPr>
              <a:t>MRIIRS</a:t>
            </a:r>
          </a:p>
        </p:txBody>
      </p:sp>
      <p:sp>
        <p:nvSpPr>
          <p:cNvPr id="47" name="Right Arrow 46"/>
          <p:cNvSpPr/>
          <p:nvPr/>
        </p:nvSpPr>
        <p:spPr>
          <a:xfrm>
            <a:off x="9729215" y="2286000"/>
            <a:ext cx="201168" cy="182880"/>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966959" y="2148840"/>
            <a:ext cx="1463040" cy="457200"/>
          </a:xfrm>
          <a:prstGeom prst="roundRect">
            <a:avLst>
              <a:gd name="adj" fmla="val 3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66959" y="2148840"/>
            <a:ext cx="1463040" cy="457200"/>
          </a:xfrm>
          <a:prstGeom prst="rect">
            <a:avLst/>
          </a:prstGeom>
          <a:noFill/>
        </p:spPr>
        <p:txBody>
          <a:bodyPr wrap="square" lIns="0" rIns="0" tIns="0" bIns="0" anchor="ctr">
            <a:spAutoFit/>
          </a:bodyPr>
          <a:lstStyle/>
          <a:p>
            <a:pPr algn="ctr"/>
            <a:r>
              <a:rPr sz="850" b="1" i="0">
                <a:solidFill>
                  <a:srgbClr val="FFFFFF"/>
                </a:solidFill>
                <a:latin typeface="Sora"/>
              </a:rPr>
              <a:t>MRU</a:t>
            </a:r>
          </a:p>
        </p:txBody>
      </p:sp>
      <p:sp>
        <p:nvSpPr>
          <p:cNvPr id="50" name="TextBox 49"/>
          <p:cNvSpPr txBox="1"/>
          <p:nvPr/>
        </p:nvSpPr>
        <p:spPr>
          <a:xfrm>
            <a:off x="8229599" y="2834640"/>
            <a:ext cx="1143000" cy="365760"/>
          </a:xfrm>
          <a:prstGeom prst="rect">
            <a:avLst/>
          </a:prstGeom>
          <a:noFill/>
        </p:spPr>
        <p:txBody>
          <a:bodyPr wrap="square" lIns="0" rIns="0" tIns="0" bIns="0" anchor="t">
            <a:spAutoFit/>
          </a:bodyPr>
          <a:lstStyle/>
          <a:p>
            <a:pPr algn="l"/>
            <a:r>
              <a:rPr sz="1800" b="1" i="0">
                <a:solidFill>
                  <a:srgbClr val="C8102E"/>
                </a:solidFill>
                <a:latin typeface="Sora"/>
              </a:rPr>
              <a:t>494</a:t>
            </a:r>
          </a:p>
        </p:txBody>
      </p:sp>
      <p:sp>
        <p:nvSpPr>
          <p:cNvPr id="51" name="TextBox 50"/>
          <p:cNvSpPr txBox="1"/>
          <p:nvPr/>
        </p:nvSpPr>
        <p:spPr>
          <a:xfrm>
            <a:off x="9372599" y="2852928"/>
            <a:ext cx="2103120" cy="566928"/>
          </a:xfrm>
          <a:prstGeom prst="rect">
            <a:avLst/>
          </a:prstGeom>
          <a:noFill/>
        </p:spPr>
        <p:txBody>
          <a:bodyPr wrap="square" lIns="0" rIns="0" tIns="0" bIns="0" anchor="t">
            <a:spAutoFit/>
          </a:bodyPr>
          <a:lstStyle/>
          <a:p>
            <a:pPr algn="l"/>
            <a:r>
              <a:rPr sz="850" b="0" i="0">
                <a:solidFill>
                  <a:srgbClr val="0F2C5C"/>
                </a:solidFill>
                <a:latin typeface="Sora"/>
              </a:rPr>
              <a:t>users jump from the MRIIRS fee page to the MRU fee page</a:t>
            </a:r>
          </a:p>
        </p:txBody>
      </p:sp>
      <p:sp>
        <p:nvSpPr>
          <p:cNvPr id="52" name="TextBox 51"/>
          <p:cNvSpPr txBox="1"/>
          <p:nvPr/>
        </p:nvSpPr>
        <p:spPr>
          <a:xfrm>
            <a:off x="8229599" y="3493008"/>
            <a:ext cx="1143000" cy="365760"/>
          </a:xfrm>
          <a:prstGeom prst="rect">
            <a:avLst/>
          </a:prstGeom>
          <a:noFill/>
        </p:spPr>
        <p:txBody>
          <a:bodyPr wrap="square" lIns="0" rIns="0" tIns="0" bIns="0" anchor="t">
            <a:spAutoFit/>
          </a:bodyPr>
          <a:lstStyle/>
          <a:p>
            <a:pPr algn="l"/>
            <a:r>
              <a:rPr sz="1800" b="1" i="0">
                <a:solidFill>
                  <a:srgbClr val="C8102E"/>
                </a:solidFill>
                <a:latin typeface="Sora"/>
              </a:rPr>
              <a:t>166</a:t>
            </a:r>
          </a:p>
        </p:txBody>
      </p:sp>
      <p:sp>
        <p:nvSpPr>
          <p:cNvPr id="53" name="TextBox 52"/>
          <p:cNvSpPr txBox="1"/>
          <p:nvPr/>
        </p:nvSpPr>
        <p:spPr>
          <a:xfrm>
            <a:off x="9372599" y="3511296"/>
            <a:ext cx="2103120" cy="566928"/>
          </a:xfrm>
          <a:prstGeom prst="rect">
            <a:avLst/>
          </a:prstGeom>
          <a:noFill/>
        </p:spPr>
        <p:txBody>
          <a:bodyPr wrap="square" lIns="0" rIns="0" tIns="0" bIns="0" anchor="t">
            <a:spAutoFit/>
          </a:bodyPr>
          <a:lstStyle/>
          <a:p>
            <a:pPr algn="l"/>
            <a:r>
              <a:rPr sz="850" b="0" i="0">
                <a:solidFill>
                  <a:srgbClr val="0F2C5C"/>
                </a:solidFill>
                <a:latin typeface="Sora"/>
              </a:rPr>
              <a:t>move from /mru to /mriirs</a:t>
            </a:r>
          </a:p>
        </p:txBody>
      </p:sp>
      <p:sp>
        <p:nvSpPr>
          <p:cNvPr id="54" name="TextBox 53"/>
          <p:cNvSpPr txBox="1"/>
          <p:nvPr/>
        </p:nvSpPr>
        <p:spPr>
          <a:xfrm>
            <a:off x="8229599" y="4151376"/>
            <a:ext cx="1143000" cy="365760"/>
          </a:xfrm>
          <a:prstGeom prst="rect">
            <a:avLst/>
          </a:prstGeom>
          <a:noFill/>
        </p:spPr>
        <p:txBody>
          <a:bodyPr wrap="square" lIns="0" rIns="0" tIns="0" bIns="0" anchor="t">
            <a:spAutoFit/>
          </a:bodyPr>
          <a:lstStyle/>
          <a:p>
            <a:pPr algn="l"/>
            <a:r>
              <a:rPr sz="1800" b="1" i="0">
                <a:solidFill>
                  <a:srgbClr val="C8102E"/>
                </a:solidFill>
                <a:latin typeface="Sora"/>
              </a:rPr>
              <a:t>167</a:t>
            </a:r>
          </a:p>
        </p:txBody>
      </p:sp>
      <p:sp>
        <p:nvSpPr>
          <p:cNvPr id="55" name="TextBox 54"/>
          <p:cNvSpPr txBox="1"/>
          <p:nvPr/>
        </p:nvSpPr>
        <p:spPr>
          <a:xfrm>
            <a:off x="9372599" y="4169663"/>
            <a:ext cx="2103120" cy="566928"/>
          </a:xfrm>
          <a:prstGeom prst="rect">
            <a:avLst/>
          </a:prstGeom>
          <a:noFill/>
        </p:spPr>
        <p:txBody>
          <a:bodyPr wrap="square" lIns="0" rIns="0" tIns="0" bIns="0" anchor="t">
            <a:spAutoFit/>
          </a:bodyPr>
          <a:lstStyle/>
          <a:p>
            <a:pPr algn="l"/>
            <a:r>
              <a:rPr sz="850" b="0" i="0">
                <a:solidFill>
                  <a:srgbClr val="0F2C5C"/>
                </a:solidFill>
                <a:latin typeface="Sora"/>
              </a:rPr>
              <a:t>move from B.Tech to /academics/undergraduate (MREI copy)</a:t>
            </a:r>
          </a:p>
        </p:txBody>
      </p:sp>
      <p:sp>
        <p:nvSpPr>
          <p:cNvPr id="56" name="Rounded Rectangle 55"/>
          <p:cNvSpPr/>
          <p:nvPr/>
        </p:nvSpPr>
        <p:spPr>
          <a:xfrm>
            <a:off x="8229599" y="4937760"/>
            <a:ext cx="3200400" cy="123444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66759" y="5029200"/>
            <a:ext cx="2926080" cy="182880"/>
          </a:xfrm>
          <a:prstGeom prst="rect">
            <a:avLst/>
          </a:prstGeom>
          <a:noFill/>
        </p:spPr>
        <p:txBody>
          <a:bodyPr wrap="square" lIns="0" rIns="0" tIns="0" bIns="0" anchor="t">
            <a:spAutoFit/>
          </a:bodyPr>
          <a:lstStyle/>
          <a:p>
            <a:pPr algn="l"/>
            <a:r>
              <a:rPr sz="800" b="1" i="0">
                <a:solidFill>
                  <a:srgbClr val="CADCFC"/>
                </a:solidFill>
                <a:latin typeface="Sora"/>
              </a:rPr>
              <a:t>SO WHAT</a:t>
            </a:r>
          </a:p>
        </p:txBody>
      </p:sp>
      <p:sp>
        <p:nvSpPr>
          <p:cNvPr id="58" name="TextBox 57"/>
          <p:cNvSpPr txBox="1"/>
          <p:nvPr/>
        </p:nvSpPr>
        <p:spPr>
          <a:xfrm>
            <a:off x="8366759" y="5257800"/>
            <a:ext cx="2926080" cy="868680"/>
          </a:xfrm>
          <a:prstGeom prst="rect">
            <a:avLst/>
          </a:prstGeom>
          <a:noFill/>
        </p:spPr>
        <p:txBody>
          <a:bodyPr wrap="square" lIns="0" rIns="0" tIns="0" bIns="0" anchor="t">
            <a:spAutoFit/>
          </a:bodyPr>
          <a:lstStyle/>
          <a:p>
            <a:pPr algn="l"/>
            <a:r>
              <a:rPr sz="1000" b="1" i="0">
                <a:solidFill>
                  <a:srgbClr val="FFFFFF"/>
                </a:solidFill>
                <a:latin typeface="Sora"/>
              </a:rPr>
              <a:t>Users are still choosing between institutions at the fee stage — the site makes them do it by hand.</a:t>
            </a:r>
          </a:p>
        </p:txBody>
      </p:sp>
      <p:sp>
        <p:nvSpPr>
          <p:cNvPr id="59" name="TextBox 58"/>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Percentages are shares of onward event movement, not of sessions.</a:t>
            </a:r>
          </a:p>
        </p:txBody>
      </p:sp>
      <p:sp>
        <p:nvSpPr>
          <p:cNvPr id="60" name="Rounded Rectangle 59"/>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C5C"/>
        </a:solidFill>
        <a:effectLst/>
      </p:bgPr>
    </p:bg>
    <p:spTree>
      <p:nvGrpSpPr>
        <p:cNvPr id="1" name=""/>
        <p:cNvGrpSpPr/>
        <p:nvPr/>
      </p:nvGrpSpPr>
      <p:grpSpPr/>
      <p:sp>
        <p:nvSpPr>
          <p:cNvPr id="2" name="TextBox 1"/>
          <p:cNvSpPr txBox="1"/>
          <p:nvPr/>
        </p:nvSpPr>
        <p:spPr>
          <a:xfrm>
            <a:off x="822960" y="2514600"/>
            <a:ext cx="2743200" cy="457200"/>
          </a:xfrm>
          <a:prstGeom prst="rect">
            <a:avLst/>
          </a:prstGeom>
          <a:noFill/>
        </p:spPr>
        <p:txBody>
          <a:bodyPr wrap="square" lIns="0" rIns="0" tIns="0" bIns="0" anchor="t">
            <a:spAutoFit/>
          </a:bodyPr>
          <a:lstStyle/>
          <a:p>
            <a:pPr algn="l"/>
            <a:r>
              <a:rPr sz="1600" b="1" i="0">
                <a:solidFill>
                  <a:srgbClr val="C8102E"/>
                </a:solidFill>
                <a:latin typeface="Sora"/>
              </a:rPr>
              <a:t>03</a:t>
            </a:r>
          </a:p>
        </p:txBody>
      </p:sp>
      <p:sp>
        <p:nvSpPr>
          <p:cNvPr id="3" name="TextBox 2"/>
          <p:cNvSpPr txBox="1"/>
          <p:nvPr/>
        </p:nvSpPr>
        <p:spPr>
          <a:xfrm>
            <a:off x="822960" y="2926080"/>
            <a:ext cx="10058400" cy="731520"/>
          </a:xfrm>
          <a:prstGeom prst="rect">
            <a:avLst/>
          </a:prstGeom>
          <a:noFill/>
        </p:spPr>
        <p:txBody>
          <a:bodyPr wrap="square" lIns="0" rIns="0" tIns="0" bIns="0" anchor="t">
            <a:spAutoFit/>
          </a:bodyPr>
          <a:lstStyle/>
          <a:p>
            <a:pPr algn="l"/>
            <a:r>
              <a:rPr sz="3400" b="1" i="0">
                <a:solidFill>
                  <a:srgbClr val="FFFFFF"/>
                </a:solidFill>
                <a:latin typeface="Sora"/>
              </a:rPr>
              <a:t>The five journeys</a:t>
            </a:r>
          </a:p>
        </p:txBody>
      </p:sp>
      <p:sp>
        <p:nvSpPr>
          <p:cNvPr id="4" name="TextBox 3"/>
          <p:cNvSpPr txBox="1"/>
          <p:nvPr/>
        </p:nvSpPr>
        <p:spPr>
          <a:xfrm>
            <a:off x="822960" y="3703320"/>
            <a:ext cx="9601200" cy="548640"/>
          </a:xfrm>
          <a:prstGeom prst="rect">
            <a:avLst/>
          </a:prstGeom>
          <a:noFill/>
        </p:spPr>
        <p:txBody>
          <a:bodyPr wrap="square" lIns="0" rIns="0" tIns="0" bIns="0" anchor="t">
            <a:spAutoFit/>
          </a:bodyPr>
          <a:lstStyle/>
          <a:p>
            <a:pPr algn="l"/>
            <a:r>
              <a:rPr sz="1400" b="0" i="0">
                <a:solidFill>
                  <a:srgbClr val="CADCFC"/>
                </a:solidFill>
                <a:latin typeface="Sora"/>
              </a:rPr>
              <a:t>For each persona: what we know, the page path, and the question the site fails to answer.</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C5C"/>
        </a:solidFill>
      </p:bgPr>
    </p:bg>
    <p:spTree>
      <p:nvGrpSpPr>
        <p:cNvPr id="340" name="Shape 340"/>
        <p:cNvGrpSpPr/>
        <p:nvPr/>
      </p:nvGrpSpPr>
      <p:grpSpPr>
        <a:xfrm>
          <a:off x="0" y="0"/>
          <a:ext cx="0" cy="0"/>
          <a:chOff x="0" y="0"/>
          <a:chExt cx="0" cy="0"/>
        </a:xfrm>
      </p:grpSpPr>
      <p:sp>
        <p:nvSpPr>
          <p:cNvPr id="341" name="Google Shape;341;p24"/>
          <p:cNvSpPr txBox="1"/>
          <p:nvPr/>
        </p:nvSpPr>
        <p:spPr>
          <a:xfrm>
            <a:off x="501015" y="3145490"/>
            <a:ext cx="10058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Sora"/>
              <a:buNone/>
            </a:pPr>
            <a:r>
              <a:rPr b="1" lang="en-US" sz="3200">
                <a:solidFill>
                  <a:srgbClr val="FFFFFF"/>
                </a:solidFill>
                <a:latin typeface="Sora"/>
                <a:ea typeface="Sora"/>
                <a:cs typeface="Sora"/>
                <a:sym typeface="Sora"/>
              </a:rPr>
              <a:t>Course Researcher</a:t>
            </a:r>
            <a:endParaRPr b="1" sz="3200">
              <a:solidFill>
                <a:srgbClr val="FFFFFF"/>
              </a:solidFill>
              <a:latin typeface="Sora"/>
              <a:ea typeface="Sora"/>
              <a:cs typeface="Sora"/>
              <a:sym typeface="Sora"/>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COURSE RESEARCHER  ·  WHAT WE KNOW</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The course page holds attention — but not the decision</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“What is this course, and is it worth it?” — B.Tech CSE, the highest-traffic course page on the site</a:t>
            </a:r>
          </a:p>
        </p:txBody>
      </p:sp>
      <p:sp>
        <p:nvSpPr>
          <p:cNvPr id="5" name="TextBox 4"/>
          <p:cNvSpPr txBox="1"/>
          <p:nvPr/>
        </p:nvSpPr>
        <p:spPr>
          <a:xfrm>
            <a:off x="548640" y="1554480"/>
            <a:ext cx="2377440" cy="182880"/>
          </a:xfrm>
          <a:prstGeom prst="rect">
            <a:avLst/>
          </a:prstGeom>
          <a:noFill/>
        </p:spPr>
        <p:txBody>
          <a:bodyPr wrap="square" lIns="0" rIns="0" tIns="0" bIns="0" anchor="t">
            <a:spAutoFit/>
          </a:bodyPr>
          <a:lstStyle/>
          <a:p>
            <a:pPr algn="l"/>
            <a:r>
              <a:rPr sz="800" b="1" i="0">
                <a:solidFill>
                  <a:srgbClr val="96A1B0"/>
                </a:solidFill>
                <a:latin typeface="Sora"/>
              </a:rPr>
              <a:t>METRIC</a:t>
            </a:r>
          </a:p>
        </p:txBody>
      </p:sp>
      <p:sp>
        <p:nvSpPr>
          <p:cNvPr id="6" name="TextBox 5"/>
          <p:cNvSpPr txBox="1"/>
          <p:nvPr/>
        </p:nvSpPr>
        <p:spPr>
          <a:xfrm>
            <a:off x="3154680" y="1554480"/>
            <a:ext cx="4114800" cy="182880"/>
          </a:xfrm>
          <a:prstGeom prst="rect">
            <a:avLst/>
          </a:prstGeom>
          <a:noFill/>
        </p:spPr>
        <p:txBody>
          <a:bodyPr wrap="square" lIns="0" rIns="0" tIns="0" bIns="0" anchor="t">
            <a:spAutoFit/>
          </a:bodyPr>
          <a:lstStyle/>
          <a:p>
            <a:pPr algn="l"/>
            <a:r>
              <a:rPr sz="800" b="1" i="0">
                <a:solidFill>
                  <a:srgbClr val="96A1B0"/>
                </a:solidFill>
                <a:latin typeface="Sora"/>
              </a:rPr>
              <a:t>WHAT USERS DO</a:t>
            </a:r>
          </a:p>
        </p:txBody>
      </p:sp>
      <p:sp>
        <p:nvSpPr>
          <p:cNvPr id="7" name="TextBox 6"/>
          <p:cNvSpPr txBox="1"/>
          <p:nvPr/>
        </p:nvSpPr>
        <p:spPr>
          <a:xfrm>
            <a:off x="7589520" y="1554480"/>
            <a:ext cx="3931920" cy="182880"/>
          </a:xfrm>
          <a:prstGeom prst="rect">
            <a:avLst/>
          </a:prstGeom>
          <a:noFill/>
        </p:spPr>
        <p:txBody>
          <a:bodyPr wrap="square" lIns="0" rIns="0" tIns="0" bIns="0" anchor="t">
            <a:spAutoFit/>
          </a:bodyPr>
          <a:lstStyle/>
          <a:p>
            <a:pPr algn="l"/>
            <a:r>
              <a:rPr sz="800" b="1" i="0">
                <a:solidFill>
                  <a:srgbClr val="96A1B0"/>
                </a:solidFill>
                <a:latin typeface="Sora"/>
              </a:rPr>
              <a:t>SO WHAT THIS TELLS US</a:t>
            </a:r>
          </a:p>
        </p:txBody>
      </p:sp>
      <p:sp>
        <p:nvSpPr>
          <p:cNvPr id="8" name="Rounded Rectangle 7"/>
          <p:cNvSpPr/>
          <p:nvPr/>
        </p:nvSpPr>
        <p:spPr>
          <a:xfrm>
            <a:off x="548640" y="180136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11095"/>
            <a:ext cx="2286000" cy="457200"/>
          </a:xfrm>
          <a:prstGeom prst="rect">
            <a:avLst/>
          </a:prstGeom>
          <a:noFill/>
        </p:spPr>
        <p:txBody>
          <a:bodyPr wrap="square" lIns="0" rIns="0" tIns="0" bIns="0" anchor="t">
            <a:spAutoFit/>
          </a:bodyPr>
          <a:lstStyle/>
          <a:p>
            <a:pPr algn="l"/>
            <a:r>
              <a:rPr sz="2400" b="1" i="0">
                <a:solidFill>
                  <a:srgbClr val="C8102E"/>
                </a:solidFill>
                <a:latin typeface="Sora"/>
              </a:rPr>
              <a:t>84.3%</a:t>
            </a:r>
          </a:p>
        </p:txBody>
      </p:sp>
      <p:sp>
        <p:nvSpPr>
          <p:cNvPr id="10" name="TextBox 9"/>
          <p:cNvSpPr txBox="1"/>
          <p:nvPr/>
        </p:nvSpPr>
        <p:spPr>
          <a:xfrm>
            <a:off x="731520" y="2368296"/>
            <a:ext cx="2240280" cy="365760"/>
          </a:xfrm>
          <a:prstGeom prst="rect">
            <a:avLst/>
          </a:prstGeom>
          <a:noFill/>
        </p:spPr>
        <p:txBody>
          <a:bodyPr wrap="square" lIns="0" rIns="0" tIns="0" bIns="0" anchor="t">
            <a:spAutoFit/>
          </a:bodyPr>
          <a:lstStyle/>
          <a:p>
            <a:pPr algn="l"/>
            <a:r>
              <a:rPr sz="850" b="0" i="0">
                <a:solidFill>
                  <a:srgbClr val="5A6472"/>
                </a:solidFill>
                <a:latin typeface="Sora"/>
              </a:rPr>
              <a:t>of onward movement from the CSE page goes to the fee structure page</a:t>
            </a:r>
          </a:p>
        </p:txBody>
      </p:sp>
      <p:sp>
        <p:nvSpPr>
          <p:cNvPr id="11" name="TextBox 10"/>
          <p:cNvSpPr txBox="1"/>
          <p:nvPr/>
        </p:nvSpPr>
        <p:spPr>
          <a:xfrm>
            <a:off x="3154680" y="1929384"/>
            <a:ext cx="4160520" cy="777240"/>
          </a:xfrm>
          <a:prstGeom prst="rect">
            <a:avLst/>
          </a:prstGeom>
          <a:noFill/>
        </p:spPr>
        <p:txBody>
          <a:bodyPr wrap="square" lIns="0" rIns="0" tIns="0" bIns="0" anchor="t">
            <a:spAutoFit/>
          </a:bodyPr>
          <a:lstStyle/>
          <a:p>
            <a:pPr algn="l"/>
            <a:r>
              <a:rPr sz="1050" b="0" i="0">
                <a:solidFill>
                  <a:srgbClr val="0F2C5C"/>
                </a:solidFill>
                <a:latin typeface="Sora"/>
              </a:rPr>
              <a:t>Users read the course page, then leave for one missing piece — the fee — and 99.3% come straight back.</a:t>
            </a:r>
          </a:p>
        </p:txBody>
      </p:sp>
      <p:sp>
        <p:nvSpPr>
          <p:cNvPr id="12" name="Right Arrow 11"/>
          <p:cNvSpPr/>
          <p:nvPr/>
        </p:nvSpPr>
        <p:spPr>
          <a:xfrm>
            <a:off x="7178040" y="218541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929384"/>
            <a:ext cx="3886200" cy="640080"/>
          </a:xfrm>
          <a:prstGeom prst="rect">
            <a:avLst/>
          </a:prstGeom>
          <a:noFill/>
        </p:spPr>
        <p:txBody>
          <a:bodyPr wrap="square" lIns="0" rIns="0" tIns="0" bIns="0" anchor="t">
            <a:spAutoFit/>
          </a:bodyPr>
          <a:lstStyle/>
          <a:p>
            <a:pPr algn="l"/>
            <a:r>
              <a:rPr sz="1050" b="1" i="0">
                <a:solidFill>
                  <a:srgbClr val="0F2C5C"/>
                </a:solidFill>
                <a:latin typeface="Sora"/>
              </a:rPr>
              <a:t>The fee question is being resolved outside the course context.</a:t>
            </a:r>
          </a:p>
        </p:txBody>
      </p:sp>
      <p:sp>
        <p:nvSpPr>
          <p:cNvPr id="14" name="Rounded Rectangle 13"/>
          <p:cNvSpPr/>
          <p:nvPr/>
        </p:nvSpPr>
        <p:spPr>
          <a:xfrm>
            <a:off x="10932566" y="2532888"/>
            <a:ext cx="607161"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32566" y="2532888"/>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16" name="Rounded Rectangle 15"/>
          <p:cNvSpPr/>
          <p:nvPr/>
        </p:nvSpPr>
        <p:spPr>
          <a:xfrm>
            <a:off x="548640" y="289864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08376"/>
            <a:ext cx="2286000" cy="457200"/>
          </a:xfrm>
          <a:prstGeom prst="rect">
            <a:avLst/>
          </a:prstGeom>
          <a:noFill/>
        </p:spPr>
        <p:txBody>
          <a:bodyPr wrap="square" lIns="0" rIns="0" tIns="0" bIns="0" anchor="t">
            <a:spAutoFit/>
          </a:bodyPr>
          <a:lstStyle/>
          <a:p>
            <a:pPr algn="l"/>
            <a:r>
              <a:rPr sz="2400" b="1" i="0">
                <a:solidFill>
                  <a:srgbClr val="C8102E"/>
                </a:solidFill>
                <a:latin typeface="Sora"/>
              </a:rPr>
              <a:t>516 vs 50</a:t>
            </a:r>
          </a:p>
        </p:txBody>
      </p:sp>
      <p:sp>
        <p:nvSpPr>
          <p:cNvPr id="18" name="TextBox 17"/>
          <p:cNvSpPr txBox="1"/>
          <p:nvPr/>
        </p:nvSpPr>
        <p:spPr>
          <a:xfrm>
            <a:off x="731520" y="3465576"/>
            <a:ext cx="2240280" cy="365760"/>
          </a:xfrm>
          <a:prstGeom prst="rect">
            <a:avLst/>
          </a:prstGeom>
          <a:noFill/>
        </p:spPr>
        <p:txBody>
          <a:bodyPr wrap="square" lIns="0" rIns="0" tIns="0" bIns="0" anchor="t">
            <a:spAutoFit/>
          </a:bodyPr>
          <a:lstStyle/>
          <a:p>
            <a:pPr algn="l"/>
            <a:r>
              <a:rPr sz="850" b="0" i="0">
                <a:solidFill>
                  <a:srgbClr val="5A6472"/>
                </a:solidFill>
                <a:latin typeface="Sora"/>
              </a:rPr>
              <a:t>file downloads vs Apply Now clicks on course pages (event counts)</a:t>
            </a:r>
          </a:p>
        </p:txBody>
      </p:sp>
      <p:sp>
        <p:nvSpPr>
          <p:cNvPr id="19" name="TextBox 18"/>
          <p:cNvSpPr txBox="1"/>
          <p:nvPr/>
        </p:nvSpPr>
        <p:spPr>
          <a:xfrm>
            <a:off x="3154680" y="3026664"/>
            <a:ext cx="4160520" cy="777240"/>
          </a:xfrm>
          <a:prstGeom prst="rect">
            <a:avLst/>
          </a:prstGeom>
          <a:noFill/>
        </p:spPr>
        <p:txBody>
          <a:bodyPr wrap="square" lIns="0" rIns="0" tIns="0" bIns="0" anchor="t">
            <a:spAutoFit/>
          </a:bodyPr>
          <a:lstStyle/>
          <a:p>
            <a:pPr algn="l"/>
            <a:r>
              <a:rPr sz="1050" b="0" i="0">
                <a:solidFill>
                  <a:srgbClr val="0F2C5C"/>
                </a:solidFill>
                <a:latin typeface="Sora"/>
              </a:rPr>
              <a:t>On course pages the download is the most-used action; Apply and form_start (64) trail far behind.</a:t>
            </a:r>
          </a:p>
        </p:txBody>
      </p:sp>
      <p:sp>
        <p:nvSpPr>
          <p:cNvPr id="20" name="Right Arrow 19"/>
          <p:cNvSpPr/>
          <p:nvPr/>
        </p:nvSpPr>
        <p:spPr>
          <a:xfrm>
            <a:off x="7178040" y="328269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3026664"/>
            <a:ext cx="3886200" cy="640080"/>
          </a:xfrm>
          <a:prstGeom prst="rect">
            <a:avLst/>
          </a:prstGeom>
          <a:noFill/>
        </p:spPr>
        <p:txBody>
          <a:bodyPr wrap="square" lIns="0" rIns="0" tIns="0" bIns="0" anchor="t">
            <a:spAutoFit/>
          </a:bodyPr>
          <a:lstStyle/>
          <a:p>
            <a:pPr algn="l"/>
            <a:r>
              <a:rPr sz="1050" b="1" i="0">
                <a:solidFill>
                  <a:srgbClr val="0F2C5C"/>
                </a:solidFill>
                <a:latin typeface="Sora"/>
              </a:rPr>
              <a:t>The brochure moment, not Apply, is where this persona is ready to act.</a:t>
            </a:r>
          </a:p>
        </p:txBody>
      </p:sp>
      <p:sp>
        <p:nvSpPr>
          <p:cNvPr id="22" name="Rounded Rectangle 21"/>
          <p:cNvSpPr/>
          <p:nvPr/>
        </p:nvSpPr>
        <p:spPr>
          <a:xfrm>
            <a:off x="11243462" y="3630168"/>
            <a:ext cx="296265"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43462" y="3630168"/>
            <a:ext cx="296265" cy="201168"/>
          </a:xfrm>
          <a:prstGeom prst="rect">
            <a:avLst/>
          </a:prstGeom>
          <a:noFill/>
        </p:spPr>
        <p:txBody>
          <a:bodyPr wrap="square" lIns="0" rIns="0" tIns="0" bIns="0" anchor="ctr">
            <a:spAutoFit/>
          </a:bodyPr>
          <a:lstStyle/>
          <a:p>
            <a:pPr algn="ctr"/>
            <a:r>
              <a:rPr sz="750" b="1" i="0">
                <a:solidFill>
                  <a:srgbClr val="C8102E"/>
                </a:solidFill>
                <a:latin typeface="Sora"/>
              </a:rPr>
              <a:t>CSV</a:t>
            </a:r>
          </a:p>
        </p:txBody>
      </p:sp>
      <p:sp>
        <p:nvSpPr>
          <p:cNvPr id="24" name="Rounded Rectangle 23"/>
          <p:cNvSpPr/>
          <p:nvPr/>
        </p:nvSpPr>
        <p:spPr>
          <a:xfrm>
            <a:off x="548640" y="399592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105656"/>
            <a:ext cx="2286000" cy="457200"/>
          </a:xfrm>
          <a:prstGeom prst="rect">
            <a:avLst/>
          </a:prstGeom>
          <a:noFill/>
        </p:spPr>
        <p:txBody>
          <a:bodyPr wrap="square" lIns="0" rIns="0" tIns="0" bIns="0" anchor="t">
            <a:spAutoFit/>
          </a:bodyPr>
          <a:lstStyle/>
          <a:p>
            <a:pPr algn="l"/>
            <a:r>
              <a:rPr sz="2400" b="1" i="0">
                <a:solidFill>
                  <a:srgbClr val="C8102E"/>
                </a:solidFill>
                <a:latin typeface="Sora"/>
              </a:rPr>
              <a:t>4</a:t>
            </a:r>
          </a:p>
        </p:txBody>
      </p:sp>
      <p:sp>
        <p:nvSpPr>
          <p:cNvPr id="26" name="TextBox 25"/>
          <p:cNvSpPr txBox="1"/>
          <p:nvPr/>
        </p:nvSpPr>
        <p:spPr>
          <a:xfrm>
            <a:off x="731520" y="4562856"/>
            <a:ext cx="2240280" cy="365760"/>
          </a:xfrm>
          <a:prstGeom prst="rect">
            <a:avLst/>
          </a:prstGeom>
          <a:noFill/>
        </p:spPr>
        <p:txBody>
          <a:bodyPr wrap="square" lIns="0" rIns="0" tIns="0" bIns="0" anchor="t">
            <a:spAutoFit/>
          </a:bodyPr>
          <a:lstStyle/>
          <a:p>
            <a:pPr algn="l"/>
            <a:r>
              <a:rPr sz="850" b="0" i="0">
                <a:solidFill>
                  <a:srgbClr val="5A6472"/>
                </a:solidFill>
                <a:latin typeface="Sora"/>
              </a:rPr>
              <a:t>phone-click events on course pages — 0.6% of all phone clicks, from 10.9% of landings</a:t>
            </a:r>
          </a:p>
        </p:txBody>
      </p:sp>
      <p:sp>
        <p:nvSpPr>
          <p:cNvPr id="27" name="TextBox 26"/>
          <p:cNvSpPr txBox="1"/>
          <p:nvPr/>
        </p:nvSpPr>
        <p:spPr>
          <a:xfrm>
            <a:off x="3154680" y="4123944"/>
            <a:ext cx="4160520" cy="777240"/>
          </a:xfrm>
          <a:prstGeom prst="rect">
            <a:avLst/>
          </a:prstGeom>
          <a:noFill/>
        </p:spPr>
        <p:txBody>
          <a:bodyPr wrap="square" lIns="0" rIns="0" tIns="0" bIns="0" anchor="t">
            <a:spAutoFit/>
          </a:bodyPr>
          <a:lstStyle/>
          <a:p>
            <a:pPr algn="l"/>
            <a:r>
              <a:rPr sz="1050" b="0" i="0">
                <a:solidFill>
                  <a:srgbClr val="0F2C5C"/>
                </a:solidFill>
                <a:latin typeface="Sora"/>
              </a:rPr>
              <a:t>Course Researchers self-serve. They almost never call from a course page.</a:t>
            </a:r>
          </a:p>
        </p:txBody>
      </p:sp>
      <p:sp>
        <p:nvSpPr>
          <p:cNvPr id="28" name="Right Arrow 27"/>
          <p:cNvSpPr/>
          <p:nvPr/>
        </p:nvSpPr>
        <p:spPr>
          <a:xfrm>
            <a:off x="7178040" y="437997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4123944"/>
            <a:ext cx="3886200" cy="640080"/>
          </a:xfrm>
          <a:prstGeom prst="rect">
            <a:avLst/>
          </a:prstGeom>
          <a:noFill/>
        </p:spPr>
        <p:txBody>
          <a:bodyPr wrap="square" lIns="0" rIns="0" tIns="0" bIns="0" anchor="t">
            <a:spAutoFit/>
          </a:bodyPr>
          <a:lstStyle/>
          <a:p>
            <a:pPr algn="l"/>
            <a:r>
              <a:rPr sz="1050" b="1" i="0">
                <a:solidFill>
                  <a:srgbClr val="0F2C5C"/>
                </a:solidFill>
                <a:latin typeface="Sora"/>
              </a:rPr>
              <a:t>A call CTA is not this persona’s next step; a document or a fee answer is.</a:t>
            </a:r>
          </a:p>
        </p:txBody>
      </p:sp>
      <p:sp>
        <p:nvSpPr>
          <p:cNvPr id="30" name="Rounded Rectangle 29"/>
          <p:cNvSpPr/>
          <p:nvPr/>
        </p:nvSpPr>
        <p:spPr>
          <a:xfrm>
            <a:off x="11243462" y="4727448"/>
            <a:ext cx="296265"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43462" y="4727448"/>
            <a:ext cx="296265" cy="201168"/>
          </a:xfrm>
          <a:prstGeom prst="rect">
            <a:avLst/>
          </a:prstGeom>
          <a:noFill/>
        </p:spPr>
        <p:txBody>
          <a:bodyPr wrap="square" lIns="0" rIns="0" tIns="0" bIns="0" anchor="ctr">
            <a:spAutoFit/>
          </a:bodyPr>
          <a:lstStyle/>
          <a:p>
            <a:pPr algn="ctr"/>
            <a:r>
              <a:rPr sz="750" b="1" i="0">
                <a:solidFill>
                  <a:srgbClr val="C8102E"/>
                </a:solidFill>
                <a:latin typeface="Sora"/>
              </a:rPr>
              <a:t>CSV</a:t>
            </a:r>
          </a:p>
        </p:txBody>
      </p:sp>
      <p:sp>
        <p:nvSpPr>
          <p:cNvPr id="32" name="Rounded Rectangle 31"/>
          <p:cNvSpPr/>
          <p:nvPr/>
        </p:nvSpPr>
        <p:spPr>
          <a:xfrm>
            <a:off x="548640" y="509320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02936"/>
            <a:ext cx="2286000" cy="457200"/>
          </a:xfrm>
          <a:prstGeom prst="rect">
            <a:avLst/>
          </a:prstGeom>
          <a:noFill/>
        </p:spPr>
        <p:txBody>
          <a:bodyPr wrap="square" lIns="0" rIns="0" tIns="0" bIns="0" anchor="t">
            <a:spAutoFit/>
          </a:bodyPr>
          <a:lstStyle/>
          <a:p>
            <a:pPr algn="l"/>
            <a:r>
              <a:rPr sz="2400" b="1" i="0">
                <a:solidFill>
                  <a:srgbClr val="C8102E"/>
                </a:solidFill>
                <a:latin typeface="Sora"/>
              </a:rPr>
              <a:t>~13 screens</a:t>
            </a:r>
          </a:p>
        </p:txBody>
      </p:sp>
      <p:sp>
        <p:nvSpPr>
          <p:cNvPr id="34" name="TextBox 33"/>
          <p:cNvSpPr txBox="1"/>
          <p:nvPr/>
        </p:nvSpPr>
        <p:spPr>
          <a:xfrm>
            <a:off x="731520" y="5660136"/>
            <a:ext cx="2240280" cy="365760"/>
          </a:xfrm>
          <a:prstGeom prst="rect">
            <a:avLst/>
          </a:prstGeom>
          <a:noFill/>
        </p:spPr>
        <p:txBody>
          <a:bodyPr wrap="square" lIns="0" rIns="0" tIns="0" bIns="0" anchor="t">
            <a:spAutoFit/>
          </a:bodyPr>
          <a:lstStyle/>
          <a:p>
            <a:pPr algn="l"/>
            <a:r>
              <a:rPr sz="850" b="0" i="0">
                <a:solidFill>
                  <a:srgbClr val="5A6472"/>
                </a:solidFill>
                <a:latin typeface="Sora"/>
              </a:rPr>
              <a:t>down: where the CSE page already states “Course fee (first year) INR 3,05,800”</a:t>
            </a:r>
          </a:p>
        </p:txBody>
      </p:sp>
      <p:sp>
        <p:nvSpPr>
          <p:cNvPr id="35" name="TextBox 34"/>
          <p:cNvSpPr txBox="1"/>
          <p:nvPr/>
        </p:nvSpPr>
        <p:spPr>
          <a:xfrm>
            <a:off x="3154680" y="5221224"/>
            <a:ext cx="4160520" cy="777240"/>
          </a:xfrm>
          <a:prstGeom prst="rect">
            <a:avLst/>
          </a:prstGeom>
          <a:noFill/>
        </p:spPr>
        <p:txBody>
          <a:bodyPr wrap="square" lIns="0" rIns="0" tIns="0" bIns="0" anchor="t">
            <a:spAutoFit/>
          </a:bodyPr>
          <a:lstStyle/>
          <a:p>
            <a:pPr algn="l"/>
            <a:r>
              <a:rPr sz="1050" b="0" i="0">
                <a:solidFill>
                  <a:srgbClr val="0F2C5C"/>
                </a:solidFill>
                <a:latin typeface="Sora"/>
              </a:rPr>
              <a:t>The fee exists on the page — at 11,288px of a 16,456px mobile page. Specialisation fees and installments exist only on the fee table.</a:t>
            </a:r>
          </a:p>
        </p:txBody>
      </p:sp>
      <p:sp>
        <p:nvSpPr>
          <p:cNvPr id="36" name="Right Arrow 35"/>
          <p:cNvSpPr/>
          <p:nvPr/>
        </p:nvSpPr>
        <p:spPr>
          <a:xfrm>
            <a:off x="7178040" y="547725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0" y="5221224"/>
            <a:ext cx="3886200" cy="640080"/>
          </a:xfrm>
          <a:prstGeom prst="rect">
            <a:avLst/>
          </a:prstGeom>
          <a:noFill/>
        </p:spPr>
        <p:txBody>
          <a:bodyPr wrap="square" lIns="0" rIns="0" tIns="0" bIns="0" anchor="t">
            <a:spAutoFit/>
          </a:bodyPr>
          <a:lstStyle/>
          <a:p>
            <a:pPr algn="l"/>
            <a:r>
              <a:rPr sz="1050" b="1" i="0">
                <a:solidFill>
                  <a:srgbClr val="0F2C5C"/>
                </a:solidFill>
                <a:latin typeface="Sora"/>
              </a:rPr>
              <a:t>The gap is placement and completeness of the fee answer, not its absence.</a:t>
            </a:r>
          </a:p>
        </p:txBody>
      </p:sp>
      <p:sp>
        <p:nvSpPr>
          <p:cNvPr id="38" name="Rounded Rectangle 37"/>
          <p:cNvSpPr/>
          <p:nvPr/>
        </p:nvSpPr>
        <p:spPr>
          <a:xfrm>
            <a:off x="11119103" y="5824728"/>
            <a:ext cx="420624"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119103" y="5824728"/>
            <a:ext cx="420624" cy="201168"/>
          </a:xfrm>
          <a:prstGeom prst="rect">
            <a:avLst/>
          </a:prstGeom>
          <a:noFill/>
        </p:spPr>
        <p:txBody>
          <a:bodyPr wrap="square" lIns="0" rIns="0" tIns="0" bIns="0" anchor="ctr">
            <a:spAutoFit/>
          </a:bodyPr>
          <a:lstStyle/>
          <a:p>
            <a:pPr algn="ctr"/>
            <a:r>
              <a:rPr sz="750" b="1" i="0">
                <a:solidFill>
                  <a:srgbClr val="5A6472"/>
                </a:solidFill>
                <a:latin typeface="Sora"/>
              </a:rPr>
              <a:t>AUDIT</a:t>
            </a:r>
          </a:p>
        </p:txBody>
      </p:sp>
      <p:sp>
        <p:nvSpPr>
          <p:cNvPr id="40" name="TextBox 39"/>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GA4 event export by page type (event counts; separate pull, not directly comparable) · Live site audit, 24 Sept 2026.</a:t>
            </a:r>
          </a:p>
        </p:txBody>
      </p:sp>
      <p:sp>
        <p:nvSpPr>
          <p:cNvPr id="41" name="Rounded Rectangle 40"/>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COURSE RESEARCHER  ·  PAGE PATH</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Land → fetch the fee → come back → stop</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Page path from /mriirs/academics/btech-computer-science-and-engineering</a:t>
            </a:r>
          </a:p>
        </p:txBody>
      </p:sp>
      <p:sp>
        <p:nvSpPr>
          <p:cNvPr id="5" name="Rounded Rectangle 4"/>
          <p:cNvSpPr/>
          <p:nvPr/>
        </p:nvSpPr>
        <p:spPr>
          <a:xfrm>
            <a:off x="548640" y="1554480"/>
            <a:ext cx="2423160" cy="141732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64207"/>
            <a:ext cx="2148840" cy="182880"/>
          </a:xfrm>
          <a:prstGeom prst="rect">
            <a:avLst/>
          </a:prstGeom>
          <a:noFill/>
        </p:spPr>
        <p:txBody>
          <a:bodyPr wrap="square" lIns="0" rIns="0" tIns="0" bIns="0" anchor="t">
            <a:spAutoFit/>
          </a:bodyPr>
          <a:lstStyle/>
          <a:p>
            <a:pPr algn="l"/>
            <a:r>
              <a:rPr sz="850" b="1" i="0">
                <a:solidFill>
                  <a:srgbClr val="CADCFC"/>
                </a:solidFill>
                <a:latin typeface="Sora"/>
              </a:rPr>
              <a:t>LAND</a:t>
            </a:r>
          </a:p>
        </p:txBody>
      </p:sp>
      <p:sp>
        <p:nvSpPr>
          <p:cNvPr id="7" name="TextBox 6"/>
          <p:cNvSpPr txBox="1"/>
          <p:nvPr/>
        </p:nvSpPr>
        <p:spPr>
          <a:xfrm>
            <a:off x="685800" y="1856231"/>
            <a:ext cx="2148840" cy="228600"/>
          </a:xfrm>
          <a:prstGeom prst="rect">
            <a:avLst/>
          </a:prstGeom>
          <a:noFill/>
        </p:spPr>
        <p:txBody>
          <a:bodyPr wrap="square" lIns="0" rIns="0" tIns="0" bIns="0" anchor="t">
            <a:spAutoFit/>
          </a:bodyPr>
          <a:lstStyle/>
          <a:p>
            <a:pPr algn="l"/>
            <a:r>
              <a:rPr sz="950" b="1" i="0">
                <a:solidFill>
                  <a:srgbClr val="FFFFFF"/>
                </a:solidFill>
                <a:latin typeface="Sora"/>
              </a:rPr>
              <a:t>B.Tech CSE page</a:t>
            </a:r>
          </a:p>
        </p:txBody>
      </p:sp>
      <p:sp>
        <p:nvSpPr>
          <p:cNvPr id="8" name="TextBox 7"/>
          <p:cNvSpPr txBox="1"/>
          <p:nvPr/>
        </p:nvSpPr>
        <p:spPr>
          <a:xfrm>
            <a:off x="685800" y="2084831"/>
            <a:ext cx="2148840" cy="457200"/>
          </a:xfrm>
          <a:prstGeom prst="rect">
            <a:avLst/>
          </a:prstGeom>
          <a:noFill/>
        </p:spPr>
        <p:txBody>
          <a:bodyPr wrap="square" lIns="0" rIns="0" tIns="0" bIns="0" anchor="t">
            <a:spAutoFit/>
          </a:bodyPr>
          <a:lstStyle/>
          <a:p>
            <a:pPr algn="l"/>
            <a:r>
              <a:rPr sz="2600" b="1" i="0">
                <a:solidFill>
                  <a:srgbClr val="FFFFFF"/>
                </a:solidFill>
                <a:latin typeface="Sora"/>
              </a:rPr>
              <a:t>12,308</a:t>
            </a:r>
          </a:p>
        </p:txBody>
      </p:sp>
      <p:sp>
        <p:nvSpPr>
          <p:cNvPr id="9" name="TextBox 8"/>
          <p:cNvSpPr txBox="1"/>
          <p:nvPr/>
        </p:nvSpPr>
        <p:spPr>
          <a:xfrm>
            <a:off x="685800" y="2532888"/>
            <a:ext cx="2148840" cy="411480"/>
          </a:xfrm>
          <a:prstGeom prst="rect">
            <a:avLst/>
          </a:prstGeom>
          <a:noFill/>
        </p:spPr>
        <p:txBody>
          <a:bodyPr wrap="square" lIns="0" rIns="0" tIns="0" bIns="0" anchor="t">
            <a:spAutoFit/>
          </a:bodyPr>
          <a:lstStyle/>
          <a:p>
            <a:pPr algn="l"/>
            <a:r>
              <a:rPr sz="850" b="0" i="0">
                <a:solidFill>
                  <a:srgbClr val="FFFFFF"/>
                </a:solidFill>
                <a:latin typeface="Sora"/>
              </a:rPr>
              <a:t>landings on the course page</a:t>
            </a:r>
          </a:p>
        </p:txBody>
      </p:sp>
      <p:sp>
        <p:nvSpPr>
          <p:cNvPr id="10" name="Right Arrow 9"/>
          <p:cNvSpPr/>
          <p:nvPr/>
        </p:nvSpPr>
        <p:spPr>
          <a:xfrm>
            <a:off x="304495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554480"/>
            <a:ext cx="2423160" cy="14173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LEAVE</a:t>
            </a:r>
          </a:p>
        </p:txBody>
      </p:sp>
      <p:sp>
        <p:nvSpPr>
          <p:cNvPr id="13" name="TextBox 12"/>
          <p:cNvSpPr txBox="1"/>
          <p:nvPr/>
        </p:nvSpPr>
        <p:spPr>
          <a:xfrm>
            <a:off x="356616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Fee structure page</a:t>
            </a:r>
          </a:p>
        </p:txBody>
      </p:sp>
      <p:sp>
        <p:nvSpPr>
          <p:cNvPr id="14" name="TextBox 13"/>
          <p:cNvSpPr txBox="1"/>
          <p:nvPr/>
        </p:nvSpPr>
        <p:spPr>
          <a:xfrm>
            <a:off x="3566160" y="2084831"/>
            <a:ext cx="2148840" cy="457200"/>
          </a:xfrm>
          <a:prstGeom prst="rect">
            <a:avLst/>
          </a:prstGeom>
          <a:noFill/>
        </p:spPr>
        <p:txBody>
          <a:bodyPr wrap="square" lIns="0" rIns="0" tIns="0" bIns="0" anchor="t">
            <a:spAutoFit/>
          </a:bodyPr>
          <a:lstStyle/>
          <a:p>
            <a:pPr algn="l"/>
            <a:r>
              <a:rPr sz="2600" b="1" i="0">
                <a:solidFill>
                  <a:srgbClr val="0F2C5C"/>
                </a:solidFill>
                <a:latin typeface="Sora"/>
              </a:rPr>
              <a:t>84.3%</a:t>
            </a:r>
          </a:p>
        </p:txBody>
      </p:sp>
      <p:sp>
        <p:nvSpPr>
          <p:cNvPr id="15" name="TextBox 14"/>
          <p:cNvSpPr txBox="1"/>
          <p:nvPr/>
        </p:nvSpPr>
        <p:spPr>
          <a:xfrm>
            <a:off x="356616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of onward movement (7,010 events)</a:t>
            </a:r>
          </a:p>
        </p:txBody>
      </p:sp>
      <p:sp>
        <p:nvSpPr>
          <p:cNvPr id="16" name="Right Arrow 15"/>
          <p:cNvSpPr/>
          <p:nvPr/>
        </p:nvSpPr>
        <p:spPr>
          <a:xfrm>
            <a:off x="592531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59" y="1554480"/>
            <a:ext cx="2423160" cy="14173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RETURN</a:t>
            </a:r>
          </a:p>
        </p:txBody>
      </p:sp>
      <p:sp>
        <p:nvSpPr>
          <p:cNvPr id="19" name="TextBox 18"/>
          <p:cNvSpPr txBox="1"/>
          <p:nvPr/>
        </p:nvSpPr>
        <p:spPr>
          <a:xfrm>
            <a:off x="644652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Back to B.Tech CSE</a:t>
            </a:r>
          </a:p>
        </p:txBody>
      </p:sp>
      <p:sp>
        <p:nvSpPr>
          <p:cNvPr id="20" name="TextBox 19"/>
          <p:cNvSpPr txBox="1"/>
          <p:nvPr/>
        </p:nvSpPr>
        <p:spPr>
          <a:xfrm>
            <a:off x="6446520" y="2084831"/>
            <a:ext cx="2148840" cy="457200"/>
          </a:xfrm>
          <a:prstGeom prst="rect">
            <a:avLst/>
          </a:prstGeom>
          <a:noFill/>
        </p:spPr>
        <p:txBody>
          <a:bodyPr wrap="square" lIns="0" rIns="0" tIns="0" bIns="0" anchor="t">
            <a:spAutoFit/>
          </a:bodyPr>
          <a:lstStyle/>
          <a:p>
            <a:pPr algn="l"/>
            <a:r>
              <a:rPr sz="2600" b="1" i="0">
                <a:solidFill>
                  <a:srgbClr val="0F2C5C"/>
                </a:solidFill>
                <a:latin typeface="Sora"/>
              </a:rPr>
              <a:t>99.3%</a:t>
            </a:r>
          </a:p>
        </p:txBody>
      </p:sp>
      <p:sp>
        <p:nvSpPr>
          <p:cNvPr id="21" name="TextBox 20"/>
          <p:cNvSpPr txBox="1"/>
          <p:nvPr/>
        </p:nvSpPr>
        <p:spPr>
          <a:xfrm>
            <a:off x="644652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come straight back (6,964 events)</a:t>
            </a:r>
          </a:p>
        </p:txBody>
      </p:sp>
      <p:sp>
        <p:nvSpPr>
          <p:cNvPr id="22" name="Right Arrow 21"/>
          <p:cNvSpPr/>
          <p:nvPr/>
        </p:nvSpPr>
        <p:spPr>
          <a:xfrm>
            <a:off x="880567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89719" y="1554480"/>
            <a:ext cx="2423160" cy="141732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CONTINUE</a:t>
            </a:r>
          </a:p>
        </p:txBody>
      </p:sp>
      <p:sp>
        <p:nvSpPr>
          <p:cNvPr id="25" name="TextBox 24"/>
          <p:cNvSpPr txBox="1"/>
          <p:nvPr/>
        </p:nvSpPr>
        <p:spPr>
          <a:xfrm>
            <a:off x="932688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Anywhere else</a:t>
            </a:r>
          </a:p>
        </p:txBody>
      </p:sp>
      <p:sp>
        <p:nvSpPr>
          <p:cNvPr id="26" name="TextBox 25"/>
          <p:cNvSpPr txBox="1"/>
          <p:nvPr/>
        </p:nvSpPr>
        <p:spPr>
          <a:xfrm>
            <a:off x="9326880" y="2084831"/>
            <a:ext cx="2148840" cy="457200"/>
          </a:xfrm>
          <a:prstGeom prst="rect">
            <a:avLst/>
          </a:prstGeom>
          <a:noFill/>
        </p:spPr>
        <p:txBody>
          <a:bodyPr wrap="square" lIns="0" rIns="0" tIns="0" bIns="0" anchor="t">
            <a:spAutoFit/>
          </a:bodyPr>
          <a:lstStyle/>
          <a:p>
            <a:pPr algn="l"/>
            <a:r>
              <a:rPr sz="2600" b="1" i="0">
                <a:solidFill>
                  <a:srgbClr val="C8102E"/>
                </a:solidFill>
                <a:latin typeface="Sora"/>
              </a:rPr>
              <a:t>6</a:t>
            </a:r>
          </a:p>
        </p:txBody>
      </p:sp>
      <p:sp>
        <p:nvSpPr>
          <p:cNvPr id="27" name="TextBox 26"/>
          <p:cNvSpPr txBox="1"/>
          <p:nvPr/>
        </p:nvSpPr>
        <p:spPr>
          <a:xfrm>
            <a:off x="932688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users go anywhere at all after that</a:t>
            </a:r>
          </a:p>
        </p:txBody>
      </p:sp>
      <p:sp>
        <p:nvSpPr>
          <p:cNvPr id="28" name="Rounded Rectangle 27"/>
          <p:cNvSpPr/>
          <p:nvPr/>
        </p:nvSpPr>
        <p:spPr>
          <a:xfrm>
            <a:off x="548640" y="3154680"/>
            <a:ext cx="544068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246120"/>
            <a:ext cx="5166360" cy="182880"/>
          </a:xfrm>
          <a:prstGeom prst="rect">
            <a:avLst/>
          </a:prstGeom>
          <a:noFill/>
        </p:spPr>
        <p:txBody>
          <a:bodyPr wrap="square" lIns="0" rIns="0" tIns="0" bIns="0" anchor="t">
            <a:spAutoFit/>
          </a:bodyPr>
          <a:lstStyle/>
          <a:p>
            <a:pPr algn="l"/>
            <a:r>
              <a:rPr sz="800" b="1" i="0">
                <a:solidFill>
                  <a:srgbClr val="C8102E"/>
                </a:solidFill>
                <a:latin typeface="Sora"/>
              </a:rPr>
              <a:t>SIDE LEAK · CLIMB BACK</a:t>
            </a:r>
          </a:p>
        </p:txBody>
      </p:sp>
      <p:sp>
        <p:nvSpPr>
          <p:cNvPr id="30" name="TextBox 29"/>
          <p:cNvSpPr txBox="1"/>
          <p:nvPr/>
        </p:nvSpPr>
        <p:spPr>
          <a:xfrm>
            <a:off x="685800" y="3465576"/>
            <a:ext cx="5166360" cy="978407"/>
          </a:xfrm>
          <a:prstGeom prst="rect">
            <a:avLst/>
          </a:prstGeom>
          <a:noFill/>
        </p:spPr>
        <p:txBody>
          <a:bodyPr wrap="square" lIns="0" rIns="0" tIns="0" bIns="0" anchor="t">
            <a:spAutoFit/>
          </a:bodyPr>
          <a:lstStyle/>
          <a:p>
            <a:pPr algn="l"/>
            <a:r>
              <a:rPr sz="1050" b="0" i="0">
                <a:solidFill>
                  <a:srgbClr val="0F2C5C"/>
                </a:solidFill>
                <a:latin typeface="Sora"/>
              </a:rPr>
              <a:t>491 next-step moves from CSE go up, not forward: UG listings 202 + 167 · homepage 70 · /mriirs 52.</a:t>
            </a:r>
          </a:p>
        </p:txBody>
      </p:sp>
      <p:sp>
        <p:nvSpPr>
          <p:cNvPr id="31" name="Rounded Rectangle 30"/>
          <p:cNvSpPr/>
          <p:nvPr/>
        </p:nvSpPr>
        <p:spPr>
          <a:xfrm>
            <a:off x="5290718" y="3227832"/>
            <a:ext cx="607161"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90718" y="3227832"/>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33" name="Rounded Rectangle 32"/>
          <p:cNvSpPr/>
          <p:nvPr/>
        </p:nvSpPr>
        <p:spPr>
          <a:xfrm>
            <a:off x="6172200" y="3154680"/>
            <a:ext cx="544068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246120"/>
            <a:ext cx="5166360" cy="182880"/>
          </a:xfrm>
          <a:prstGeom prst="rect">
            <a:avLst/>
          </a:prstGeom>
          <a:noFill/>
        </p:spPr>
        <p:txBody>
          <a:bodyPr wrap="square" lIns="0" rIns="0" tIns="0" bIns="0" anchor="t">
            <a:spAutoFit/>
          </a:bodyPr>
          <a:lstStyle/>
          <a:p>
            <a:pPr algn="l"/>
            <a:r>
              <a:rPr sz="800" b="1" i="0">
                <a:solidFill>
                  <a:srgbClr val="C8102E"/>
                </a:solidFill>
                <a:latin typeface="Sora"/>
              </a:rPr>
              <a:t>ON THE PAGE TODAY</a:t>
            </a:r>
          </a:p>
        </p:txBody>
      </p:sp>
      <p:sp>
        <p:nvSpPr>
          <p:cNvPr id="35" name="TextBox 34"/>
          <p:cNvSpPr txBox="1"/>
          <p:nvPr/>
        </p:nvSpPr>
        <p:spPr>
          <a:xfrm>
            <a:off x="6309360" y="3465576"/>
            <a:ext cx="5166360" cy="978407"/>
          </a:xfrm>
          <a:prstGeom prst="rect">
            <a:avLst/>
          </a:prstGeom>
          <a:noFill/>
        </p:spPr>
        <p:txBody>
          <a:bodyPr wrap="square" lIns="0" rIns="0" tIns="0" bIns="0" anchor="t">
            <a:spAutoFit/>
          </a:bodyPr>
          <a:lstStyle/>
          <a:p>
            <a:pPr algn="l"/>
            <a:r>
              <a:rPr sz="1050" b="0" i="0">
                <a:solidFill>
                  <a:srgbClr val="0F2C5C"/>
                </a:solidFill>
                <a:latin typeface="Sora"/>
              </a:rPr>
              <a:t>A “Fee Details” block exists (INR 3,05,800, first year) at ~69% page depth. The table adds installments (1,85,900 + 1,19,900) and specialisation variants (3,33,800).</a:t>
            </a:r>
          </a:p>
        </p:txBody>
      </p:sp>
      <p:sp>
        <p:nvSpPr>
          <p:cNvPr id="36" name="Rounded Rectangle 35"/>
          <p:cNvSpPr/>
          <p:nvPr/>
        </p:nvSpPr>
        <p:spPr>
          <a:xfrm>
            <a:off x="11100815" y="3227832"/>
            <a:ext cx="420624"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100815" y="3227832"/>
            <a:ext cx="420624" cy="201168"/>
          </a:xfrm>
          <a:prstGeom prst="rect">
            <a:avLst/>
          </a:prstGeom>
          <a:noFill/>
        </p:spPr>
        <p:txBody>
          <a:bodyPr wrap="square" lIns="0" rIns="0" tIns="0" bIns="0" anchor="ctr">
            <a:spAutoFit/>
          </a:bodyPr>
          <a:lstStyle/>
          <a:p>
            <a:pPr algn="ctr"/>
            <a:r>
              <a:rPr sz="750" b="1" i="0">
                <a:solidFill>
                  <a:srgbClr val="5A6472"/>
                </a:solidFill>
                <a:latin typeface="Sora"/>
              </a:rPr>
              <a:t>AUDIT</a:t>
            </a:r>
          </a:p>
        </p:txBody>
      </p:sp>
      <p:sp>
        <p:nvSpPr>
          <p:cNvPr id="38" name="Rounded Rectangle 37"/>
          <p:cNvSpPr/>
          <p:nvPr/>
        </p:nvSpPr>
        <p:spPr>
          <a:xfrm>
            <a:off x="548640" y="4645152"/>
            <a:ext cx="3566160" cy="16916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782312"/>
            <a:ext cx="3200400" cy="182880"/>
          </a:xfrm>
          <a:prstGeom prst="rect">
            <a:avLst/>
          </a:prstGeom>
          <a:noFill/>
        </p:spPr>
        <p:txBody>
          <a:bodyPr wrap="square" lIns="0" rIns="0" tIns="0" bIns="0" anchor="t">
            <a:spAutoFit/>
          </a:bodyPr>
          <a:lstStyle/>
          <a:p>
            <a:pPr algn="l"/>
            <a:r>
              <a:rPr sz="850" b="1" i="0">
                <a:solidFill>
                  <a:srgbClr val="C8102E"/>
                </a:solidFill>
                <a:latin typeface="Sora"/>
              </a:rPr>
              <a:t>INTERPRETATION</a:t>
            </a:r>
          </a:p>
        </p:txBody>
      </p:sp>
      <p:sp>
        <p:nvSpPr>
          <p:cNvPr id="40" name="TextBox 39"/>
          <p:cNvSpPr txBox="1"/>
          <p:nvPr/>
        </p:nvSpPr>
        <p:spPr>
          <a:xfrm>
            <a:off x="731520" y="5029200"/>
            <a:ext cx="3200400" cy="1234440"/>
          </a:xfrm>
          <a:prstGeom prst="rect">
            <a:avLst/>
          </a:prstGeom>
          <a:noFill/>
        </p:spPr>
        <p:txBody>
          <a:bodyPr wrap="square" lIns="0" rIns="0" tIns="0" bIns="0" anchor="t">
            <a:spAutoFit/>
          </a:bodyPr>
          <a:lstStyle/>
          <a:p>
            <a:pPr algn="l"/>
            <a:r>
              <a:rPr sz="1000" b="0" i="0">
                <a:solidFill>
                  <a:srgbClr val="0F2C5C"/>
                </a:solidFill>
                <a:latin typeface="Sora"/>
              </a:rPr>
              <a:t>The page holds attention but doesn’t finish the decision: users leave for the fee, find it, return — and the journey ends. Because the page already states a first-year fee, the round-trip points to where and how completely the fee is answered.</a:t>
            </a:r>
          </a:p>
        </p:txBody>
      </p:sp>
      <p:sp>
        <p:nvSpPr>
          <p:cNvPr id="41" name="Rounded Rectangle 40"/>
          <p:cNvSpPr/>
          <p:nvPr/>
        </p:nvSpPr>
        <p:spPr>
          <a:xfrm>
            <a:off x="4297680" y="4645152"/>
            <a:ext cx="3566160" cy="169164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0560" y="4782312"/>
            <a:ext cx="3200400" cy="182880"/>
          </a:xfrm>
          <a:prstGeom prst="rect">
            <a:avLst/>
          </a:prstGeom>
          <a:noFill/>
        </p:spPr>
        <p:txBody>
          <a:bodyPr wrap="square" lIns="0" rIns="0" tIns="0" bIns="0" anchor="t">
            <a:spAutoFit/>
          </a:bodyPr>
          <a:lstStyle/>
          <a:p>
            <a:pPr algn="l"/>
            <a:r>
              <a:rPr sz="850" b="1" i="0">
                <a:solidFill>
                  <a:srgbClr val="CADCFC"/>
                </a:solidFill>
                <a:latin typeface="Sora"/>
              </a:rPr>
              <a:t>CRO QUESTION</a:t>
            </a:r>
          </a:p>
        </p:txBody>
      </p:sp>
      <p:sp>
        <p:nvSpPr>
          <p:cNvPr id="43" name="TextBox 42"/>
          <p:cNvSpPr txBox="1"/>
          <p:nvPr/>
        </p:nvSpPr>
        <p:spPr>
          <a:xfrm>
            <a:off x="4480560" y="5029200"/>
            <a:ext cx="3200400" cy="1234440"/>
          </a:xfrm>
          <a:prstGeom prst="rect">
            <a:avLst/>
          </a:prstGeom>
          <a:noFill/>
        </p:spPr>
        <p:txBody>
          <a:bodyPr wrap="square" lIns="0" rIns="0" tIns="0" bIns="0" anchor="t">
            <a:spAutoFit/>
          </a:bodyPr>
          <a:lstStyle/>
          <a:p>
            <a:pPr algn="l"/>
            <a:r>
              <a:rPr sz="1250" b="1" i="0">
                <a:solidFill>
                  <a:srgbClr val="FFFFFF"/>
                </a:solidFill>
                <a:latin typeface="Sora"/>
              </a:rPr>
              <a:t>Why does a page that already states the fee still send most onward movement to the fee table?</a:t>
            </a:r>
          </a:p>
        </p:txBody>
      </p:sp>
      <p:sp>
        <p:nvSpPr>
          <p:cNvPr id="44" name="Rounded Rectangle 43"/>
          <p:cNvSpPr/>
          <p:nvPr/>
        </p:nvSpPr>
        <p:spPr>
          <a:xfrm>
            <a:off x="8046719" y="4645152"/>
            <a:ext cx="3566160" cy="1691640"/>
          </a:xfrm>
          <a:prstGeom prst="roundRect">
            <a:avLst>
              <a:gd name="adj" fmla="val 6000"/>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0" y="4782312"/>
            <a:ext cx="3200400" cy="182880"/>
          </a:xfrm>
          <a:prstGeom prst="rect">
            <a:avLst/>
          </a:prstGeom>
          <a:noFill/>
        </p:spPr>
        <p:txBody>
          <a:bodyPr wrap="square" lIns="0" rIns="0" tIns="0" bIns="0" anchor="t">
            <a:spAutoFit/>
          </a:bodyPr>
          <a:lstStyle/>
          <a:p>
            <a:pPr algn="l"/>
            <a:r>
              <a:rPr sz="850" b="1" i="0">
                <a:solidFill>
                  <a:srgbClr val="C8102E"/>
                </a:solidFill>
                <a:latin typeface="Sora"/>
              </a:rPr>
              <a:t>OPPORTUNITY</a:t>
            </a:r>
          </a:p>
        </p:txBody>
      </p:sp>
      <p:sp>
        <p:nvSpPr>
          <p:cNvPr id="46" name="TextBox 45"/>
          <p:cNvSpPr txBox="1"/>
          <p:nvPr/>
        </p:nvSpPr>
        <p:spPr>
          <a:xfrm>
            <a:off x="8229600" y="5029200"/>
            <a:ext cx="3200400" cy="1234440"/>
          </a:xfrm>
          <a:prstGeom prst="rect">
            <a:avLst/>
          </a:prstGeom>
          <a:noFill/>
        </p:spPr>
        <p:txBody>
          <a:bodyPr wrap="square" lIns="0" rIns="0" tIns="0" bIns="0" anchor="t">
            <a:spAutoFit/>
          </a:bodyPr>
          <a:lstStyle/>
          <a:p>
            <a:pPr algn="l"/>
            <a:r>
              <a:rPr sz="1050" b="0" i="0">
                <a:solidFill>
                  <a:srgbClr val="0F2C5C"/>
                </a:solidFill>
                <a:latin typeface="Sora"/>
              </a:rPr>
              <a:t>A complete, programme-scoped fee summary — year 1, total, installments, specialisation variants — at decision height, with the next step beside it.</a:t>
            </a:r>
          </a:p>
        </p:txBody>
      </p:sp>
      <p:sp>
        <p:nvSpPr>
          <p:cNvPr id="47" name="TextBox 46"/>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Live site audit, 24 Sept 2026. Confirm whether the on-page fee block was live during the path period.</a:t>
            </a:r>
          </a:p>
        </p:txBody>
      </p:sp>
      <p:sp>
        <p:nvSpPr>
          <p:cNvPr id="48" name="Rounded Rectangle 47"/>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5"/>
          <p:cNvSpPr txBox="1"/>
          <p:nvPr/>
        </p:nvSpPr>
        <p:spPr>
          <a:xfrm>
            <a:off x="548640" y="411480"/>
            <a:ext cx="11064300" cy="56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F2C5C"/>
              </a:buClr>
              <a:buSzPts val="3100"/>
              <a:buFont typeface="Sora"/>
              <a:buNone/>
            </a:pPr>
            <a:r>
              <a:rPr b="1" lang="en-US" sz="3100">
                <a:solidFill>
                  <a:srgbClr val="0F2C5C"/>
                </a:solidFill>
                <a:latin typeface="Sora"/>
                <a:ea typeface="Sora"/>
                <a:cs typeface="Sora"/>
                <a:sym typeface="Sora"/>
              </a:rPr>
              <a:t>Course Researcher  ·  the journey on B.Tech CSE</a:t>
            </a:r>
            <a:endParaRPr b="0" i="0" sz="3200" u="none" cap="none" strike="noStrike">
              <a:solidFill>
                <a:schemeClr val="dk1"/>
              </a:solidFill>
              <a:latin typeface="Calibri"/>
              <a:ea typeface="Calibri"/>
              <a:cs typeface="Calibri"/>
              <a:sym typeface="Calibri"/>
            </a:endParaRPr>
          </a:p>
        </p:txBody>
      </p:sp>
      <p:sp>
        <p:nvSpPr>
          <p:cNvPr id="348" name="Google Shape;348;p25"/>
          <p:cNvSpPr txBox="1"/>
          <p:nvPr/>
        </p:nvSpPr>
        <p:spPr>
          <a:xfrm>
            <a:off x="548640" y="1005840"/>
            <a:ext cx="11064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500"/>
              <a:buFont typeface="Sora"/>
              <a:buNone/>
            </a:pPr>
            <a:r>
              <a:rPr b="0" i="0" lang="en-US" sz="1500" u="none" cap="none" strike="noStrike">
                <a:solidFill>
                  <a:srgbClr val="5A6472"/>
                </a:solidFill>
                <a:latin typeface="Sora"/>
                <a:ea typeface="Sora"/>
                <a:cs typeface="Sora"/>
                <a:sym typeface="Sora"/>
              </a:rPr>
              <a:t>B.Tech Computer Science — the highest-traffic course page on the site</a:t>
            </a:r>
            <a:endParaRPr b="0" i="0" sz="1500" u="none" cap="none" strike="noStrike">
              <a:solidFill>
                <a:schemeClr val="dk1"/>
              </a:solidFill>
              <a:latin typeface="Calibri"/>
              <a:ea typeface="Calibri"/>
              <a:cs typeface="Calibri"/>
              <a:sym typeface="Calibri"/>
            </a:endParaRPr>
          </a:p>
        </p:txBody>
      </p:sp>
      <p:sp>
        <p:nvSpPr>
          <p:cNvPr id="349" name="Google Shape;349;p25"/>
          <p:cNvSpPr/>
          <p:nvPr/>
        </p:nvSpPr>
        <p:spPr>
          <a:xfrm>
            <a:off x="7470219" y="4191000"/>
            <a:ext cx="4663500" cy="2148900"/>
          </a:xfrm>
          <a:prstGeom prst="roundRect">
            <a:avLst>
              <a:gd fmla="val 3404" name="adj"/>
            </a:avLst>
          </a:prstGeom>
          <a:solidFill>
            <a:srgbClr val="E8EEF7"/>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5"/>
          <p:cNvSpPr txBox="1"/>
          <p:nvPr/>
        </p:nvSpPr>
        <p:spPr>
          <a:xfrm>
            <a:off x="7680960" y="4221480"/>
            <a:ext cx="42063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AND AT THE END OF THAT JOURNEY</a:t>
            </a:r>
            <a:endParaRPr b="0" i="0" sz="1100" u="none" cap="none" strike="noStrike">
              <a:solidFill>
                <a:schemeClr val="dk1"/>
              </a:solidFill>
              <a:latin typeface="Calibri"/>
              <a:ea typeface="Calibri"/>
              <a:cs typeface="Calibri"/>
              <a:sym typeface="Calibri"/>
            </a:endParaRPr>
          </a:p>
        </p:txBody>
      </p:sp>
      <p:sp>
        <p:nvSpPr>
          <p:cNvPr id="351" name="Google Shape;351;p25"/>
          <p:cNvSpPr txBox="1"/>
          <p:nvPr/>
        </p:nvSpPr>
        <p:spPr>
          <a:xfrm>
            <a:off x="7698819" y="4712208"/>
            <a:ext cx="777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2300"/>
              <a:buFont typeface="Sora"/>
              <a:buNone/>
            </a:pPr>
            <a:r>
              <a:rPr b="1" lang="en-US" sz="2300">
                <a:solidFill>
                  <a:srgbClr val="0F2C5C"/>
                </a:solidFill>
                <a:latin typeface="Sora"/>
                <a:ea typeface="Sora"/>
                <a:cs typeface="Sora"/>
                <a:sym typeface="Sora"/>
              </a:rPr>
              <a:t>3</a:t>
            </a:r>
            <a:endParaRPr b="0" i="0" sz="2300" u="none" cap="none" strike="noStrike">
              <a:solidFill>
                <a:schemeClr val="dk1"/>
              </a:solidFill>
              <a:latin typeface="Calibri"/>
              <a:ea typeface="Calibri"/>
              <a:cs typeface="Calibri"/>
              <a:sym typeface="Calibri"/>
            </a:endParaRPr>
          </a:p>
        </p:txBody>
      </p:sp>
      <p:sp>
        <p:nvSpPr>
          <p:cNvPr id="352" name="Google Shape;352;p25"/>
          <p:cNvSpPr txBox="1"/>
          <p:nvPr/>
        </p:nvSpPr>
        <p:spPr>
          <a:xfrm>
            <a:off x="8521779" y="4803648"/>
            <a:ext cx="3383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form starts, in 90 days for Desktop</a:t>
            </a:r>
            <a:endParaRPr b="0" i="0" sz="1200" u="none" cap="none" strike="noStrike">
              <a:solidFill>
                <a:schemeClr val="dk1"/>
              </a:solidFill>
              <a:latin typeface="Calibri"/>
              <a:ea typeface="Calibri"/>
              <a:cs typeface="Calibri"/>
              <a:sym typeface="Calibri"/>
            </a:endParaRPr>
          </a:p>
        </p:txBody>
      </p:sp>
      <p:sp>
        <p:nvSpPr>
          <p:cNvPr id="353" name="Google Shape;353;p25"/>
          <p:cNvSpPr txBox="1"/>
          <p:nvPr/>
        </p:nvSpPr>
        <p:spPr>
          <a:xfrm>
            <a:off x="7698819" y="5215128"/>
            <a:ext cx="777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2300"/>
              <a:buFont typeface="Sora"/>
              <a:buNone/>
            </a:pPr>
            <a:r>
              <a:rPr b="1" i="0" lang="en-US" sz="1900" u="none" cap="none" strike="noStrike">
                <a:solidFill>
                  <a:srgbClr val="0F2C5C"/>
                </a:solidFill>
                <a:latin typeface="Sora"/>
                <a:ea typeface="Sora"/>
                <a:cs typeface="Sora"/>
                <a:sym typeface="Sora"/>
              </a:rPr>
              <a:t>5.90%</a:t>
            </a:r>
            <a:endParaRPr b="0" i="0" sz="1900" u="none" cap="none" strike="noStrike">
              <a:solidFill>
                <a:schemeClr val="dk1"/>
              </a:solidFill>
              <a:latin typeface="Calibri"/>
              <a:ea typeface="Calibri"/>
              <a:cs typeface="Calibri"/>
              <a:sym typeface="Calibri"/>
            </a:endParaRPr>
          </a:p>
        </p:txBody>
      </p:sp>
      <p:sp>
        <p:nvSpPr>
          <p:cNvPr id="354" name="Google Shape;354;p25"/>
          <p:cNvSpPr txBox="1"/>
          <p:nvPr/>
        </p:nvSpPr>
        <p:spPr>
          <a:xfrm>
            <a:off x="8557498" y="5306568"/>
            <a:ext cx="3383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lang="en-US" sz="1200">
                <a:solidFill>
                  <a:srgbClr val="0F2C5C"/>
                </a:solidFill>
                <a:latin typeface="Sora"/>
                <a:ea typeface="Sora"/>
                <a:cs typeface="Sora"/>
                <a:sym typeface="Sora"/>
              </a:rPr>
              <a:t>Users scrolling till 90% of the page</a:t>
            </a:r>
            <a:endParaRPr b="0" i="0" sz="1200" u="none" cap="none" strike="noStrike">
              <a:solidFill>
                <a:schemeClr val="dk1"/>
              </a:solidFill>
              <a:latin typeface="Calibri"/>
              <a:ea typeface="Calibri"/>
              <a:cs typeface="Calibri"/>
              <a:sym typeface="Calibri"/>
            </a:endParaRPr>
          </a:p>
        </p:txBody>
      </p:sp>
      <p:sp>
        <p:nvSpPr>
          <p:cNvPr id="355" name="Google Shape;355;p25"/>
          <p:cNvSpPr txBox="1"/>
          <p:nvPr/>
        </p:nvSpPr>
        <p:spPr>
          <a:xfrm>
            <a:off x="7698819" y="5718048"/>
            <a:ext cx="777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2300"/>
              <a:buFont typeface="Sora"/>
              <a:buNone/>
            </a:pPr>
            <a:r>
              <a:rPr b="1" lang="en-US" sz="2300">
                <a:solidFill>
                  <a:srgbClr val="0F2C5C"/>
                </a:solidFill>
                <a:latin typeface="Sora"/>
                <a:ea typeface="Sora"/>
                <a:cs typeface="Sora"/>
                <a:sym typeface="Sora"/>
              </a:rPr>
              <a:t>20</a:t>
            </a:r>
            <a:endParaRPr b="0" i="0" sz="2300" u="none" cap="none" strike="noStrike">
              <a:solidFill>
                <a:schemeClr val="dk1"/>
              </a:solidFill>
              <a:latin typeface="Calibri"/>
              <a:ea typeface="Calibri"/>
              <a:cs typeface="Calibri"/>
              <a:sym typeface="Calibri"/>
            </a:endParaRPr>
          </a:p>
        </p:txBody>
      </p:sp>
      <p:sp>
        <p:nvSpPr>
          <p:cNvPr id="356" name="Google Shape;356;p25"/>
          <p:cNvSpPr txBox="1"/>
          <p:nvPr/>
        </p:nvSpPr>
        <p:spPr>
          <a:xfrm>
            <a:off x="8521779" y="5809488"/>
            <a:ext cx="3383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lang="en-US" sz="1200">
                <a:solidFill>
                  <a:srgbClr val="0F2C5C"/>
                </a:solidFill>
                <a:latin typeface="Sora"/>
                <a:ea typeface="Sora"/>
                <a:cs typeface="Sora"/>
                <a:sym typeface="Sora"/>
              </a:rPr>
              <a:t>form starts, in 90 days for Mobile</a:t>
            </a:r>
            <a:endParaRPr b="0" i="0" sz="1200" u="none" cap="none" strike="noStrike">
              <a:solidFill>
                <a:schemeClr val="dk1"/>
              </a:solidFill>
              <a:latin typeface="Calibri"/>
              <a:ea typeface="Calibri"/>
              <a:cs typeface="Calibri"/>
              <a:sym typeface="Calibri"/>
            </a:endParaRPr>
          </a:p>
        </p:txBody>
      </p:sp>
      <p:sp>
        <p:nvSpPr>
          <p:cNvPr id="357" name="Google Shape;357;p25"/>
          <p:cNvSpPr txBox="1"/>
          <p:nvPr/>
        </p:nvSpPr>
        <p:spPr>
          <a:xfrm>
            <a:off x="9168893" y="338450"/>
            <a:ext cx="30231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0" i="0" lang="en-US" sz="900" u="none" cap="none" strike="noStrike">
                <a:solidFill>
                  <a:srgbClr val="96A1B0"/>
                </a:solidFill>
                <a:latin typeface="Sora"/>
                <a:ea typeface="Sora"/>
                <a:cs typeface="Sora"/>
                <a:sym typeface="Sora"/>
              </a:rPr>
              <a:t>Source: GA4 Path Exploration and Event Count, page path and screen class, 13 Jun – 10 Sept 2026. </a:t>
            </a:r>
            <a:endParaRPr b="0" i="0" sz="900" u="none" cap="none" strike="noStrike">
              <a:solidFill>
                <a:schemeClr val="dk1"/>
              </a:solidFill>
              <a:latin typeface="Calibri"/>
              <a:ea typeface="Calibri"/>
              <a:cs typeface="Calibri"/>
              <a:sym typeface="Calibri"/>
            </a:endParaRPr>
          </a:p>
        </p:txBody>
      </p:sp>
      <p:pic>
        <p:nvPicPr>
          <p:cNvPr id="358" name="Google Shape;358;p25"/>
          <p:cNvPicPr preferRelativeResize="0"/>
          <p:nvPr/>
        </p:nvPicPr>
        <p:blipFill>
          <a:blip r:embed="rId3">
            <a:alphaModFix/>
          </a:blip>
          <a:stretch>
            <a:fillRect/>
          </a:stretch>
        </p:blipFill>
        <p:spPr>
          <a:xfrm>
            <a:off x="453350" y="3237025"/>
            <a:ext cx="4752511" cy="3541300"/>
          </a:xfrm>
          <a:prstGeom prst="rect">
            <a:avLst/>
          </a:prstGeom>
          <a:noFill/>
          <a:ln>
            <a:noFill/>
          </a:ln>
        </p:spPr>
      </p:pic>
      <p:sp>
        <p:nvSpPr>
          <p:cNvPr id="359" name="Google Shape;359;p25"/>
          <p:cNvSpPr txBox="1"/>
          <p:nvPr/>
        </p:nvSpPr>
        <p:spPr>
          <a:xfrm>
            <a:off x="4661300" y="5214950"/>
            <a:ext cx="2469300" cy="12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latin typeface="Sora"/>
                <a:ea typeface="Sora"/>
                <a:cs typeface="Sora"/>
                <a:sym typeface="Sora"/>
              </a:rPr>
              <a:t>The ‘Apply Now’ button at the top of the page has highest visibility, yet has a very low click through rate</a:t>
            </a:r>
            <a:endParaRPr sz="1500">
              <a:latin typeface="Sora"/>
              <a:ea typeface="Sora"/>
              <a:cs typeface="Sora"/>
              <a:sym typeface="Sora"/>
            </a:endParaRPr>
          </a:p>
        </p:txBody>
      </p:sp>
      <p:cxnSp>
        <p:nvCxnSpPr>
          <p:cNvPr id="360" name="Google Shape;360;p25"/>
          <p:cNvCxnSpPr>
            <a:endCxn id="359" idx="0"/>
          </p:cNvCxnSpPr>
          <p:nvPr/>
        </p:nvCxnSpPr>
        <p:spPr>
          <a:xfrm>
            <a:off x="2017850" y="3857750"/>
            <a:ext cx="3878100" cy="1357200"/>
          </a:xfrm>
          <a:prstGeom prst="bentConnector2">
            <a:avLst/>
          </a:prstGeom>
          <a:noFill/>
          <a:ln cap="flat" cmpd="sng" w="9525">
            <a:solidFill>
              <a:schemeClr val="dk2"/>
            </a:solidFill>
            <a:prstDash val="solid"/>
            <a:round/>
            <a:headEnd len="med" w="med" type="none"/>
            <a:tailEnd len="med" w="med" type="none"/>
          </a:ln>
        </p:spPr>
      </p:cxnSp>
      <p:sp>
        <p:nvSpPr>
          <p:cNvPr id="361" name="Google Shape;361;p25"/>
          <p:cNvSpPr/>
          <p:nvPr/>
        </p:nvSpPr>
        <p:spPr>
          <a:xfrm>
            <a:off x="548640" y="1664208"/>
            <a:ext cx="2514300" cy="1234500"/>
          </a:xfrm>
          <a:prstGeom prst="roundRect">
            <a:avLst>
              <a:gd fmla="val 5926"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5"/>
          <p:cNvSpPr txBox="1"/>
          <p:nvPr/>
        </p:nvSpPr>
        <p:spPr>
          <a:xfrm>
            <a:off x="749808" y="1792224"/>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2700"/>
              <a:buFont typeface="Sora"/>
              <a:buNone/>
            </a:pPr>
            <a:r>
              <a:rPr b="1" i="0" lang="en-US" sz="2700" u="none" cap="none" strike="noStrike">
                <a:solidFill>
                  <a:srgbClr val="0F2C5C"/>
                </a:solidFill>
                <a:latin typeface="Sora"/>
                <a:ea typeface="Sora"/>
                <a:cs typeface="Sora"/>
                <a:sym typeface="Sora"/>
              </a:rPr>
              <a:t>67.9%</a:t>
            </a:r>
            <a:endParaRPr b="0" i="0" sz="2700" u="none" cap="none" strike="noStrike">
              <a:solidFill>
                <a:schemeClr val="dk1"/>
              </a:solidFill>
              <a:latin typeface="Calibri"/>
              <a:ea typeface="Calibri"/>
              <a:cs typeface="Calibri"/>
              <a:sym typeface="Calibri"/>
            </a:endParaRPr>
          </a:p>
        </p:txBody>
      </p:sp>
      <p:sp>
        <p:nvSpPr>
          <p:cNvPr id="363" name="Google Shape;363;p25"/>
          <p:cNvSpPr txBox="1"/>
          <p:nvPr/>
        </p:nvSpPr>
        <p:spPr>
          <a:xfrm>
            <a:off x="749808" y="2249424"/>
            <a:ext cx="21027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1" i="0" lang="en-US" sz="1200" u="none" cap="none" strike="noStrike">
                <a:solidFill>
                  <a:srgbClr val="0F2C5C"/>
                </a:solidFill>
                <a:latin typeface="Sora"/>
                <a:ea typeface="Sora"/>
                <a:cs typeface="Sora"/>
                <a:sym typeface="Sora"/>
              </a:rPr>
              <a:t>Engagement rate</a:t>
            </a:r>
            <a:endParaRPr b="0" i="0" sz="1200" u="none" cap="none" strike="noStrike">
              <a:solidFill>
                <a:schemeClr val="dk1"/>
              </a:solidFill>
              <a:latin typeface="Calibri"/>
              <a:ea typeface="Calibri"/>
              <a:cs typeface="Calibri"/>
              <a:sym typeface="Calibri"/>
            </a:endParaRPr>
          </a:p>
        </p:txBody>
      </p:sp>
      <p:sp>
        <p:nvSpPr>
          <p:cNvPr id="364" name="Google Shape;364;p25"/>
          <p:cNvSpPr txBox="1"/>
          <p:nvPr/>
        </p:nvSpPr>
        <p:spPr>
          <a:xfrm>
            <a:off x="749808" y="2523744"/>
            <a:ext cx="21027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vs 66.1% across scope</a:t>
            </a:r>
            <a:endParaRPr b="0" i="0" sz="1100" u="none" cap="none" strike="noStrike">
              <a:solidFill>
                <a:schemeClr val="dk1"/>
              </a:solidFill>
              <a:latin typeface="Calibri"/>
              <a:ea typeface="Calibri"/>
              <a:cs typeface="Calibri"/>
              <a:sym typeface="Calibri"/>
            </a:endParaRPr>
          </a:p>
        </p:txBody>
      </p:sp>
      <p:sp>
        <p:nvSpPr>
          <p:cNvPr id="365" name="Google Shape;365;p25"/>
          <p:cNvSpPr/>
          <p:nvPr/>
        </p:nvSpPr>
        <p:spPr>
          <a:xfrm>
            <a:off x="3291840" y="1664208"/>
            <a:ext cx="2514300" cy="1234500"/>
          </a:xfrm>
          <a:prstGeom prst="roundRect">
            <a:avLst>
              <a:gd fmla="val 5926"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txBox="1"/>
          <p:nvPr/>
        </p:nvSpPr>
        <p:spPr>
          <a:xfrm>
            <a:off x="3493008" y="1792224"/>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2700"/>
              <a:buFont typeface="Sora"/>
              <a:buNone/>
            </a:pPr>
            <a:r>
              <a:rPr b="1" i="0" lang="en-US" sz="2700" u="none" cap="none" strike="noStrike">
                <a:solidFill>
                  <a:srgbClr val="0F2C5C"/>
                </a:solidFill>
                <a:latin typeface="Sora"/>
                <a:ea typeface="Sora"/>
                <a:cs typeface="Sora"/>
                <a:sym typeface="Sora"/>
              </a:rPr>
              <a:t>32.1%</a:t>
            </a:r>
            <a:endParaRPr b="0" i="0" sz="2700" u="none" cap="none" strike="noStrike">
              <a:solidFill>
                <a:schemeClr val="dk1"/>
              </a:solidFill>
              <a:latin typeface="Calibri"/>
              <a:ea typeface="Calibri"/>
              <a:cs typeface="Calibri"/>
              <a:sym typeface="Calibri"/>
            </a:endParaRPr>
          </a:p>
        </p:txBody>
      </p:sp>
      <p:sp>
        <p:nvSpPr>
          <p:cNvPr id="367" name="Google Shape;367;p25"/>
          <p:cNvSpPr txBox="1"/>
          <p:nvPr/>
        </p:nvSpPr>
        <p:spPr>
          <a:xfrm>
            <a:off x="3493008" y="2249424"/>
            <a:ext cx="21027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1" i="0" lang="en-US" sz="1200" u="none" cap="none" strike="noStrike">
                <a:solidFill>
                  <a:srgbClr val="0F2C5C"/>
                </a:solidFill>
                <a:latin typeface="Sora"/>
                <a:ea typeface="Sora"/>
                <a:cs typeface="Sora"/>
                <a:sym typeface="Sora"/>
              </a:rPr>
              <a:t>Bounce rate</a:t>
            </a:r>
            <a:endParaRPr b="0" i="0" sz="1200" u="none" cap="none" strike="noStrike">
              <a:solidFill>
                <a:schemeClr val="dk1"/>
              </a:solidFill>
              <a:latin typeface="Calibri"/>
              <a:ea typeface="Calibri"/>
              <a:cs typeface="Calibri"/>
              <a:sym typeface="Calibri"/>
            </a:endParaRPr>
          </a:p>
        </p:txBody>
      </p:sp>
      <p:sp>
        <p:nvSpPr>
          <p:cNvPr id="368" name="Google Shape;368;p25"/>
          <p:cNvSpPr txBox="1"/>
          <p:nvPr/>
        </p:nvSpPr>
        <p:spPr>
          <a:xfrm>
            <a:off x="3493008" y="2523744"/>
            <a:ext cx="21027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vs 33.9% across scope</a:t>
            </a:r>
            <a:endParaRPr b="0" i="0" sz="1100" u="none" cap="none" strike="noStrike">
              <a:solidFill>
                <a:schemeClr val="dk1"/>
              </a:solidFill>
              <a:latin typeface="Calibri"/>
              <a:ea typeface="Calibri"/>
              <a:cs typeface="Calibri"/>
              <a:sym typeface="Calibri"/>
            </a:endParaRPr>
          </a:p>
        </p:txBody>
      </p:sp>
      <p:sp>
        <p:nvSpPr>
          <p:cNvPr id="369" name="Google Shape;369;p25"/>
          <p:cNvSpPr/>
          <p:nvPr/>
        </p:nvSpPr>
        <p:spPr>
          <a:xfrm>
            <a:off x="6035040" y="1664208"/>
            <a:ext cx="2514300" cy="1234500"/>
          </a:xfrm>
          <a:prstGeom prst="roundRect">
            <a:avLst>
              <a:gd fmla="val 5926"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5"/>
          <p:cNvSpPr txBox="1"/>
          <p:nvPr/>
        </p:nvSpPr>
        <p:spPr>
          <a:xfrm>
            <a:off x="6236208" y="1792224"/>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2700"/>
              <a:buFont typeface="Sora"/>
              <a:buNone/>
            </a:pPr>
            <a:r>
              <a:rPr b="1" i="0" lang="en-US" sz="2700" u="none" cap="none" strike="noStrike">
                <a:solidFill>
                  <a:srgbClr val="0F2C5C"/>
                </a:solidFill>
                <a:latin typeface="Sora"/>
                <a:ea typeface="Sora"/>
                <a:cs typeface="Sora"/>
                <a:sym typeface="Sora"/>
              </a:rPr>
              <a:t>2m 54s</a:t>
            </a:r>
            <a:endParaRPr b="0" i="0" sz="2700" u="none" cap="none" strike="noStrike">
              <a:solidFill>
                <a:schemeClr val="dk1"/>
              </a:solidFill>
              <a:latin typeface="Calibri"/>
              <a:ea typeface="Calibri"/>
              <a:cs typeface="Calibri"/>
              <a:sym typeface="Calibri"/>
            </a:endParaRPr>
          </a:p>
        </p:txBody>
      </p:sp>
      <p:sp>
        <p:nvSpPr>
          <p:cNvPr id="371" name="Google Shape;371;p25"/>
          <p:cNvSpPr txBox="1"/>
          <p:nvPr/>
        </p:nvSpPr>
        <p:spPr>
          <a:xfrm>
            <a:off x="6236208" y="2249424"/>
            <a:ext cx="21027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1" i="0" lang="en-US" sz="1200" u="none" cap="none" strike="noStrike">
                <a:solidFill>
                  <a:srgbClr val="0F2C5C"/>
                </a:solidFill>
                <a:latin typeface="Sora"/>
                <a:ea typeface="Sora"/>
                <a:cs typeface="Sora"/>
                <a:sym typeface="Sora"/>
              </a:rPr>
              <a:t>Avg. session duration</a:t>
            </a:r>
            <a:endParaRPr b="0" i="0" sz="1200" u="none" cap="none" strike="noStrike">
              <a:solidFill>
                <a:schemeClr val="dk1"/>
              </a:solidFill>
              <a:latin typeface="Calibri"/>
              <a:ea typeface="Calibri"/>
              <a:cs typeface="Calibri"/>
              <a:sym typeface="Calibri"/>
            </a:endParaRPr>
          </a:p>
        </p:txBody>
      </p:sp>
      <p:sp>
        <p:nvSpPr>
          <p:cNvPr id="372" name="Google Shape;372;p25"/>
          <p:cNvSpPr txBox="1"/>
          <p:nvPr/>
        </p:nvSpPr>
        <p:spPr>
          <a:xfrm>
            <a:off x="6236208" y="2523744"/>
            <a:ext cx="21027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vs 3m 22s across scope</a:t>
            </a:r>
            <a:endParaRPr b="0" i="0" sz="1100" u="none" cap="none" strike="noStrike">
              <a:solidFill>
                <a:schemeClr val="dk1"/>
              </a:solidFill>
              <a:latin typeface="Calibri"/>
              <a:ea typeface="Calibri"/>
              <a:cs typeface="Calibri"/>
              <a:sym typeface="Calibri"/>
            </a:endParaRPr>
          </a:p>
        </p:txBody>
      </p:sp>
      <p:sp>
        <p:nvSpPr>
          <p:cNvPr id="373" name="Google Shape;373;p25"/>
          <p:cNvSpPr/>
          <p:nvPr/>
        </p:nvSpPr>
        <p:spPr>
          <a:xfrm>
            <a:off x="8778240" y="1664208"/>
            <a:ext cx="2514300" cy="1234500"/>
          </a:xfrm>
          <a:prstGeom prst="roundRect">
            <a:avLst>
              <a:gd fmla="val 5926" name="adj"/>
            </a:avLst>
          </a:prstGeom>
          <a:solidFill>
            <a:srgbClr val="FFFFFF"/>
          </a:solidFill>
          <a:ln cap="flat" cmpd="sng" w="9525">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5"/>
          <p:cNvSpPr txBox="1"/>
          <p:nvPr/>
        </p:nvSpPr>
        <p:spPr>
          <a:xfrm>
            <a:off x="8979408" y="1792224"/>
            <a:ext cx="210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2700"/>
              <a:buFont typeface="Sora"/>
              <a:buNone/>
            </a:pPr>
            <a:r>
              <a:rPr b="1" i="0" lang="en-US" sz="2700" u="none" cap="none" strike="noStrike">
                <a:solidFill>
                  <a:srgbClr val="C8102E"/>
                </a:solidFill>
                <a:latin typeface="Sora"/>
                <a:ea typeface="Sora"/>
                <a:cs typeface="Sora"/>
                <a:sym typeface="Sora"/>
              </a:rPr>
              <a:t>1.68</a:t>
            </a:r>
            <a:endParaRPr b="0" i="0" sz="2700" u="none" cap="none" strike="noStrike">
              <a:solidFill>
                <a:schemeClr val="dk1"/>
              </a:solidFill>
              <a:latin typeface="Calibri"/>
              <a:ea typeface="Calibri"/>
              <a:cs typeface="Calibri"/>
              <a:sym typeface="Calibri"/>
            </a:endParaRPr>
          </a:p>
        </p:txBody>
      </p:sp>
      <p:sp>
        <p:nvSpPr>
          <p:cNvPr id="375" name="Google Shape;375;p25"/>
          <p:cNvSpPr txBox="1"/>
          <p:nvPr/>
        </p:nvSpPr>
        <p:spPr>
          <a:xfrm>
            <a:off x="8979408" y="2249424"/>
            <a:ext cx="21027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1" i="0" lang="en-US" sz="1200" u="none" cap="none" strike="noStrike">
                <a:solidFill>
                  <a:srgbClr val="0F2C5C"/>
                </a:solidFill>
                <a:latin typeface="Sora"/>
                <a:ea typeface="Sora"/>
                <a:cs typeface="Sora"/>
                <a:sym typeface="Sora"/>
              </a:rPr>
              <a:t>Views per session</a:t>
            </a:r>
            <a:endParaRPr b="0" i="0" sz="1200" u="none" cap="none" strike="noStrike">
              <a:solidFill>
                <a:schemeClr val="dk1"/>
              </a:solidFill>
              <a:latin typeface="Calibri"/>
              <a:ea typeface="Calibri"/>
              <a:cs typeface="Calibri"/>
              <a:sym typeface="Calibri"/>
            </a:endParaRPr>
          </a:p>
        </p:txBody>
      </p:sp>
      <p:sp>
        <p:nvSpPr>
          <p:cNvPr id="376" name="Google Shape;376;p25"/>
          <p:cNvSpPr txBox="1"/>
          <p:nvPr/>
        </p:nvSpPr>
        <p:spPr>
          <a:xfrm>
            <a:off x="8979408" y="2523744"/>
            <a:ext cx="21027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0" i="0" lang="en-US" sz="1100" u="none" cap="none" strike="noStrike">
                <a:solidFill>
                  <a:srgbClr val="C8102E"/>
                </a:solidFill>
                <a:latin typeface="Sora"/>
                <a:ea typeface="Sora"/>
                <a:cs typeface="Sora"/>
                <a:sym typeface="Sora"/>
              </a:rPr>
              <a:t>vs 2.07 across scope</a:t>
            </a:r>
            <a:endParaRPr b="0" i="0" sz="1100" u="none" cap="none" strike="noStrike">
              <a:solidFill>
                <a:schemeClr val="dk1"/>
              </a:solidFill>
              <a:latin typeface="Calibri"/>
              <a:ea typeface="Calibri"/>
              <a:cs typeface="Calibri"/>
              <a:sym typeface="Calibri"/>
            </a:endParaRPr>
          </a:p>
        </p:txBody>
      </p:sp>
      <p:sp>
        <p:nvSpPr>
          <p:cNvPr id="377" name="Rounded Rectangle 376"/>
          <p:cNvSpPr/>
          <p:nvPr/>
        </p:nvSpPr>
        <p:spPr>
          <a:xfrm>
            <a:off x="548640" y="73152"/>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6"/>
          <p:cNvSpPr txBox="1"/>
          <p:nvPr/>
        </p:nvSpPr>
        <p:spPr>
          <a:xfrm>
            <a:off x="548640" y="365760"/>
            <a:ext cx="11064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100"/>
              <a:buFont typeface="Sora"/>
              <a:buNone/>
            </a:pPr>
            <a:r>
              <a:rPr b="1" i="0" lang="en-US" sz="3100" u="none" cap="none" strike="noStrike">
                <a:solidFill>
                  <a:srgbClr val="0F2C5C"/>
                </a:solidFill>
                <a:latin typeface="Sora"/>
                <a:ea typeface="Sora"/>
                <a:cs typeface="Sora"/>
                <a:sym typeface="Sora"/>
              </a:rPr>
              <a:t>Course Researcher  ·  the journey on B.Tech CSE</a:t>
            </a:r>
            <a:endParaRPr b="0" i="0" sz="3100" u="none" cap="none" strike="noStrike">
              <a:solidFill>
                <a:schemeClr val="dk1"/>
              </a:solidFill>
              <a:latin typeface="Calibri"/>
              <a:ea typeface="Calibri"/>
              <a:cs typeface="Calibri"/>
              <a:sym typeface="Calibri"/>
            </a:endParaRPr>
          </a:p>
        </p:txBody>
      </p:sp>
      <p:sp>
        <p:nvSpPr>
          <p:cNvPr id="383" name="Google Shape;383;p26"/>
          <p:cNvSpPr/>
          <p:nvPr/>
        </p:nvSpPr>
        <p:spPr>
          <a:xfrm>
            <a:off x="6812280" y="3401568"/>
            <a:ext cx="4617600" cy="2651700"/>
          </a:xfrm>
          <a:prstGeom prst="roundRect">
            <a:avLst>
              <a:gd fmla="val 2759" name="adj"/>
            </a:avLst>
          </a:prstGeom>
          <a:solidFill>
            <a:srgbClr val="E8EEF7"/>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6"/>
          <p:cNvSpPr txBox="1"/>
          <p:nvPr/>
        </p:nvSpPr>
        <p:spPr>
          <a:xfrm>
            <a:off x="7040880" y="3566160"/>
            <a:ext cx="4160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BUT THE ANSWER IS SOMEWHERE ELSE</a:t>
            </a:r>
            <a:endParaRPr b="0" i="0" sz="1100" u="none" cap="none" strike="noStrike">
              <a:solidFill>
                <a:schemeClr val="dk1"/>
              </a:solidFill>
              <a:latin typeface="Calibri"/>
              <a:ea typeface="Calibri"/>
              <a:cs typeface="Calibri"/>
              <a:sym typeface="Calibri"/>
            </a:endParaRPr>
          </a:p>
        </p:txBody>
      </p:sp>
      <p:sp>
        <p:nvSpPr>
          <p:cNvPr id="385" name="Google Shape;385;p26"/>
          <p:cNvSpPr txBox="1"/>
          <p:nvPr/>
        </p:nvSpPr>
        <p:spPr>
          <a:xfrm>
            <a:off x="7040880" y="3877056"/>
            <a:ext cx="960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900"/>
              <a:buFont typeface="Sora"/>
              <a:buNone/>
            </a:pPr>
            <a:r>
              <a:rPr b="1" i="0" lang="en-US" sz="1900" u="none" cap="none" strike="noStrike">
                <a:solidFill>
                  <a:srgbClr val="0F2C5C"/>
                </a:solidFill>
                <a:latin typeface="Sora"/>
                <a:ea typeface="Sora"/>
                <a:cs typeface="Sora"/>
                <a:sym typeface="Sora"/>
              </a:rPr>
              <a:t>83.0%</a:t>
            </a:r>
            <a:endParaRPr b="0" i="0" sz="1900" u="none" cap="none" strike="noStrike">
              <a:solidFill>
                <a:schemeClr val="dk1"/>
              </a:solidFill>
              <a:latin typeface="Calibri"/>
              <a:ea typeface="Calibri"/>
              <a:cs typeface="Calibri"/>
              <a:sym typeface="Calibri"/>
            </a:endParaRPr>
          </a:p>
        </p:txBody>
      </p:sp>
      <p:sp>
        <p:nvSpPr>
          <p:cNvPr id="386" name="Google Shape;386;p26"/>
          <p:cNvSpPr txBox="1"/>
          <p:nvPr/>
        </p:nvSpPr>
        <p:spPr>
          <a:xfrm>
            <a:off x="8092440" y="3904488"/>
            <a:ext cx="3108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of all onward movement leaves for the fee structure page</a:t>
            </a:r>
            <a:endParaRPr b="0" i="0" sz="1200" u="none" cap="none" strike="noStrike">
              <a:solidFill>
                <a:schemeClr val="dk1"/>
              </a:solidFill>
              <a:latin typeface="Calibri"/>
              <a:ea typeface="Calibri"/>
              <a:cs typeface="Calibri"/>
              <a:sym typeface="Calibri"/>
            </a:endParaRPr>
          </a:p>
        </p:txBody>
      </p:sp>
      <p:sp>
        <p:nvSpPr>
          <p:cNvPr id="387" name="Google Shape;387;p26"/>
          <p:cNvSpPr txBox="1"/>
          <p:nvPr/>
        </p:nvSpPr>
        <p:spPr>
          <a:xfrm>
            <a:off x="7040880" y="4453128"/>
            <a:ext cx="960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900"/>
              <a:buFont typeface="Sora"/>
              <a:buNone/>
            </a:pPr>
            <a:r>
              <a:rPr b="1" i="0" lang="en-US" sz="1900" u="none" cap="none" strike="noStrike">
                <a:solidFill>
                  <a:srgbClr val="0F2C5C"/>
                </a:solidFill>
                <a:latin typeface="Sora"/>
                <a:ea typeface="Sora"/>
                <a:cs typeface="Sora"/>
                <a:sym typeface="Sora"/>
              </a:rPr>
              <a:t>99.6%</a:t>
            </a:r>
            <a:endParaRPr b="0" i="0" sz="1900" u="none" cap="none" strike="noStrike">
              <a:solidFill>
                <a:schemeClr val="dk1"/>
              </a:solidFill>
              <a:latin typeface="Calibri"/>
              <a:ea typeface="Calibri"/>
              <a:cs typeface="Calibri"/>
              <a:sym typeface="Calibri"/>
            </a:endParaRPr>
          </a:p>
        </p:txBody>
      </p:sp>
      <p:sp>
        <p:nvSpPr>
          <p:cNvPr id="388" name="Google Shape;388;p26"/>
          <p:cNvSpPr txBox="1"/>
          <p:nvPr/>
        </p:nvSpPr>
        <p:spPr>
          <a:xfrm>
            <a:off x="8092440" y="4480560"/>
            <a:ext cx="3108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of movement from that page comes straight back here</a:t>
            </a:r>
            <a:endParaRPr b="0" i="0" sz="1200" u="none" cap="none" strike="noStrike">
              <a:solidFill>
                <a:schemeClr val="dk1"/>
              </a:solidFill>
              <a:latin typeface="Calibri"/>
              <a:ea typeface="Calibri"/>
              <a:cs typeface="Calibri"/>
              <a:sym typeface="Calibri"/>
            </a:endParaRPr>
          </a:p>
        </p:txBody>
      </p:sp>
      <p:sp>
        <p:nvSpPr>
          <p:cNvPr id="389" name="Google Shape;389;p26"/>
          <p:cNvSpPr txBox="1"/>
          <p:nvPr/>
        </p:nvSpPr>
        <p:spPr>
          <a:xfrm>
            <a:off x="7040880" y="5029200"/>
            <a:ext cx="960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900"/>
              <a:buFont typeface="Sora"/>
              <a:buNone/>
            </a:pPr>
            <a:r>
              <a:rPr b="1" i="0" lang="en-US" sz="1900" u="none" cap="none" strike="noStrike">
                <a:solidFill>
                  <a:srgbClr val="0F2C5C"/>
                </a:solidFill>
                <a:latin typeface="Sora"/>
                <a:ea typeface="Sora"/>
                <a:cs typeface="Sora"/>
                <a:sym typeface="Sora"/>
              </a:rPr>
              <a:t>22</a:t>
            </a:r>
            <a:endParaRPr b="0" i="0" sz="1900" u="none" cap="none" strike="noStrike">
              <a:solidFill>
                <a:schemeClr val="dk1"/>
              </a:solidFill>
              <a:latin typeface="Calibri"/>
              <a:ea typeface="Calibri"/>
              <a:cs typeface="Calibri"/>
              <a:sym typeface="Calibri"/>
            </a:endParaRPr>
          </a:p>
        </p:txBody>
      </p:sp>
      <p:sp>
        <p:nvSpPr>
          <p:cNvPr id="390" name="Google Shape;390;p26"/>
          <p:cNvSpPr txBox="1"/>
          <p:nvPr/>
        </p:nvSpPr>
        <p:spPr>
          <a:xfrm>
            <a:off x="8092440" y="5056632"/>
            <a:ext cx="3108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users out of 6,097 go anywhere else at all</a:t>
            </a:r>
            <a:endParaRPr b="0" i="0" sz="1200" u="none" cap="none" strike="noStrike">
              <a:solidFill>
                <a:schemeClr val="dk1"/>
              </a:solidFill>
              <a:latin typeface="Calibri"/>
              <a:ea typeface="Calibri"/>
              <a:cs typeface="Calibri"/>
              <a:sym typeface="Calibri"/>
            </a:endParaRPr>
          </a:p>
        </p:txBody>
      </p:sp>
      <p:sp>
        <p:nvSpPr>
          <p:cNvPr id="391" name="Google Shape;391;p26"/>
          <p:cNvSpPr/>
          <p:nvPr/>
        </p:nvSpPr>
        <p:spPr>
          <a:xfrm>
            <a:off x="7040880" y="5541264"/>
            <a:ext cx="4160400" cy="402300"/>
          </a:xfrm>
          <a:prstGeom prst="roundRect">
            <a:avLst>
              <a:gd fmla="val 11364" name="adj"/>
            </a:avLst>
          </a:prstGeom>
          <a:solidFill>
            <a:srgbClr val="0F2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6"/>
          <p:cNvSpPr txBox="1"/>
          <p:nvPr/>
        </p:nvSpPr>
        <p:spPr>
          <a:xfrm>
            <a:off x="7132320" y="5596128"/>
            <a:ext cx="39777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Sora"/>
              <a:buNone/>
            </a:pPr>
            <a:r>
              <a:rPr b="1" i="0" lang="en-US" sz="1100" u="none" cap="none" strike="noStrike">
                <a:solidFill>
                  <a:srgbClr val="FFFFFF"/>
                </a:solidFill>
                <a:latin typeface="Sora"/>
                <a:ea typeface="Sora"/>
                <a:cs typeface="Sora"/>
                <a:sym typeface="Sora"/>
              </a:rPr>
              <a:t>The page holds attention. It does not complete the decision.</a:t>
            </a:r>
            <a:endParaRPr b="0" i="0" sz="1100" u="none" cap="none" strike="noStrike">
              <a:solidFill>
                <a:schemeClr val="dk1"/>
              </a:solidFill>
              <a:latin typeface="Calibri"/>
              <a:ea typeface="Calibri"/>
              <a:cs typeface="Calibri"/>
              <a:sym typeface="Calibri"/>
            </a:endParaRPr>
          </a:p>
        </p:txBody>
      </p:sp>
      <p:sp>
        <p:nvSpPr>
          <p:cNvPr id="393" name="Google Shape;393;p26"/>
          <p:cNvSpPr txBox="1"/>
          <p:nvPr/>
        </p:nvSpPr>
        <p:spPr>
          <a:xfrm>
            <a:off x="548640" y="6309360"/>
            <a:ext cx="108813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0" i="0" lang="en-US" sz="900" u="none" cap="none" strike="noStrike">
                <a:solidFill>
                  <a:srgbClr val="96A1B0"/>
                </a:solidFill>
                <a:latin typeface="Sora"/>
                <a:ea typeface="Sora"/>
                <a:cs typeface="Sora"/>
                <a:sym typeface="Sora"/>
              </a:rPr>
              <a:t>Source: GA4 — Landing page + query string and Path Exploration (page path and screen class), 13 Jun – 10 Sept 2026. Percentages are shares of onward event movement, not of sessions.</a:t>
            </a:r>
            <a:endParaRPr b="0" i="0" sz="900" u="none" cap="none" strike="noStrike">
              <a:solidFill>
                <a:schemeClr val="dk1"/>
              </a:solidFill>
              <a:latin typeface="Calibri"/>
              <a:ea typeface="Calibri"/>
              <a:cs typeface="Calibri"/>
              <a:sym typeface="Calibri"/>
            </a:endParaRPr>
          </a:p>
        </p:txBody>
      </p:sp>
      <p:pic>
        <p:nvPicPr>
          <p:cNvPr id="394" name="Google Shape;394;p26"/>
          <p:cNvPicPr preferRelativeResize="0"/>
          <p:nvPr/>
        </p:nvPicPr>
        <p:blipFill>
          <a:blip r:embed="rId3">
            <a:alphaModFix/>
          </a:blip>
          <a:stretch>
            <a:fillRect/>
          </a:stretch>
        </p:blipFill>
        <p:spPr>
          <a:xfrm>
            <a:off x="604530" y="3300800"/>
            <a:ext cx="5374634" cy="2774950"/>
          </a:xfrm>
          <a:prstGeom prst="rect">
            <a:avLst/>
          </a:prstGeom>
          <a:noFill/>
          <a:ln>
            <a:noFill/>
          </a:ln>
        </p:spPr>
      </p:pic>
      <p:sp>
        <p:nvSpPr>
          <p:cNvPr id="395" name="Google Shape;395;p26"/>
          <p:cNvSpPr/>
          <p:nvPr/>
        </p:nvSpPr>
        <p:spPr>
          <a:xfrm>
            <a:off x="320040" y="1160383"/>
            <a:ext cx="2469300" cy="2148900"/>
          </a:xfrm>
          <a:prstGeom prst="roundRect">
            <a:avLst>
              <a:gd fmla="val 340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6"/>
          <p:cNvSpPr txBox="1"/>
          <p:nvPr/>
        </p:nvSpPr>
        <p:spPr>
          <a:xfrm>
            <a:off x="521208" y="1324975"/>
            <a:ext cx="2066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100"/>
              <a:buFont typeface="Sora"/>
              <a:buNone/>
            </a:pPr>
            <a:r>
              <a:rPr b="1" i="0" lang="en-US" sz="3100" u="none" cap="none" strike="noStrike">
                <a:solidFill>
                  <a:srgbClr val="0F2C5C"/>
                </a:solidFill>
                <a:latin typeface="Sora"/>
                <a:ea typeface="Sora"/>
                <a:cs typeface="Sora"/>
                <a:sym typeface="Sora"/>
              </a:rPr>
              <a:t>12,308</a:t>
            </a:r>
            <a:endParaRPr b="0" i="0" sz="3100" u="none" cap="none" strike="noStrike">
              <a:solidFill>
                <a:schemeClr val="dk1"/>
              </a:solidFill>
              <a:latin typeface="Calibri"/>
              <a:ea typeface="Calibri"/>
              <a:cs typeface="Calibri"/>
              <a:sym typeface="Calibri"/>
            </a:endParaRPr>
          </a:p>
        </p:txBody>
      </p:sp>
      <p:sp>
        <p:nvSpPr>
          <p:cNvPr id="397" name="Google Shape;397;p26"/>
          <p:cNvSpPr txBox="1"/>
          <p:nvPr/>
        </p:nvSpPr>
        <p:spPr>
          <a:xfrm>
            <a:off x="521208" y="1891903"/>
            <a:ext cx="20664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LAND</a:t>
            </a:r>
            <a:endParaRPr b="0" i="0" sz="1100" u="none" cap="none" strike="noStrike">
              <a:solidFill>
                <a:schemeClr val="dk1"/>
              </a:solidFill>
              <a:latin typeface="Calibri"/>
              <a:ea typeface="Calibri"/>
              <a:cs typeface="Calibri"/>
              <a:sym typeface="Calibri"/>
            </a:endParaRPr>
          </a:p>
        </p:txBody>
      </p:sp>
      <p:sp>
        <p:nvSpPr>
          <p:cNvPr id="398" name="Google Shape;398;p26"/>
          <p:cNvSpPr txBox="1"/>
          <p:nvPr/>
        </p:nvSpPr>
        <p:spPr>
          <a:xfrm>
            <a:off x="521208" y="2184511"/>
            <a:ext cx="2066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on the course page</a:t>
            </a:r>
            <a:endParaRPr b="0" i="0" sz="1200" u="none" cap="none" strike="noStrike">
              <a:solidFill>
                <a:schemeClr val="dk1"/>
              </a:solidFill>
              <a:latin typeface="Calibri"/>
              <a:ea typeface="Calibri"/>
              <a:cs typeface="Calibri"/>
              <a:sym typeface="Calibri"/>
            </a:endParaRPr>
          </a:p>
        </p:txBody>
      </p:sp>
      <p:sp>
        <p:nvSpPr>
          <p:cNvPr id="399" name="Google Shape;399;p26"/>
          <p:cNvSpPr txBox="1"/>
          <p:nvPr/>
        </p:nvSpPr>
        <p:spPr>
          <a:xfrm>
            <a:off x="2807208" y="2001631"/>
            <a:ext cx="255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6A1B0"/>
              </a:buClr>
              <a:buSzPts val="1900"/>
              <a:buFont typeface="Sora"/>
              <a:buNone/>
            </a:pPr>
            <a:r>
              <a:rPr b="1" i="0" lang="en-US" sz="1900" u="none" cap="none" strike="noStrike">
                <a:solidFill>
                  <a:srgbClr val="96A1B0"/>
                </a:solidFill>
                <a:latin typeface="Sora"/>
                <a:ea typeface="Sora"/>
                <a:cs typeface="Sora"/>
                <a:sym typeface="Sora"/>
              </a:rPr>
              <a:t>→</a:t>
            </a:r>
            <a:endParaRPr b="0" i="0" sz="1900" u="none" cap="none" strike="noStrike">
              <a:solidFill>
                <a:schemeClr val="dk1"/>
              </a:solidFill>
              <a:latin typeface="Calibri"/>
              <a:ea typeface="Calibri"/>
              <a:cs typeface="Calibri"/>
              <a:sym typeface="Calibri"/>
            </a:endParaRPr>
          </a:p>
        </p:txBody>
      </p:sp>
      <p:sp>
        <p:nvSpPr>
          <p:cNvPr id="400" name="Google Shape;400;p26"/>
          <p:cNvSpPr/>
          <p:nvPr/>
        </p:nvSpPr>
        <p:spPr>
          <a:xfrm>
            <a:off x="3063240" y="1160383"/>
            <a:ext cx="2469300" cy="2148900"/>
          </a:xfrm>
          <a:prstGeom prst="roundRect">
            <a:avLst>
              <a:gd fmla="val 340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6"/>
          <p:cNvSpPr txBox="1"/>
          <p:nvPr/>
        </p:nvSpPr>
        <p:spPr>
          <a:xfrm>
            <a:off x="3264408" y="1324975"/>
            <a:ext cx="2066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3100"/>
              <a:buFont typeface="Sora"/>
              <a:buNone/>
            </a:pPr>
            <a:r>
              <a:rPr b="1" i="0" lang="en-US" sz="3100" u="none" cap="none" strike="noStrike">
                <a:solidFill>
                  <a:srgbClr val="C8102E"/>
                </a:solidFill>
                <a:latin typeface="Sora"/>
                <a:ea typeface="Sora"/>
                <a:cs typeface="Sora"/>
                <a:sym typeface="Sora"/>
              </a:rPr>
              <a:t>84.3%</a:t>
            </a:r>
            <a:endParaRPr b="0" i="0" sz="3100" u="none" cap="none" strike="noStrike">
              <a:solidFill>
                <a:schemeClr val="dk1"/>
              </a:solidFill>
              <a:latin typeface="Calibri"/>
              <a:ea typeface="Calibri"/>
              <a:cs typeface="Calibri"/>
              <a:sym typeface="Calibri"/>
            </a:endParaRPr>
          </a:p>
        </p:txBody>
      </p:sp>
      <p:sp>
        <p:nvSpPr>
          <p:cNvPr id="402" name="Google Shape;402;p26"/>
          <p:cNvSpPr txBox="1"/>
          <p:nvPr/>
        </p:nvSpPr>
        <p:spPr>
          <a:xfrm>
            <a:off x="3264408" y="1891903"/>
            <a:ext cx="20664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LEAVE</a:t>
            </a:r>
            <a:endParaRPr b="0" i="0" sz="1100" u="none" cap="none" strike="noStrike">
              <a:solidFill>
                <a:schemeClr val="dk1"/>
              </a:solidFill>
              <a:latin typeface="Calibri"/>
              <a:ea typeface="Calibri"/>
              <a:cs typeface="Calibri"/>
              <a:sym typeface="Calibri"/>
            </a:endParaRPr>
          </a:p>
        </p:txBody>
      </p:sp>
      <p:sp>
        <p:nvSpPr>
          <p:cNvPr id="403" name="Google Shape;403;p26"/>
          <p:cNvSpPr txBox="1"/>
          <p:nvPr/>
        </p:nvSpPr>
        <p:spPr>
          <a:xfrm>
            <a:off x="3264408" y="2184511"/>
            <a:ext cx="2066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of all onward movement goes to the fee structure page</a:t>
            </a:r>
            <a:endParaRPr b="0" i="0" sz="1200" u="none" cap="none" strike="noStrike">
              <a:solidFill>
                <a:schemeClr val="dk1"/>
              </a:solidFill>
              <a:latin typeface="Calibri"/>
              <a:ea typeface="Calibri"/>
              <a:cs typeface="Calibri"/>
              <a:sym typeface="Calibri"/>
            </a:endParaRPr>
          </a:p>
        </p:txBody>
      </p:sp>
      <p:sp>
        <p:nvSpPr>
          <p:cNvPr id="404" name="Google Shape;404;p26"/>
          <p:cNvSpPr txBox="1"/>
          <p:nvPr/>
        </p:nvSpPr>
        <p:spPr>
          <a:xfrm>
            <a:off x="3264408" y="2970895"/>
            <a:ext cx="2066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0" i="0" lang="en-US" sz="900" u="none" cap="none" strike="noStrike">
                <a:solidFill>
                  <a:srgbClr val="96A1B0"/>
                </a:solidFill>
                <a:latin typeface="Sora"/>
                <a:ea typeface="Sora"/>
                <a:cs typeface="Sora"/>
                <a:sym typeface="Sora"/>
              </a:rPr>
              <a:t>7,010 events</a:t>
            </a:r>
            <a:endParaRPr b="0" i="0" sz="900" u="none" cap="none" strike="noStrike">
              <a:solidFill>
                <a:schemeClr val="dk1"/>
              </a:solidFill>
              <a:latin typeface="Calibri"/>
              <a:ea typeface="Calibri"/>
              <a:cs typeface="Calibri"/>
              <a:sym typeface="Calibri"/>
            </a:endParaRPr>
          </a:p>
        </p:txBody>
      </p:sp>
      <p:sp>
        <p:nvSpPr>
          <p:cNvPr id="405" name="Google Shape;405;p26"/>
          <p:cNvSpPr txBox="1"/>
          <p:nvPr/>
        </p:nvSpPr>
        <p:spPr>
          <a:xfrm>
            <a:off x="5550408" y="2001631"/>
            <a:ext cx="255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6A1B0"/>
              </a:buClr>
              <a:buSzPts val="1900"/>
              <a:buFont typeface="Sora"/>
              <a:buNone/>
            </a:pPr>
            <a:r>
              <a:rPr b="1" i="0" lang="en-US" sz="1900" u="none" cap="none" strike="noStrike">
                <a:solidFill>
                  <a:srgbClr val="96A1B0"/>
                </a:solidFill>
                <a:latin typeface="Sora"/>
                <a:ea typeface="Sora"/>
                <a:cs typeface="Sora"/>
                <a:sym typeface="Sora"/>
              </a:rPr>
              <a:t>→</a:t>
            </a:r>
            <a:endParaRPr b="0" i="0" sz="1900" u="none" cap="none" strike="noStrike">
              <a:solidFill>
                <a:schemeClr val="dk1"/>
              </a:solidFill>
              <a:latin typeface="Calibri"/>
              <a:ea typeface="Calibri"/>
              <a:cs typeface="Calibri"/>
              <a:sym typeface="Calibri"/>
            </a:endParaRPr>
          </a:p>
        </p:txBody>
      </p:sp>
      <p:sp>
        <p:nvSpPr>
          <p:cNvPr id="406" name="Google Shape;406;p26"/>
          <p:cNvSpPr/>
          <p:nvPr/>
        </p:nvSpPr>
        <p:spPr>
          <a:xfrm>
            <a:off x="5806440" y="1160383"/>
            <a:ext cx="2469300" cy="2148900"/>
          </a:xfrm>
          <a:prstGeom prst="roundRect">
            <a:avLst>
              <a:gd fmla="val 340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6"/>
          <p:cNvSpPr txBox="1"/>
          <p:nvPr/>
        </p:nvSpPr>
        <p:spPr>
          <a:xfrm>
            <a:off x="6007608" y="1324975"/>
            <a:ext cx="2066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3100"/>
              <a:buFont typeface="Sora"/>
              <a:buNone/>
            </a:pPr>
            <a:r>
              <a:rPr b="1" i="0" lang="en-US" sz="3100" u="none" cap="none" strike="noStrike">
                <a:solidFill>
                  <a:srgbClr val="C8102E"/>
                </a:solidFill>
                <a:latin typeface="Sora"/>
                <a:ea typeface="Sora"/>
                <a:cs typeface="Sora"/>
                <a:sym typeface="Sora"/>
              </a:rPr>
              <a:t>99.3%</a:t>
            </a:r>
            <a:endParaRPr b="0" i="0" sz="3100" u="none" cap="none" strike="noStrike">
              <a:solidFill>
                <a:schemeClr val="dk1"/>
              </a:solidFill>
              <a:latin typeface="Calibri"/>
              <a:ea typeface="Calibri"/>
              <a:cs typeface="Calibri"/>
              <a:sym typeface="Calibri"/>
            </a:endParaRPr>
          </a:p>
        </p:txBody>
      </p:sp>
      <p:sp>
        <p:nvSpPr>
          <p:cNvPr id="408" name="Google Shape;408;p26"/>
          <p:cNvSpPr txBox="1"/>
          <p:nvPr/>
        </p:nvSpPr>
        <p:spPr>
          <a:xfrm>
            <a:off x="6007608" y="1891903"/>
            <a:ext cx="20664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RETURN</a:t>
            </a:r>
            <a:endParaRPr b="0" i="0" sz="1100" u="none" cap="none" strike="noStrike">
              <a:solidFill>
                <a:schemeClr val="dk1"/>
              </a:solidFill>
              <a:latin typeface="Calibri"/>
              <a:ea typeface="Calibri"/>
              <a:cs typeface="Calibri"/>
              <a:sym typeface="Calibri"/>
            </a:endParaRPr>
          </a:p>
        </p:txBody>
      </p:sp>
      <p:sp>
        <p:nvSpPr>
          <p:cNvPr id="409" name="Google Shape;409;p26"/>
          <p:cNvSpPr txBox="1"/>
          <p:nvPr/>
        </p:nvSpPr>
        <p:spPr>
          <a:xfrm>
            <a:off x="6007608" y="2184511"/>
            <a:ext cx="2066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come straight back to the course page</a:t>
            </a:r>
            <a:endParaRPr b="0" i="0" sz="1200" u="none" cap="none" strike="noStrike">
              <a:solidFill>
                <a:schemeClr val="dk1"/>
              </a:solidFill>
              <a:latin typeface="Calibri"/>
              <a:ea typeface="Calibri"/>
              <a:cs typeface="Calibri"/>
              <a:sym typeface="Calibri"/>
            </a:endParaRPr>
          </a:p>
        </p:txBody>
      </p:sp>
      <p:sp>
        <p:nvSpPr>
          <p:cNvPr id="410" name="Google Shape;410;p26"/>
          <p:cNvSpPr txBox="1"/>
          <p:nvPr/>
        </p:nvSpPr>
        <p:spPr>
          <a:xfrm>
            <a:off x="6007608" y="2970895"/>
            <a:ext cx="2066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0" i="0" lang="en-US" sz="900" u="none" cap="none" strike="noStrike">
                <a:solidFill>
                  <a:srgbClr val="96A1B0"/>
                </a:solidFill>
                <a:latin typeface="Sora"/>
                <a:ea typeface="Sora"/>
                <a:cs typeface="Sora"/>
                <a:sym typeface="Sora"/>
              </a:rPr>
              <a:t>6,964 events</a:t>
            </a:r>
            <a:endParaRPr b="0" i="0" sz="900" u="none" cap="none" strike="noStrike">
              <a:solidFill>
                <a:schemeClr val="dk1"/>
              </a:solidFill>
              <a:latin typeface="Calibri"/>
              <a:ea typeface="Calibri"/>
              <a:cs typeface="Calibri"/>
              <a:sym typeface="Calibri"/>
            </a:endParaRPr>
          </a:p>
        </p:txBody>
      </p:sp>
      <p:sp>
        <p:nvSpPr>
          <p:cNvPr id="411" name="Google Shape;411;p26"/>
          <p:cNvSpPr txBox="1"/>
          <p:nvPr/>
        </p:nvSpPr>
        <p:spPr>
          <a:xfrm>
            <a:off x="8293608" y="2001631"/>
            <a:ext cx="255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6A1B0"/>
              </a:buClr>
              <a:buSzPts val="1900"/>
              <a:buFont typeface="Sora"/>
              <a:buNone/>
            </a:pPr>
            <a:r>
              <a:rPr b="1" i="0" lang="en-US" sz="1900" u="none" cap="none" strike="noStrike">
                <a:solidFill>
                  <a:srgbClr val="96A1B0"/>
                </a:solidFill>
                <a:latin typeface="Sora"/>
                <a:ea typeface="Sora"/>
                <a:cs typeface="Sora"/>
                <a:sym typeface="Sora"/>
              </a:rPr>
              <a:t>→</a:t>
            </a:r>
            <a:endParaRPr b="0" i="0" sz="1900" u="none" cap="none" strike="noStrike">
              <a:solidFill>
                <a:schemeClr val="dk1"/>
              </a:solidFill>
              <a:latin typeface="Calibri"/>
              <a:ea typeface="Calibri"/>
              <a:cs typeface="Calibri"/>
              <a:sym typeface="Calibri"/>
            </a:endParaRPr>
          </a:p>
        </p:txBody>
      </p:sp>
      <p:sp>
        <p:nvSpPr>
          <p:cNvPr id="412" name="Google Shape;412;p26"/>
          <p:cNvSpPr/>
          <p:nvPr/>
        </p:nvSpPr>
        <p:spPr>
          <a:xfrm>
            <a:off x="8549640" y="1160383"/>
            <a:ext cx="2469300" cy="2148900"/>
          </a:xfrm>
          <a:prstGeom prst="roundRect">
            <a:avLst>
              <a:gd fmla="val 3404" name="adj"/>
            </a:avLst>
          </a:prstGeom>
          <a:solidFill>
            <a:srgbClr val="0F2C5C"/>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6"/>
          <p:cNvSpPr txBox="1"/>
          <p:nvPr/>
        </p:nvSpPr>
        <p:spPr>
          <a:xfrm>
            <a:off x="8750808" y="1324975"/>
            <a:ext cx="2066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00"/>
              <a:buFont typeface="Sora"/>
              <a:buNone/>
            </a:pPr>
            <a:r>
              <a:rPr b="1" i="0" lang="en-US" sz="3100" u="none" cap="none" strike="noStrike">
                <a:solidFill>
                  <a:srgbClr val="FFFFFF"/>
                </a:solidFill>
                <a:latin typeface="Sora"/>
                <a:ea typeface="Sora"/>
                <a:cs typeface="Sora"/>
                <a:sym typeface="Sora"/>
              </a:rPr>
              <a:t>6</a:t>
            </a:r>
            <a:endParaRPr b="0" i="0" sz="3100" u="none" cap="none" strike="noStrike">
              <a:solidFill>
                <a:schemeClr val="dk1"/>
              </a:solidFill>
              <a:latin typeface="Calibri"/>
              <a:ea typeface="Calibri"/>
              <a:cs typeface="Calibri"/>
              <a:sym typeface="Calibri"/>
            </a:endParaRPr>
          </a:p>
        </p:txBody>
      </p:sp>
      <p:sp>
        <p:nvSpPr>
          <p:cNvPr id="414" name="Google Shape;414;p26"/>
          <p:cNvSpPr txBox="1"/>
          <p:nvPr/>
        </p:nvSpPr>
        <p:spPr>
          <a:xfrm>
            <a:off x="8750808" y="1891903"/>
            <a:ext cx="20664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1100"/>
              <a:buFont typeface="Sora"/>
              <a:buNone/>
            </a:pPr>
            <a:r>
              <a:rPr b="1" i="0" lang="en-US" sz="1100" u="none" cap="none" strike="noStrike">
                <a:solidFill>
                  <a:srgbClr val="8FA3BF"/>
                </a:solidFill>
                <a:latin typeface="Sora"/>
                <a:ea typeface="Sora"/>
                <a:cs typeface="Sora"/>
                <a:sym typeface="Sora"/>
              </a:rPr>
              <a:t>CONTINUE</a:t>
            </a:r>
            <a:endParaRPr b="0" i="0" sz="1100" u="none" cap="none" strike="noStrike">
              <a:solidFill>
                <a:schemeClr val="dk1"/>
              </a:solidFill>
              <a:latin typeface="Calibri"/>
              <a:ea typeface="Calibri"/>
              <a:cs typeface="Calibri"/>
              <a:sym typeface="Calibri"/>
            </a:endParaRPr>
          </a:p>
        </p:txBody>
      </p:sp>
      <p:sp>
        <p:nvSpPr>
          <p:cNvPr id="415" name="Google Shape;415;p26"/>
          <p:cNvSpPr txBox="1"/>
          <p:nvPr/>
        </p:nvSpPr>
        <p:spPr>
          <a:xfrm>
            <a:off x="8750808" y="2184511"/>
            <a:ext cx="2066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Sora"/>
              <a:buNone/>
            </a:pPr>
            <a:r>
              <a:rPr b="0" i="0" lang="en-US" sz="1200" u="none" cap="none" strike="noStrike">
                <a:solidFill>
                  <a:srgbClr val="FFFFFF"/>
                </a:solidFill>
                <a:latin typeface="Sora"/>
                <a:ea typeface="Sora"/>
                <a:cs typeface="Sora"/>
                <a:sym typeface="Sora"/>
              </a:rPr>
              <a:t>users go anywhere at all after that</a:t>
            </a:r>
            <a:endParaRPr b="0" i="0" sz="1200" u="none" cap="none" strike="noStrike">
              <a:solidFill>
                <a:schemeClr val="dk1"/>
              </a:solidFill>
              <a:latin typeface="Calibri"/>
              <a:ea typeface="Calibri"/>
              <a:cs typeface="Calibri"/>
              <a:sym typeface="Calibri"/>
            </a:endParaRPr>
          </a:p>
        </p:txBody>
      </p:sp>
      <p:sp>
        <p:nvSpPr>
          <p:cNvPr id="416" name="Google Shape;416;p26"/>
          <p:cNvSpPr txBox="1"/>
          <p:nvPr/>
        </p:nvSpPr>
        <p:spPr>
          <a:xfrm>
            <a:off x="8750808" y="2970895"/>
            <a:ext cx="2066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900"/>
              <a:buFont typeface="Sora"/>
              <a:buNone/>
            </a:pPr>
            <a:r>
              <a:rPr b="0" i="0" lang="en-US" sz="900" u="none" cap="none" strike="noStrike">
                <a:solidFill>
                  <a:srgbClr val="8FA3BF"/>
                </a:solidFill>
                <a:latin typeface="Sora"/>
                <a:ea typeface="Sora"/>
                <a:cs typeface="Sora"/>
                <a:sym typeface="Sora"/>
              </a:rPr>
              <a:t>of 6,964</a:t>
            </a:r>
            <a:endParaRPr b="0" i="0" sz="900" u="none" cap="none" strike="noStrike">
              <a:solidFill>
                <a:schemeClr val="dk1"/>
              </a:solidFill>
              <a:latin typeface="Calibri"/>
              <a:ea typeface="Calibri"/>
              <a:cs typeface="Calibri"/>
              <a:sym typeface="Calibri"/>
            </a:endParaRPr>
          </a:p>
        </p:txBody>
      </p:sp>
      <p:sp>
        <p:nvSpPr>
          <p:cNvPr id="417" name="Rounded Rectangle 416"/>
          <p:cNvSpPr/>
          <p:nvPr/>
        </p:nvSpPr>
        <p:spPr>
          <a:xfrm>
            <a:off x="10703052" y="274320"/>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txBox="1"/>
          <p:nvPr/>
        </p:nvSpPr>
        <p:spPr>
          <a:xfrm>
            <a:off x="548640" y="146304"/>
            <a:ext cx="11070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COURSE RESEARCHER  ·  EVENT DATA</a:t>
            </a:r>
            <a:endParaRPr sz="1900"/>
          </a:p>
        </p:txBody>
      </p:sp>
      <p:sp>
        <p:nvSpPr>
          <p:cNvPr id="239" name="Google Shape;239;p21"/>
          <p:cNvSpPr txBox="1"/>
          <p:nvPr/>
        </p:nvSpPr>
        <p:spPr>
          <a:xfrm>
            <a:off x="548640" y="414528"/>
            <a:ext cx="11070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u="none" cap="none" strike="noStrike">
                <a:solidFill>
                  <a:srgbClr val="0F2C5C"/>
                </a:solidFill>
                <a:latin typeface="Sora"/>
                <a:ea typeface="Sora"/>
                <a:cs typeface="Sora"/>
                <a:sym typeface="Sora"/>
              </a:rPr>
              <a:t>The most-used action on the site hands us nothing.</a:t>
            </a:r>
            <a:endParaRPr sz="1900"/>
          </a:p>
        </p:txBody>
      </p:sp>
      <p:sp>
        <p:nvSpPr>
          <p:cNvPr id="240" name="Google Shape;240;p21"/>
          <p:cNvSpPr txBox="1"/>
          <p:nvPr/>
        </p:nvSpPr>
        <p:spPr>
          <a:xfrm>
            <a:off x="548640" y="1048512"/>
            <a:ext cx="11070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A6472"/>
                </a:solidFill>
                <a:latin typeface="Sora"/>
                <a:ea typeface="Sora"/>
                <a:cs typeface="Sora"/>
                <a:sym typeface="Sora"/>
              </a:rPr>
              <a:t>Brochure downloads against every other action people take, counted as events.</a:t>
            </a:r>
            <a:endParaRPr sz="1900"/>
          </a:p>
        </p:txBody>
      </p:sp>
      <p:sp>
        <p:nvSpPr>
          <p:cNvPr id="241" name="Google Shape;241;p21"/>
          <p:cNvSpPr txBox="1"/>
          <p:nvPr/>
        </p:nvSpPr>
        <p:spPr>
          <a:xfrm>
            <a:off x="548640" y="6458903"/>
            <a:ext cx="11070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GA4 events export, MREI. Brochure total = Download_Brochure (admissions brochure page) + file_download (course pages). Event counts, not sessions. file_download fires on any file, so 3,717 is an upper bound.</a:t>
            </a:r>
            <a:endParaRPr sz="1900"/>
          </a:p>
        </p:txBody>
      </p:sp>
      <p:sp>
        <p:nvSpPr>
          <p:cNvPr id="242" name="Google Shape;242;p21"/>
          <p:cNvSpPr txBox="1"/>
          <p:nvPr/>
        </p:nvSpPr>
        <p:spPr>
          <a:xfrm>
            <a:off x="548640" y="1518031"/>
            <a:ext cx="53037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ACROSS ALL PAGES IN THE EXPORT</a:t>
            </a:r>
            <a:endParaRPr sz="1900"/>
          </a:p>
        </p:txBody>
      </p:sp>
      <p:sp>
        <p:nvSpPr>
          <p:cNvPr id="243" name="Google Shape;243;p21"/>
          <p:cNvSpPr txBox="1"/>
          <p:nvPr/>
        </p:nvSpPr>
        <p:spPr>
          <a:xfrm>
            <a:off x="548640" y="1850327"/>
            <a:ext cx="2804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0F2C5C"/>
                </a:solidFill>
                <a:latin typeface="Sora"/>
                <a:ea typeface="Sora"/>
                <a:cs typeface="Sora"/>
                <a:sym typeface="Sora"/>
              </a:rPr>
              <a:t>Brochure downloads</a:t>
            </a:r>
            <a:endParaRPr sz="1900"/>
          </a:p>
        </p:txBody>
      </p:sp>
      <p:sp>
        <p:nvSpPr>
          <p:cNvPr id="244" name="Google Shape;244;p21"/>
          <p:cNvSpPr/>
          <p:nvPr/>
        </p:nvSpPr>
        <p:spPr>
          <a:xfrm>
            <a:off x="548640" y="2167319"/>
            <a:ext cx="4023300" cy="316800"/>
          </a:xfrm>
          <a:prstGeom prst="roundRect">
            <a:avLst>
              <a:gd fmla="val 25000" name="adj"/>
            </a:avLst>
          </a:prstGeom>
          <a:solidFill>
            <a:srgbClr val="C8102E"/>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45" name="Google Shape;245;p21"/>
          <p:cNvSpPr txBox="1"/>
          <p:nvPr/>
        </p:nvSpPr>
        <p:spPr>
          <a:xfrm>
            <a:off x="4693920" y="2155127"/>
            <a:ext cx="11583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C8102E"/>
                </a:solidFill>
                <a:latin typeface="Sora"/>
                <a:ea typeface="Sora"/>
                <a:cs typeface="Sora"/>
                <a:sym typeface="Sora"/>
              </a:rPr>
              <a:t>3,717</a:t>
            </a:r>
            <a:endParaRPr sz="1900"/>
          </a:p>
        </p:txBody>
      </p:sp>
      <p:sp>
        <p:nvSpPr>
          <p:cNvPr id="246" name="Google Shape;246;p21"/>
          <p:cNvSpPr txBox="1"/>
          <p:nvPr/>
        </p:nvSpPr>
        <p:spPr>
          <a:xfrm>
            <a:off x="548640" y="2728149"/>
            <a:ext cx="2804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0F2C5C"/>
                </a:solidFill>
                <a:latin typeface="Sora"/>
                <a:ea typeface="Sora"/>
                <a:cs typeface="Sora"/>
                <a:sym typeface="Sora"/>
              </a:rPr>
              <a:t>Apply Now clicks</a:t>
            </a:r>
            <a:endParaRPr sz="1900"/>
          </a:p>
        </p:txBody>
      </p:sp>
      <p:sp>
        <p:nvSpPr>
          <p:cNvPr id="247" name="Google Shape;247;p21"/>
          <p:cNvSpPr/>
          <p:nvPr/>
        </p:nvSpPr>
        <p:spPr>
          <a:xfrm>
            <a:off x="548640" y="3045141"/>
            <a:ext cx="3277500" cy="316800"/>
          </a:xfrm>
          <a:prstGeom prst="roundRect">
            <a:avLst>
              <a:gd fmla="val 25000" name="adj"/>
            </a:avLst>
          </a:prstGeom>
          <a:solidFill>
            <a:srgbClr val="0F2C5C"/>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48" name="Google Shape;248;p21"/>
          <p:cNvSpPr txBox="1"/>
          <p:nvPr/>
        </p:nvSpPr>
        <p:spPr>
          <a:xfrm>
            <a:off x="3948131" y="3032949"/>
            <a:ext cx="11583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F2C5C"/>
                </a:solidFill>
                <a:latin typeface="Sora"/>
                <a:ea typeface="Sora"/>
                <a:cs typeface="Sora"/>
                <a:sym typeface="Sora"/>
              </a:rPr>
              <a:t>3,028</a:t>
            </a:r>
            <a:endParaRPr sz="1900"/>
          </a:p>
        </p:txBody>
      </p:sp>
      <p:sp>
        <p:nvSpPr>
          <p:cNvPr id="249" name="Google Shape;249;p21"/>
          <p:cNvSpPr txBox="1"/>
          <p:nvPr/>
        </p:nvSpPr>
        <p:spPr>
          <a:xfrm>
            <a:off x="548640" y="3605973"/>
            <a:ext cx="2804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0F2C5C"/>
                </a:solidFill>
                <a:latin typeface="Sora"/>
                <a:ea typeface="Sora"/>
                <a:cs typeface="Sora"/>
                <a:sym typeface="Sora"/>
              </a:rPr>
              <a:t>Form submits (not clean leads)</a:t>
            </a:r>
            <a:endParaRPr sz="1900"/>
          </a:p>
        </p:txBody>
      </p:sp>
      <p:sp>
        <p:nvSpPr>
          <p:cNvPr id="250" name="Google Shape;250;p21"/>
          <p:cNvSpPr/>
          <p:nvPr/>
        </p:nvSpPr>
        <p:spPr>
          <a:xfrm>
            <a:off x="548640" y="3922965"/>
            <a:ext cx="2452800" cy="316800"/>
          </a:xfrm>
          <a:prstGeom prst="roundRect">
            <a:avLst>
              <a:gd fmla="val 25000" name="adj"/>
            </a:avLst>
          </a:prstGeom>
          <a:solidFill>
            <a:srgbClr val="0F2C5C"/>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51" name="Google Shape;251;p21"/>
          <p:cNvSpPr txBox="1"/>
          <p:nvPr/>
        </p:nvSpPr>
        <p:spPr>
          <a:xfrm>
            <a:off x="3123327" y="3910773"/>
            <a:ext cx="11583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F2C5C"/>
                </a:solidFill>
                <a:latin typeface="Sora"/>
                <a:ea typeface="Sora"/>
                <a:cs typeface="Sora"/>
                <a:sym typeface="Sora"/>
              </a:rPr>
              <a:t>2,266</a:t>
            </a:r>
            <a:endParaRPr sz="1900"/>
          </a:p>
        </p:txBody>
      </p:sp>
      <p:sp>
        <p:nvSpPr>
          <p:cNvPr id="252" name="Google Shape;252;p21"/>
          <p:cNvSpPr txBox="1"/>
          <p:nvPr/>
        </p:nvSpPr>
        <p:spPr>
          <a:xfrm>
            <a:off x="6315456" y="1518031"/>
            <a:ext cx="53037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ON THE B.TECH CSE PAGE ALONE</a:t>
            </a:r>
            <a:endParaRPr sz="1900"/>
          </a:p>
        </p:txBody>
      </p:sp>
      <p:sp>
        <p:nvSpPr>
          <p:cNvPr id="253" name="Google Shape;253;p21"/>
          <p:cNvSpPr/>
          <p:nvPr/>
        </p:nvSpPr>
        <p:spPr>
          <a:xfrm>
            <a:off x="6315456" y="1850327"/>
            <a:ext cx="5303700" cy="707100"/>
          </a:xfrm>
          <a:prstGeom prst="roundRect">
            <a:avLst>
              <a:gd fmla="val 7000" name="adj"/>
            </a:avLst>
          </a:prstGeom>
          <a:solidFill>
            <a:srgbClr val="FFFFFF"/>
          </a:solidFill>
          <a:ln cap="flat" cmpd="sng" w="12700">
            <a:solidFill>
              <a:srgbClr val="E3E8EF"/>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54" name="Google Shape;254;p21"/>
          <p:cNvSpPr txBox="1"/>
          <p:nvPr/>
        </p:nvSpPr>
        <p:spPr>
          <a:xfrm>
            <a:off x="6534912" y="2081975"/>
            <a:ext cx="3108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Brochure downloads</a:t>
            </a:r>
            <a:endParaRPr sz="1900"/>
          </a:p>
        </p:txBody>
      </p:sp>
      <p:sp>
        <p:nvSpPr>
          <p:cNvPr id="255" name="Google Shape;255;p21"/>
          <p:cNvSpPr txBox="1"/>
          <p:nvPr/>
        </p:nvSpPr>
        <p:spPr>
          <a:xfrm>
            <a:off x="10180320" y="2033205"/>
            <a:ext cx="1243500" cy="2925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1900" u="none" cap="none" strike="noStrike">
                <a:solidFill>
                  <a:srgbClr val="C8102E"/>
                </a:solidFill>
                <a:latin typeface="Sora"/>
                <a:ea typeface="Sora"/>
                <a:cs typeface="Sora"/>
                <a:sym typeface="Sora"/>
              </a:rPr>
              <a:t>483</a:t>
            </a:r>
            <a:endParaRPr sz="1900"/>
          </a:p>
        </p:txBody>
      </p:sp>
      <p:sp>
        <p:nvSpPr>
          <p:cNvPr id="256" name="Google Shape;256;p21"/>
          <p:cNvSpPr/>
          <p:nvPr/>
        </p:nvSpPr>
        <p:spPr>
          <a:xfrm>
            <a:off x="6315456" y="2630614"/>
            <a:ext cx="5303700" cy="707100"/>
          </a:xfrm>
          <a:prstGeom prst="roundRect">
            <a:avLst>
              <a:gd fmla="val 7000" name="adj"/>
            </a:avLst>
          </a:prstGeom>
          <a:solidFill>
            <a:srgbClr val="FFFFFF"/>
          </a:solidFill>
          <a:ln cap="flat" cmpd="sng" w="12700">
            <a:solidFill>
              <a:srgbClr val="E3E8EF"/>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57" name="Google Shape;257;p21"/>
          <p:cNvSpPr txBox="1"/>
          <p:nvPr/>
        </p:nvSpPr>
        <p:spPr>
          <a:xfrm>
            <a:off x="6534912" y="2862263"/>
            <a:ext cx="3108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Form submits</a:t>
            </a:r>
            <a:endParaRPr sz="1900"/>
          </a:p>
        </p:txBody>
      </p:sp>
      <p:sp>
        <p:nvSpPr>
          <p:cNvPr id="258" name="Google Shape;258;p21"/>
          <p:cNvSpPr txBox="1"/>
          <p:nvPr/>
        </p:nvSpPr>
        <p:spPr>
          <a:xfrm>
            <a:off x="10180320" y="2813495"/>
            <a:ext cx="1243500" cy="2925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1900" u="none" cap="none" strike="noStrike">
                <a:solidFill>
                  <a:srgbClr val="0F2C5C"/>
                </a:solidFill>
                <a:latin typeface="Sora"/>
                <a:ea typeface="Sora"/>
                <a:cs typeface="Sora"/>
                <a:sym typeface="Sora"/>
              </a:rPr>
              <a:t>190</a:t>
            </a:r>
            <a:endParaRPr sz="1900"/>
          </a:p>
        </p:txBody>
      </p:sp>
      <p:sp>
        <p:nvSpPr>
          <p:cNvPr id="259" name="Google Shape;259;p21"/>
          <p:cNvSpPr/>
          <p:nvPr/>
        </p:nvSpPr>
        <p:spPr>
          <a:xfrm>
            <a:off x="6315456" y="3410903"/>
            <a:ext cx="5303700" cy="707100"/>
          </a:xfrm>
          <a:prstGeom prst="roundRect">
            <a:avLst>
              <a:gd fmla="val 7000" name="adj"/>
            </a:avLst>
          </a:prstGeom>
          <a:solidFill>
            <a:srgbClr val="FFFFFF"/>
          </a:solidFill>
          <a:ln cap="flat" cmpd="sng" w="12700">
            <a:solidFill>
              <a:srgbClr val="E3E8EF"/>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60" name="Google Shape;260;p21"/>
          <p:cNvSpPr txBox="1"/>
          <p:nvPr/>
        </p:nvSpPr>
        <p:spPr>
          <a:xfrm>
            <a:off x="6534912" y="3642550"/>
            <a:ext cx="3108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Apply Now clicks</a:t>
            </a:r>
            <a:endParaRPr sz="1900"/>
          </a:p>
        </p:txBody>
      </p:sp>
      <p:sp>
        <p:nvSpPr>
          <p:cNvPr id="261" name="Google Shape;261;p21"/>
          <p:cNvSpPr txBox="1"/>
          <p:nvPr/>
        </p:nvSpPr>
        <p:spPr>
          <a:xfrm>
            <a:off x="10180320" y="3593782"/>
            <a:ext cx="1243500" cy="2925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1900" u="none" cap="none" strike="noStrike">
                <a:solidFill>
                  <a:srgbClr val="0F2C5C"/>
                </a:solidFill>
                <a:latin typeface="Sora"/>
                <a:ea typeface="Sora"/>
                <a:cs typeface="Sora"/>
                <a:sym typeface="Sora"/>
              </a:rPr>
              <a:t>47</a:t>
            </a:r>
            <a:endParaRPr sz="1900"/>
          </a:p>
        </p:txBody>
      </p:sp>
      <p:sp>
        <p:nvSpPr>
          <p:cNvPr id="262" name="Google Shape;262;p21"/>
          <p:cNvSpPr/>
          <p:nvPr/>
        </p:nvSpPr>
        <p:spPr>
          <a:xfrm>
            <a:off x="6315456" y="4191191"/>
            <a:ext cx="5303700" cy="707100"/>
          </a:xfrm>
          <a:prstGeom prst="roundRect">
            <a:avLst>
              <a:gd fmla="val 7000" name="adj"/>
            </a:avLst>
          </a:prstGeom>
          <a:solidFill>
            <a:srgbClr val="FFFFFF"/>
          </a:solidFill>
          <a:ln cap="flat" cmpd="sng" w="12700">
            <a:solidFill>
              <a:srgbClr val="E3E8EF"/>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63" name="Google Shape;263;p21"/>
          <p:cNvSpPr txBox="1"/>
          <p:nvPr/>
        </p:nvSpPr>
        <p:spPr>
          <a:xfrm>
            <a:off x="6534912" y="4422839"/>
            <a:ext cx="3108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Phone number clicks</a:t>
            </a:r>
            <a:endParaRPr sz="1900"/>
          </a:p>
        </p:txBody>
      </p:sp>
      <p:sp>
        <p:nvSpPr>
          <p:cNvPr id="264" name="Google Shape;264;p21"/>
          <p:cNvSpPr txBox="1"/>
          <p:nvPr/>
        </p:nvSpPr>
        <p:spPr>
          <a:xfrm>
            <a:off x="10180320" y="4374071"/>
            <a:ext cx="1243500" cy="2925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1900" u="none" cap="none" strike="noStrike">
                <a:solidFill>
                  <a:srgbClr val="0F2C5C"/>
                </a:solidFill>
                <a:latin typeface="Sora"/>
                <a:ea typeface="Sora"/>
                <a:cs typeface="Sora"/>
                <a:sym typeface="Sora"/>
              </a:rPr>
              <a:t>1</a:t>
            </a:r>
            <a:endParaRPr sz="1900"/>
          </a:p>
        </p:txBody>
      </p:sp>
      <p:sp>
        <p:nvSpPr>
          <p:cNvPr id="265" name="Google Shape;265;p21"/>
          <p:cNvSpPr/>
          <p:nvPr/>
        </p:nvSpPr>
        <p:spPr>
          <a:xfrm>
            <a:off x="6315456" y="4971479"/>
            <a:ext cx="5303700" cy="731700"/>
          </a:xfrm>
          <a:prstGeom prst="roundRect">
            <a:avLst>
              <a:gd fmla="val 7000" name="adj"/>
            </a:avLst>
          </a:prstGeom>
          <a:solidFill>
            <a:srgbClr val="E8EEF7"/>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66" name="Google Shape;266;p21"/>
          <p:cNvSpPr txBox="1"/>
          <p:nvPr/>
        </p:nvSpPr>
        <p:spPr>
          <a:xfrm>
            <a:off x="6522720" y="5117781"/>
            <a:ext cx="4888800" cy="507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500" u="none" cap="none" strike="noStrike">
                <a:solidFill>
                  <a:srgbClr val="0F2C5C"/>
                </a:solidFill>
                <a:latin typeface="Sora"/>
                <a:ea typeface="Sora"/>
                <a:cs typeface="Sora"/>
                <a:sym typeface="Sora"/>
              </a:rPr>
              <a:t>Here, brochure downloads outnumber Apply Now clicks 10 to 1.</a:t>
            </a:r>
            <a:endParaRPr sz="2100"/>
          </a:p>
        </p:txBody>
      </p:sp>
      <p:sp>
        <p:nvSpPr>
          <p:cNvPr id="267" name="Google Shape;267;p21"/>
          <p:cNvSpPr/>
          <p:nvPr/>
        </p:nvSpPr>
        <p:spPr>
          <a:xfrm>
            <a:off x="548640" y="5751767"/>
            <a:ext cx="11070300" cy="438900"/>
          </a:xfrm>
          <a:prstGeom prst="roundRect">
            <a:avLst>
              <a:gd fmla="val 18000" name="adj"/>
            </a:avLst>
          </a:prstGeom>
          <a:solidFill>
            <a:srgbClr val="C8102E"/>
          </a:solidFill>
          <a:ln>
            <a:noFill/>
          </a:ln>
        </p:spPr>
        <p:txBody>
          <a:bodyPr anchorCtr="0" anchor="ctr" bIns="0" lIns="170675" spcFirstLastPara="1" rIns="121900" wrap="square" tIns="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The strongest signal of interest on the site is the one we choose not to capture.</a:t>
            </a:r>
            <a:endParaRPr sz="1900"/>
          </a:p>
        </p:txBody>
      </p:sp>
      <p:sp>
        <p:nvSpPr>
          <p:cNvPr id="268" name="Rounded Rectangle 267"/>
          <p:cNvSpPr/>
          <p:nvPr/>
        </p:nvSpPr>
        <p:spPr>
          <a:xfrm>
            <a:off x="10703052" y="274320"/>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27"/>
          <p:cNvSpPr txBox="1"/>
          <p:nvPr/>
        </p:nvSpPr>
        <p:spPr>
          <a:xfrm>
            <a:off x="328411" y="234395"/>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C8102E"/>
                </a:solidFill>
                <a:latin typeface="Sora"/>
                <a:ea typeface="Calibri"/>
                <a:cs typeface="Calibri"/>
                <a:sym typeface="Calibri"/>
              </a:rPr>
              <a:t>COURSE RESEARCHER  ·  CURRENT STATE</a:t>
            </a:r>
            <a:r>
              <a:rPr b="1" lang="en-US" sz="1300" u="none">
                <a:solidFill>
                  <a:srgbClr val="C8102E"/>
                </a:solidFill>
                <a:latin typeface="Sora"/>
                <a:ea typeface="Calibri"/>
                <a:cs typeface="Calibri"/>
                <a:sym typeface="Calibri"/>
              </a:rPr>
              <a:t/>
            </a:r>
            <a:endParaRPr b="0" i="0" sz="1300" u="none" cap="none" strike="noStrike">
              <a:solidFill>
                <a:schemeClr val="dk1"/>
              </a:solidFill>
              <a:latin typeface="Calibri"/>
              <a:ea typeface="Calibri"/>
              <a:cs typeface="Calibri"/>
              <a:sym typeface="Calibri"/>
            </a:endParaRPr>
          </a:p>
        </p:txBody>
      </p:sp>
      <p:sp>
        <p:nvSpPr>
          <p:cNvPr id="423" name="Google Shape;423;p27"/>
          <p:cNvSpPr txBox="1"/>
          <p:nvPr/>
        </p:nvSpPr>
        <p:spPr>
          <a:xfrm>
            <a:off x="328411" y="572716"/>
            <a:ext cx="11247300" cy="5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320"/>
              </a:buClr>
              <a:buSzPts val="2700"/>
              <a:buFont typeface="Cambria"/>
              <a:buNone/>
            </a:pPr>
            <a:r>
              <a:rPr b="1" i="0" lang="en-US" sz="2700" u="none" cap="none" strike="noStrike">
                <a:solidFill>
                  <a:srgbClr val="2B2320"/>
                </a:solidFill>
                <a:latin typeface="Cambria"/>
                <a:ea typeface="Cambria"/>
                <a:cs typeface="Cambria"/>
                <a:sym typeface="Cambria"/>
              </a:rPr>
              <a:t>Two phone-width folds, as visitors actually see them</a:t>
            </a:r>
            <a:endParaRPr b="0" i="0" sz="2700" u="none" cap="none" strike="noStrike">
              <a:solidFill>
                <a:schemeClr val="dk1"/>
              </a:solidFill>
              <a:latin typeface="Calibri"/>
              <a:ea typeface="Calibri"/>
              <a:cs typeface="Calibri"/>
              <a:sym typeface="Calibri"/>
            </a:endParaRPr>
          </a:p>
        </p:txBody>
      </p:sp>
      <p:pic>
        <p:nvPicPr>
          <p:cNvPr descr="/tmp/mr-audit/shots/annotated-mobile-fold1.png" id="424" name="Google Shape;424;p27"/>
          <p:cNvPicPr preferRelativeResize="0"/>
          <p:nvPr/>
        </p:nvPicPr>
        <p:blipFill rotWithShape="1">
          <a:blip r:embed="rId3">
            <a:alphaModFix/>
          </a:blip>
          <a:srcRect b="0" l="0" r="0" t="0"/>
          <a:stretch/>
        </p:blipFill>
        <p:spPr>
          <a:xfrm>
            <a:off x="330601" y="1322882"/>
            <a:ext cx="2373901" cy="5137365"/>
          </a:xfrm>
          <a:prstGeom prst="rect">
            <a:avLst/>
          </a:prstGeom>
          <a:noFill/>
          <a:ln>
            <a:noFill/>
          </a:ln>
          <a:effectLst>
            <a:outerShdw blurRad="57150" rotWithShape="0" algn="bl" dir="5400000" dist="19050">
              <a:srgbClr val="000000">
                <a:alpha val="50000"/>
              </a:srgbClr>
            </a:outerShdw>
          </a:effectLst>
        </p:spPr>
      </p:pic>
      <p:pic>
        <p:nvPicPr>
          <p:cNvPr descr="/tmp/mr-audit/shots/annotated-mobile-fold2.png" id="425" name="Google Shape;425;p27"/>
          <p:cNvPicPr preferRelativeResize="0"/>
          <p:nvPr/>
        </p:nvPicPr>
        <p:blipFill rotWithShape="1">
          <a:blip r:embed="rId4">
            <a:alphaModFix/>
          </a:blip>
          <a:srcRect b="0" l="0" r="0" t="0"/>
          <a:stretch/>
        </p:blipFill>
        <p:spPr>
          <a:xfrm>
            <a:off x="2983816" y="1322882"/>
            <a:ext cx="2373901" cy="5137365"/>
          </a:xfrm>
          <a:prstGeom prst="rect">
            <a:avLst/>
          </a:prstGeom>
          <a:noFill/>
          <a:ln>
            <a:noFill/>
          </a:ln>
          <a:effectLst>
            <a:outerShdw blurRad="57150" rotWithShape="0" algn="bl" dir="5400000" dist="19050">
              <a:srgbClr val="000000">
                <a:alpha val="50000"/>
              </a:srgbClr>
            </a:outerShdw>
          </a:effectLst>
        </p:spPr>
      </p:pic>
      <p:sp>
        <p:nvSpPr>
          <p:cNvPr id="426" name="Google Shape;426;p27"/>
          <p:cNvSpPr txBox="1"/>
          <p:nvPr/>
        </p:nvSpPr>
        <p:spPr>
          <a:xfrm>
            <a:off x="330601" y="6520124"/>
            <a:ext cx="2373900" cy="24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100"/>
              <a:buFont typeface="Calibri"/>
              <a:buNone/>
            </a:pPr>
            <a:r>
              <a:rPr b="1" i="0" lang="en-US" sz="1100" u="none" cap="none" strike="noStrike">
                <a:solidFill>
                  <a:schemeClr val="dk1"/>
                </a:solidFill>
                <a:latin typeface="Calibri"/>
                <a:ea typeface="Calibri"/>
                <a:cs typeface="Calibri"/>
                <a:sym typeface="Calibri"/>
              </a:rPr>
              <a:t>FOLD 1</a:t>
            </a:r>
            <a:endParaRPr b="0" i="0" sz="1100" u="none" cap="none" strike="noStrike">
              <a:solidFill>
                <a:schemeClr val="dk1"/>
              </a:solidFill>
              <a:latin typeface="Calibri"/>
              <a:ea typeface="Calibri"/>
              <a:cs typeface="Calibri"/>
              <a:sym typeface="Calibri"/>
            </a:endParaRPr>
          </a:p>
        </p:txBody>
      </p:sp>
      <p:sp>
        <p:nvSpPr>
          <p:cNvPr id="427" name="Google Shape;427;p27"/>
          <p:cNvSpPr txBox="1"/>
          <p:nvPr/>
        </p:nvSpPr>
        <p:spPr>
          <a:xfrm>
            <a:off x="2983816" y="6520124"/>
            <a:ext cx="2373900" cy="24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100"/>
              <a:buFont typeface="Calibri"/>
              <a:buNone/>
            </a:pPr>
            <a:r>
              <a:rPr b="1" i="0" lang="en-US" sz="1100" u="none" cap="none" strike="noStrike">
                <a:solidFill>
                  <a:schemeClr val="dk1"/>
                </a:solidFill>
                <a:latin typeface="Calibri"/>
                <a:ea typeface="Calibri"/>
                <a:cs typeface="Calibri"/>
                <a:sym typeface="Calibri"/>
              </a:rPr>
              <a:t>FOLD 2</a:t>
            </a:r>
            <a:endParaRPr b="0" i="0" sz="1100" u="none" cap="none" strike="noStrike">
              <a:solidFill>
                <a:schemeClr val="dk1"/>
              </a:solidFill>
              <a:latin typeface="Calibri"/>
              <a:ea typeface="Calibri"/>
              <a:cs typeface="Calibri"/>
              <a:sym typeface="Calibri"/>
            </a:endParaRPr>
          </a:p>
        </p:txBody>
      </p:sp>
      <p:sp>
        <p:nvSpPr>
          <p:cNvPr id="428" name="Google Shape;428;p27"/>
          <p:cNvSpPr/>
          <p:nvPr/>
        </p:nvSpPr>
        <p:spPr>
          <a:xfrm>
            <a:off x="5476779" y="1572768"/>
            <a:ext cx="6257700" cy="4983600"/>
          </a:xfrm>
          <a:prstGeom prst="roundRect">
            <a:avLst>
              <a:gd fmla="val 1468" name="adj"/>
            </a:avLst>
          </a:prstGeom>
          <a:solidFill>
            <a:srgbClr val="FCF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7"/>
          <p:cNvSpPr txBox="1"/>
          <p:nvPr/>
        </p:nvSpPr>
        <p:spPr>
          <a:xfrm>
            <a:off x="5751099" y="1773936"/>
            <a:ext cx="5708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200"/>
              <a:buFont typeface="Calibri"/>
              <a:buNone/>
            </a:pPr>
            <a:r>
              <a:rPr b="1" i="0" lang="en-US" sz="1200" u="none" cap="none" strike="noStrike">
                <a:solidFill>
                  <a:srgbClr val="990011"/>
                </a:solidFill>
                <a:latin typeface="Calibri"/>
                <a:ea typeface="Calibri"/>
                <a:cs typeface="Calibri"/>
                <a:sym typeface="Calibri"/>
              </a:rPr>
              <a:t>FOLD 1</a:t>
            </a:r>
            <a:endParaRPr b="0" i="0" sz="1200" u="none" cap="none" strike="noStrike">
              <a:solidFill>
                <a:schemeClr val="dk1"/>
              </a:solidFill>
              <a:latin typeface="Calibri"/>
              <a:ea typeface="Calibri"/>
              <a:cs typeface="Calibri"/>
              <a:sym typeface="Calibri"/>
            </a:endParaRPr>
          </a:p>
        </p:txBody>
      </p:sp>
      <p:sp>
        <p:nvSpPr>
          <p:cNvPr id="430" name="Google Shape;430;p27"/>
          <p:cNvSpPr/>
          <p:nvPr/>
        </p:nvSpPr>
        <p:spPr>
          <a:xfrm>
            <a:off x="5751099" y="2121408"/>
            <a:ext cx="292500" cy="292500"/>
          </a:xfrm>
          <a:prstGeom prst="ellipse">
            <a:avLst/>
          </a:prstGeom>
          <a:solidFill>
            <a:srgbClr val="990011"/>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7"/>
          <p:cNvSpPr txBox="1"/>
          <p:nvPr/>
        </p:nvSpPr>
        <p:spPr>
          <a:xfrm>
            <a:off x="5751099" y="2121408"/>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32" name="Google Shape;432;p27"/>
          <p:cNvSpPr txBox="1"/>
          <p:nvPr/>
        </p:nvSpPr>
        <p:spPr>
          <a:xfrm>
            <a:off x="6190011" y="2075688"/>
            <a:ext cx="5297700" cy="566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B2320"/>
              </a:buClr>
              <a:buSzPts val="1200"/>
              <a:buFont typeface="Calibri"/>
              <a:buNone/>
            </a:pPr>
            <a:r>
              <a:rPr b="0" i="0" lang="en-US" sz="1200" u="none" cap="none" strike="noStrike">
                <a:solidFill>
                  <a:srgbClr val="2B2320"/>
                </a:solidFill>
                <a:latin typeface="Calibri"/>
                <a:ea typeface="Calibri"/>
                <a:cs typeface="Calibri"/>
                <a:sym typeface="Calibri"/>
              </a:rPr>
              <a:t>Four stat icons look identical — only “Brochure” and “Fee Details” are actual links.</a:t>
            </a:r>
            <a:endParaRPr b="0" i="0" sz="1200" u="none" cap="none" strike="noStrike">
              <a:solidFill>
                <a:schemeClr val="dk1"/>
              </a:solidFill>
              <a:latin typeface="Calibri"/>
              <a:ea typeface="Calibri"/>
              <a:cs typeface="Calibri"/>
              <a:sym typeface="Calibri"/>
            </a:endParaRPr>
          </a:p>
        </p:txBody>
      </p:sp>
      <p:sp>
        <p:nvSpPr>
          <p:cNvPr id="433" name="Google Shape;433;p27"/>
          <p:cNvSpPr/>
          <p:nvPr/>
        </p:nvSpPr>
        <p:spPr>
          <a:xfrm>
            <a:off x="5751099" y="2724912"/>
            <a:ext cx="292500" cy="292500"/>
          </a:xfrm>
          <a:prstGeom prst="ellipse">
            <a:avLst/>
          </a:prstGeom>
          <a:solidFill>
            <a:srgbClr val="990011"/>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7"/>
          <p:cNvSpPr txBox="1"/>
          <p:nvPr/>
        </p:nvSpPr>
        <p:spPr>
          <a:xfrm>
            <a:off x="5751099" y="272491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35" name="Google Shape;435;p27"/>
          <p:cNvSpPr txBox="1"/>
          <p:nvPr/>
        </p:nvSpPr>
        <p:spPr>
          <a:xfrm>
            <a:off x="6190011" y="2679192"/>
            <a:ext cx="5297700" cy="566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B2320"/>
              </a:buClr>
              <a:buSzPts val="1200"/>
              <a:buFont typeface="Calibri"/>
              <a:buNone/>
            </a:pPr>
            <a:r>
              <a:rPr b="0" i="0" lang="en-US" sz="1200" u="none" cap="none" strike="noStrike">
                <a:solidFill>
                  <a:srgbClr val="2B2320"/>
                </a:solidFill>
                <a:latin typeface="Calibri"/>
                <a:ea typeface="Calibri"/>
                <a:cs typeface="Calibri"/>
                <a:sym typeface="Calibri"/>
              </a:rPr>
              <a:t>A sticky “Enquire Now” tab sits beside the title, a 3rd CTA before any content.</a:t>
            </a:r>
            <a:endParaRPr b="0" i="0" sz="1200" u="none" cap="none" strike="noStrike">
              <a:solidFill>
                <a:schemeClr val="dk1"/>
              </a:solidFill>
              <a:latin typeface="Calibri"/>
              <a:ea typeface="Calibri"/>
              <a:cs typeface="Calibri"/>
              <a:sym typeface="Calibri"/>
            </a:endParaRPr>
          </a:p>
        </p:txBody>
      </p:sp>
      <p:sp>
        <p:nvSpPr>
          <p:cNvPr id="436" name="Google Shape;436;p27"/>
          <p:cNvSpPr/>
          <p:nvPr/>
        </p:nvSpPr>
        <p:spPr>
          <a:xfrm>
            <a:off x="5751099" y="3328416"/>
            <a:ext cx="292500" cy="292500"/>
          </a:xfrm>
          <a:prstGeom prst="ellipse">
            <a:avLst/>
          </a:prstGeom>
          <a:solidFill>
            <a:srgbClr val="990011"/>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7"/>
          <p:cNvSpPr txBox="1"/>
          <p:nvPr/>
        </p:nvSpPr>
        <p:spPr>
          <a:xfrm>
            <a:off x="5751099" y="3328416"/>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38" name="Google Shape;438;p27"/>
          <p:cNvSpPr txBox="1"/>
          <p:nvPr/>
        </p:nvSpPr>
        <p:spPr>
          <a:xfrm>
            <a:off x="6190011" y="3282696"/>
            <a:ext cx="5297700" cy="566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B2320"/>
              </a:buClr>
              <a:buSzPts val="1200"/>
              <a:buFont typeface="Calibri"/>
              <a:buNone/>
            </a:pPr>
            <a:r>
              <a:rPr b="0" i="0" lang="en-US" sz="1200" u="none" cap="none" strike="noStrike">
                <a:solidFill>
                  <a:srgbClr val="2B2320"/>
                </a:solidFill>
                <a:latin typeface="Calibri"/>
                <a:ea typeface="Calibri"/>
                <a:cs typeface="Calibri"/>
                <a:sym typeface="Calibri"/>
              </a:rPr>
              <a:t>A second “Apply Now” button repeats right next to the page title.</a:t>
            </a:r>
            <a:endParaRPr b="0" i="0" sz="1200" u="none" cap="none" strike="noStrike">
              <a:solidFill>
                <a:schemeClr val="dk1"/>
              </a:solidFill>
              <a:latin typeface="Calibri"/>
              <a:ea typeface="Calibri"/>
              <a:cs typeface="Calibri"/>
              <a:sym typeface="Calibri"/>
            </a:endParaRPr>
          </a:p>
        </p:txBody>
      </p:sp>
      <p:sp>
        <p:nvSpPr>
          <p:cNvPr id="439" name="Google Shape;439;p27"/>
          <p:cNvSpPr/>
          <p:nvPr/>
        </p:nvSpPr>
        <p:spPr>
          <a:xfrm>
            <a:off x="5751099" y="3931920"/>
            <a:ext cx="292500" cy="292500"/>
          </a:xfrm>
          <a:prstGeom prst="ellipse">
            <a:avLst/>
          </a:prstGeom>
          <a:solidFill>
            <a:srgbClr val="990011"/>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7"/>
          <p:cNvSpPr txBox="1"/>
          <p:nvPr/>
        </p:nvSpPr>
        <p:spPr>
          <a:xfrm>
            <a:off x="5751099" y="3931920"/>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441" name="Google Shape;441;p27"/>
          <p:cNvSpPr txBox="1"/>
          <p:nvPr/>
        </p:nvSpPr>
        <p:spPr>
          <a:xfrm>
            <a:off x="6190011" y="3886200"/>
            <a:ext cx="5297700" cy="566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B2320"/>
              </a:buClr>
              <a:buSzPts val="1200"/>
              <a:buFont typeface="Calibri"/>
              <a:buNone/>
            </a:pPr>
            <a:r>
              <a:rPr b="0" i="0" lang="en-US" sz="1200" u="none" cap="none" strike="noStrike">
                <a:solidFill>
                  <a:srgbClr val="2B2320"/>
                </a:solidFill>
                <a:latin typeface="Calibri"/>
                <a:ea typeface="Calibri"/>
                <a:cs typeface="Calibri"/>
                <a:sym typeface="Calibri"/>
              </a:rPr>
              <a:t>First visual block is a generic institute campaign — no CSE content yet.</a:t>
            </a:r>
            <a:endParaRPr b="0" i="0" sz="1200" u="none" cap="none" strike="noStrike">
              <a:solidFill>
                <a:schemeClr val="dk1"/>
              </a:solidFill>
              <a:latin typeface="Calibri"/>
              <a:ea typeface="Calibri"/>
              <a:cs typeface="Calibri"/>
              <a:sym typeface="Calibri"/>
            </a:endParaRPr>
          </a:p>
        </p:txBody>
      </p:sp>
      <p:sp>
        <p:nvSpPr>
          <p:cNvPr id="442" name="Google Shape;442;p27"/>
          <p:cNvSpPr/>
          <p:nvPr/>
        </p:nvSpPr>
        <p:spPr>
          <a:xfrm>
            <a:off x="5751099" y="4535424"/>
            <a:ext cx="292500" cy="292500"/>
          </a:xfrm>
          <a:prstGeom prst="ellipse">
            <a:avLst/>
          </a:prstGeom>
          <a:solidFill>
            <a:srgbClr val="990011"/>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7"/>
          <p:cNvSpPr txBox="1"/>
          <p:nvPr/>
        </p:nvSpPr>
        <p:spPr>
          <a:xfrm>
            <a:off x="5751099" y="4535424"/>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444" name="Google Shape;444;p27"/>
          <p:cNvSpPr txBox="1"/>
          <p:nvPr/>
        </p:nvSpPr>
        <p:spPr>
          <a:xfrm>
            <a:off x="6190011" y="4489704"/>
            <a:ext cx="5297700" cy="566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B2320"/>
              </a:buClr>
              <a:buSzPts val="1200"/>
              <a:buFont typeface="Calibri"/>
              <a:buNone/>
            </a:pPr>
            <a:r>
              <a:rPr b="0" i="0" lang="en-US" sz="1200" u="none" cap="none" strike="noStrike">
                <a:solidFill>
                  <a:srgbClr val="2B2320"/>
                </a:solidFill>
                <a:latin typeface="Calibri"/>
                <a:ea typeface="Calibri"/>
                <a:cs typeface="Calibri"/>
                <a:sym typeface="Calibri"/>
              </a:rPr>
              <a:t>A chat teaser and bubble sit directly over the lead-capture form.</a:t>
            </a:r>
            <a:endParaRPr b="0" i="0" sz="1200" u="none" cap="none" strike="noStrike">
              <a:solidFill>
                <a:schemeClr val="dk1"/>
              </a:solidFill>
              <a:latin typeface="Calibri"/>
              <a:ea typeface="Calibri"/>
              <a:cs typeface="Calibri"/>
              <a:sym typeface="Calibri"/>
            </a:endParaRPr>
          </a:p>
        </p:txBody>
      </p:sp>
      <p:sp>
        <p:nvSpPr>
          <p:cNvPr id="445" name="Google Shape;445;p27"/>
          <p:cNvSpPr txBox="1"/>
          <p:nvPr/>
        </p:nvSpPr>
        <p:spPr>
          <a:xfrm>
            <a:off x="5751099" y="5120640"/>
            <a:ext cx="5708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200"/>
              <a:buFont typeface="Calibri"/>
              <a:buNone/>
            </a:pPr>
            <a:r>
              <a:rPr b="1" i="0" lang="en-US" sz="1200" u="none" cap="none" strike="noStrike">
                <a:solidFill>
                  <a:srgbClr val="990011"/>
                </a:solidFill>
                <a:latin typeface="Calibri"/>
                <a:ea typeface="Calibri"/>
                <a:cs typeface="Calibri"/>
                <a:sym typeface="Calibri"/>
              </a:rPr>
              <a:t>FOLD 2</a:t>
            </a:r>
            <a:endParaRPr b="0" i="0" sz="1200" u="none" cap="none" strike="noStrike">
              <a:solidFill>
                <a:schemeClr val="dk1"/>
              </a:solidFill>
              <a:latin typeface="Calibri"/>
              <a:ea typeface="Calibri"/>
              <a:cs typeface="Calibri"/>
              <a:sym typeface="Calibri"/>
            </a:endParaRPr>
          </a:p>
        </p:txBody>
      </p:sp>
      <p:sp>
        <p:nvSpPr>
          <p:cNvPr id="446" name="Google Shape;446;p27"/>
          <p:cNvSpPr/>
          <p:nvPr/>
        </p:nvSpPr>
        <p:spPr>
          <a:xfrm>
            <a:off x="5751099" y="5468112"/>
            <a:ext cx="292500" cy="292500"/>
          </a:xfrm>
          <a:prstGeom prst="ellipse">
            <a:avLst/>
          </a:prstGeom>
          <a:solidFill>
            <a:srgbClr val="990011"/>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7"/>
          <p:cNvSpPr txBox="1"/>
          <p:nvPr/>
        </p:nvSpPr>
        <p:spPr>
          <a:xfrm>
            <a:off x="5751099" y="546811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448" name="Google Shape;448;p27"/>
          <p:cNvSpPr txBox="1"/>
          <p:nvPr/>
        </p:nvSpPr>
        <p:spPr>
          <a:xfrm>
            <a:off x="6190011" y="5422392"/>
            <a:ext cx="5297700" cy="566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B2320"/>
              </a:buClr>
              <a:buSzPts val="1200"/>
              <a:buFont typeface="Calibri"/>
              <a:buNone/>
            </a:pPr>
            <a:r>
              <a:rPr b="0" i="0" lang="en-US" sz="1200" u="none" cap="none" strike="noStrike">
                <a:solidFill>
                  <a:srgbClr val="2B2320"/>
                </a:solidFill>
                <a:latin typeface="Calibri"/>
                <a:ea typeface="Calibri"/>
                <a:cs typeface="Calibri"/>
                <a:sym typeface="Calibri"/>
              </a:rPr>
              <a:t>The in-page tab nav (Overview / Benefit / Eligibility…) is clipped by the sticky tab.</a:t>
            </a:r>
            <a:endParaRPr b="0" i="0" sz="1200" u="none" cap="none" strike="noStrike">
              <a:solidFill>
                <a:schemeClr val="dk1"/>
              </a:solidFill>
              <a:latin typeface="Calibri"/>
              <a:ea typeface="Calibri"/>
              <a:cs typeface="Calibri"/>
              <a:sym typeface="Calibri"/>
            </a:endParaRPr>
          </a:p>
        </p:txBody>
      </p:sp>
      <p:sp>
        <p:nvSpPr>
          <p:cNvPr id="449" name="Google Shape;449;p27"/>
          <p:cNvSpPr/>
          <p:nvPr/>
        </p:nvSpPr>
        <p:spPr>
          <a:xfrm>
            <a:off x="5751099" y="6071616"/>
            <a:ext cx="292500" cy="292500"/>
          </a:xfrm>
          <a:prstGeom prst="ellipse">
            <a:avLst/>
          </a:prstGeom>
          <a:solidFill>
            <a:srgbClr val="990011"/>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7"/>
          <p:cNvSpPr txBox="1"/>
          <p:nvPr/>
        </p:nvSpPr>
        <p:spPr>
          <a:xfrm>
            <a:off x="5751099" y="6071616"/>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sp>
        <p:nvSpPr>
          <p:cNvPr id="451" name="Google Shape;451;p27"/>
          <p:cNvSpPr txBox="1"/>
          <p:nvPr/>
        </p:nvSpPr>
        <p:spPr>
          <a:xfrm>
            <a:off x="6190011" y="6025896"/>
            <a:ext cx="5297700" cy="566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B2320"/>
              </a:buClr>
              <a:buSzPts val="1200"/>
              <a:buFont typeface="Calibri"/>
              <a:buNone/>
            </a:pPr>
            <a:r>
              <a:rPr b="0" i="0" lang="en-US" sz="1200" u="none" cap="none" strike="noStrike">
                <a:solidFill>
                  <a:srgbClr val="2B2320"/>
                </a:solidFill>
                <a:latin typeface="Calibri"/>
                <a:ea typeface="Calibri"/>
                <a:cs typeface="Calibri"/>
                <a:sym typeface="Calibri"/>
              </a:rPr>
              <a:t>That same sticky tab covers live paragraph text as the page scrolls.</a:t>
            </a:r>
            <a:endParaRPr b="0" i="0" sz="1200" u="none" cap="none" strike="noStrike">
              <a:solidFill>
                <a:schemeClr val="dk1"/>
              </a:solidFill>
              <a:latin typeface="Calibri"/>
              <a:ea typeface="Calibri"/>
              <a:cs typeface="Calibri"/>
              <a:sym typeface="Calibri"/>
            </a:endParaRPr>
          </a:p>
        </p:txBody>
      </p:sp>
      <p:sp>
        <p:nvSpPr>
          <p:cNvPr id="452" name="Rounded Rectangle 451"/>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COURSE RESEARCHER  ·  CURRENT STATE</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The fee is already on the page — thirteen screens down</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B.Tech CSE, 390px mobile. The fold-1 “Fee Details” link jumps to a block at 11,288px of 16,456px</a:t>
            </a:r>
          </a:p>
        </p:txBody>
      </p:sp>
      <p:pic>
        <p:nvPicPr>
          <p:cNvPr id="5" name="Picture 4" descr="cse_m_f1.png"/>
          <p:cNvPicPr>
            <a:picLocks noChangeAspect="1"/>
          </p:cNvPicPr>
          <p:nvPr/>
        </p:nvPicPr>
        <p:blipFill>
          <a:blip r:embed="rId2"/>
          <a:stretch>
            <a:fillRect/>
          </a:stretch>
        </p:blipFill>
        <p:spPr>
          <a:xfrm>
            <a:off x="548640" y="1508760"/>
            <a:ext cx="2197160" cy="4754880"/>
          </a:xfrm>
          <a:prstGeom prst="rect">
            <a:avLst/>
          </a:prstGeom>
          <a:ln w="12700">
            <a:solidFill>
              <a:srgbClr val="D8DFE8"/>
            </a:solidFill>
          </a:ln>
        </p:spPr>
      </p:pic>
      <p:pic>
        <p:nvPicPr>
          <p:cNvPr id="6" name="Picture 5" descr="cse_fee_m.png"/>
          <p:cNvPicPr>
            <a:picLocks noChangeAspect="1"/>
          </p:cNvPicPr>
          <p:nvPr/>
        </p:nvPicPr>
        <p:blipFill>
          <a:blip r:embed="rId3"/>
          <a:stretch>
            <a:fillRect/>
          </a:stretch>
        </p:blipFill>
        <p:spPr>
          <a:xfrm>
            <a:off x="3065840" y="1508760"/>
            <a:ext cx="2197160" cy="4754880"/>
          </a:xfrm>
          <a:prstGeom prst="rect">
            <a:avLst/>
          </a:prstGeom>
          <a:ln w="12700">
            <a:solidFill>
              <a:srgbClr val="D8DFE8"/>
            </a:solidFill>
          </a:ln>
        </p:spPr>
      </p:pic>
      <p:sp>
        <p:nvSpPr>
          <p:cNvPr id="7" name="Oval 6"/>
          <p:cNvSpPr/>
          <p:nvPr/>
        </p:nvSpPr>
        <p:spPr>
          <a:xfrm>
            <a:off x="2193693" y="3151863"/>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1</a:t>
            </a:r>
          </a:p>
        </p:txBody>
      </p:sp>
      <p:sp>
        <p:nvSpPr>
          <p:cNvPr id="8" name="Oval 7"/>
          <p:cNvSpPr/>
          <p:nvPr/>
        </p:nvSpPr>
        <p:spPr>
          <a:xfrm>
            <a:off x="4618803" y="2075818"/>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2</a:t>
            </a:r>
          </a:p>
        </p:txBody>
      </p:sp>
      <p:sp>
        <p:nvSpPr>
          <p:cNvPr id="9" name="Oval 8"/>
          <p:cNvSpPr/>
          <p:nvPr/>
        </p:nvSpPr>
        <p:spPr>
          <a:xfrm>
            <a:off x="3773741" y="3456085"/>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3</a:t>
            </a:r>
          </a:p>
        </p:txBody>
      </p:sp>
      <p:sp>
        <p:nvSpPr>
          <p:cNvPr id="10" name="Oval 9"/>
          <p:cNvSpPr/>
          <p:nvPr/>
        </p:nvSpPr>
        <p:spPr>
          <a:xfrm>
            <a:off x="5013165" y="3061723"/>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4</a:t>
            </a:r>
          </a:p>
        </p:txBody>
      </p:sp>
      <p:sp>
        <p:nvSpPr>
          <p:cNvPr id="11" name="TextBox 10"/>
          <p:cNvSpPr txBox="1"/>
          <p:nvPr/>
        </p:nvSpPr>
        <p:spPr>
          <a:xfrm>
            <a:off x="548640" y="6309360"/>
            <a:ext cx="2197160" cy="182880"/>
          </a:xfrm>
          <a:prstGeom prst="rect">
            <a:avLst/>
          </a:prstGeom>
          <a:noFill/>
        </p:spPr>
        <p:txBody>
          <a:bodyPr wrap="square" lIns="0" rIns="0" tIns="0" bIns="0" anchor="t">
            <a:spAutoFit/>
          </a:bodyPr>
          <a:lstStyle/>
          <a:p>
            <a:pPr algn="ctr"/>
            <a:r>
              <a:rPr sz="800" b="1" i="0">
                <a:solidFill>
                  <a:srgbClr val="96A1B0"/>
                </a:solidFill>
                <a:latin typeface="Sora"/>
              </a:rPr>
              <a:t>FOLD 1</a:t>
            </a:r>
          </a:p>
        </p:txBody>
      </p:sp>
      <p:sp>
        <p:nvSpPr>
          <p:cNvPr id="12" name="TextBox 11"/>
          <p:cNvSpPr txBox="1"/>
          <p:nvPr/>
        </p:nvSpPr>
        <p:spPr>
          <a:xfrm>
            <a:off x="3065840" y="6309360"/>
            <a:ext cx="2197160" cy="182880"/>
          </a:xfrm>
          <a:prstGeom prst="rect">
            <a:avLst/>
          </a:prstGeom>
          <a:noFill/>
        </p:spPr>
        <p:txBody>
          <a:bodyPr wrap="square" lIns="0" rIns="0" tIns="0" bIns="0" anchor="t">
            <a:spAutoFit/>
          </a:bodyPr>
          <a:lstStyle/>
          <a:p>
            <a:pPr algn="ctr"/>
            <a:r>
              <a:rPr sz="800" b="1" i="0">
                <a:solidFill>
                  <a:srgbClr val="96A1B0"/>
                </a:solidFill>
                <a:latin typeface="Sora"/>
              </a:rPr>
              <a:t>SCREEN ~14 · FEE BLOCK</a:t>
            </a:r>
          </a:p>
        </p:txBody>
      </p:sp>
      <p:sp>
        <p:nvSpPr>
          <p:cNvPr id="13" name="Oval 12"/>
          <p:cNvSpPr/>
          <p:nvPr/>
        </p:nvSpPr>
        <p:spPr>
          <a:xfrm>
            <a:off x="5674480" y="1554480"/>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1</a:t>
            </a:r>
          </a:p>
        </p:txBody>
      </p:sp>
      <p:sp>
        <p:nvSpPr>
          <p:cNvPr id="14" name="TextBox 13"/>
          <p:cNvSpPr txBox="1"/>
          <p:nvPr/>
        </p:nvSpPr>
        <p:spPr>
          <a:xfrm>
            <a:off x="6085960" y="1536192"/>
            <a:ext cx="5526919" cy="777240"/>
          </a:xfrm>
          <a:prstGeom prst="rect">
            <a:avLst/>
          </a:prstGeom>
          <a:noFill/>
        </p:spPr>
        <p:txBody>
          <a:bodyPr wrap="square" lIns="0" rIns="0" tIns="0" bIns="0" anchor="t">
            <a:spAutoFit/>
          </a:bodyPr>
          <a:lstStyle/>
          <a:p>
            <a:pPr algn="l"/>
            <a:r>
              <a:rPr sz="1050" b="0" i="0">
                <a:solidFill>
                  <a:srgbClr val="0F2C5C"/>
                </a:solidFill>
                <a:latin typeface="Sora"/>
              </a:rPr>
              <a:t>“Fee Details” in fold 1 is an anchor jump, styled like the non-link “4 Years” label beside it.</a:t>
            </a:r>
          </a:p>
        </p:txBody>
      </p:sp>
      <p:sp>
        <p:nvSpPr>
          <p:cNvPr id="15" name="Rounded Rectangle 14"/>
          <p:cNvSpPr/>
          <p:nvPr/>
        </p:nvSpPr>
        <p:spPr>
          <a:xfrm>
            <a:off x="6085960" y="2286000"/>
            <a:ext cx="1042416"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5960" y="2286000"/>
            <a:ext cx="1042416" cy="201168"/>
          </a:xfrm>
          <a:prstGeom prst="rect">
            <a:avLst/>
          </a:prstGeom>
          <a:noFill/>
        </p:spPr>
        <p:txBody>
          <a:bodyPr wrap="square" lIns="0" rIns="0" tIns="0" bIns="0" anchor="ctr">
            <a:spAutoFit/>
          </a:bodyPr>
          <a:lstStyle/>
          <a:p>
            <a:pPr algn="ctr"/>
            <a:r>
              <a:rPr sz="750" b="1" i="0">
                <a:solidFill>
                  <a:srgbClr val="5A6472"/>
                </a:solidFill>
                <a:latin typeface="Sora"/>
              </a:rPr>
              <a:t>DISCOVERABILITY</a:t>
            </a:r>
          </a:p>
        </p:txBody>
      </p:sp>
      <p:sp>
        <p:nvSpPr>
          <p:cNvPr id="17" name="Oval 16"/>
          <p:cNvSpPr/>
          <p:nvPr/>
        </p:nvSpPr>
        <p:spPr>
          <a:xfrm>
            <a:off x="5674480" y="2743200"/>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2</a:t>
            </a:r>
          </a:p>
        </p:txBody>
      </p:sp>
      <p:sp>
        <p:nvSpPr>
          <p:cNvPr id="18" name="TextBox 17"/>
          <p:cNvSpPr txBox="1"/>
          <p:nvPr/>
        </p:nvSpPr>
        <p:spPr>
          <a:xfrm>
            <a:off x="6085960" y="2724912"/>
            <a:ext cx="5526919" cy="777240"/>
          </a:xfrm>
          <a:prstGeom prst="rect">
            <a:avLst/>
          </a:prstGeom>
          <a:noFill/>
        </p:spPr>
        <p:txBody>
          <a:bodyPr wrap="square" lIns="0" rIns="0" tIns="0" bIns="0" anchor="t">
            <a:spAutoFit/>
          </a:bodyPr>
          <a:lstStyle/>
          <a:p>
            <a:pPr algn="l"/>
            <a:r>
              <a:rPr sz="1050" b="0" i="0">
                <a:solidFill>
                  <a:srgbClr val="0F2C5C"/>
                </a:solidFill>
                <a:latin typeface="Sora"/>
              </a:rPr>
              <a:t>The same link sits in the in-page tab bar as “Fee” — two routes to one block, far below.</a:t>
            </a:r>
          </a:p>
        </p:txBody>
      </p:sp>
      <p:sp>
        <p:nvSpPr>
          <p:cNvPr id="19" name="Rounded Rectangle 18"/>
          <p:cNvSpPr/>
          <p:nvPr/>
        </p:nvSpPr>
        <p:spPr>
          <a:xfrm>
            <a:off x="6085960" y="3474720"/>
            <a:ext cx="793699"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5960" y="3474720"/>
            <a:ext cx="793699" cy="201168"/>
          </a:xfrm>
          <a:prstGeom prst="rect">
            <a:avLst/>
          </a:prstGeom>
          <a:noFill/>
        </p:spPr>
        <p:txBody>
          <a:bodyPr wrap="square" lIns="0" rIns="0" tIns="0" bIns="0" anchor="ctr">
            <a:spAutoFit/>
          </a:bodyPr>
          <a:lstStyle/>
          <a:p>
            <a:pPr algn="ctr"/>
            <a:r>
              <a:rPr sz="750" b="1" i="0">
                <a:solidFill>
                  <a:srgbClr val="5A6472"/>
                </a:solidFill>
                <a:latin typeface="Sora"/>
              </a:rPr>
              <a:t>FINDABILITY</a:t>
            </a:r>
          </a:p>
        </p:txBody>
      </p:sp>
      <p:sp>
        <p:nvSpPr>
          <p:cNvPr id="21" name="Oval 20"/>
          <p:cNvSpPr/>
          <p:nvPr/>
        </p:nvSpPr>
        <p:spPr>
          <a:xfrm>
            <a:off x="5674480" y="3931920"/>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3</a:t>
            </a:r>
          </a:p>
        </p:txBody>
      </p:sp>
      <p:sp>
        <p:nvSpPr>
          <p:cNvPr id="22" name="TextBox 21"/>
          <p:cNvSpPr txBox="1"/>
          <p:nvPr/>
        </p:nvSpPr>
        <p:spPr>
          <a:xfrm>
            <a:off x="6085960" y="3913632"/>
            <a:ext cx="5526919" cy="777240"/>
          </a:xfrm>
          <a:prstGeom prst="rect">
            <a:avLst/>
          </a:prstGeom>
          <a:noFill/>
        </p:spPr>
        <p:txBody>
          <a:bodyPr wrap="square" lIns="0" rIns="0" tIns="0" bIns="0" anchor="t">
            <a:spAutoFit/>
          </a:bodyPr>
          <a:lstStyle/>
          <a:p>
            <a:pPr algn="l"/>
            <a:r>
              <a:rPr sz="1050" b="0" i="0">
                <a:solidFill>
                  <a:srgbClr val="0F2C5C"/>
                </a:solidFill>
                <a:latin typeface="Sora"/>
              </a:rPr>
              <a:t>The block gives one number: first-year fee. Installments and specialisation variants (3,33,800) exist only in the fee table.</a:t>
            </a:r>
          </a:p>
        </p:txBody>
      </p:sp>
      <p:sp>
        <p:nvSpPr>
          <p:cNvPr id="23" name="Rounded Rectangle 22"/>
          <p:cNvSpPr/>
          <p:nvPr/>
        </p:nvSpPr>
        <p:spPr>
          <a:xfrm>
            <a:off x="6085960" y="4663440"/>
            <a:ext cx="855878"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5960" y="4663440"/>
            <a:ext cx="855878" cy="201168"/>
          </a:xfrm>
          <a:prstGeom prst="rect">
            <a:avLst/>
          </a:prstGeom>
          <a:noFill/>
        </p:spPr>
        <p:txBody>
          <a:bodyPr wrap="square" lIns="0" rIns="0" tIns="0" bIns="0" anchor="ctr">
            <a:spAutoFit/>
          </a:bodyPr>
          <a:lstStyle/>
          <a:p>
            <a:pPr algn="ctr"/>
            <a:r>
              <a:rPr sz="750" b="1" i="0">
                <a:solidFill>
                  <a:srgbClr val="5A6472"/>
                </a:solidFill>
                <a:latin typeface="Sora"/>
              </a:rPr>
              <a:t>COMPLETENESS</a:t>
            </a:r>
          </a:p>
        </p:txBody>
      </p:sp>
      <p:sp>
        <p:nvSpPr>
          <p:cNvPr id="25" name="Oval 24"/>
          <p:cNvSpPr/>
          <p:nvPr/>
        </p:nvSpPr>
        <p:spPr>
          <a:xfrm>
            <a:off x="5674480" y="5120640"/>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4</a:t>
            </a:r>
          </a:p>
        </p:txBody>
      </p:sp>
      <p:sp>
        <p:nvSpPr>
          <p:cNvPr id="26" name="TextBox 25"/>
          <p:cNvSpPr txBox="1"/>
          <p:nvPr/>
        </p:nvSpPr>
        <p:spPr>
          <a:xfrm>
            <a:off x="6085960" y="5102352"/>
            <a:ext cx="5526919" cy="777240"/>
          </a:xfrm>
          <a:prstGeom prst="rect">
            <a:avLst/>
          </a:prstGeom>
          <a:noFill/>
        </p:spPr>
        <p:txBody>
          <a:bodyPr wrap="square" lIns="0" rIns="0" tIns="0" bIns="0" anchor="t">
            <a:spAutoFit/>
          </a:bodyPr>
          <a:lstStyle/>
          <a:p>
            <a:pPr algn="l"/>
            <a:r>
              <a:rPr sz="1050" b="0" i="0">
                <a:solidFill>
                  <a:srgbClr val="0F2C5C"/>
                </a:solidFill>
                <a:latin typeface="Sora"/>
              </a:rPr>
              <a:t>The sticky “Enquire Now” tab clips the fee heading itself (“…Compute | Science”).</a:t>
            </a:r>
          </a:p>
        </p:txBody>
      </p:sp>
      <p:sp>
        <p:nvSpPr>
          <p:cNvPr id="27" name="Rounded Rectangle 26"/>
          <p:cNvSpPr/>
          <p:nvPr/>
        </p:nvSpPr>
        <p:spPr>
          <a:xfrm>
            <a:off x="6085960" y="5852159"/>
            <a:ext cx="1664208"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85960" y="5852159"/>
            <a:ext cx="1664208" cy="201168"/>
          </a:xfrm>
          <a:prstGeom prst="rect">
            <a:avLst/>
          </a:prstGeom>
          <a:noFill/>
        </p:spPr>
        <p:txBody>
          <a:bodyPr wrap="square" lIns="0" rIns="0" tIns="0" bIns="0" anchor="ctr">
            <a:spAutoFit/>
          </a:bodyPr>
          <a:lstStyle/>
          <a:p>
            <a:pPr algn="ctr"/>
            <a:r>
              <a:rPr sz="750" b="1" i="0">
                <a:solidFill>
                  <a:srgbClr val="5A6472"/>
                </a:solidFill>
                <a:latin typeface="Sora"/>
              </a:rPr>
              <a:t>TEMPLATE ISSUE → SITEWIDE</a:t>
            </a:r>
          </a:p>
        </p:txBody>
      </p:sp>
      <p:sp>
        <p:nvSpPr>
          <p:cNvPr id="29" name="Rounded Rectangle 28"/>
          <p:cNvSpPr/>
          <p:nvPr/>
        </p:nvSpPr>
        <p:spPr>
          <a:xfrm>
            <a:off x="5674480" y="5440680"/>
            <a:ext cx="5938399" cy="73152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11640" y="5504688"/>
            <a:ext cx="5664079" cy="640080"/>
          </a:xfrm>
          <a:prstGeom prst="rect">
            <a:avLst/>
          </a:prstGeom>
          <a:noFill/>
        </p:spPr>
        <p:txBody>
          <a:bodyPr wrap="square" lIns="0" rIns="0" tIns="0" bIns="0" anchor="ctr">
            <a:spAutoFit/>
          </a:bodyPr>
          <a:lstStyle/>
          <a:p>
            <a:pPr algn="l"/>
            <a:r>
              <a:rPr sz="1000" b="1" i="0">
                <a:solidFill>
                  <a:srgbClr val="FFFFFF"/>
                </a:solidFill>
                <a:latin typeface="Sora"/>
              </a:rPr>
              <a:t>So what: move a complete fee answer to decision height — the content exists, the journey can’t reach it.</a:t>
            </a:r>
          </a:p>
        </p:txBody>
      </p:sp>
      <p:sp>
        <p:nvSpPr>
          <p:cNvPr id="31" name="TextBox 30"/>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Live site audit, 24 Sept 2026 (CSE page and /mriirs/admissions/fee-structure table values).</a:t>
            </a:r>
          </a:p>
        </p:txBody>
      </p:sp>
      <p:sp>
        <p:nvSpPr>
          <p:cNvPr id="32" name="Rounded Rectangle 31"/>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2"/>
          <p:cNvSpPr txBox="1"/>
          <p:nvPr/>
        </p:nvSpPr>
        <p:spPr>
          <a:xfrm>
            <a:off x="548640" y="146304"/>
            <a:ext cx="11070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COURSE RESEARCHER  ·  EVENT DATA</a:t>
            </a:r>
            <a:endParaRPr sz="1900"/>
          </a:p>
        </p:txBody>
      </p:sp>
      <p:sp>
        <p:nvSpPr>
          <p:cNvPr id="273" name="Google Shape;273;p22"/>
          <p:cNvSpPr txBox="1"/>
          <p:nvPr/>
        </p:nvSpPr>
        <p:spPr>
          <a:xfrm>
            <a:off x="548640" y="414528"/>
            <a:ext cx="11070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u="none" cap="none" strike="noStrike">
                <a:solidFill>
                  <a:srgbClr val="0F2C5C"/>
                </a:solidFill>
                <a:latin typeface="Sora"/>
                <a:ea typeface="Sora"/>
                <a:cs typeface="Sora"/>
                <a:sym typeface="Sora"/>
              </a:rPr>
              <a:t>At the fee moment, people reach for the phone.</a:t>
            </a:r>
            <a:endParaRPr sz="1900"/>
          </a:p>
        </p:txBody>
      </p:sp>
      <p:sp>
        <p:nvSpPr>
          <p:cNvPr id="274" name="Google Shape;274;p22"/>
          <p:cNvSpPr txBox="1"/>
          <p:nvPr/>
        </p:nvSpPr>
        <p:spPr>
          <a:xfrm>
            <a:off x="548640" y="1048512"/>
            <a:ext cx="11070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A6472"/>
                </a:solidFill>
                <a:latin typeface="Sora"/>
                <a:ea typeface="Sora"/>
                <a:cs typeface="Sora"/>
                <a:sym typeface="Sora"/>
              </a:rPr>
              <a:t>What people actually do on the fee structure page, compared with the course page.</a:t>
            </a:r>
            <a:endParaRPr sz="1900"/>
          </a:p>
        </p:txBody>
      </p:sp>
      <p:sp>
        <p:nvSpPr>
          <p:cNvPr id="275" name="Google Shape;275;p22"/>
          <p:cNvSpPr txBox="1"/>
          <p:nvPr/>
        </p:nvSpPr>
        <p:spPr>
          <a:xfrm>
            <a:off x="548640" y="6339840"/>
            <a:ext cx="11070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GA4 events export, MREI. Phone = Number_footer plus institution number clicks. Event counts, not sessions.</a:t>
            </a:r>
            <a:endParaRPr sz="1900"/>
          </a:p>
        </p:txBody>
      </p:sp>
      <p:sp>
        <p:nvSpPr>
          <p:cNvPr id="276" name="Google Shape;276;p22"/>
          <p:cNvSpPr txBox="1"/>
          <p:nvPr/>
        </p:nvSpPr>
        <p:spPr>
          <a:xfrm>
            <a:off x="548640" y="1438656"/>
            <a:ext cx="53037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FEE STRUCTURE PAGE</a:t>
            </a:r>
            <a:endParaRPr sz="1900"/>
          </a:p>
        </p:txBody>
      </p:sp>
      <p:sp>
        <p:nvSpPr>
          <p:cNvPr id="277" name="Google Shape;277;p22"/>
          <p:cNvSpPr/>
          <p:nvPr/>
        </p:nvSpPr>
        <p:spPr>
          <a:xfrm>
            <a:off x="548640" y="1706880"/>
            <a:ext cx="5303700" cy="2804100"/>
          </a:xfrm>
          <a:prstGeom prst="roundRect">
            <a:avLst>
              <a:gd fmla="val 7000" name="adj"/>
            </a:avLst>
          </a:prstGeom>
          <a:solidFill>
            <a:srgbClr val="E8EEF7"/>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78" name="Google Shape;278;p22"/>
          <p:cNvSpPr txBox="1"/>
          <p:nvPr/>
        </p:nvSpPr>
        <p:spPr>
          <a:xfrm>
            <a:off x="780288" y="1962912"/>
            <a:ext cx="286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C5C"/>
                </a:solidFill>
                <a:latin typeface="Sora"/>
                <a:ea typeface="Sora"/>
                <a:cs typeface="Sora"/>
                <a:sym typeface="Sora"/>
              </a:rPr>
              <a:t>Apply Now clicks</a:t>
            </a:r>
            <a:endParaRPr sz="1900"/>
          </a:p>
        </p:txBody>
      </p:sp>
      <p:sp>
        <p:nvSpPr>
          <p:cNvPr id="279" name="Google Shape;279;p22"/>
          <p:cNvSpPr/>
          <p:nvPr/>
        </p:nvSpPr>
        <p:spPr>
          <a:xfrm>
            <a:off x="3718560" y="1975104"/>
            <a:ext cx="1280100" cy="268500"/>
          </a:xfrm>
          <a:prstGeom prst="roundRect">
            <a:avLst>
              <a:gd fmla="val 25000" name="adj"/>
            </a:avLst>
          </a:prstGeom>
          <a:solidFill>
            <a:srgbClr val="0F2C5C"/>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80" name="Google Shape;280;p22"/>
          <p:cNvSpPr txBox="1"/>
          <p:nvPr/>
        </p:nvSpPr>
        <p:spPr>
          <a:xfrm>
            <a:off x="5096255" y="1938528"/>
            <a:ext cx="7317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97</a:t>
            </a:r>
            <a:endParaRPr sz="1900"/>
          </a:p>
        </p:txBody>
      </p:sp>
      <p:sp>
        <p:nvSpPr>
          <p:cNvPr id="281" name="Google Shape;281;p22"/>
          <p:cNvSpPr txBox="1"/>
          <p:nvPr/>
        </p:nvSpPr>
        <p:spPr>
          <a:xfrm>
            <a:off x="780288" y="2596896"/>
            <a:ext cx="286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C5C"/>
                </a:solidFill>
                <a:latin typeface="Sora"/>
                <a:ea typeface="Sora"/>
                <a:cs typeface="Sora"/>
                <a:sym typeface="Sora"/>
              </a:rPr>
              <a:t>Phone number clicks</a:t>
            </a:r>
            <a:endParaRPr sz="1900"/>
          </a:p>
        </p:txBody>
      </p:sp>
      <p:sp>
        <p:nvSpPr>
          <p:cNvPr id="282" name="Google Shape;282;p22"/>
          <p:cNvSpPr/>
          <p:nvPr/>
        </p:nvSpPr>
        <p:spPr>
          <a:xfrm>
            <a:off x="3718560" y="2609088"/>
            <a:ext cx="1003200" cy="268500"/>
          </a:xfrm>
          <a:prstGeom prst="roundRect">
            <a:avLst>
              <a:gd fmla="val 25000" name="adj"/>
            </a:avLst>
          </a:prstGeom>
          <a:solidFill>
            <a:srgbClr val="C8102E"/>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83" name="Google Shape;283;p22"/>
          <p:cNvSpPr txBox="1"/>
          <p:nvPr/>
        </p:nvSpPr>
        <p:spPr>
          <a:xfrm>
            <a:off x="4819107" y="2572512"/>
            <a:ext cx="7317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C8102E"/>
                </a:solidFill>
                <a:latin typeface="Sora"/>
                <a:ea typeface="Sora"/>
                <a:cs typeface="Sora"/>
                <a:sym typeface="Sora"/>
              </a:rPr>
              <a:t>76</a:t>
            </a:r>
            <a:endParaRPr sz="1900"/>
          </a:p>
        </p:txBody>
      </p:sp>
      <p:sp>
        <p:nvSpPr>
          <p:cNvPr id="284" name="Google Shape;284;p22"/>
          <p:cNvSpPr txBox="1"/>
          <p:nvPr/>
        </p:nvSpPr>
        <p:spPr>
          <a:xfrm>
            <a:off x="780288" y="3230880"/>
            <a:ext cx="286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C5C"/>
                </a:solidFill>
                <a:latin typeface="Sora"/>
                <a:ea typeface="Sora"/>
                <a:cs typeface="Sora"/>
                <a:sym typeface="Sora"/>
              </a:rPr>
              <a:t>Brochure downloads</a:t>
            </a:r>
            <a:endParaRPr sz="1900"/>
          </a:p>
        </p:txBody>
      </p:sp>
      <p:sp>
        <p:nvSpPr>
          <p:cNvPr id="285" name="Google Shape;285;p22"/>
          <p:cNvSpPr/>
          <p:nvPr/>
        </p:nvSpPr>
        <p:spPr>
          <a:xfrm>
            <a:off x="3718560" y="3243072"/>
            <a:ext cx="462000" cy="268500"/>
          </a:xfrm>
          <a:prstGeom prst="roundRect">
            <a:avLst>
              <a:gd fmla="val 25000" name="adj"/>
            </a:avLst>
          </a:prstGeom>
          <a:solidFill>
            <a:srgbClr val="0F2C5C"/>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86" name="Google Shape;286;p22"/>
          <p:cNvSpPr txBox="1"/>
          <p:nvPr/>
        </p:nvSpPr>
        <p:spPr>
          <a:xfrm>
            <a:off x="4278009" y="3206496"/>
            <a:ext cx="7317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35</a:t>
            </a:r>
            <a:endParaRPr sz="1900"/>
          </a:p>
        </p:txBody>
      </p:sp>
      <p:sp>
        <p:nvSpPr>
          <p:cNvPr id="287" name="Google Shape;287;p22"/>
          <p:cNvSpPr txBox="1"/>
          <p:nvPr/>
        </p:nvSpPr>
        <p:spPr>
          <a:xfrm>
            <a:off x="780288" y="3864864"/>
            <a:ext cx="286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C5C"/>
                </a:solidFill>
                <a:latin typeface="Sora"/>
                <a:ea typeface="Sora"/>
                <a:cs typeface="Sora"/>
                <a:sym typeface="Sora"/>
              </a:rPr>
              <a:t>Form submits</a:t>
            </a:r>
            <a:endParaRPr sz="1900"/>
          </a:p>
        </p:txBody>
      </p:sp>
      <p:sp>
        <p:nvSpPr>
          <p:cNvPr id="288" name="Google Shape;288;p22"/>
          <p:cNvSpPr/>
          <p:nvPr/>
        </p:nvSpPr>
        <p:spPr>
          <a:xfrm>
            <a:off x="3718560" y="3877056"/>
            <a:ext cx="396000" cy="268500"/>
          </a:xfrm>
          <a:prstGeom prst="roundRect">
            <a:avLst>
              <a:gd fmla="val 25000" name="adj"/>
            </a:avLst>
          </a:prstGeom>
          <a:solidFill>
            <a:srgbClr val="0F2C5C"/>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89" name="Google Shape;289;p22"/>
          <p:cNvSpPr txBox="1"/>
          <p:nvPr/>
        </p:nvSpPr>
        <p:spPr>
          <a:xfrm>
            <a:off x="4212021" y="3840480"/>
            <a:ext cx="7317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30</a:t>
            </a:r>
            <a:endParaRPr sz="1900"/>
          </a:p>
        </p:txBody>
      </p:sp>
      <p:sp>
        <p:nvSpPr>
          <p:cNvPr id="290" name="Google Shape;290;p22"/>
          <p:cNvSpPr txBox="1"/>
          <p:nvPr/>
        </p:nvSpPr>
        <p:spPr>
          <a:xfrm>
            <a:off x="780288" y="4169664"/>
            <a:ext cx="48888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There is no enquiry form on this page.</a:t>
            </a:r>
            <a:endParaRPr sz="1900"/>
          </a:p>
        </p:txBody>
      </p:sp>
      <p:sp>
        <p:nvSpPr>
          <p:cNvPr id="291" name="Google Shape;291;p22"/>
          <p:cNvSpPr txBox="1"/>
          <p:nvPr/>
        </p:nvSpPr>
        <p:spPr>
          <a:xfrm>
            <a:off x="6315456" y="1438656"/>
            <a:ext cx="53037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B.TECH CSE COURSE PAGE</a:t>
            </a:r>
            <a:endParaRPr sz="1900"/>
          </a:p>
        </p:txBody>
      </p:sp>
      <p:sp>
        <p:nvSpPr>
          <p:cNvPr id="292" name="Google Shape;292;p22"/>
          <p:cNvSpPr/>
          <p:nvPr/>
        </p:nvSpPr>
        <p:spPr>
          <a:xfrm>
            <a:off x="6315456" y="1706880"/>
            <a:ext cx="5303700" cy="2804100"/>
          </a:xfrm>
          <a:prstGeom prst="roundRect">
            <a:avLst>
              <a:gd fmla="val 7000" name="adj"/>
            </a:avLst>
          </a:prstGeom>
          <a:solidFill>
            <a:srgbClr val="FFFFFF"/>
          </a:solidFill>
          <a:ln cap="flat" cmpd="sng" w="12700">
            <a:solidFill>
              <a:srgbClr val="E3E8EF"/>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93" name="Google Shape;293;p22"/>
          <p:cNvSpPr txBox="1"/>
          <p:nvPr/>
        </p:nvSpPr>
        <p:spPr>
          <a:xfrm>
            <a:off x="6547104" y="1962912"/>
            <a:ext cx="286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C5C"/>
                </a:solidFill>
                <a:latin typeface="Sora"/>
                <a:ea typeface="Sora"/>
                <a:cs typeface="Sora"/>
                <a:sym typeface="Sora"/>
              </a:rPr>
              <a:t>Brochure downloads</a:t>
            </a:r>
            <a:endParaRPr sz="1900"/>
          </a:p>
        </p:txBody>
      </p:sp>
      <p:sp>
        <p:nvSpPr>
          <p:cNvPr id="294" name="Google Shape;294;p22"/>
          <p:cNvSpPr/>
          <p:nvPr/>
        </p:nvSpPr>
        <p:spPr>
          <a:xfrm>
            <a:off x="9485376" y="1975104"/>
            <a:ext cx="1280100" cy="268500"/>
          </a:xfrm>
          <a:prstGeom prst="roundRect">
            <a:avLst>
              <a:gd fmla="val 25000" name="adj"/>
            </a:avLst>
          </a:prstGeom>
          <a:solidFill>
            <a:srgbClr val="0F2C5C"/>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95" name="Google Shape;295;p22"/>
          <p:cNvSpPr txBox="1"/>
          <p:nvPr/>
        </p:nvSpPr>
        <p:spPr>
          <a:xfrm>
            <a:off x="10863072" y="1938528"/>
            <a:ext cx="792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483</a:t>
            </a:r>
            <a:endParaRPr sz="1900"/>
          </a:p>
        </p:txBody>
      </p:sp>
      <p:sp>
        <p:nvSpPr>
          <p:cNvPr id="296" name="Google Shape;296;p22"/>
          <p:cNvSpPr txBox="1"/>
          <p:nvPr/>
        </p:nvSpPr>
        <p:spPr>
          <a:xfrm>
            <a:off x="6547104" y="2596896"/>
            <a:ext cx="286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C5C"/>
                </a:solidFill>
                <a:latin typeface="Sora"/>
                <a:ea typeface="Sora"/>
                <a:cs typeface="Sora"/>
                <a:sym typeface="Sora"/>
              </a:rPr>
              <a:t>Form submits</a:t>
            </a:r>
            <a:endParaRPr sz="1900"/>
          </a:p>
        </p:txBody>
      </p:sp>
      <p:sp>
        <p:nvSpPr>
          <p:cNvPr id="297" name="Google Shape;297;p22"/>
          <p:cNvSpPr/>
          <p:nvPr/>
        </p:nvSpPr>
        <p:spPr>
          <a:xfrm>
            <a:off x="9485376" y="2609088"/>
            <a:ext cx="503700" cy="268500"/>
          </a:xfrm>
          <a:prstGeom prst="roundRect">
            <a:avLst>
              <a:gd fmla="val 25000" name="adj"/>
            </a:avLst>
          </a:prstGeom>
          <a:solidFill>
            <a:srgbClr val="0F2C5C"/>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298" name="Google Shape;298;p22"/>
          <p:cNvSpPr txBox="1"/>
          <p:nvPr/>
        </p:nvSpPr>
        <p:spPr>
          <a:xfrm>
            <a:off x="10086493" y="2572512"/>
            <a:ext cx="792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190</a:t>
            </a:r>
            <a:endParaRPr sz="1900"/>
          </a:p>
        </p:txBody>
      </p:sp>
      <p:sp>
        <p:nvSpPr>
          <p:cNvPr id="299" name="Google Shape;299;p22"/>
          <p:cNvSpPr txBox="1"/>
          <p:nvPr/>
        </p:nvSpPr>
        <p:spPr>
          <a:xfrm>
            <a:off x="6547104" y="3230880"/>
            <a:ext cx="286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C5C"/>
                </a:solidFill>
                <a:latin typeface="Sora"/>
                <a:ea typeface="Sora"/>
                <a:cs typeface="Sora"/>
                <a:sym typeface="Sora"/>
              </a:rPr>
              <a:t>Apply Now clicks</a:t>
            </a:r>
            <a:endParaRPr sz="1900"/>
          </a:p>
        </p:txBody>
      </p:sp>
      <p:sp>
        <p:nvSpPr>
          <p:cNvPr id="300" name="Google Shape;300;p22"/>
          <p:cNvSpPr/>
          <p:nvPr/>
        </p:nvSpPr>
        <p:spPr>
          <a:xfrm>
            <a:off x="9485376" y="3243072"/>
            <a:ext cx="124500" cy="268500"/>
          </a:xfrm>
          <a:prstGeom prst="roundRect">
            <a:avLst>
              <a:gd fmla="val 25000" name="adj"/>
            </a:avLst>
          </a:prstGeom>
          <a:solidFill>
            <a:srgbClr val="0F2C5C"/>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301" name="Google Shape;301;p22"/>
          <p:cNvSpPr txBox="1"/>
          <p:nvPr/>
        </p:nvSpPr>
        <p:spPr>
          <a:xfrm>
            <a:off x="9707481" y="3206496"/>
            <a:ext cx="792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47</a:t>
            </a:r>
            <a:endParaRPr sz="1900"/>
          </a:p>
        </p:txBody>
      </p:sp>
      <p:sp>
        <p:nvSpPr>
          <p:cNvPr id="302" name="Google Shape;302;p22"/>
          <p:cNvSpPr txBox="1"/>
          <p:nvPr/>
        </p:nvSpPr>
        <p:spPr>
          <a:xfrm>
            <a:off x="6547104" y="3864864"/>
            <a:ext cx="286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C5C"/>
                </a:solidFill>
                <a:latin typeface="Sora"/>
                <a:ea typeface="Sora"/>
                <a:cs typeface="Sora"/>
                <a:sym typeface="Sora"/>
              </a:rPr>
              <a:t>Phone number clicks</a:t>
            </a:r>
            <a:endParaRPr sz="1900"/>
          </a:p>
        </p:txBody>
      </p:sp>
      <p:sp>
        <p:nvSpPr>
          <p:cNvPr id="303" name="Google Shape;303;p22"/>
          <p:cNvSpPr/>
          <p:nvPr/>
        </p:nvSpPr>
        <p:spPr>
          <a:xfrm>
            <a:off x="9485376" y="3877056"/>
            <a:ext cx="60900" cy="268500"/>
          </a:xfrm>
          <a:prstGeom prst="roundRect">
            <a:avLst>
              <a:gd fmla="val 25000" name="adj"/>
            </a:avLst>
          </a:prstGeom>
          <a:solidFill>
            <a:srgbClr val="C8102E"/>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304" name="Google Shape;304;p22"/>
          <p:cNvSpPr txBox="1"/>
          <p:nvPr/>
        </p:nvSpPr>
        <p:spPr>
          <a:xfrm>
            <a:off x="9643872" y="3840480"/>
            <a:ext cx="792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C8102E"/>
                </a:solidFill>
                <a:latin typeface="Sora"/>
                <a:ea typeface="Sora"/>
                <a:cs typeface="Sora"/>
                <a:sym typeface="Sora"/>
              </a:rPr>
              <a:t>1</a:t>
            </a:r>
            <a:endParaRPr sz="1900"/>
          </a:p>
        </p:txBody>
      </p:sp>
      <p:sp>
        <p:nvSpPr>
          <p:cNvPr id="305" name="Google Shape;305;p22"/>
          <p:cNvSpPr txBox="1"/>
          <p:nvPr/>
        </p:nvSpPr>
        <p:spPr>
          <a:xfrm>
            <a:off x="6547104" y="4169664"/>
            <a:ext cx="48888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One phone click, against 76 on the fee page.</a:t>
            </a:r>
            <a:endParaRPr sz="1900"/>
          </a:p>
        </p:txBody>
      </p:sp>
      <p:sp>
        <p:nvSpPr>
          <p:cNvPr id="306" name="Google Shape;306;p22"/>
          <p:cNvSpPr/>
          <p:nvPr/>
        </p:nvSpPr>
        <p:spPr>
          <a:xfrm>
            <a:off x="548640" y="4706112"/>
            <a:ext cx="11070300" cy="804900"/>
          </a:xfrm>
          <a:prstGeom prst="roundRect">
            <a:avLst>
              <a:gd fmla="val 7000" name="adj"/>
            </a:avLst>
          </a:prstGeom>
          <a:solidFill>
            <a:srgbClr val="E8EEF7"/>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307" name="Google Shape;307;p22"/>
          <p:cNvSpPr txBox="1"/>
          <p:nvPr/>
        </p:nvSpPr>
        <p:spPr>
          <a:xfrm>
            <a:off x="755904" y="4828032"/>
            <a:ext cx="10656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WHAT IT MEANS</a:t>
            </a:r>
            <a:endParaRPr sz="1900"/>
          </a:p>
        </p:txBody>
      </p:sp>
      <p:sp>
        <p:nvSpPr>
          <p:cNvPr id="308" name="Google Shape;308;p22"/>
          <p:cNvSpPr txBox="1"/>
          <p:nvPr/>
        </p:nvSpPr>
        <p:spPr>
          <a:xfrm>
            <a:off x="755904" y="5047487"/>
            <a:ext cx="10656000" cy="43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0F2C5C"/>
                </a:solidFill>
                <a:latin typeface="Sora"/>
                <a:ea typeface="Sora"/>
                <a:cs typeface="Sora"/>
                <a:sym typeface="Sora"/>
              </a:rPr>
              <a:t>People will happily read a course page on their own. The moment it turns into money, they want a person — and the fee page gives them a footer number and nothing else.</a:t>
            </a:r>
            <a:endParaRPr sz="1900"/>
          </a:p>
        </p:txBody>
      </p:sp>
      <p:sp>
        <p:nvSpPr>
          <p:cNvPr id="309" name="Google Shape;309;p22"/>
          <p:cNvSpPr/>
          <p:nvPr/>
        </p:nvSpPr>
        <p:spPr>
          <a:xfrm>
            <a:off x="548640" y="5632704"/>
            <a:ext cx="11070300" cy="438900"/>
          </a:xfrm>
          <a:prstGeom prst="roundRect">
            <a:avLst>
              <a:gd fmla="val 18000" name="adj"/>
            </a:avLst>
          </a:prstGeom>
          <a:solidFill>
            <a:srgbClr val="0F2C5C"/>
          </a:solidFill>
          <a:ln>
            <a:noFill/>
          </a:ln>
        </p:spPr>
        <p:txBody>
          <a:bodyPr anchorCtr="0" anchor="ctr" bIns="0" lIns="170675" spcFirstLastPara="1" rIns="121900" wrap="square" tIns="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The fee page is where the conversation should start. Today it is where it ends.</a:t>
            </a:r>
            <a:endParaRPr sz="1900"/>
          </a:p>
        </p:txBody>
      </p:sp>
      <p:sp>
        <p:nvSpPr>
          <p:cNvPr id="310" name="Rounded Rectangle 309"/>
          <p:cNvSpPr/>
          <p:nvPr/>
        </p:nvSpPr>
        <p:spPr>
          <a:xfrm>
            <a:off x="10703052" y="274320"/>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C5C"/>
        </a:solidFill>
      </p:bgPr>
    </p:bg>
    <p:spTree>
      <p:nvGrpSpPr>
        <p:cNvPr id="500" name="Shape 500"/>
        <p:cNvGrpSpPr/>
        <p:nvPr/>
      </p:nvGrpSpPr>
      <p:grpSpPr>
        <a:xfrm>
          <a:off x="0" y="0"/>
          <a:ext cx="0" cy="0"/>
          <a:chOff x="0" y="0"/>
          <a:chExt cx="0" cy="0"/>
        </a:xfrm>
      </p:grpSpPr>
      <p:sp>
        <p:nvSpPr>
          <p:cNvPr id="501" name="Google Shape;501;p31"/>
          <p:cNvSpPr txBox="1"/>
          <p:nvPr/>
        </p:nvSpPr>
        <p:spPr>
          <a:xfrm>
            <a:off x="501015" y="3145490"/>
            <a:ext cx="10058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Sora"/>
              <a:buNone/>
            </a:pPr>
            <a:r>
              <a:rPr b="1" lang="en-US" sz="3200">
                <a:solidFill>
                  <a:srgbClr val="FFFFFF"/>
                </a:solidFill>
                <a:latin typeface="Sora"/>
                <a:ea typeface="Sora"/>
                <a:cs typeface="Sora"/>
                <a:sym typeface="Sora"/>
              </a:rPr>
              <a:t>COST CHECKER</a:t>
            </a:r>
            <a:endParaRPr b="1" sz="3200">
              <a:solidFill>
                <a:srgbClr val="FFFFFF"/>
              </a:solidFill>
              <a:latin typeface="Sora"/>
              <a:ea typeface="Sora"/>
              <a:cs typeface="Sora"/>
              <a:sym typeface="Sora"/>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COST CHECKER  ·  WHAT WE KNOW</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At the money moment, users work hard — then reach for the phone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“What does it cost, and can I get in?” — /mriirs and /mru fee-structure pages</a:t>
            </a:r>
          </a:p>
        </p:txBody>
      </p:sp>
      <p:sp>
        <p:nvSpPr>
          <p:cNvPr id="5" name="TextBox 4"/>
          <p:cNvSpPr txBox="1"/>
          <p:nvPr/>
        </p:nvSpPr>
        <p:spPr>
          <a:xfrm>
            <a:off x="548640" y="1554480"/>
            <a:ext cx="2377440" cy="182880"/>
          </a:xfrm>
          <a:prstGeom prst="rect">
            <a:avLst/>
          </a:prstGeom>
          <a:noFill/>
        </p:spPr>
        <p:txBody>
          <a:bodyPr wrap="square" lIns="0" rIns="0" tIns="0" bIns="0" anchor="t">
            <a:spAutoFit/>
          </a:bodyPr>
          <a:lstStyle/>
          <a:p>
            <a:pPr algn="l"/>
            <a:r>
              <a:rPr sz="800" b="1" i="0">
                <a:solidFill>
                  <a:srgbClr val="96A1B0"/>
                </a:solidFill>
                <a:latin typeface="Sora"/>
              </a:rPr>
              <a:t>METRIC</a:t>
            </a:r>
          </a:p>
        </p:txBody>
      </p:sp>
      <p:sp>
        <p:nvSpPr>
          <p:cNvPr id="6" name="TextBox 5"/>
          <p:cNvSpPr txBox="1"/>
          <p:nvPr/>
        </p:nvSpPr>
        <p:spPr>
          <a:xfrm>
            <a:off x="3154680" y="1554480"/>
            <a:ext cx="4114800" cy="182880"/>
          </a:xfrm>
          <a:prstGeom prst="rect">
            <a:avLst/>
          </a:prstGeom>
          <a:noFill/>
        </p:spPr>
        <p:txBody>
          <a:bodyPr wrap="square" lIns="0" rIns="0" tIns="0" bIns="0" anchor="t">
            <a:spAutoFit/>
          </a:bodyPr>
          <a:lstStyle/>
          <a:p>
            <a:pPr algn="l"/>
            <a:r>
              <a:rPr sz="800" b="1" i="0">
                <a:solidFill>
                  <a:srgbClr val="96A1B0"/>
                </a:solidFill>
                <a:latin typeface="Sora"/>
              </a:rPr>
              <a:t>WHAT USERS DO</a:t>
            </a:r>
          </a:p>
        </p:txBody>
      </p:sp>
      <p:sp>
        <p:nvSpPr>
          <p:cNvPr id="7" name="TextBox 6"/>
          <p:cNvSpPr txBox="1"/>
          <p:nvPr/>
        </p:nvSpPr>
        <p:spPr>
          <a:xfrm>
            <a:off x="7589520" y="1554480"/>
            <a:ext cx="3931920" cy="182880"/>
          </a:xfrm>
          <a:prstGeom prst="rect">
            <a:avLst/>
          </a:prstGeom>
          <a:noFill/>
        </p:spPr>
        <p:txBody>
          <a:bodyPr wrap="square" lIns="0" rIns="0" tIns="0" bIns="0" anchor="t">
            <a:spAutoFit/>
          </a:bodyPr>
          <a:lstStyle/>
          <a:p>
            <a:pPr algn="l"/>
            <a:r>
              <a:rPr sz="800" b="1" i="0">
                <a:solidFill>
                  <a:srgbClr val="96A1B0"/>
                </a:solidFill>
                <a:latin typeface="Sora"/>
              </a:rPr>
              <a:t>SO WHAT THIS TELLS US</a:t>
            </a:r>
          </a:p>
        </p:txBody>
      </p:sp>
      <p:sp>
        <p:nvSpPr>
          <p:cNvPr id="8" name="Rounded Rectangle 7"/>
          <p:cNvSpPr/>
          <p:nvPr/>
        </p:nvSpPr>
        <p:spPr>
          <a:xfrm>
            <a:off x="548640" y="180136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11095"/>
            <a:ext cx="2286000" cy="457200"/>
          </a:xfrm>
          <a:prstGeom prst="rect">
            <a:avLst/>
          </a:prstGeom>
          <a:noFill/>
        </p:spPr>
        <p:txBody>
          <a:bodyPr wrap="square" lIns="0" rIns="0" tIns="0" bIns="0" anchor="t">
            <a:spAutoFit/>
          </a:bodyPr>
          <a:lstStyle/>
          <a:p>
            <a:pPr algn="l"/>
            <a:r>
              <a:rPr sz="2400" b="1" i="0">
                <a:solidFill>
                  <a:srgbClr val="C8102E"/>
                </a:solidFill>
                <a:latin typeface="Sora"/>
              </a:rPr>
              <a:t>70%</a:t>
            </a:r>
          </a:p>
        </p:txBody>
      </p:sp>
      <p:sp>
        <p:nvSpPr>
          <p:cNvPr id="10" name="TextBox 9"/>
          <p:cNvSpPr txBox="1"/>
          <p:nvPr/>
        </p:nvSpPr>
        <p:spPr>
          <a:xfrm>
            <a:off x="731520" y="2368296"/>
            <a:ext cx="2240280" cy="365760"/>
          </a:xfrm>
          <a:prstGeom prst="rect">
            <a:avLst/>
          </a:prstGeom>
          <a:noFill/>
        </p:spPr>
        <p:txBody>
          <a:bodyPr wrap="square" lIns="0" rIns="0" tIns="0" bIns="0" anchor="t">
            <a:spAutoFit/>
          </a:bodyPr>
          <a:lstStyle/>
          <a:p>
            <a:pPr algn="l"/>
            <a:r>
              <a:rPr sz="850" b="0" i="0">
                <a:solidFill>
                  <a:srgbClr val="5A6472"/>
                </a:solidFill>
                <a:latin typeface="Sora"/>
              </a:rPr>
              <a:t>of MRIIRS fee-page entries arrive straight from the B.Tech CSE page</a:t>
            </a:r>
          </a:p>
        </p:txBody>
      </p:sp>
      <p:sp>
        <p:nvSpPr>
          <p:cNvPr id="11" name="TextBox 10"/>
          <p:cNvSpPr txBox="1"/>
          <p:nvPr/>
        </p:nvSpPr>
        <p:spPr>
          <a:xfrm>
            <a:off x="3154680" y="1929384"/>
            <a:ext cx="4160520" cy="777240"/>
          </a:xfrm>
          <a:prstGeom prst="rect">
            <a:avLst/>
          </a:prstGeom>
          <a:noFill/>
        </p:spPr>
        <p:txBody>
          <a:bodyPr wrap="square" lIns="0" rIns="0" tIns="0" bIns="0" anchor="t">
            <a:spAutoFit/>
          </a:bodyPr>
          <a:lstStyle/>
          <a:p>
            <a:pPr algn="l"/>
            <a:r>
              <a:rPr sz="1050" b="0" i="0">
                <a:solidFill>
                  <a:srgbClr val="0F2C5C"/>
                </a:solidFill>
                <a:latin typeface="Sora"/>
              </a:rPr>
              <a:t>The fee page is mostly reached from one course page, and its #1 next step is back to that course (7,070).</a:t>
            </a:r>
          </a:p>
        </p:txBody>
      </p:sp>
      <p:sp>
        <p:nvSpPr>
          <p:cNvPr id="12" name="Right Arrow 11"/>
          <p:cNvSpPr/>
          <p:nvPr/>
        </p:nvSpPr>
        <p:spPr>
          <a:xfrm>
            <a:off x="7178040" y="218541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929384"/>
            <a:ext cx="3886200" cy="640080"/>
          </a:xfrm>
          <a:prstGeom prst="rect">
            <a:avLst/>
          </a:prstGeom>
          <a:noFill/>
        </p:spPr>
        <p:txBody>
          <a:bodyPr wrap="square" lIns="0" rIns="0" tIns="0" bIns="0" anchor="t">
            <a:spAutoFit/>
          </a:bodyPr>
          <a:lstStyle/>
          <a:p>
            <a:pPr algn="l"/>
            <a:r>
              <a:rPr sz="1050" b="1" i="0">
                <a:solidFill>
                  <a:srgbClr val="0F2C5C"/>
                </a:solidFill>
                <a:latin typeface="Sora"/>
              </a:rPr>
              <a:t>The fee page is a downstream answer to a course-level question.</a:t>
            </a:r>
          </a:p>
        </p:txBody>
      </p:sp>
      <p:sp>
        <p:nvSpPr>
          <p:cNvPr id="14" name="Rounded Rectangle 13"/>
          <p:cNvSpPr/>
          <p:nvPr/>
        </p:nvSpPr>
        <p:spPr>
          <a:xfrm>
            <a:off x="10932566" y="2532888"/>
            <a:ext cx="607161"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32566" y="2532888"/>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16" name="Rounded Rectangle 15"/>
          <p:cNvSpPr/>
          <p:nvPr/>
        </p:nvSpPr>
        <p:spPr>
          <a:xfrm>
            <a:off x="548640" y="289864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08376"/>
            <a:ext cx="2286000" cy="457200"/>
          </a:xfrm>
          <a:prstGeom prst="rect">
            <a:avLst/>
          </a:prstGeom>
          <a:noFill/>
        </p:spPr>
        <p:txBody>
          <a:bodyPr wrap="square" lIns="0" rIns="0" tIns="0" bIns="0" anchor="t">
            <a:spAutoFit/>
          </a:bodyPr>
          <a:lstStyle/>
          <a:p>
            <a:pPr algn="l"/>
            <a:r>
              <a:rPr sz="2400" b="1" i="0">
                <a:solidFill>
                  <a:srgbClr val="C8102E"/>
                </a:solidFill>
                <a:latin typeface="Sora"/>
              </a:rPr>
              <a:t>82 vs 31</a:t>
            </a:r>
          </a:p>
        </p:txBody>
      </p:sp>
      <p:sp>
        <p:nvSpPr>
          <p:cNvPr id="18" name="TextBox 17"/>
          <p:cNvSpPr txBox="1"/>
          <p:nvPr/>
        </p:nvSpPr>
        <p:spPr>
          <a:xfrm>
            <a:off x="731520" y="3465576"/>
            <a:ext cx="2240280" cy="365760"/>
          </a:xfrm>
          <a:prstGeom prst="rect">
            <a:avLst/>
          </a:prstGeom>
          <a:noFill/>
        </p:spPr>
        <p:txBody>
          <a:bodyPr wrap="square" lIns="0" rIns="0" tIns="0" bIns="0" anchor="t">
            <a:spAutoFit/>
          </a:bodyPr>
          <a:lstStyle/>
          <a:p>
            <a:pPr algn="l"/>
            <a:r>
              <a:rPr sz="850" b="0" i="0">
                <a:solidFill>
                  <a:srgbClr val="5A6472"/>
                </a:solidFill>
                <a:latin typeface="Sora"/>
              </a:rPr>
              <a:t>phone clicks vs form submits on fee &amp; eligibility pages (event counts)</a:t>
            </a:r>
          </a:p>
        </p:txBody>
      </p:sp>
      <p:sp>
        <p:nvSpPr>
          <p:cNvPr id="19" name="TextBox 18"/>
          <p:cNvSpPr txBox="1"/>
          <p:nvPr/>
        </p:nvSpPr>
        <p:spPr>
          <a:xfrm>
            <a:off x="3154680" y="3026664"/>
            <a:ext cx="4160520" cy="777240"/>
          </a:xfrm>
          <a:prstGeom prst="rect">
            <a:avLst/>
          </a:prstGeom>
          <a:noFill/>
        </p:spPr>
        <p:txBody>
          <a:bodyPr wrap="square" lIns="0" rIns="0" tIns="0" bIns="0" anchor="t">
            <a:spAutoFit/>
          </a:bodyPr>
          <a:lstStyle/>
          <a:p>
            <a:pPr algn="l"/>
            <a:r>
              <a:rPr sz="1050" b="0" i="0">
                <a:solidFill>
                  <a:srgbClr val="0F2C5C"/>
                </a:solidFill>
                <a:latin typeface="Sora"/>
              </a:rPr>
              <a:t>The only high-volume page type where calls beat submits: 12.5% of all phone clicks from 6.7% of landings.</a:t>
            </a:r>
          </a:p>
        </p:txBody>
      </p:sp>
      <p:sp>
        <p:nvSpPr>
          <p:cNvPr id="20" name="Right Arrow 19"/>
          <p:cNvSpPr/>
          <p:nvPr/>
        </p:nvSpPr>
        <p:spPr>
          <a:xfrm>
            <a:off x="7178040" y="328269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3026664"/>
            <a:ext cx="3886200" cy="640080"/>
          </a:xfrm>
          <a:prstGeom prst="rect">
            <a:avLst/>
          </a:prstGeom>
          <a:noFill/>
        </p:spPr>
        <p:txBody>
          <a:bodyPr wrap="square" lIns="0" rIns="0" tIns="0" bIns="0" anchor="t">
            <a:spAutoFit/>
          </a:bodyPr>
          <a:lstStyle/>
          <a:p>
            <a:pPr algn="l"/>
            <a:r>
              <a:rPr sz="1050" b="1" i="0">
                <a:solidFill>
                  <a:srgbClr val="0F2C5C"/>
                </a:solidFill>
                <a:latin typeface="Sora"/>
              </a:rPr>
              <a:t>At the money moment, users want a person — the page offers a footer number.</a:t>
            </a:r>
          </a:p>
        </p:txBody>
      </p:sp>
      <p:sp>
        <p:nvSpPr>
          <p:cNvPr id="22" name="Rounded Rectangle 21"/>
          <p:cNvSpPr/>
          <p:nvPr/>
        </p:nvSpPr>
        <p:spPr>
          <a:xfrm>
            <a:off x="11243462" y="3630168"/>
            <a:ext cx="296265"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43462" y="3630168"/>
            <a:ext cx="296265" cy="201168"/>
          </a:xfrm>
          <a:prstGeom prst="rect">
            <a:avLst/>
          </a:prstGeom>
          <a:noFill/>
        </p:spPr>
        <p:txBody>
          <a:bodyPr wrap="square" lIns="0" rIns="0" tIns="0" bIns="0" anchor="ctr">
            <a:spAutoFit/>
          </a:bodyPr>
          <a:lstStyle/>
          <a:p>
            <a:pPr algn="ctr"/>
            <a:r>
              <a:rPr sz="750" b="1" i="0">
                <a:solidFill>
                  <a:srgbClr val="C8102E"/>
                </a:solidFill>
                <a:latin typeface="Sora"/>
              </a:rPr>
              <a:t>CSV</a:t>
            </a:r>
          </a:p>
        </p:txBody>
      </p:sp>
      <p:sp>
        <p:nvSpPr>
          <p:cNvPr id="24" name="Rounded Rectangle 23"/>
          <p:cNvSpPr/>
          <p:nvPr/>
        </p:nvSpPr>
        <p:spPr>
          <a:xfrm>
            <a:off x="548640" y="399592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105656"/>
            <a:ext cx="2286000" cy="457200"/>
          </a:xfrm>
          <a:prstGeom prst="rect">
            <a:avLst/>
          </a:prstGeom>
          <a:noFill/>
        </p:spPr>
        <p:txBody>
          <a:bodyPr wrap="square" lIns="0" rIns="0" tIns="0" bIns="0" anchor="t">
            <a:spAutoFit/>
          </a:bodyPr>
          <a:lstStyle/>
          <a:p>
            <a:pPr algn="l"/>
            <a:r>
              <a:rPr sz="2400" b="1" i="0">
                <a:solidFill>
                  <a:srgbClr val="C8102E"/>
                </a:solidFill>
                <a:latin typeface="Sora"/>
              </a:rPr>
              <a:t>1,236</a:t>
            </a:r>
          </a:p>
        </p:txBody>
      </p:sp>
      <p:sp>
        <p:nvSpPr>
          <p:cNvPr id="26" name="TextBox 25"/>
          <p:cNvSpPr txBox="1"/>
          <p:nvPr/>
        </p:nvSpPr>
        <p:spPr>
          <a:xfrm>
            <a:off x="731520" y="4562856"/>
            <a:ext cx="2240280" cy="365760"/>
          </a:xfrm>
          <a:prstGeom prst="rect">
            <a:avLst/>
          </a:prstGeom>
          <a:noFill/>
        </p:spPr>
        <p:txBody>
          <a:bodyPr wrap="square" lIns="0" rIns="0" tIns="0" bIns="0" anchor="t">
            <a:spAutoFit/>
          </a:bodyPr>
          <a:lstStyle/>
          <a:p>
            <a:pPr algn="l"/>
            <a:r>
              <a:rPr sz="850" b="0" i="0">
                <a:solidFill>
                  <a:srgbClr val="5A6472"/>
                </a:solidFill>
                <a:latin typeface="Sora"/>
              </a:rPr>
              <a:t>fee-page moves go to the homepage — its #2 next step</a:t>
            </a:r>
          </a:p>
        </p:txBody>
      </p:sp>
      <p:sp>
        <p:nvSpPr>
          <p:cNvPr id="27" name="TextBox 26"/>
          <p:cNvSpPr txBox="1"/>
          <p:nvPr/>
        </p:nvSpPr>
        <p:spPr>
          <a:xfrm>
            <a:off x="3154680" y="4123944"/>
            <a:ext cx="4160520" cy="777240"/>
          </a:xfrm>
          <a:prstGeom prst="rect">
            <a:avLst/>
          </a:prstGeom>
          <a:noFill/>
        </p:spPr>
        <p:txBody>
          <a:bodyPr wrap="square" lIns="0" rIns="0" tIns="0" bIns="0" anchor="t">
            <a:spAutoFit/>
          </a:bodyPr>
          <a:lstStyle/>
          <a:p>
            <a:pPr algn="l"/>
            <a:r>
              <a:rPr sz="1050" b="0" i="0">
                <a:solidFill>
                  <a:srgbClr val="0F2C5C"/>
                </a:solidFill>
                <a:latin typeface="Sora"/>
              </a:rPr>
              <a:t>Forward movement goes home, not to eligibility (7–201) or financial aid (4–71).</a:t>
            </a:r>
          </a:p>
        </p:txBody>
      </p:sp>
      <p:sp>
        <p:nvSpPr>
          <p:cNvPr id="28" name="Right Arrow 27"/>
          <p:cNvSpPr/>
          <p:nvPr/>
        </p:nvSpPr>
        <p:spPr>
          <a:xfrm>
            <a:off x="7178040" y="437997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4123944"/>
            <a:ext cx="3886200" cy="640080"/>
          </a:xfrm>
          <a:prstGeom prst="rect">
            <a:avLst/>
          </a:prstGeom>
          <a:noFill/>
        </p:spPr>
        <p:txBody>
          <a:bodyPr wrap="square" lIns="0" rIns="0" tIns="0" bIns="0" anchor="t">
            <a:spAutoFit/>
          </a:bodyPr>
          <a:lstStyle/>
          <a:p>
            <a:pPr algn="l"/>
            <a:r>
              <a:rPr sz="1050" b="1" i="0">
                <a:solidFill>
                  <a:srgbClr val="0F2C5C"/>
                </a:solidFill>
                <a:latin typeface="Sora"/>
              </a:rPr>
              <a:t>There is no forward route from the fee answer to the next decision.</a:t>
            </a:r>
          </a:p>
        </p:txBody>
      </p:sp>
      <p:sp>
        <p:nvSpPr>
          <p:cNvPr id="30" name="Rounded Rectangle 29"/>
          <p:cNvSpPr/>
          <p:nvPr/>
        </p:nvSpPr>
        <p:spPr>
          <a:xfrm>
            <a:off x="10932566" y="4727448"/>
            <a:ext cx="607161"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32566" y="4727448"/>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32" name="Rounded Rectangle 31"/>
          <p:cNvSpPr/>
          <p:nvPr/>
        </p:nvSpPr>
        <p:spPr>
          <a:xfrm>
            <a:off x="548640" y="509320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02936"/>
            <a:ext cx="2286000" cy="457200"/>
          </a:xfrm>
          <a:prstGeom prst="rect">
            <a:avLst/>
          </a:prstGeom>
          <a:noFill/>
        </p:spPr>
        <p:txBody>
          <a:bodyPr wrap="square" lIns="0" rIns="0" tIns="0" bIns="0" anchor="t">
            <a:spAutoFit/>
          </a:bodyPr>
          <a:lstStyle/>
          <a:p>
            <a:pPr algn="l"/>
            <a:r>
              <a:rPr sz="2400" b="1" i="0">
                <a:solidFill>
                  <a:srgbClr val="C8102E"/>
                </a:solidFill>
                <a:latin typeface="Sora"/>
              </a:rPr>
              <a:t>301 → /</a:t>
            </a:r>
          </a:p>
        </p:txBody>
      </p:sp>
      <p:sp>
        <p:nvSpPr>
          <p:cNvPr id="34" name="TextBox 33"/>
          <p:cNvSpPr txBox="1"/>
          <p:nvPr/>
        </p:nvSpPr>
        <p:spPr>
          <a:xfrm>
            <a:off x="731520" y="5660136"/>
            <a:ext cx="2240280" cy="365760"/>
          </a:xfrm>
          <a:prstGeom prst="rect">
            <a:avLst/>
          </a:prstGeom>
          <a:noFill/>
        </p:spPr>
        <p:txBody>
          <a:bodyPr wrap="square" lIns="0" rIns="0" tIns="0" bIns="0" anchor="t">
            <a:spAutoFit/>
          </a:bodyPr>
          <a:lstStyle/>
          <a:p>
            <a:pPr algn="l"/>
            <a:r>
              <a:rPr sz="850" b="0" i="0">
                <a:solidFill>
                  <a:srgbClr val="5A6472"/>
                </a:solidFill>
                <a:latin typeface="Sora"/>
              </a:rPr>
              <a:t>every “Fee Calculator” button redirects to the homepage</a:t>
            </a:r>
          </a:p>
        </p:txBody>
      </p:sp>
      <p:sp>
        <p:nvSpPr>
          <p:cNvPr id="35" name="TextBox 34"/>
          <p:cNvSpPr txBox="1"/>
          <p:nvPr/>
        </p:nvSpPr>
        <p:spPr>
          <a:xfrm>
            <a:off x="3154680" y="5221224"/>
            <a:ext cx="4160520" cy="777240"/>
          </a:xfrm>
          <a:prstGeom prst="rect">
            <a:avLst/>
          </a:prstGeom>
          <a:noFill/>
        </p:spPr>
        <p:txBody>
          <a:bodyPr wrap="square" lIns="0" rIns="0" tIns="0" bIns="0" anchor="t">
            <a:spAutoFit/>
          </a:bodyPr>
          <a:lstStyle/>
          <a:p>
            <a:pPr algn="l"/>
            <a:r>
              <a:rPr sz="1050" b="0" i="0">
                <a:solidFill>
                  <a:srgbClr val="0F2C5C"/>
                </a:solidFill>
                <a:latin typeface="Sora"/>
              </a:rPr>
              <a:t>Two Fee Calculator buttons on each fee page (plus the menu and CSE page) send users to the homepage.</a:t>
            </a:r>
          </a:p>
        </p:txBody>
      </p:sp>
      <p:sp>
        <p:nvSpPr>
          <p:cNvPr id="36" name="Right Arrow 35"/>
          <p:cNvSpPr/>
          <p:nvPr/>
        </p:nvSpPr>
        <p:spPr>
          <a:xfrm>
            <a:off x="7178040" y="547725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0" y="5221224"/>
            <a:ext cx="3886200" cy="640080"/>
          </a:xfrm>
          <a:prstGeom prst="rect">
            <a:avLst/>
          </a:prstGeom>
          <a:noFill/>
        </p:spPr>
        <p:txBody>
          <a:bodyPr wrap="square" lIns="0" rIns="0" tIns="0" bIns="0" anchor="t">
            <a:spAutoFit/>
          </a:bodyPr>
          <a:lstStyle/>
          <a:p>
            <a:pPr algn="l"/>
            <a:r>
              <a:rPr sz="1050" b="1" i="0">
                <a:solidFill>
                  <a:srgbClr val="0F2C5C"/>
                </a:solidFill>
                <a:latin typeface="Sora"/>
              </a:rPr>
              <a:t>The one self-serve fee tool is a dead end. Whether it drives part of the 1,236 homepage moves needs a click event.</a:t>
            </a:r>
          </a:p>
        </p:txBody>
      </p:sp>
      <p:sp>
        <p:nvSpPr>
          <p:cNvPr id="38" name="Rounded Rectangle 37"/>
          <p:cNvSpPr/>
          <p:nvPr/>
        </p:nvSpPr>
        <p:spPr>
          <a:xfrm>
            <a:off x="11119103" y="5824728"/>
            <a:ext cx="420624"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119103" y="5824728"/>
            <a:ext cx="420624" cy="201168"/>
          </a:xfrm>
          <a:prstGeom prst="rect">
            <a:avLst/>
          </a:prstGeom>
          <a:noFill/>
        </p:spPr>
        <p:txBody>
          <a:bodyPr wrap="square" lIns="0" rIns="0" tIns="0" bIns="0" anchor="ctr">
            <a:spAutoFit/>
          </a:bodyPr>
          <a:lstStyle/>
          <a:p>
            <a:pPr algn="ctr"/>
            <a:r>
              <a:rPr sz="750" b="1" i="0">
                <a:solidFill>
                  <a:srgbClr val="5A6472"/>
                </a:solidFill>
                <a:latin typeface="Sora"/>
              </a:rPr>
              <a:t>AUDIT</a:t>
            </a:r>
          </a:p>
        </p:txBody>
      </p:sp>
      <p:sp>
        <p:nvSpPr>
          <p:cNvPr id="40" name="TextBox 39"/>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GA4 event export by page type (event counts; separate pull, not directly comparable) · Live site audit, 24 Sept 2026.</a:t>
            </a:r>
          </a:p>
        </p:txBody>
      </p:sp>
      <p:sp>
        <p:nvSpPr>
          <p:cNvPr id="41" name="Rounded Rectangle 40"/>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COST CHECKER  ·  PAGE PATH</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Arrive from a course, find the fee, go back — or go home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Page path around /mriirs/admissions/fee-structure</a:t>
            </a:r>
          </a:p>
        </p:txBody>
      </p:sp>
      <p:sp>
        <p:nvSpPr>
          <p:cNvPr id="5" name="Rounded Rectangle 4"/>
          <p:cNvSpPr/>
          <p:nvPr/>
        </p:nvSpPr>
        <p:spPr>
          <a:xfrm>
            <a:off x="548640" y="1554480"/>
            <a:ext cx="2423160" cy="14173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ENTER FROM</a:t>
            </a:r>
          </a:p>
        </p:txBody>
      </p:sp>
      <p:sp>
        <p:nvSpPr>
          <p:cNvPr id="7" name="TextBox 6"/>
          <p:cNvSpPr txBox="1"/>
          <p:nvPr/>
        </p:nvSpPr>
        <p:spPr>
          <a:xfrm>
            <a:off x="68580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B.Tech CSE page</a:t>
            </a:r>
          </a:p>
        </p:txBody>
      </p:sp>
      <p:sp>
        <p:nvSpPr>
          <p:cNvPr id="8" name="TextBox 7"/>
          <p:cNvSpPr txBox="1"/>
          <p:nvPr/>
        </p:nvSpPr>
        <p:spPr>
          <a:xfrm>
            <a:off x="685800" y="2084831"/>
            <a:ext cx="2148840" cy="457200"/>
          </a:xfrm>
          <a:prstGeom prst="rect">
            <a:avLst/>
          </a:prstGeom>
          <a:noFill/>
        </p:spPr>
        <p:txBody>
          <a:bodyPr wrap="square" lIns="0" rIns="0" tIns="0" bIns="0" anchor="t">
            <a:spAutoFit/>
          </a:bodyPr>
          <a:lstStyle/>
          <a:p>
            <a:pPr algn="l"/>
            <a:r>
              <a:rPr sz="2600" b="1" i="0">
                <a:solidFill>
                  <a:srgbClr val="0F2C5C"/>
                </a:solidFill>
                <a:latin typeface="Sora"/>
              </a:rPr>
              <a:t>70%</a:t>
            </a:r>
          </a:p>
        </p:txBody>
      </p:sp>
      <p:sp>
        <p:nvSpPr>
          <p:cNvPr id="9" name="TextBox 8"/>
          <p:cNvSpPr txBox="1"/>
          <p:nvPr/>
        </p:nvSpPr>
        <p:spPr>
          <a:xfrm>
            <a:off x="68580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of MRIIRS fee-page entries</a:t>
            </a:r>
          </a:p>
        </p:txBody>
      </p:sp>
      <p:sp>
        <p:nvSpPr>
          <p:cNvPr id="10" name="Right Arrow 9"/>
          <p:cNvSpPr/>
          <p:nvPr/>
        </p:nvSpPr>
        <p:spPr>
          <a:xfrm>
            <a:off x="304495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554480"/>
            <a:ext cx="2423160" cy="141732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664207"/>
            <a:ext cx="2148840" cy="182880"/>
          </a:xfrm>
          <a:prstGeom prst="rect">
            <a:avLst/>
          </a:prstGeom>
          <a:noFill/>
        </p:spPr>
        <p:txBody>
          <a:bodyPr wrap="square" lIns="0" rIns="0" tIns="0" bIns="0" anchor="t">
            <a:spAutoFit/>
          </a:bodyPr>
          <a:lstStyle/>
          <a:p>
            <a:pPr algn="l"/>
            <a:r>
              <a:rPr sz="850" b="1" i="0">
                <a:solidFill>
                  <a:srgbClr val="CADCFC"/>
                </a:solidFill>
                <a:latin typeface="Sora"/>
              </a:rPr>
              <a:t>ON PAGE</a:t>
            </a:r>
          </a:p>
        </p:txBody>
      </p:sp>
      <p:sp>
        <p:nvSpPr>
          <p:cNvPr id="13" name="TextBox 12"/>
          <p:cNvSpPr txBox="1"/>
          <p:nvPr/>
        </p:nvSpPr>
        <p:spPr>
          <a:xfrm>
            <a:off x="3566160" y="1856231"/>
            <a:ext cx="2148840" cy="228600"/>
          </a:xfrm>
          <a:prstGeom prst="rect">
            <a:avLst/>
          </a:prstGeom>
          <a:noFill/>
        </p:spPr>
        <p:txBody>
          <a:bodyPr wrap="square" lIns="0" rIns="0" tIns="0" bIns="0" anchor="t">
            <a:spAutoFit/>
          </a:bodyPr>
          <a:lstStyle/>
          <a:p>
            <a:pPr algn="l"/>
            <a:r>
              <a:rPr sz="950" b="1" i="0">
                <a:solidFill>
                  <a:srgbClr val="FFFFFF"/>
                </a:solidFill>
                <a:latin typeface="Sora"/>
              </a:rPr>
              <a:t>MRIIRS fee structure</a:t>
            </a:r>
          </a:p>
        </p:txBody>
      </p:sp>
      <p:sp>
        <p:nvSpPr>
          <p:cNvPr id="14" name="TextBox 13"/>
          <p:cNvSpPr txBox="1"/>
          <p:nvPr/>
        </p:nvSpPr>
        <p:spPr>
          <a:xfrm>
            <a:off x="3566160" y="2084831"/>
            <a:ext cx="2148840" cy="457200"/>
          </a:xfrm>
          <a:prstGeom prst="rect">
            <a:avLst/>
          </a:prstGeom>
          <a:noFill/>
        </p:spPr>
        <p:txBody>
          <a:bodyPr wrap="square" lIns="0" rIns="0" tIns="0" bIns="0" anchor="t">
            <a:spAutoFit/>
          </a:bodyPr>
          <a:lstStyle/>
          <a:p>
            <a:pPr algn="l"/>
            <a:r>
              <a:rPr sz="2600" b="1" i="0">
                <a:solidFill>
                  <a:srgbClr val="FFFFFF"/>
                </a:solidFill>
                <a:latin typeface="Sora"/>
              </a:rPr>
              <a:t>8,664</a:t>
            </a:r>
          </a:p>
        </p:txBody>
      </p:sp>
      <p:sp>
        <p:nvSpPr>
          <p:cNvPr id="15" name="TextBox 14"/>
          <p:cNvSpPr txBox="1"/>
          <p:nvPr/>
        </p:nvSpPr>
        <p:spPr>
          <a:xfrm>
            <a:off x="3566160" y="2532888"/>
            <a:ext cx="2148840" cy="411480"/>
          </a:xfrm>
          <a:prstGeom prst="rect">
            <a:avLst/>
          </a:prstGeom>
          <a:noFill/>
        </p:spPr>
        <p:txBody>
          <a:bodyPr wrap="square" lIns="0" rIns="0" tIns="0" bIns="0" anchor="t">
            <a:spAutoFit/>
          </a:bodyPr>
          <a:lstStyle/>
          <a:p>
            <a:pPr algn="l"/>
            <a:r>
              <a:rPr sz="850" b="0" i="0">
                <a:solidFill>
                  <a:srgbClr val="FFFFFF"/>
                </a:solidFill>
                <a:latin typeface="Sora"/>
              </a:rPr>
              <a:t>sessions in 90 days · 73.94% engagement</a:t>
            </a:r>
          </a:p>
        </p:txBody>
      </p:sp>
      <p:sp>
        <p:nvSpPr>
          <p:cNvPr id="16" name="Right Arrow 15"/>
          <p:cNvSpPr/>
          <p:nvPr/>
        </p:nvSpPr>
        <p:spPr>
          <a:xfrm>
            <a:off x="592531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59" y="1554480"/>
            <a:ext cx="2423160" cy="14173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NEXT STEP #1</a:t>
            </a:r>
          </a:p>
        </p:txBody>
      </p:sp>
      <p:sp>
        <p:nvSpPr>
          <p:cNvPr id="19" name="TextBox 18"/>
          <p:cNvSpPr txBox="1"/>
          <p:nvPr/>
        </p:nvSpPr>
        <p:spPr>
          <a:xfrm>
            <a:off x="644652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Back to B.Tech CSE</a:t>
            </a:r>
          </a:p>
        </p:txBody>
      </p:sp>
      <p:sp>
        <p:nvSpPr>
          <p:cNvPr id="20" name="TextBox 19"/>
          <p:cNvSpPr txBox="1"/>
          <p:nvPr/>
        </p:nvSpPr>
        <p:spPr>
          <a:xfrm>
            <a:off x="6446520" y="2084831"/>
            <a:ext cx="2148840" cy="457200"/>
          </a:xfrm>
          <a:prstGeom prst="rect">
            <a:avLst/>
          </a:prstGeom>
          <a:noFill/>
        </p:spPr>
        <p:txBody>
          <a:bodyPr wrap="square" lIns="0" rIns="0" tIns="0" bIns="0" anchor="t">
            <a:spAutoFit/>
          </a:bodyPr>
          <a:lstStyle/>
          <a:p>
            <a:pPr algn="l"/>
            <a:r>
              <a:rPr sz="2600" b="1" i="0">
                <a:solidFill>
                  <a:srgbClr val="0F2C5C"/>
                </a:solidFill>
                <a:latin typeface="Sora"/>
              </a:rPr>
              <a:t>7,070</a:t>
            </a:r>
          </a:p>
        </p:txBody>
      </p:sp>
      <p:sp>
        <p:nvSpPr>
          <p:cNvPr id="21" name="TextBox 20"/>
          <p:cNvSpPr txBox="1"/>
          <p:nvPr/>
        </p:nvSpPr>
        <p:spPr>
          <a:xfrm>
            <a:off x="644652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moves back to the course</a:t>
            </a:r>
          </a:p>
        </p:txBody>
      </p:sp>
      <p:sp>
        <p:nvSpPr>
          <p:cNvPr id="22" name="Right Arrow 21"/>
          <p:cNvSpPr/>
          <p:nvPr/>
        </p:nvSpPr>
        <p:spPr>
          <a:xfrm>
            <a:off x="880567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89719" y="1554480"/>
            <a:ext cx="2423160" cy="141732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NEXT STEP #2</a:t>
            </a:r>
          </a:p>
        </p:txBody>
      </p:sp>
      <p:sp>
        <p:nvSpPr>
          <p:cNvPr id="25" name="TextBox 24"/>
          <p:cNvSpPr txBox="1"/>
          <p:nvPr/>
        </p:nvSpPr>
        <p:spPr>
          <a:xfrm>
            <a:off x="932688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Homepage</a:t>
            </a:r>
          </a:p>
        </p:txBody>
      </p:sp>
      <p:sp>
        <p:nvSpPr>
          <p:cNvPr id="26" name="TextBox 25"/>
          <p:cNvSpPr txBox="1"/>
          <p:nvPr/>
        </p:nvSpPr>
        <p:spPr>
          <a:xfrm>
            <a:off x="9326880" y="2084831"/>
            <a:ext cx="2148840" cy="457200"/>
          </a:xfrm>
          <a:prstGeom prst="rect">
            <a:avLst/>
          </a:prstGeom>
          <a:noFill/>
        </p:spPr>
        <p:txBody>
          <a:bodyPr wrap="square" lIns="0" rIns="0" tIns="0" bIns="0" anchor="t">
            <a:spAutoFit/>
          </a:bodyPr>
          <a:lstStyle/>
          <a:p>
            <a:pPr algn="l"/>
            <a:r>
              <a:rPr sz="2600" b="1" i="0">
                <a:solidFill>
                  <a:srgbClr val="C8102E"/>
                </a:solidFill>
                <a:latin typeface="Sora"/>
              </a:rPr>
              <a:t>1,236</a:t>
            </a:r>
          </a:p>
        </p:txBody>
      </p:sp>
      <p:sp>
        <p:nvSpPr>
          <p:cNvPr id="27" name="TextBox 26"/>
          <p:cNvSpPr txBox="1"/>
          <p:nvPr/>
        </p:nvSpPr>
        <p:spPr>
          <a:xfrm>
            <a:off x="932688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moves to the homepage</a:t>
            </a:r>
          </a:p>
        </p:txBody>
      </p:sp>
      <p:sp>
        <p:nvSpPr>
          <p:cNvPr id="28" name="Rounded Rectangle 27"/>
          <p:cNvSpPr/>
          <p:nvPr/>
        </p:nvSpPr>
        <p:spPr>
          <a:xfrm>
            <a:off x="548640" y="3154680"/>
            <a:ext cx="356616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246120"/>
            <a:ext cx="3291840" cy="182880"/>
          </a:xfrm>
          <a:prstGeom prst="rect">
            <a:avLst/>
          </a:prstGeom>
          <a:noFill/>
        </p:spPr>
        <p:txBody>
          <a:bodyPr wrap="square" lIns="0" rIns="0" tIns="0" bIns="0" anchor="t">
            <a:spAutoFit/>
          </a:bodyPr>
          <a:lstStyle/>
          <a:p>
            <a:pPr algn="l"/>
            <a:r>
              <a:rPr sz="800" b="1" i="0">
                <a:solidFill>
                  <a:srgbClr val="C8102E"/>
                </a:solidFill>
                <a:latin typeface="Sora"/>
              </a:rPr>
              <a:t>CROSS-BRAND HOP</a:t>
            </a:r>
          </a:p>
        </p:txBody>
      </p:sp>
      <p:sp>
        <p:nvSpPr>
          <p:cNvPr id="30" name="TextBox 29"/>
          <p:cNvSpPr txBox="1"/>
          <p:nvPr/>
        </p:nvSpPr>
        <p:spPr>
          <a:xfrm>
            <a:off x="685800" y="3465576"/>
            <a:ext cx="3291840" cy="978407"/>
          </a:xfrm>
          <a:prstGeom prst="rect">
            <a:avLst/>
          </a:prstGeom>
          <a:noFill/>
        </p:spPr>
        <p:txBody>
          <a:bodyPr wrap="square" lIns="0" rIns="0" tIns="0" bIns="0" anchor="t">
            <a:spAutoFit/>
          </a:bodyPr>
          <a:lstStyle/>
          <a:p>
            <a:pPr algn="l"/>
            <a:r>
              <a:rPr sz="1050" b="0" i="0">
                <a:solidFill>
                  <a:srgbClr val="0F2C5C"/>
                </a:solidFill>
                <a:latin typeface="Sora"/>
              </a:rPr>
              <a:t>494 users jump to the MRU fee page — the institution decision is still open at the fee stage.</a:t>
            </a:r>
          </a:p>
        </p:txBody>
      </p:sp>
      <p:sp>
        <p:nvSpPr>
          <p:cNvPr id="31" name="Rounded Rectangle 30"/>
          <p:cNvSpPr/>
          <p:nvPr/>
        </p:nvSpPr>
        <p:spPr>
          <a:xfrm>
            <a:off x="3416198" y="3227832"/>
            <a:ext cx="607161"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16198" y="3227832"/>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33" name="Rounded Rectangle 32"/>
          <p:cNvSpPr/>
          <p:nvPr/>
        </p:nvSpPr>
        <p:spPr>
          <a:xfrm>
            <a:off x="4297680" y="3154680"/>
            <a:ext cx="356616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34840" y="3246120"/>
            <a:ext cx="3291840" cy="182880"/>
          </a:xfrm>
          <a:prstGeom prst="rect">
            <a:avLst/>
          </a:prstGeom>
          <a:noFill/>
        </p:spPr>
        <p:txBody>
          <a:bodyPr wrap="square" lIns="0" rIns="0" tIns="0" bIns="0" anchor="t">
            <a:spAutoFit/>
          </a:bodyPr>
          <a:lstStyle/>
          <a:p>
            <a:pPr algn="l"/>
            <a:r>
              <a:rPr sz="800" b="1" i="0">
                <a:solidFill>
                  <a:srgbClr val="C8102E"/>
                </a:solidFill>
                <a:latin typeface="Sora"/>
              </a:rPr>
              <a:t>CONVERSION PAGES BARELY REGISTER</a:t>
            </a:r>
          </a:p>
        </p:txBody>
      </p:sp>
      <p:sp>
        <p:nvSpPr>
          <p:cNvPr id="35" name="TextBox 34"/>
          <p:cNvSpPr txBox="1"/>
          <p:nvPr/>
        </p:nvSpPr>
        <p:spPr>
          <a:xfrm>
            <a:off x="4434840" y="3465576"/>
            <a:ext cx="3291840" cy="978407"/>
          </a:xfrm>
          <a:prstGeom prst="rect">
            <a:avLst/>
          </a:prstGeom>
          <a:noFill/>
        </p:spPr>
        <p:txBody>
          <a:bodyPr wrap="square" lIns="0" rIns="0" tIns="0" bIns="0" anchor="t">
            <a:spAutoFit/>
          </a:bodyPr>
          <a:lstStyle/>
          <a:p>
            <a:pPr algn="l"/>
            <a:r>
              <a:rPr sz="1050" b="0" i="0">
                <a:solidFill>
                  <a:srgbClr val="0F2C5C"/>
                </a:solidFill>
                <a:latin typeface="Sora"/>
              </a:rPr>
              <a:t>Eligibility 7–201 · financial aid 4–71 · admission process 48 as next steps.</a:t>
            </a:r>
          </a:p>
        </p:txBody>
      </p:sp>
      <p:sp>
        <p:nvSpPr>
          <p:cNvPr id="36" name="Rounded Rectangle 35"/>
          <p:cNvSpPr/>
          <p:nvPr/>
        </p:nvSpPr>
        <p:spPr>
          <a:xfrm>
            <a:off x="7165238" y="3227832"/>
            <a:ext cx="607161"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65238" y="3227832"/>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38" name="Rounded Rectangle 37"/>
          <p:cNvSpPr/>
          <p:nvPr/>
        </p:nvSpPr>
        <p:spPr>
          <a:xfrm>
            <a:off x="8046720" y="3154680"/>
            <a:ext cx="356616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83880" y="3246120"/>
            <a:ext cx="3291840" cy="182880"/>
          </a:xfrm>
          <a:prstGeom prst="rect">
            <a:avLst/>
          </a:prstGeom>
          <a:noFill/>
        </p:spPr>
        <p:txBody>
          <a:bodyPr wrap="square" lIns="0" rIns="0" tIns="0" bIns="0" anchor="t">
            <a:spAutoFit/>
          </a:bodyPr>
          <a:lstStyle/>
          <a:p>
            <a:pPr algn="l"/>
            <a:r>
              <a:rPr sz="800" b="1" i="0">
                <a:solidFill>
                  <a:srgbClr val="C8102E"/>
                </a:solidFill>
                <a:latin typeface="Sora"/>
              </a:rPr>
              <a:t>WHAT USERS DO ON THE PAGE</a:t>
            </a:r>
          </a:p>
        </p:txBody>
      </p:sp>
      <p:sp>
        <p:nvSpPr>
          <p:cNvPr id="40" name="TextBox 39"/>
          <p:cNvSpPr txBox="1"/>
          <p:nvPr/>
        </p:nvSpPr>
        <p:spPr>
          <a:xfrm>
            <a:off x="8183880" y="3465576"/>
            <a:ext cx="3291840" cy="978407"/>
          </a:xfrm>
          <a:prstGeom prst="rect">
            <a:avLst/>
          </a:prstGeom>
          <a:noFill/>
        </p:spPr>
        <p:txBody>
          <a:bodyPr wrap="square" lIns="0" rIns="0" tIns="0" bIns="0" anchor="t">
            <a:spAutoFit/>
          </a:bodyPr>
          <a:lstStyle/>
          <a:p>
            <a:pPr algn="l"/>
            <a:r>
              <a:rPr sz="1050" b="0" i="0">
                <a:solidFill>
                  <a:srgbClr val="0F2C5C"/>
                </a:solidFill>
                <a:latin typeface="Sora"/>
              </a:rPr>
              <a:t>82 phone clicks · 31 form submits · 112 Apply clicks · 5,899 90%-scroll events on fee &amp; eligibility pages.</a:t>
            </a:r>
          </a:p>
        </p:txBody>
      </p:sp>
      <p:sp>
        <p:nvSpPr>
          <p:cNvPr id="41" name="Rounded Rectangle 40"/>
          <p:cNvSpPr/>
          <p:nvPr/>
        </p:nvSpPr>
        <p:spPr>
          <a:xfrm>
            <a:off x="11225174" y="3227832"/>
            <a:ext cx="296265"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225174" y="3227832"/>
            <a:ext cx="296265" cy="201168"/>
          </a:xfrm>
          <a:prstGeom prst="rect">
            <a:avLst/>
          </a:prstGeom>
          <a:noFill/>
        </p:spPr>
        <p:txBody>
          <a:bodyPr wrap="square" lIns="0" rIns="0" tIns="0" bIns="0" anchor="ctr">
            <a:spAutoFit/>
          </a:bodyPr>
          <a:lstStyle/>
          <a:p>
            <a:pPr algn="ctr"/>
            <a:r>
              <a:rPr sz="750" b="1" i="0">
                <a:solidFill>
                  <a:srgbClr val="5A6472"/>
                </a:solidFill>
                <a:latin typeface="Sora"/>
              </a:rPr>
              <a:t>CSV</a:t>
            </a:r>
          </a:p>
        </p:txBody>
      </p:sp>
      <p:sp>
        <p:nvSpPr>
          <p:cNvPr id="43" name="Rounded Rectangle 42"/>
          <p:cNvSpPr/>
          <p:nvPr/>
        </p:nvSpPr>
        <p:spPr>
          <a:xfrm>
            <a:off x="548640" y="4645152"/>
            <a:ext cx="3566160" cy="16916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782312"/>
            <a:ext cx="3200400" cy="182880"/>
          </a:xfrm>
          <a:prstGeom prst="rect">
            <a:avLst/>
          </a:prstGeom>
          <a:noFill/>
        </p:spPr>
        <p:txBody>
          <a:bodyPr wrap="square" lIns="0" rIns="0" tIns="0" bIns="0" anchor="t">
            <a:spAutoFit/>
          </a:bodyPr>
          <a:lstStyle/>
          <a:p>
            <a:pPr algn="l"/>
            <a:r>
              <a:rPr sz="850" b="1" i="0">
                <a:solidFill>
                  <a:srgbClr val="C8102E"/>
                </a:solidFill>
                <a:latin typeface="Sora"/>
              </a:rPr>
              <a:t>INTERPRETATION</a:t>
            </a:r>
          </a:p>
        </p:txBody>
      </p:sp>
      <p:sp>
        <p:nvSpPr>
          <p:cNvPr id="45" name="TextBox 44"/>
          <p:cNvSpPr txBox="1"/>
          <p:nvPr/>
        </p:nvSpPr>
        <p:spPr>
          <a:xfrm>
            <a:off x="731520" y="5029200"/>
            <a:ext cx="3200400" cy="1234440"/>
          </a:xfrm>
          <a:prstGeom prst="rect">
            <a:avLst/>
          </a:prstGeom>
          <a:noFill/>
        </p:spPr>
        <p:txBody>
          <a:bodyPr wrap="square" lIns="0" rIns="0" tIns="0" bIns="0" anchor="t">
            <a:spAutoFit/>
          </a:bodyPr>
          <a:lstStyle/>
          <a:p>
            <a:pPr algn="l"/>
            <a:r>
              <a:rPr sz="1000" b="0" i="0">
                <a:solidFill>
                  <a:srgbClr val="0F2C5C"/>
                </a:solidFill>
                <a:latin typeface="Sora"/>
              </a:rPr>
              <a:t>The page is visited to answer one course’s fee. Users scroll deep, then either return to the course or leave to the homepage. The action they choose is the phone — not the form, not eligibility.</a:t>
            </a:r>
          </a:p>
        </p:txBody>
      </p:sp>
      <p:sp>
        <p:nvSpPr>
          <p:cNvPr id="46" name="Rounded Rectangle 45"/>
          <p:cNvSpPr/>
          <p:nvPr/>
        </p:nvSpPr>
        <p:spPr>
          <a:xfrm>
            <a:off x="4297680" y="4645152"/>
            <a:ext cx="3566160" cy="169164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80560" y="4782312"/>
            <a:ext cx="3200400" cy="182880"/>
          </a:xfrm>
          <a:prstGeom prst="rect">
            <a:avLst/>
          </a:prstGeom>
          <a:noFill/>
        </p:spPr>
        <p:txBody>
          <a:bodyPr wrap="square" lIns="0" rIns="0" tIns="0" bIns="0" anchor="t">
            <a:spAutoFit/>
          </a:bodyPr>
          <a:lstStyle/>
          <a:p>
            <a:pPr algn="l"/>
            <a:r>
              <a:rPr sz="850" b="1" i="0">
                <a:solidFill>
                  <a:srgbClr val="CADCFC"/>
                </a:solidFill>
                <a:latin typeface="Sora"/>
              </a:rPr>
              <a:t>CRO QUESTION</a:t>
            </a:r>
          </a:p>
        </p:txBody>
      </p:sp>
      <p:sp>
        <p:nvSpPr>
          <p:cNvPr id="48" name="TextBox 47"/>
          <p:cNvSpPr txBox="1"/>
          <p:nvPr/>
        </p:nvSpPr>
        <p:spPr>
          <a:xfrm>
            <a:off x="4480560" y="5029200"/>
            <a:ext cx="3200400" cy="1234440"/>
          </a:xfrm>
          <a:prstGeom prst="rect">
            <a:avLst/>
          </a:prstGeom>
          <a:noFill/>
        </p:spPr>
        <p:txBody>
          <a:bodyPr wrap="square" lIns="0" rIns="0" tIns="0" bIns="0" anchor="t">
            <a:spAutoFit/>
          </a:bodyPr>
          <a:lstStyle/>
          <a:p>
            <a:pPr algn="l"/>
            <a:r>
              <a:rPr sz="1250" b="1" i="0">
                <a:solidFill>
                  <a:srgbClr val="FFFFFF"/>
                </a:solidFill>
                <a:latin typeface="Sora"/>
              </a:rPr>
              <a:t>Can a Cost Checker find the exact fee they came for without scanning a long generic table — and is there a next step when they do?</a:t>
            </a:r>
          </a:p>
        </p:txBody>
      </p:sp>
      <p:sp>
        <p:nvSpPr>
          <p:cNvPr id="49" name="Rounded Rectangle 48"/>
          <p:cNvSpPr/>
          <p:nvPr/>
        </p:nvSpPr>
        <p:spPr>
          <a:xfrm>
            <a:off x="8046719" y="4645152"/>
            <a:ext cx="3566160" cy="1691640"/>
          </a:xfrm>
          <a:prstGeom prst="roundRect">
            <a:avLst>
              <a:gd name="adj" fmla="val 6000"/>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0" y="4782312"/>
            <a:ext cx="3200400" cy="182880"/>
          </a:xfrm>
          <a:prstGeom prst="rect">
            <a:avLst/>
          </a:prstGeom>
          <a:noFill/>
        </p:spPr>
        <p:txBody>
          <a:bodyPr wrap="square" lIns="0" rIns="0" tIns="0" bIns="0" anchor="t">
            <a:spAutoFit/>
          </a:bodyPr>
          <a:lstStyle/>
          <a:p>
            <a:pPr algn="l"/>
            <a:r>
              <a:rPr sz="850" b="1" i="0">
                <a:solidFill>
                  <a:srgbClr val="C8102E"/>
                </a:solidFill>
                <a:latin typeface="Sora"/>
              </a:rPr>
              <a:t>OPPORTUNITY</a:t>
            </a:r>
          </a:p>
        </p:txBody>
      </p:sp>
      <p:sp>
        <p:nvSpPr>
          <p:cNvPr id="51" name="TextBox 50"/>
          <p:cNvSpPr txBox="1"/>
          <p:nvPr/>
        </p:nvSpPr>
        <p:spPr>
          <a:xfrm>
            <a:off x="8229600" y="5029200"/>
            <a:ext cx="3200400" cy="1234440"/>
          </a:xfrm>
          <a:prstGeom prst="rect">
            <a:avLst/>
          </a:prstGeom>
          <a:noFill/>
        </p:spPr>
        <p:txBody>
          <a:bodyPr wrap="square" lIns="0" rIns="0" tIns="0" bIns="0" anchor="t">
            <a:spAutoFit/>
          </a:bodyPr>
          <a:lstStyle/>
          <a:p>
            <a:pPr algn="l"/>
            <a:r>
              <a:rPr sz="1050" b="0" i="0">
                <a:solidFill>
                  <a:srgbClr val="0F2C5C"/>
                </a:solidFill>
                <a:latin typeface="Sora"/>
              </a:rPr>
              <a:t>Programme selector → one fee card → a next step for that programme: call admissions, check eligibility, apply. Return link to the originating course.</a:t>
            </a:r>
          </a:p>
        </p:txBody>
      </p:sp>
      <p:sp>
        <p:nvSpPr>
          <p:cNvPr id="52" name="TextBox 51"/>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GA4 event export by page type (event counts; separate pull, not directly comparable).</a:t>
            </a:r>
          </a:p>
        </p:txBody>
      </p:sp>
      <p:sp>
        <p:nvSpPr>
          <p:cNvPr id="53" name="Rounded Rectangle 52"/>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2"/>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WHO LANDS HERE</a:t>
            </a:r>
            <a:endParaRPr sz="1500"/>
          </a:p>
        </p:txBody>
      </p:sp>
      <p:sp>
        <p:nvSpPr>
          <p:cNvPr id="507" name="Google Shape;507;p32"/>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The Cost Checker, arriving with the highest intent on the site</a:t>
            </a:r>
            <a:endParaRPr sz="1500"/>
          </a:p>
        </p:txBody>
      </p:sp>
      <p:sp>
        <p:nvSpPr>
          <p:cNvPr id="508" name="Google Shape;508;p32"/>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“What does it cost, and can I get in?” — across both fee-structure templates</a:t>
            </a:r>
            <a:endParaRPr sz="1500"/>
          </a:p>
        </p:txBody>
      </p:sp>
      <p:sp>
        <p:nvSpPr>
          <p:cNvPr id="509" name="Google Shape;509;p32"/>
          <p:cNvSpPr/>
          <p:nvPr/>
        </p:nvSpPr>
        <p:spPr>
          <a:xfrm>
            <a:off x="548640" y="1691640"/>
            <a:ext cx="2651700" cy="1188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10" name="Google Shape;510;p32"/>
          <p:cNvSpPr txBox="1"/>
          <p:nvPr/>
        </p:nvSpPr>
        <p:spPr>
          <a:xfrm>
            <a:off x="749808" y="1837944"/>
            <a:ext cx="22497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C8102E"/>
                </a:solidFill>
                <a:latin typeface="Sora"/>
                <a:ea typeface="Sora"/>
                <a:cs typeface="Sora"/>
                <a:sym typeface="Sora"/>
              </a:rPr>
              <a:t>12,416</a:t>
            </a:r>
            <a:endParaRPr sz="1500"/>
          </a:p>
        </p:txBody>
      </p:sp>
      <p:sp>
        <p:nvSpPr>
          <p:cNvPr id="511" name="Google Shape;511;p32"/>
          <p:cNvSpPr txBox="1"/>
          <p:nvPr/>
        </p:nvSpPr>
        <p:spPr>
          <a:xfrm>
            <a:off x="749808" y="2313432"/>
            <a:ext cx="22497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combined sessions across both fee pages in 90 days</a:t>
            </a:r>
            <a:endParaRPr sz="1500"/>
          </a:p>
        </p:txBody>
      </p:sp>
      <p:sp>
        <p:nvSpPr>
          <p:cNvPr id="512" name="Google Shape;512;p32"/>
          <p:cNvSpPr/>
          <p:nvPr/>
        </p:nvSpPr>
        <p:spPr>
          <a:xfrm>
            <a:off x="3364992" y="1691640"/>
            <a:ext cx="2651700" cy="1188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13" name="Google Shape;513;p32"/>
          <p:cNvSpPr txBox="1"/>
          <p:nvPr/>
        </p:nvSpPr>
        <p:spPr>
          <a:xfrm>
            <a:off x="3566160" y="1837944"/>
            <a:ext cx="22497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C8102E"/>
                </a:solidFill>
                <a:latin typeface="Sora"/>
                <a:ea typeface="Sora"/>
                <a:cs typeface="Sora"/>
                <a:sym typeface="Sora"/>
              </a:rPr>
              <a:t>74.0%</a:t>
            </a:r>
            <a:endParaRPr sz="1500"/>
          </a:p>
        </p:txBody>
      </p:sp>
      <p:sp>
        <p:nvSpPr>
          <p:cNvPr id="514" name="Google Shape;514;p32"/>
          <p:cNvSpPr txBox="1"/>
          <p:nvPr/>
        </p:nvSpPr>
        <p:spPr>
          <a:xfrm>
            <a:off x="3566160" y="2313432"/>
            <a:ext cx="22497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average engagement rate — highest of any template on the site</a:t>
            </a:r>
            <a:endParaRPr sz="1500"/>
          </a:p>
        </p:txBody>
      </p:sp>
      <p:sp>
        <p:nvSpPr>
          <p:cNvPr id="515" name="Google Shape;515;p32"/>
          <p:cNvSpPr/>
          <p:nvPr/>
        </p:nvSpPr>
        <p:spPr>
          <a:xfrm>
            <a:off x="6181344" y="1691640"/>
            <a:ext cx="2651700" cy="1188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16" name="Google Shape;516;p32"/>
          <p:cNvSpPr txBox="1"/>
          <p:nvPr/>
        </p:nvSpPr>
        <p:spPr>
          <a:xfrm>
            <a:off x="6382512" y="1837944"/>
            <a:ext cx="22497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C8102E"/>
                </a:solidFill>
                <a:latin typeface="Sora"/>
                <a:ea typeface="Sora"/>
                <a:cs typeface="Sora"/>
                <a:sym typeface="Sora"/>
              </a:rPr>
              <a:t>~26%</a:t>
            </a:r>
            <a:endParaRPr sz="1500"/>
          </a:p>
        </p:txBody>
      </p:sp>
      <p:sp>
        <p:nvSpPr>
          <p:cNvPr id="517" name="Google Shape;517;p32"/>
          <p:cNvSpPr txBox="1"/>
          <p:nvPr/>
        </p:nvSpPr>
        <p:spPr>
          <a:xfrm>
            <a:off x="6382512" y="2313432"/>
            <a:ext cx="22497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bounce rate — far below the 43.6% site-wide average</a:t>
            </a:r>
            <a:endParaRPr sz="1500"/>
          </a:p>
        </p:txBody>
      </p:sp>
      <p:sp>
        <p:nvSpPr>
          <p:cNvPr id="518" name="Google Shape;518;p32"/>
          <p:cNvSpPr/>
          <p:nvPr/>
        </p:nvSpPr>
        <p:spPr>
          <a:xfrm>
            <a:off x="8997696" y="1691640"/>
            <a:ext cx="2651700" cy="1188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19" name="Google Shape;519;p32"/>
          <p:cNvSpPr txBox="1"/>
          <p:nvPr/>
        </p:nvSpPr>
        <p:spPr>
          <a:xfrm>
            <a:off x="9198864" y="1837944"/>
            <a:ext cx="22497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C8102E"/>
                </a:solidFill>
                <a:latin typeface="Sora"/>
                <a:ea typeface="Sora"/>
                <a:cs typeface="Sora"/>
                <a:sym typeface="Sora"/>
              </a:rPr>
              <a:t>70%</a:t>
            </a:r>
            <a:endParaRPr sz="1500"/>
          </a:p>
        </p:txBody>
      </p:sp>
      <p:sp>
        <p:nvSpPr>
          <p:cNvPr id="520" name="Google Shape;520;p32"/>
          <p:cNvSpPr txBox="1"/>
          <p:nvPr/>
        </p:nvSpPr>
        <p:spPr>
          <a:xfrm>
            <a:off x="9198864" y="2313432"/>
            <a:ext cx="22497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of MRIIRS fee-page entries arrive straight from the B.Tech CSE page</a:t>
            </a:r>
            <a:endParaRPr sz="1500"/>
          </a:p>
        </p:txBody>
      </p:sp>
      <p:sp>
        <p:nvSpPr>
          <p:cNvPr id="521" name="Google Shape;521;p32"/>
          <p:cNvSpPr/>
          <p:nvPr/>
        </p:nvSpPr>
        <p:spPr>
          <a:xfrm>
            <a:off x="548640" y="3154680"/>
            <a:ext cx="5349300" cy="15549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22" name="Google Shape;522;p32"/>
          <p:cNvSpPr txBox="1"/>
          <p:nvPr/>
        </p:nvSpPr>
        <p:spPr>
          <a:xfrm>
            <a:off x="777240" y="3319272"/>
            <a:ext cx="48921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MRIIRS — /mriirs/admissions/fee-structure</a:t>
            </a:r>
            <a:endParaRPr sz="1500"/>
          </a:p>
        </p:txBody>
      </p:sp>
      <p:sp>
        <p:nvSpPr>
          <p:cNvPr id="523" name="Google Shape;523;p32"/>
          <p:cNvSpPr txBox="1"/>
          <p:nvPr/>
        </p:nvSpPr>
        <p:spPr>
          <a:xfrm>
            <a:off x="777240" y="3685032"/>
            <a:ext cx="4892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8,664 sessions · 73.94% engagement · 2.05 views/session · 26.06% bounce</a:t>
            </a:r>
            <a:endParaRPr sz="1500"/>
          </a:p>
        </p:txBody>
      </p:sp>
      <p:sp>
        <p:nvSpPr>
          <p:cNvPr id="524" name="Google Shape;524;p32"/>
          <p:cNvSpPr txBox="1"/>
          <p:nvPr/>
        </p:nvSpPr>
        <p:spPr>
          <a:xfrm>
            <a:off x="777240" y="4114800"/>
            <a:ext cx="4892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100" u="none" cap="none" strike="noStrike">
                <a:solidFill>
                  <a:srgbClr val="C8102E"/>
                </a:solidFill>
                <a:latin typeface="Sora"/>
                <a:ea typeface="Sora"/>
                <a:cs typeface="Sora"/>
                <a:sym typeface="Sora"/>
              </a:rPr>
              <a:t>“70% of entries arrive from the B.Tech CSE page; strongest onward link points back.”</a:t>
            </a:r>
            <a:endParaRPr sz="1500"/>
          </a:p>
        </p:txBody>
      </p:sp>
      <p:sp>
        <p:nvSpPr>
          <p:cNvPr id="525" name="Google Shape;525;p32"/>
          <p:cNvSpPr/>
          <p:nvPr/>
        </p:nvSpPr>
        <p:spPr>
          <a:xfrm>
            <a:off x="6080760" y="3154680"/>
            <a:ext cx="5349300" cy="15549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26" name="Google Shape;526;p32"/>
          <p:cNvSpPr txBox="1"/>
          <p:nvPr/>
        </p:nvSpPr>
        <p:spPr>
          <a:xfrm>
            <a:off x="6309360" y="3319272"/>
            <a:ext cx="48921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MRU — /mru/admissions/fee-structure</a:t>
            </a:r>
            <a:endParaRPr sz="1500"/>
          </a:p>
        </p:txBody>
      </p:sp>
      <p:sp>
        <p:nvSpPr>
          <p:cNvPr id="527" name="Google Shape;527;p32"/>
          <p:cNvSpPr txBox="1"/>
          <p:nvPr/>
        </p:nvSpPr>
        <p:spPr>
          <a:xfrm>
            <a:off x="6309360" y="3685032"/>
            <a:ext cx="4892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3,752 sessions · 74.07% engagement · 2.11 views/session · 25.93% bounce</a:t>
            </a:r>
            <a:endParaRPr sz="1500"/>
          </a:p>
        </p:txBody>
      </p:sp>
      <p:sp>
        <p:nvSpPr>
          <p:cNvPr id="528" name="Google Shape;528;p32"/>
          <p:cNvSpPr txBox="1"/>
          <p:nvPr/>
        </p:nvSpPr>
        <p:spPr>
          <a:xfrm>
            <a:off x="6309360" y="4114800"/>
            <a:ext cx="4892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100" u="none" cap="none" strike="noStrike">
                <a:solidFill>
                  <a:srgbClr val="C8102E"/>
                </a:solidFill>
                <a:latin typeface="Sora"/>
                <a:ea typeface="Sora"/>
                <a:cs typeface="Sora"/>
                <a:sym typeface="Sora"/>
              </a:rPr>
              <a:t>Same shape as MRIIRS: high engagement, high intent, same round-trip pattern.</a:t>
            </a:r>
            <a:endParaRPr sz="1500"/>
          </a:p>
        </p:txBody>
      </p:sp>
      <p:sp>
        <p:nvSpPr>
          <p:cNvPr id="529" name="Google Shape;529;p32"/>
          <p:cNvSpPr/>
          <p:nvPr/>
        </p:nvSpPr>
        <p:spPr>
          <a:xfrm>
            <a:off x="548640" y="4983480"/>
            <a:ext cx="11091600" cy="1051500"/>
          </a:xfrm>
          <a:prstGeom prst="roundRect">
            <a:avLst>
              <a:gd fmla="val 8000" name="adj"/>
            </a:avLst>
          </a:prstGeom>
          <a:solidFill>
            <a:srgbClr val="0F2C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30" name="Google Shape;530;p32"/>
          <p:cNvSpPr txBox="1"/>
          <p:nvPr/>
        </p:nvSpPr>
        <p:spPr>
          <a:xfrm>
            <a:off x="822960" y="5138928"/>
            <a:ext cx="10515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8095"/>
                </a:solidFill>
                <a:latin typeface="Sora"/>
                <a:ea typeface="Sora"/>
                <a:cs typeface="Sora"/>
                <a:sym typeface="Sora"/>
              </a:rPr>
              <a:t>WHAT THIS MEANS</a:t>
            </a:r>
            <a:endParaRPr sz="1500"/>
          </a:p>
        </p:txBody>
      </p:sp>
      <p:sp>
        <p:nvSpPr>
          <p:cNvPr id="531" name="Google Shape;531;p32"/>
          <p:cNvSpPr txBox="1"/>
          <p:nvPr/>
        </p:nvSpPr>
        <p:spPr>
          <a:xfrm>
            <a:off x="822960" y="5394960"/>
            <a:ext cx="105156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This is the most qualified visitor on the entire site — already past research, actively pricing. The template is currently spending that intent on a table they can't read.</a:t>
            </a:r>
            <a:endParaRPr sz="1500"/>
          </a:p>
        </p:txBody>
      </p:sp>
      <p:sp>
        <p:nvSpPr>
          <p:cNvPr id="532" name="Google Shape;532;p32"/>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and Path Exploration, 13 Jun – 10 Sept 2026.</a:t>
            </a:r>
            <a:endParaRPr sz="1500"/>
          </a:p>
        </p:txBody>
      </p:sp>
      <p:sp>
        <p:nvSpPr>
          <p:cNvPr id="533" name="Rounded Rectangle 532"/>
          <p:cNvSpPr/>
          <p:nvPr/>
        </p:nvSpPr>
        <p:spPr>
          <a:xfrm>
            <a:off x="10908792" y="41148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3"/>
          <p:cNvSpPr txBox="1"/>
          <p:nvPr/>
        </p:nvSpPr>
        <p:spPr>
          <a:xfrm>
            <a:off x="243840" y="2082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COST CHECKER — CURRENT STATE</a:t>
            </a:r>
            <a:endParaRPr sz="1500"/>
          </a:p>
        </p:txBody>
      </p:sp>
      <p:sp>
        <p:nvSpPr>
          <p:cNvPr id="538" name="Google Shape;538;p33"/>
          <p:cNvSpPr txBox="1"/>
          <p:nvPr/>
        </p:nvSpPr>
        <p:spPr>
          <a:xfrm>
            <a:off x="243840" y="5100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500" u="none">
                <a:solidFill>
                  <a:srgbClr val="0F2C5C"/>
                </a:solidFill>
                <a:latin typeface="Sora"/>
                <a:ea typeface="Sora"/>
                <a:cs typeface="Sora"/>
                <a:sym typeface="Sora"/>
              </a:rPr>
              <a:t>MRIIRS Fee Structure Page</a:t>
            </a:r>
            <a:endParaRPr sz="1500"/>
          </a:p>
        </p:txBody>
      </p:sp>
      <p:sp>
        <p:nvSpPr>
          <p:cNvPr id="539" name="Google Shape;539;p33"/>
          <p:cNvSpPr txBox="1"/>
          <p:nvPr/>
        </p:nvSpPr>
        <p:spPr>
          <a:xfrm>
            <a:off x="243840" y="10312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8,664 sessions in 90 days · 70% arrive straight from the B.Tech CSE page</a:t>
            </a:r>
            <a:endParaRPr sz="1500"/>
          </a:p>
        </p:txBody>
      </p:sp>
      <p:pic>
        <p:nvPicPr>
          <p:cNvPr descr="annotated-mriirs-fold1.png" id="540" name="Google Shape;540;p33"/>
          <p:cNvPicPr preferRelativeResize="0"/>
          <p:nvPr/>
        </p:nvPicPr>
        <p:blipFill rotWithShape="1">
          <a:blip r:embed="rId4">
            <a:alphaModFix/>
          </a:blip>
          <a:srcRect b="0" l="0" r="0" t="0"/>
          <a:stretch/>
        </p:blipFill>
        <p:spPr>
          <a:xfrm>
            <a:off x="345440" y="1397000"/>
            <a:ext cx="2007024" cy="4343405"/>
          </a:xfrm>
          <a:prstGeom prst="rect">
            <a:avLst/>
          </a:prstGeom>
          <a:noFill/>
          <a:ln>
            <a:noFill/>
          </a:ln>
        </p:spPr>
      </p:pic>
      <p:pic>
        <p:nvPicPr>
          <p:cNvPr descr="annotated-mriirs-fold2.png" id="541" name="Google Shape;541;p33"/>
          <p:cNvPicPr preferRelativeResize="0"/>
          <p:nvPr/>
        </p:nvPicPr>
        <p:blipFill rotWithShape="1">
          <a:blip r:embed="rId5">
            <a:alphaModFix/>
          </a:blip>
          <a:srcRect b="0" l="0" r="0" t="0"/>
          <a:stretch/>
        </p:blipFill>
        <p:spPr>
          <a:xfrm>
            <a:off x="2608493" y="1429288"/>
            <a:ext cx="2007024" cy="4343405"/>
          </a:xfrm>
          <a:prstGeom prst="rect">
            <a:avLst/>
          </a:prstGeom>
          <a:noFill/>
          <a:ln>
            <a:noFill/>
          </a:ln>
        </p:spPr>
      </p:pic>
      <p:sp>
        <p:nvSpPr>
          <p:cNvPr id="542" name="Google Shape;542;p33"/>
          <p:cNvSpPr txBox="1"/>
          <p:nvPr/>
        </p:nvSpPr>
        <p:spPr>
          <a:xfrm>
            <a:off x="345440" y="57861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1</a:t>
            </a:r>
            <a:endParaRPr sz="1500"/>
          </a:p>
        </p:txBody>
      </p:sp>
      <p:sp>
        <p:nvSpPr>
          <p:cNvPr id="543" name="Google Shape;543;p33"/>
          <p:cNvSpPr txBox="1"/>
          <p:nvPr/>
        </p:nvSpPr>
        <p:spPr>
          <a:xfrm>
            <a:off x="2608493" y="57861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2</a:t>
            </a:r>
            <a:endParaRPr sz="1500"/>
          </a:p>
        </p:txBody>
      </p:sp>
      <p:sp>
        <p:nvSpPr>
          <p:cNvPr id="544" name="Google Shape;544;p33"/>
          <p:cNvSpPr/>
          <p:nvPr/>
        </p:nvSpPr>
        <p:spPr>
          <a:xfrm>
            <a:off x="7419669" y="381000"/>
            <a:ext cx="4627200" cy="46176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45" name="Google Shape;545;p33"/>
          <p:cNvSpPr/>
          <p:nvPr/>
        </p:nvSpPr>
        <p:spPr>
          <a:xfrm>
            <a:off x="7675706" y="600456"/>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46" name="Google Shape;546;p33"/>
          <p:cNvSpPr txBox="1"/>
          <p:nvPr/>
        </p:nvSpPr>
        <p:spPr>
          <a:xfrm>
            <a:off x="7675706" y="600456"/>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1</a:t>
            </a:r>
            <a:endParaRPr sz="1500"/>
          </a:p>
        </p:txBody>
      </p:sp>
      <p:sp>
        <p:nvSpPr>
          <p:cNvPr id="547" name="Google Shape;547;p33"/>
          <p:cNvSpPr txBox="1"/>
          <p:nvPr/>
        </p:nvSpPr>
        <p:spPr>
          <a:xfrm>
            <a:off x="8169471" y="563867"/>
            <a:ext cx="38772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Two generic sticky CTAs (Apply Now + Enquire Now) stacked — same pattern as the course page.</a:t>
            </a:r>
            <a:endParaRPr sz="1500"/>
          </a:p>
        </p:txBody>
      </p:sp>
      <p:sp>
        <p:nvSpPr>
          <p:cNvPr id="548" name="Google Shape;548;p33"/>
          <p:cNvSpPr/>
          <p:nvPr/>
        </p:nvSpPr>
        <p:spPr>
          <a:xfrm>
            <a:off x="7675706" y="1496568"/>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49" name="Google Shape;549;p33"/>
          <p:cNvSpPr txBox="1"/>
          <p:nvPr/>
        </p:nvSpPr>
        <p:spPr>
          <a:xfrm>
            <a:off x="7675706" y="1496568"/>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2</a:t>
            </a:r>
            <a:endParaRPr sz="1500"/>
          </a:p>
        </p:txBody>
      </p:sp>
      <p:sp>
        <p:nvSpPr>
          <p:cNvPr id="550" name="Google Shape;550;p33"/>
          <p:cNvSpPr txBox="1"/>
          <p:nvPr/>
        </p:nvSpPr>
        <p:spPr>
          <a:xfrm>
            <a:off x="8169472" y="1460000"/>
            <a:ext cx="36627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The fee table starts with no sticky header row — scroll two rows and the column labels are gone.</a:t>
            </a:r>
            <a:endParaRPr sz="1500"/>
          </a:p>
        </p:txBody>
      </p:sp>
      <p:sp>
        <p:nvSpPr>
          <p:cNvPr id="551" name="Google Shape;551;p33"/>
          <p:cNvSpPr/>
          <p:nvPr/>
        </p:nvSpPr>
        <p:spPr>
          <a:xfrm>
            <a:off x="7675706" y="2392680"/>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52" name="Google Shape;552;p33"/>
          <p:cNvSpPr txBox="1"/>
          <p:nvPr/>
        </p:nvSpPr>
        <p:spPr>
          <a:xfrm>
            <a:off x="7675706" y="2392680"/>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3</a:t>
            </a:r>
            <a:endParaRPr sz="1500"/>
          </a:p>
        </p:txBody>
      </p:sp>
      <p:sp>
        <p:nvSpPr>
          <p:cNvPr id="553" name="Google Shape;553;p33"/>
          <p:cNvSpPr txBox="1"/>
          <p:nvPr/>
        </p:nvSpPr>
        <p:spPr>
          <a:xfrm>
            <a:off x="8169472" y="2356100"/>
            <a:ext cx="36627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The chat teaser and bubble sit directly over live fee values.</a:t>
            </a:r>
            <a:endParaRPr sz="1500"/>
          </a:p>
        </p:txBody>
      </p:sp>
      <p:sp>
        <p:nvSpPr>
          <p:cNvPr id="554" name="Google Shape;554;p33"/>
          <p:cNvSpPr/>
          <p:nvPr/>
        </p:nvSpPr>
        <p:spPr>
          <a:xfrm>
            <a:off x="7675706" y="3288792"/>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55" name="Google Shape;555;p33"/>
          <p:cNvSpPr txBox="1"/>
          <p:nvPr/>
        </p:nvSpPr>
        <p:spPr>
          <a:xfrm>
            <a:off x="7675706" y="3288792"/>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4</a:t>
            </a:r>
            <a:endParaRPr sz="1500"/>
          </a:p>
        </p:txBody>
      </p:sp>
      <p:sp>
        <p:nvSpPr>
          <p:cNvPr id="556" name="Google Shape;556;p33"/>
          <p:cNvSpPr txBox="1"/>
          <p:nvPr/>
        </p:nvSpPr>
        <p:spPr>
          <a:xfrm>
            <a:off x="8169473" y="3252200"/>
            <a:ext cx="3377100" cy="572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The “School” grouping column blanks out; nothing tells you which school you're still reading.</a:t>
            </a:r>
            <a:endParaRPr sz="1500"/>
          </a:p>
        </p:txBody>
      </p:sp>
      <p:sp>
        <p:nvSpPr>
          <p:cNvPr id="557" name="Google Shape;557;p33"/>
          <p:cNvSpPr/>
          <p:nvPr/>
        </p:nvSpPr>
        <p:spPr>
          <a:xfrm>
            <a:off x="7675706" y="4184904"/>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58" name="Google Shape;558;p33"/>
          <p:cNvSpPr txBox="1"/>
          <p:nvPr/>
        </p:nvSpPr>
        <p:spPr>
          <a:xfrm>
            <a:off x="7675706" y="4184904"/>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5</a:t>
            </a:r>
            <a:endParaRPr sz="1500"/>
          </a:p>
        </p:txBody>
      </p:sp>
      <p:sp>
        <p:nvSpPr>
          <p:cNvPr id="559" name="Google Shape;559;p33"/>
          <p:cNvSpPr txBox="1"/>
          <p:nvPr/>
        </p:nvSpPr>
        <p:spPr>
          <a:xfrm>
            <a:off x="8169473" y="4148333"/>
            <a:ext cx="32472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The same CSE fees are listed twice — once under an 8-line course name.</a:t>
            </a:r>
            <a:endParaRPr sz="1500"/>
          </a:p>
        </p:txBody>
      </p:sp>
      <p:sp>
        <p:nvSpPr>
          <p:cNvPr id="560" name="Google Shape;560;p33"/>
          <p:cNvSpPr txBox="1"/>
          <p:nvPr/>
        </p:nvSpPr>
        <p:spPr>
          <a:xfrm>
            <a:off x="246888" y="6601968"/>
            <a:ext cx="7315200" cy="137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13 Jun – 10 Sept 2026. </a:t>
            </a:r>
            <a:endParaRPr sz="1500"/>
          </a:p>
        </p:txBody>
      </p:sp>
      <p:pic>
        <p:nvPicPr>
          <p:cNvPr id="561" name="Google Shape;561;p33"/>
          <p:cNvPicPr preferRelativeResize="0"/>
          <p:nvPr/>
        </p:nvPicPr>
        <p:blipFill rotWithShape="1">
          <a:blip r:embed="rId6">
            <a:alphaModFix/>
          </a:blip>
          <a:srcRect b="16888" l="15067" r="0" t="0"/>
          <a:stretch/>
        </p:blipFill>
        <p:spPr>
          <a:xfrm>
            <a:off x="4615500" y="4757866"/>
            <a:ext cx="3877200" cy="1903666"/>
          </a:xfrm>
          <a:prstGeom prst="rect">
            <a:avLst/>
          </a:prstGeom>
          <a:noFill/>
          <a:ln>
            <a:noFill/>
          </a:ln>
        </p:spPr>
      </p:pic>
      <p:cxnSp>
        <p:nvCxnSpPr>
          <p:cNvPr id="562" name="Google Shape;562;p33"/>
          <p:cNvCxnSpPr/>
          <p:nvPr/>
        </p:nvCxnSpPr>
        <p:spPr>
          <a:xfrm flipH="1">
            <a:off x="3196867" y="6322233"/>
            <a:ext cx="2625300" cy="125100"/>
          </a:xfrm>
          <a:prstGeom prst="straightConnector1">
            <a:avLst/>
          </a:prstGeom>
          <a:noFill/>
          <a:ln cap="flat" cmpd="sng" w="12700">
            <a:solidFill>
              <a:schemeClr val="dk2"/>
            </a:solidFill>
            <a:prstDash val="solid"/>
            <a:round/>
            <a:headEnd len="med" w="med" type="none"/>
            <a:tailEnd len="med" w="med" type="none"/>
          </a:ln>
        </p:spPr>
      </p:cxnSp>
      <p:sp>
        <p:nvSpPr>
          <p:cNvPr id="563" name="Google Shape;563;p33"/>
          <p:cNvSpPr txBox="1"/>
          <p:nvPr/>
        </p:nvSpPr>
        <p:spPr>
          <a:xfrm>
            <a:off x="1062191" y="6332129"/>
            <a:ext cx="23649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200">
                <a:solidFill>
                  <a:srgbClr val="0F2C5C"/>
                </a:solidFill>
                <a:latin typeface="Sora"/>
                <a:ea typeface="Sora"/>
                <a:cs typeface="Sora"/>
                <a:sym typeface="Sora"/>
              </a:rPr>
              <a:t>Button results in dead click</a:t>
            </a:r>
            <a:endParaRPr sz="1500"/>
          </a:p>
        </p:txBody>
      </p:sp>
      <p:cxnSp>
        <p:nvCxnSpPr>
          <p:cNvPr id="564" name="Google Shape;564;p33"/>
          <p:cNvCxnSpPr/>
          <p:nvPr/>
        </p:nvCxnSpPr>
        <p:spPr>
          <a:xfrm flipH="1" rot="10800000">
            <a:off x="8090300" y="6233000"/>
            <a:ext cx="1035900" cy="178500"/>
          </a:xfrm>
          <a:prstGeom prst="straightConnector1">
            <a:avLst/>
          </a:prstGeom>
          <a:noFill/>
          <a:ln cap="flat" cmpd="sng" w="12700">
            <a:solidFill>
              <a:schemeClr val="dk2"/>
            </a:solidFill>
            <a:prstDash val="solid"/>
            <a:round/>
            <a:headEnd len="med" w="med" type="none"/>
            <a:tailEnd len="med" w="med" type="none"/>
          </a:ln>
        </p:spPr>
      </p:cxnSp>
      <p:sp>
        <p:nvSpPr>
          <p:cNvPr id="565" name="Google Shape;565;p33"/>
          <p:cNvSpPr txBox="1"/>
          <p:nvPr/>
        </p:nvSpPr>
        <p:spPr>
          <a:xfrm>
            <a:off x="9147726" y="6128929"/>
            <a:ext cx="23649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200">
                <a:solidFill>
                  <a:srgbClr val="0F2C5C"/>
                </a:solidFill>
                <a:latin typeface="Sora"/>
                <a:ea typeface="Sora"/>
                <a:cs typeface="Sora"/>
                <a:sym typeface="Sora"/>
              </a:rPr>
              <a:t>Click redirects to homepage</a:t>
            </a:r>
            <a:endParaRPr sz="1500"/>
          </a:p>
        </p:txBody>
      </p:sp>
      <p:sp>
        <p:nvSpPr>
          <p:cNvPr id="566" name="Rounded Rectangle 565"/>
          <p:cNvSpPr/>
          <p:nvPr/>
        </p:nvSpPr>
        <p:spPr>
          <a:xfrm>
            <a:off x="10908792" y="9144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4"/>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COST CHECKER — CURRENT STATE</a:t>
            </a:r>
            <a:endParaRPr sz="1500"/>
          </a:p>
        </p:txBody>
      </p:sp>
      <p:sp>
        <p:nvSpPr>
          <p:cNvPr id="571" name="Google Shape;571;p34"/>
          <p:cNvSpPr txBox="1"/>
          <p:nvPr/>
        </p:nvSpPr>
        <p:spPr>
          <a:xfrm>
            <a:off x="548650" y="713226"/>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/mru/admissions/fee-structure</a:t>
            </a:r>
            <a:endParaRPr sz="1500"/>
          </a:p>
        </p:txBody>
      </p:sp>
      <p:sp>
        <p:nvSpPr>
          <p:cNvPr id="572" name="Google Shape;572;p34"/>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3,752 sessions in 90 days · 74.07% engagement, 25.93% bounce — the same template, one school over</a:t>
            </a:r>
            <a:endParaRPr sz="1500"/>
          </a:p>
        </p:txBody>
      </p:sp>
      <p:pic>
        <p:nvPicPr>
          <p:cNvPr descr="annotated-mru-fold1.png" id="573" name="Google Shape;573;p34"/>
          <p:cNvPicPr preferRelativeResize="0"/>
          <p:nvPr/>
        </p:nvPicPr>
        <p:blipFill rotWithShape="1">
          <a:blip r:embed="rId3">
            <a:alphaModFix/>
          </a:blip>
          <a:srcRect b="0" l="0" r="0" t="0"/>
          <a:stretch/>
        </p:blipFill>
        <p:spPr>
          <a:xfrm>
            <a:off x="548640" y="1600200"/>
            <a:ext cx="2007024" cy="4343405"/>
          </a:xfrm>
          <a:prstGeom prst="rect">
            <a:avLst/>
          </a:prstGeom>
          <a:noFill/>
          <a:ln>
            <a:noFill/>
          </a:ln>
        </p:spPr>
      </p:pic>
      <p:pic>
        <p:nvPicPr>
          <p:cNvPr descr="annotated-mru-fold2.png" id="574" name="Google Shape;574;p34"/>
          <p:cNvPicPr preferRelativeResize="0"/>
          <p:nvPr/>
        </p:nvPicPr>
        <p:blipFill rotWithShape="1">
          <a:blip r:embed="rId4">
            <a:alphaModFix/>
          </a:blip>
          <a:srcRect b="0" l="0" r="0" t="0"/>
          <a:stretch/>
        </p:blipFill>
        <p:spPr>
          <a:xfrm>
            <a:off x="2811693" y="1600200"/>
            <a:ext cx="2007024" cy="4343405"/>
          </a:xfrm>
          <a:prstGeom prst="rect">
            <a:avLst/>
          </a:prstGeom>
          <a:noFill/>
          <a:ln>
            <a:noFill/>
          </a:ln>
        </p:spPr>
      </p:pic>
      <p:sp>
        <p:nvSpPr>
          <p:cNvPr id="575" name="Google Shape;575;p34"/>
          <p:cNvSpPr txBox="1"/>
          <p:nvPr/>
        </p:nvSpPr>
        <p:spPr>
          <a:xfrm>
            <a:off x="548640" y="5998464"/>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1</a:t>
            </a:r>
            <a:endParaRPr sz="1500"/>
          </a:p>
        </p:txBody>
      </p:sp>
      <p:sp>
        <p:nvSpPr>
          <p:cNvPr id="576" name="Google Shape;576;p34"/>
          <p:cNvSpPr txBox="1"/>
          <p:nvPr/>
        </p:nvSpPr>
        <p:spPr>
          <a:xfrm>
            <a:off x="2811693" y="5998464"/>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2</a:t>
            </a:r>
            <a:endParaRPr sz="1500"/>
          </a:p>
        </p:txBody>
      </p:sp>
      <p:sp>
        <p:nvSpPr>
          <p:cNvPr id="577" name="Google Shape;577;p34"/>
          <p:cNvSpPr/>
          <p:nvPr/>
        </p:nvSpPr>
        <p:spPr>
          <a:xfrm>
            <a:off x="5184474" y="1600200"/>
            <a:ext cx="6458700" cy="46176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78" name="Google Shape;578;p34"/>
          <p:cNvSpPr/>
          <p:nvPr/>
        </p:nvSpPr>
        <p:spPr>
          <a:xfrm>
            <a:off x="5440506" y="1819656"/>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79" name="Google Shape;579;p34"/>
          <p:cNvSpPr txBox="1"/>
          <p:nvPr/>
        </p:nvSpPr>
        <p:spPr>
          <a:xfrm>
            <a:off x="5440506" y="1819656"/>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1</a:t>
            </a:r>
            <a:endParaRPr sz="1500"/>
          </a:p>
        </p:txBody>
      </p:sp>
      <p:sp>
        <p:nvSpPr>
          <p:cNvPr id="580" name="Google Shape;580;p34"/>
          <p:cNvSpPr txBox="1"/>
          <p:nvPr/>
        </p:nvSpPr>
        <p:spPr>
          <a:xfrm>
            <a:off x="5934282" y="1783080"/>
            <a:ext cx="54528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The page title itself is clipped by the sticky CTAs on load.</a:t>
            </a:r>
            <a:endParaRPr sz="1500"/>
          </a:p>
        </p:txBody>
      </p:sp>
      <p:sp>
        <p:nvSpPr>
          <p:cNvPr id="581" name="Google Shape;581;p34"/>
          <p:cNvSpPr/>
          <p:nvPr/>
        </p:nvSpPr>
        <p:spPr>
          <a:xfrm>
            <a:off x="5440506" y="2715768"/>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82" name="Google Shape;582;p34"/>
          <p:cNvSpPr txBox="1"/>
          <p:nvPr/>
        </p:nvSpPr>
        <p:spPr>
          <a:xfrm>
            <a:off x="5440506" y="2715768"/>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2</a:t>
            </a:r>
            <a:endParaRPr sz="1500"/>
          </a:p>
        </p:txBody>
      </p:sp>
      <p:sp>
        <p:nvSpPr>
          <p:cNvPr id="583" name="Google Shape;583;p34"/>
          <p:cNvSpPr txBox="1"/>
          <p:nvPr/>
        </p:nvSpPr>
        <p:spPr>
          <a:xfrm>
            <a:off x="5934282" y="267919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The table runs 6 columns wide — the rightmost “University Fee” is cut off, with no scroll indicator.</a:t>
            </a:r>
            <a:endParaRPr sz="1500"/>
          </a:p>
        </p:txBody>
      </p:sp>
      <p:sp>
        <p:nvSpPr>
          <p:cNvPr id="584" name="Google Shape;584;p34"/>
          <p:cNvSpPr/>
          <p:nvPr/>
        </p:nvSpPr>
        <p:spPr>
          <a:xfrm>
            <a:off x="5440506" y="3611880"/>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85" name="Google Shape;585;p34"/>
          <p:cNvSpPr txBox="1"/>
          <p:nvPr/>
        </p:nvSpPr>
        <p:spPr>
          <a:xfrm>
            <a:off x="5440506" y="3611880"/>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3</a:t>
            </a:r>
            <a:endParaRPr sz="1500"/>
          </a:p>
        </p:txBody>
      </p:sp>
      <p:sp>
        <p:nvSpPr>
          <p:cNvPr id="586" name="Google Shape;586;p34"/>
          <p:cNvSpPr txBox="1"/>
          <p:nvPr/>
        </p:nvSpPr>
        <p:spPr>
          <a:xfrm>
            <a:off x="5934282" y="3575304"/>
            <a:ext cx="54528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Chat widget covers live fee rows here too.</a:t>
            </a:r>
            <a:endParaRPr sz="1500"/>
          </a:p>
        </p:txBody>
      </p:sp>
      <p:sp>
        <p:nvSpPr>
          <p:cNvPr id="587" name="Google Shape;587;p34"/>
          <p:cNvSpPr/>
          <p:nvPr/>
        </p:nvSpPr>
        <p:spPr>
          <a:xfrm>
            <a:off x="5440506" y="4507992"/>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88" name="Google Shape;588;p34"/>
          <p:cNvSpPr txBox="1"/>
          <p:nvPr/>
        </p:nvSpPr>
        <p:spPr>
          <a:xfrm>
            <a:off x="5440506" y="4507992"/>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4</a:t>
            </a:r>
            <a:endParaRPr sz="1500"/>
          </a:p>
        </p:txBody>
      </p:sp>
      <p:sp>
        <p:nvSpPr>
          <p:cNvPr id="589" name="Google Shape;589;p34"/>
          <p:cNvSpPr txBox="1"/>
          <p:nvPr/>
        </p:nvSpPr>
        <p:spPr>
          <a:xfrm>
            <a:off x="5934282" y="4471416"/>
            <a:ext cx="54528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“School” blanks out even sooner than on the MRIIRS version.</a:t>
            </a:r>
            <a:endParaRPr sz="1500"/>
          </a:p>
        </p:txBody>
      </p:sp>
      <p:sp>
        <p:nvSpPr>
          <p:cNvPr id="590" name="Google Shape;590;p34"/>
          <p:cNvSpPr/>
          <p:nvPr/>
        </p:nvSpPr>
        <p:spPr>
          <a:xfrm>
            <a:off x="5440506" y="5404104"/>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591" name="Google Shape;591;p34"/>
          <p:cNvSpPr txBox="1"/>
          <p:nvPr/>
        </p:nvSpPr>
        <p:spPr>
          <a:xfrm>
            <a:off x="5440506" y="5404104"/>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5</a:t>
            </a:r>
            <a:endParaRPr sz="1500"/>
          </a:p>
        </p:txBody>
      </p:sp>
      <p:sp>
        <p:nvSpPr>
          <p:cNvPr id="592" name="Google Shape;592;p34"/>
          <p:cNvSpPr txBox="1"/>
          <p:nvPr/>
        </p:nvSpPr>
        <p:spPr>
          <a:xfrm>
            <a:off x="5934282" y="5367528"/>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8-line specialisation names inflate every row — and the sticky tab cuts a fee number mid-digit.</a:t>
            </a:r>
            <a:endParaRPr sz="1500"/>
          </a:p>
        </p:txBody>
      </p:sp>
      <p:sp>
        <p:nvSpPr>
          <p:cNvPr id="593" name="Google Shape;593;p34"/>
          <p:cNvSpPr txBox="1"/>
          <p:nvPr/>
        </p:nvSpPr>
        <p:spPr>
          <a:xfrm>
            <a:off x="548640" y="6645673"/>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13 Jun – 10 Sept 2026. Live capture, 390px mobile viewport, 22 Sept 2026.</a:t>
            </a:r>
            <a:endParaRPr sz="1500"/>
          </a:p>
        </p:txBody>
      </p:sp>
      <p:sp>
        <p:nvSpPr>
          <p:cNvPr id="594" name="Rounded Rectangle 593"/>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COST CHECKER  ·  FINDABILITY TEST</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We searched the fee page for “CSE”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The page has a search box — but it returns the wrong rows and hides the number users came for</a:t>
            </a:r>
          </a:p>
        </p:txBody>
      </p:sp>
      <p:pic>
        <p:nvPicPr>
          <p:cNvPr id="5" name="Picture 4" descr="fee_search_m.png"/>
          <p:cNvPicPr>
            <a:picLocks noChangeAspect="1"/>
          </p:cNvPicPr>
          <p:nvPr/>
        </p:nvPicPr>
        <p:blipFill>
          <a:blip r:embed="rId2"/>
          <a:stretch>
            <a:fillRect/>
          </a:stretch>
        </p:blipFill>
        <p:spPr>
          <a:xfrm>
            <a:off x="548640" y="1508760"/>
            <a:ext cx="2197160" cy="4754880"/>
          </a:xfrm>
          <a:prstGeom prst="rect">
            <a:avLst/>
          </a:prstGeom>
          <a:ln w="12700">
            <a:solidFill>
              <a:srgbClr val="D8DFE8"/>
            </a:solidFill>
          </a:ln>
        </p:spPr>
      </p:pic>
      <p:pic>
        <p:nvPicPr>
          <p:cNvPr id="6" name="Picture 5" descr="fee_mriirs_m_f2.png"/>
          <p:cNvPicPr>
            <a:picLocks noChangeAspect="1"/>
          </p:cNvPicPr>
          <p:nvPr/>
        </p:nvPicPr>
        <p:blipFill>
          <a:blip r:embed="rId3"/>
          <a:stretch>
            <a:fillRect/>
          </a:stretch>
        </p:blipFill>
        <p:spPr>
          <a:xfrm>
            <a:off x="3020120" y="1508760"/>
            <a:ext cx="2197160" cy="4754880"/>
          </a:xfrm>
          <a:prstGeom prst="rect">
            <a:avLst/>
          </a:prstGeom>
          <a:ln w="12700">
            <a:solidFill>
              <a:srgbClr val="D8DFE8"/>
            </a:solidFill>
          </a:ln>
        </p:spPr>
      </p:pic>
      <p:sp>
        <p:nvSpPr>
          <p:cNvPr id="7" name="Oval 6"/>
          <p:cNvSpPr/>
          <p:nvPr/>
        </p:nvSpPr>
        <p:spPr>
          <a:xfrm>
            <a:off x="773989" y="3349044"/>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1</a:t>
            </a:r>
          </a:p>
        </p:txBody>
      </p:sp>
      <p:sp>
        <p:nvSpPr>
          <p:cNvPr id="8" name="Oval 7"/>
          <p:cNvSpPr/>
          <p:nvPr/>
        </p:nvSpPr>
        <p:spPr>
          <a:xfrm>
            <a:off x="1957076" y="4334949"/>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2</a:t>
            </a:r>
          </a:p>
        </p:txBody>
      </p:sp>
      <p:sp>
        <p:nvSpPr>
          <p:cNvPr id="9" name="Oval 8"/>
          <p:cNvSpPr/>
          <p:nvPr/>
        </p:nvSpPr>
        <p:spPr>
          <a:xfrm>
            <a:off x="943002" y="5698315"/>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3</a:t>
            </a:r>
          </a:p>
        </p:txBody>
      </p:sp>
      <p:sp>
        <p:nvSpPr>
          <p:cNvPr id="10" name="Oval 9"/>
          <p:cNvSpPr/>
          <p:nvPr/>
        </p:nvSpPr>
        <p:spPr>
          <a:xfrm>
            <a:off x="3728021" y="2216661"/>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4</a:t>
            </a:r>
          </a:p>
        </p:txBody>
      </p:sp>
      <p:sp>
        <p:nvSpPr>
          <p:cNvPr id="11" name="Oval 10"/>
          <p:cNvSpPr/>
          <p:nvPr/>
        </p:nvSpPr>
        <p:spPr>
          <a:xfrm>
            <a:off x="4742095" y="2836373"/>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5</a:t>
            </a:r>
          </a:p>
        </p:txBody>
      </p:sp>
      <p:sp>
        <p:nvSpPr>
          <p:cNvPr id="12" name="TextBox 11"/>
          <p:cNvSpPr txBox="1"/>
          <p:nvPr/>
        </p:nvSpPr>
        <p:spPr>
          <a:xfrm>
            <a:off x="548640" y="6309360"/>
            <a:ext cx="2197160" cy="182880"/>
          </a:xfrm>
          <a:prstGeom prst="rect">
            <a:avLst/>
          </a:prstGeom>
          <a:noFill/>
        </p:spPr>
        <p:txBody>
          <a:bodyPr wrap="square" lIns="0" rIns="0" tIns="0" bIns="0" anchor="t">
            <a:spAutoFit/>
          </a:bodyPr>
          <a:lstStyle/>
          <a:p>
            <a:pPr algn="ctr"/>
            <a:r>
              <a:rPr sz="800" b="1" i="0">
                <a:solidFill>
                  <a:srgbClr val="96A1B0"/>
                </a:solidFill>
                <a:latin typeface="Sora"/>
              </a:rPr>
              <a:t>SEARCH “CSE”</a:t>
            </a:r>
          </a:p>
        </p:txBody>
      </p:sp>
      <p:sp>
        <p:nvSpPr>
          <p:cNvPr id="13" name="TextBox 12"/>
          <p:cNvSpPr txBox="1"/>
          <p:nvPr/>
        </p:nvSpPr>
        <p:spPr>
          <a:xfrm>
            <a:off x="3020120" y="6309360"/>
            <a:ext cx="2197160" cy="182880"/>
          </a:xfrm>
          <a:prstGeom prst="rect">
            <a:avLst/>
          </a:prstGeom>
          <a:noFill/>
        </p:spPr>
        <p:txBody>
          <a:bodyPr wrap="square" lIns="0" rIns="0" tIns="0" bIns="0" anchor="t">
            <a:spAutoFit/>
          </a:bodyPr>
          <a:lstStyle/>
          <a:p>
            <a:pPr algn="ctr"/>
            <a:r>
              <a:rPr sz="800" b="1" i="0">
                <a:solidFill>
                  <a:srgbClr val="96A1B0"/>
                </a:solidFill>
                <a:latin typeface="Sora"/>
              </a:rPr>
              <a:t>TABLE, SCROLLED</a:t>
            </a:r>
          </a:p>
        </p:txBody>
      </p:sp>
      <p:sp>
        <p:nvSpPr>
          <p:cNvPr id="14" name="Oval 13"/>
          <p:cNvSpPr/>
          <p:nvPr/>
        </p:nvSpPr>
        <p:spPr>
          <a:xfrm>
            <a:off x="5628760" y="1527048"/>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1</a:t>
            </a:r>
          </a:p>
        </p:txBody>
      </p:sp>
      <p:sp>
        <p:nvSpPr>
          <p:cNvPr id="15" name="TextBox 14"/>
          <p:cNvSpPr txBox="1"/>
          <p:nvPr/>
        </p:nvSpPr>
        <p:spPr>
          <a:xfrm>
            <a:off x="6012808" y="1508760"/>
            <a:ext cx="4566799" cy="777240"/>
          </a:xfrm>
          <a:prstGeom prst="rect">
            <a:avLst/>
          </a:prstGeom>
          <a:noFill/>
        </p:spPr>
        <p:txBody>
          <a:bodyPr wrap="square" lIns="0" rIns="0" tIns="0" bIns="0" anchor="t">
            <a:spAutoFit/>
          </a:bodyPr>
          <a:lstStyle/>
          <a:p>
            <a:pPr algn="l"/>
            <a:r>
              <a:rPr sz="950" b="0" i="0">
                <a:solidFill>
                  <a:srgbClr val="0F2C5C"/>
                </a:solidFill>
                <a:latin typeface="Sora"/>
              </a:rPr>
              <a:t>Search exists (“Search By Course/Area of Department”) and filters live.</a:t>
            </a:r>
          </a:p>
        </p:txBody>
      </p:sp>
      <p:sp>
        <p:nvSpPr>
          <p:cNvPr id="16" name="Rounded Rectangle 15"/>
          <p:cNvSpPr/>
          <p:nvPr/>
        </p:nvSpPr>
        <p:spPr>
          <a:xfrm>
            <a:off x="10652759" y="1527048"/>
            <a:ext cx="960120" cy="219456"/>
          </a:xfrm>
          <a:prstGeom prst="roundRect">
            <a:avLst>
              <a:gd name="adj" fmla="val 50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52759" y="1527048"/>
            <a:ext cx="960120" cy="219456"/>
          </a:xfrm>
          <a:prstGeom prst="rect">
            <a:avLst/>
          </a:prstGeom>
          <a:noFill/>
        </p:spPr>
        <p:txBody>
          <a:bodyPr wrap="square" lIns="0" rIns="0" tIns="0" bIns="0" anchor="ctr">
            <a:spAutoFit/>
          </a:bodyPr>
          <a:lstStyle/>
          <a:p>
            <a:pPr algn="ctr"/>
            <a:r>
              <a:rPr sz="650" b="1" i="0">
                <a:solidFill>
                  <a:srgbClr val="1E7B4F"/>
                </a:solidFill>
                <a:latin typeface="Sora"/>
              </a:rPr>
              <a:t>WORKS</a:t>
            </a:r>
          </a:p>
        </p:txBody>
      </p:sp>
      <p:sp>
        <p:nvSpPr>
          <p:cNvPr id="18" name="Oval 17"/>
          <p:cNvSpPr/>
          <p:nvPr/>
        </p:nvSpPr>
        <p:spPr>
          <a:xfrm>
            <a:off x="5628760" y="2331720"/>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2</a:t>
            </a:r>
          </a:p>
        </p:txBody>
      </p:sp>
      <p:sp>
        <p:nvSpPr>
          <p:cNvPr id="19" name="TextBox 18"/>
          <p:cNvSpPr txBox="1"/>
          <p:nvPr/>
        </p:nvSpPr>
        <p:spPr>
          <a:xfrm>
            <a:off x="6012808" y="2313432"/>
            <a:ext cx="4566799" cy="777240"/>
          </a:xfrm>
          <a:prstGeom prst="rect">
            <a:avLst/>
          </a:prstGeom>
          <a:noFill/>
        </p:spPr>
        <p:txBody>
          <a:bodyPr wrap="square" lIns="0" rIns="0" tIns="0" bIns="0" anchor="t">
            <a:spAutoFit/>
          </a:bodyPr>
          <a:lstStyle/>
          <a:p>
            <a:pPr algn="l"/>
            <a:r>
              <a:rPr sz="950" b="0" i="0">
                <a:solidFill>
                  <a:srgbClr val="0F2C5C"/>
                </a:solidFill>
                <a:latin typeface="Sora"/>
              </a:rPr>
              <a:t>“Fee Calculator” → 301 redirect to the homepage.</a:t>
            </a:r>
          </a:p>
        </p:txBody>
      </p:sp>
      <p:sp>
        <p:nvSpPr>
          <p:cNvPr id="20" name="Rounded Rectangle 19"/>
          <p:cNvSpPr/>
          <p:nvPr/>
        </p:nvSpPr>
        <p:spPr>
          <a:xfrm>
            <a:off x="10652759" y="2331720"/>
            <a:ext cx="960120" cy="219456"/>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52759" y="2331720"/>
            <a:ext cx="960120" cy="219456"/>
          </a:xfrm>
          <a:prstGeom prst="rect">
            <a:avLst/>
          </a:prstGeom>
          <a:noFill/>
        </p:spPr>
        <p:txBody>
          <a:bodyPr wrap="square" lIns="0" rIns="0" tIns="0" bIns="0" anchor="ctr">
            <a:spAutoFit/>
          </a:bodyPr>
          <a:lstStyle/>
          <a:p>
            <a:pPr algn="ctr"/>
            <a:r>
              <a:rPr sz="650" b="1" i="0">
                <a:solidFill>
                  <a:srgbClr val="C8102E"/>
                </a:solidFill>
                <a:latin typeface="Sora"/>
              </a:rPr>
              <a:t>DEAD END</a:t>
            </a:r>
          </a:p>
        </p:txBody>
      </p:sp>
      <p:sp>
        <p:nvSpPr>
          <p:cNvPr id="22" name="Oval 21"/>
          <p:cNvSpPr/>
          <p:nvPr/>
        </p:nvSpPr>
        <p:spPr>
          <a:xfrm>
            <a:off x="5628760" y="3136391"/>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3</a:t>
            </a:r>
          </a:p>
        </p:txBody>
      </p:sp>
      <p:sp>
        <p:nvSpPr>
          <p:cNvPr id="23" name="TextBox 22"/>
          <p:cNvSpPr txBox="1"/>
          <p:nvPr/>
        </p:nvSpPr>
        <p:spPr>
          <a:xfrm>
            <a:off x="6012808" y="3118103"/>
            <a:ext cx="4566799" cy="777240"/>
          </a:xfrm>
          <a:prstGeom prst="rect">
            <a:avLst/>
          </a:prstGeom>
          <a:noFill/>
        </p:spPr>
        <p:txBody>
          <a:bodyPr wrap="square" lIns="0" rIns="0" tIns="0" bIns="0" anchor="t">
            <a:spAutoFit/>
          </a:bodyPr>
          <a:lstStyle/>
          <a:p>
            <a:pPr algn="l"/>
            <a:r>
              <a:rPr sz="950" b="0" i="0">
                <a:solidFill>
                  <a:srgbClr val="0F2C5C"/>
                </a:solidFill>
                <a:latin typeface="Sora"/>
              </a:rPr>
              <a:t>“CSE” returns 4 data rows: 2 unrelated (Clinical Psychology fellowship; B.Tech BT/Civil/ECE) kept by the grouped School column.</a:t>
            </a:r>
          </a:p>
        </p:txBody>
      </p:sp>
      <p:sp>
        <p:nvSpPr>
          <p:cNvPr id="24" name="Rounded Rectangle 23"/>
          <p:cNvSpPr/>
          <p:nvPr/>
        </p:nvSpPr>
        <p:spPr>
          <a:xfrm>
            <a:off x="10652759" y="3136391"/>
            <a:ext cx="960120" cy="219456"/>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52759" y="3136391"/>
            <a:ext cx="960120" cy="219456"/>
          </a:xfrm>
          <a:prstGeom prst="rect">
            <a:avLst/>
          </a:prstGeom>
          <a:noFill/>
        </p:spPr>
        <p:txBody>
          <a:bodyPr wrap="square" lIns="0" rIns="0" tIns="0" bIns="0" anchor="ctr">
            <a:spAutoFit/>
          </a:bodyPr>
          <a:lstStyle/>
          <a:p>
            <a:pPr algn="ctr"/>
            <a:r>
              <a:rPr sz="650" b="1" i="0">
                <a:solidFill>
                  <a:srgbClr val="C8102E"/>
                </a:solidFill>
                <a:latin typeface="Sora"/>
              </a:rPr>
              <a:t>MISLEADING</a:t>
            </a:r>
          </a:p>
        </p:txBody>
      </p:sp>
      <p:sp>
        <p:nvSpPr>
          <p:cNvPr id="26" name="TextBox 25"/>
          <p:cNvSpPr txBox="1"/>
          <p:nvPr/>
        </p:nvSpPr>
        <p:spPr>
          <a:xfrm>
            <a:off x="6012808" y="3922776"/>
            <a:ext cx="4566799" cy="777240"/>
          </a:xfrm>
          <a:prstGeom prst="rect">
            <a:avLst/>
          </a:prstGeom>
          <a:noFill/>
        </p:spPr>
        <p:txBody>
          <a:bodyPr wrap="square" lIns="0" rIns="0" tIns="0" bIns="0" anchor="t">
            <a:spAutoFit/>
          </a:bodyPr>
          <a:lstStyle/>
          <a:p>
            <a:pPr algn="l"/>
            <a:r>
              <a:rPr sz="950" b="0" i="0">
                <a:solidFill>
                  <a:srgbClr val="0F2C5C"/>
                </a:solidFill>
                <a:latin typeface="Sora"/>
              </a:rPr>
              <a:t>“CSE” misses “B.Tech – Computer Science and Engineering with various specializations” (3,33,800); “Computer” misses “B.Tech-CSE”.</a:t>
            </a:r>
          </a:p>
        </p:txBody>
      </p:sp>
      <p:sp>
        <p:nvSpPr>
          <p:cNvPr id="27" name="Rounded Rectangle 26"/>
          <p:cNvSpPr/>
          <p:nvPr/>
        </p:nvSpPr>
        <p:spPr>
          <a:xfrm>
            <a:off x="10652759" y="3941063"/>
            <a:ext cx="960120" cy="219456"/>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52759" y="3941063"/>
            <a:ext cx="960120" cy="219456"/>
          </a:xfrm>
          <a:prstGeom prst="rect">
            <a:avLst/>
          </a:prstGeom>
          <a:noFill/>
        </p:spPr>
        <p:txBody>
          <a:bodyPr wrap="square" lIns="0" rIns="0" tIns="0" bIns="0" anchor="ctr">
            <a:spAutoFit/>
          </a:bodyPr>
          <a:lstStyle/>
          <a:p>
            <a:pPr algn="ctr"/>
            <a:r>
              <a:rPr sz="650" b="1" i="0">
                <a:solidFill>
                  <a:srgbClr val="C8102E"/>
                </a:solidFill>
                <a:latin typeface="Sora"/>
              </a:rPr>
              <a:t>MISSES</a:t>
            </a:r>
          </a:p>
        </p:txBody>
      </p:sp>
      <p:sp>
        <p:nvSpPr>
          <p:cNvPr id="29" name="Oval 28"/>
          <p:cNvSpPr/>
          <p:nvPr/>
        </p:nvSpPr>
        <p:spPr>
          <a:xfrm>
            <a:off x="5628760" y="4745736"/>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4</a:t>
            </a:r>
          </a:p>
        </p:txBody>
      </p:sp>
      <p:sp>
        <p:nvSpPr>
          <p:cNvPr id="30" name="TextBox 29"/>
          <p:cNvSpPr txBox="1"/>
          <p:nvPr/>
        </p:nvSpPr>
        <p:spPr>
          <a:xfrm>
            <a:off x="6012808" y="4727448"/>
            <a:ext cx="4566799" cy="777240"/>
          </a:xfrm>
          <a:prstGeom prst="rect">
            <a:avLst/>
          </a:prstGeom>
          <a:noFill/>
        </p:spPr>
        <p:txBody>
          <a:bodyPr wrap="square" lIns="0" rIns="0" tIns="0" bIns="0" anchor="t">
            <a:spAutoFit/>
          </a:bodyPr>
          <a:lstStyle/>
          <a:p>
            <a:pPr algn="l"/>
            <a:r>
              <a:rPr sz="950" b="0" i="0">
                <a:solidFill>
                  <a:srgbClr val="0F2C5C"/>
                </a:solidFill>
                <a:latin typeface="Sora"/>
              </a:rPr>
              <a:t>15 columns; the total fee is the last. The table is 1,642px wide in a 342px container; headers are gone once scrolled.</a:t>
            </a:r>
          </a:p>
        </p:txBody>
      </p:sp>
      <p:sp>
        <p:nvSpPr>
          <p:cNvPr id="31" name="Rounded Rectangle 30"/>
          <p:cNvSpPr/>
          <p:nvPr/>
        </p:nvSpPr>
        <p:spPr>
          <a:xfrm>
            <a:off x="10652759" y="4745736"/>
            <a:ext cx="960120" cy="219456"/>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52759" y="4745736"/>
            <a:ext cx="960120" cy="219456"/>
          </a:xfrm>
          <a:prstGeom prst="rect">
            <a:avLst/>
          </a:prstGeom>
          <a:noFill/>
        </p:spPr>
        <p:txBody>
          <a:bodyPr wrap="square" lIns="0" rIns="0" tIns="0" bIns="0" anchor="ctr">
            <a:spAutoFit/>
          </a:bodyPr>
          <a:lstStyle/>
          <a:p>
            <a:pPr algn="ctr"/>
            <a:r>
              <a:rPr sz="650" b="1" i="0">
                <a:solidFill>
                  <a:srgbClr val="C8102E"/>
                </a:solidFill>
                <a:latin typeface="Sora"/>
              </a:rPr>
              <a:t>HIDDEN ANSWER</a:t>
            </a:r>
          </a:p>
        </p:txBody>
      </p:sp>
      <p:sp>
        <p:nvSpPr>
          <p:cNvPr id="33" name="Oval 32"/>
          <p:cNvSpPr/>
          <p:nvPr/>
        </p:nvSpPr>
        <p:spPr>
          <a:xfrm>
            <a:off x="5628760" y="5550407"/>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ora"/>
              </a:rPr>
              <a:t>5</a:t>
            </a:r>
          </a:p>
        </p:txBody>
      </p:sp>
      <p:sp>
        <p:nvSpPr>
          <p:cNvPr id="34" name="TextBox 33"/>
          <p:cNvSpPr txBox="1"/>
          <p:nvPr/>
        </p:nvSpPr>
        <p:spPr>
          <a:xfrm>
            <a:off x="6012808" y="5532120"/>
            <a:ext cx="4566799" cy="777240"/>
          </a:xfrm>
          <a:prstGeom prst="rect">
            <a:avLst/>
          </a:prstGeom>
          <a:noFill/>
        </p:spPr>
        <p:txBody>
          <a:bodyPr wrap="square" lIns="0" rIns="0" tIns="0" bIns="0" anchor="t">
            <a:spAutoFit/>
          </a:bodyPr>
          <a:lstStyle/>
          <a:p>
            <a:pPr algn="l"/>
            <a:r>
              <a:rPr sz="950" b="0" i="0">
                <a:solidFill>
                  <a:srgbClr val="0F2C5C"/>
                </a:solidFill>
                <a:latin typeface="Sora"/>
              </a:rPr>
              <a:t>Vertical Apply / Enquire tabs sit over the fee values.</a:t>
            </a:r>
          </a:p>
        </p:txBody>
      </p:sp>
      <p:sp>
        <p:nvSpPr>
          <p:cNvPr id="35" name="Rounded Rectangle 34"/>
          <p:cNvSpPr/>
          <p:nvPr/>
        </p:nvSpPr>
        <p:spPr>
          <a:xfrm>
            <a:off x="10652759" y="5550407"/>
            <a:ext cx="960120" cy="219456"/>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52759" y="5550407"/>
            <a:ext cx="960120" cy="219456"/>
          </a:xfrm>
          <a:prstGeom prst="rect">
            <a:avLst/>
          </a:prstGeom>
          <a:noFill/>
        </p:spPr>
        <p:txBody>
          <a:bodyPr wrap="square" lIns="0" rIns="0" tIns="0" bIns="0" anchor="ctr">
            <a:spAutoFit/>
          </a:bodyPr>
          <a:lstStyle/>
          <a:p>
            <a:pPr algn="ctr"/>
            <a:r>
              <a:rPr sz="650" b="1" i="0">
                <a:solidFill>
                  <a:srgbClr val="B26B00"/>
                </a:solidFill>
                <a:latin typeface="Sora"/>
              </a:rPr>
              <a:t>SITEWIDE</a:t>
            </a:r>
          </a:p>
        </p:txBody>
      </p:sp>
      <p:sp>
        <p:nvSpPr>
          <p:cNvPr id="37" name="TextBox 36"/>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Live site audit, 24 Sept 2026. Search behaviour reproduced on /mriirs and /mru (same component). No GA4 event exists for fee-search usage — evidence not available in current dataset.</a:t>
            </a:r>
          </a:p>
        </p:txBody>
      </p:sp>
      <p:sp>
        <p:nvSpPr>
          <p:cNvPr id="38" name="Rounded Rectangle 37"/>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C5C"/>
        </a:solidFill>
      </p:bgPr>
    </p:bg>
    <p:spTree>
      <p:nvGrpSpPr>
        <p:cNvPr id="654" name="Shape 654"/>
        <p:cNvGrpSpPr/>
        <p:nvPr/>
      </p:nvGrpSpPr>
      <p:grpSpPr>
        <a:xfrm>
          <a:off x="0" y="0"/>
          <a:ext cx="0" cy="0"/>
          <a:chOff x="0" y="0"/>
          <a:chExt cx="0" cy="0"/>
        </a:xfrm>
      </p:grpSpPr>
      <p:sp>
        <p:nvSpPr>
          <p:cNvPr id="655" name="Google Shape;655;p38"/>
          <p:cNvSpPr txBox="1"/>
          <p:nvPr/>
        </p:nvSpPr>
        <p:spPr>
          <a:xfrm>
            <a:off x="501015" y="3145490"/>
            <a:ext cx="10058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Sora"/>
              <a:buNone/>
            </a:pPr>
            <a:r>
              <a:rPr b="1" lang="en-US" sz="3200">
                <a:solidFill>
                  <a:srgbClr val="FFFFFF"/>
                </a:solidFill>
                <a:latin typeface="Sora"/>
                <a:ea typeface="Sora"/>
                <a:cs typeface="Sora"/>
                <a:sym typeface="Sora"/>
              </a:rPr>
              <a:t>PROOF SEEKER</a:t>
            </a:r>
            <a:endParaRPr b="1" sz="3200">
              <a:solidFill>
                <a:srgbClr val="FFFFFF"/>
              </a:solidFill>
              <a:latin typeface="Sora"/>
              <a:ea typeface="Sora"/>
              <a:cs typeface="Sora"/>
              <a:sym typeface="Sora"/>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PROOF SEEKER  ·  WHAT WE KNOW</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The proof exists — it just never reaches the programme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“Should I believe what they claim?” — awards, faculty, placements and rankings pages</a:t>
            </a:r>
          </a:p>
        </p:txBody>
      </p:sp>
      <p:sp>
        <p:nvSpPr>
          <p:cNvPr id="5" name="TextBox 4"/>
          <p:cNvSpPr txBox="1"/>
          <p:nvPr/>
        </p:nvSpPr>
        <p:spPr>
          <a:xfrm>
            <a:off x="548640" y="1554480"/>
            <a:ext cx="2377440" cy="182880"/>
          </a:xfrm>
          <a:prstGeom prst="rect">
            <a:avLst/>
          </a:prstGeom>
          <a:noFill/>
        </p:spPr>
        <p:txBody>
          <a:bodyPr wrap="square" lIns="0" rIns="0" tIns="0" bIns="0" anchor="t">
            <a:spAutoFit/>
          </a:bodyPr>
          <a:lstStyle/>
          <a:p>
            <a:pPr algn="l"/>
            <a:r>
              <a:rPr sz="800" b="1" i="0">
                <a:solidFill>
                  <a:srgbClr val="96A1B0"/>
                </a:solidFill>
                <a:latin typeface="Sora"/>
              </a:rPr>
              <a:t>METRIC</a:t>
            </a:r>
          </a:p>
        </p:txBody>
      </p:sp>
      <p:sp>
        <p:nvSpPr>
          <p:cNvPr id="6" name="TextBox 5"/>
          <p:cNvSpPr txBox="1"/>
          <p:nvPr/>
        </p:nvSpPr>
        <p:spPr>
          <a:xfrm>
            <a:off x="3154680" y="1554480"/>
            <a:ext cx="4114800" cy="182880"/>
          </a:xfrm>
          <a:prstGeom prst="rect">
            <a:avLst/>
          </a:prstGeom>
          <a:noFill/>
        </p:spPr>
        <p:txBody>
          <a:bodyPr wrap="square" lIns="0" rIns="0" tIns="0" bIns="0" anchor="t">
            <a:spAutoFit/>
          </a:bodyPr>
          <a:lstStyle/>
          <a:p>
            <a:pPr algn="l"/>
            <a:r>
              <a:rPr sz="800" b="1" i="0">
                <a:solidFill>
                  <a:srgbClr val="96A1B0"/>
                </a:solidFill>
                <a:latin typeface="Sora"/>
              </a:rPr>
              <a:t>WHAT USERS DO</a:t>
            </a:r>
          </a:p>
        </p:txBody>
      </p:sp>
      <p:sp>
        <p:nvSpPr>
          <p:cNvPr id="7" name="TextBox 6"/>
          <p:cNvSpPr txBox="1"/>
          <p:nvPr/>
        </p:nvSpPr>
        <p:spPr>
          <a:xfrm>
            <a:off x="7589520" y="1554480"/>
            <a:ext cx="3931920" cy="182880"/>
          </a:xfrm>
          <a:prstGeom prst="rect">
            <a:avLst/>
          </a:prstGeom>
          <a:noFill/>
        </p:spPr>
        <p:txBody>
          <a:bodyPr wrap="square" lIns="0" rIns="0" tIns="0" bIns="0" anchor="t">
            <a:spAutoFit/>
          </a:bodyPr>
          <a:lstStyle/>
          <a:p>
            <a:pPr algn="l"/>
            <a:r>
              <a:rPr sz="800" b="1" i="0">
                <a:solidFill>
                  <a:srgbClr val="96A1B0"/>
                </a:solidFill>
                <a:latin typeface="Sora"/>
              </a:rPr>
              <a:t>SO WHAT THIS TELLS US</a:t>
            </a:r>
          </a:p>
        </p:txBody>
      </p:sp>
      <p:sp>
        <p:nvSpPr>
          <p:cNvPr id="8" name="Rounded Rectangle 7"/>
          <p:cNvSpPr/>
          <p:nvPr/>
        </p:nvSpPr>
        <p:spPr>
          <a:xfrm>
            <a:off x="548640" y="180136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11095"/>
            <a:ext cx="2286000" cy="457200"/>
          </a:xfrm>
          <a:prstGeom prst="rect">
            <a:avLst/>
          </a:prstGeom>
          <a:noFill/>
        </p:spPr>
        <p:txBody>
          <a:bodyPr wrap="square" lIns="0" rIns="0" tIns="0" bIns="0" anchor="t">
            <a:spAutoFit/>
          </a:bodyPr>
          <a:lstStyle/>
          <a:p>
            <a:pPr algn="l"/>
            <a:r>
              <a:rPr sz="2400" b="1" i="0">
                <a:solidFill>
                  <a:srgbClr val="C8102E"/>
                </a:solidFill>
                <a:latin typeface="Sora"/>
              </a:rPr>
              <a:t>67.13%</a:t>
            </a:r>
          </a:p>
        </p:txBody>
      </p:sp>
      <p:sp>
        <p:nvSpPr>
          <p:cNvPr id="10" name="TextBox 9"/>
          <p:cNvSpPr txBox="1"/>
          <p:nvPr/>
        </p:nvSpPr>
        <p:spPr>
          <a:xfrm>
            <a:off x="731520" y="2368296"/>
            <a:ext cx="2240280" cy="365760"/>
          </a:xfrm>
          <a:prstGeom prst="rect">
            <a:avLst/>
          </a:prstGeom>
          <a:noFill/>
        </p:spPr>
        <p:txBody>
          <a:bodyPr wrap="square" lIns="0" rIns="0" tIns="0" bIns="0" anchor="t">
            <a:spAutoFit/>
          </a:bodyPr>
          <a:lstStyle/>
          <a:p>
            <a:pPr algn="l"/>
            <a:r>
              <a:rPr sz="850" b="0" i="0">
                <a:solidFill>
                  <a:srgbClr val="5A6472"/>
                </a:solidFill>
                <a:latin typeface="Sora"/>
              </a:rPr>
              <a:t>bounce on /mriirs/about/awards-recognitions (1,500 sessions)</a:t>
            </a:r>
          </a:p>
        </p:txBody>
      </p:sp>
      <p:sp>
        <p:nvSpPr>
          <p:cNvPr id="11" name="TextBox 10"/>
          <p:cNvSpPr txBox="1"/>
          <p:nvPr/>
        </p:nvSpPr>
        <p:spPr>
          <a:xfrm>
            <a:off x="3154680" y="1929384"/>
            <a:ext cx="4160520" cy="777240"/>
          </a:xfrm>
          <a:prstGeom prst="rect">
            <a:avLst/>
          </a:prstGeom>
          <a:noFill/>
        </p:spPr>
        <p:txBody>
          <a:bodyPr wrap="square" lIns="0" rIns="0" tIns="0" bIns="0" anchor="t">
            <a:spAutoFit/>
          </a:bodyPr>
          <a:lstStyle/>
          <a:p>
            <a:pPr algn="l"/>
            <a:r>
              <a:rPr sz="1050" b="0" i="0">
                <a:solidFill>
                  <a:srgbClr val="0F2C5C"/>
                </a:solidFill>
                <a:latin typeface="Sora"/>
              </a:rPr>
              <a:t>~11% move onward, mostly through navigation; only 9 reach the fee page.</a:t>
            </a:r>
          </a:p>
        </p:txBody>
      </p:sp>
      <p:sp>
        <p:nvSpPr>
          <p:cNvPr id="12" name="Right Arrow 11"/>
          <p:cNvSpPr/>
          <p:nvPr/>
        </p:nvSpPr>
        <p:spPr>
          <a:xfrm>
            <a:off x="7178040" y="218541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929384"/>
            <a:ext cx="3886200" cy="640080"/>
          </a:xfrm>
          <a:prstGeom prst="rect">
            <a:avLst/>
          </a:prstGeom>
          <a:noFill/>
        </p:spPr>
        <p:txBody>
          <a:bodyPr wrap="square" lIns="0" rIns="0" tIns="0" bIns="0" anchor="t">
            <a:spAutoFit/>
          </a:bodyPr>
          <a:lstStyle/>
          <a:p>
            <a:pPr algn="l"/>
            <a:r>
              <a:rPr sz="1050" b="1" i="0">
                <a:solidFill>
                  <a:srgbClr val="0F2C5C"/>
                </a:solidFill>
                <a:latin typeface="Sora"/>
              </a:rPr>
              <a:t>Proof is consumed where it sits and rarely leads back to a programme decision.</a:t>
            </a:r>
          </a:p>
        </p:txBody>
      </p:sp>
      <p:sp>
        <p:nvSpPr>
          <p:cNvPr id="14" name="Rounded Rectangle 13"/>
          <p:cNvSpPr/>
          <p:nvPr/>
        </p:nvSpPr>
        <p:spPr>
          <a:xfrm>
            <a:off x="11243462" y="2532888"/>
            <a:ext cx="296265"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43462" y="2532888"/>
            <a:ext cx="296265" cy="201168"/>
          </a:xfrm>
          <a:prstGeom prst="rect">
            <a:avLst/>
          </a:prstGeom>
          <a:noFill/>
        </p:spPr>
        <p:txBody>
          <a:bodyPr wrap="square" lIns="0" rIns="0" tIns="0" bIns="0" anchor="ctr">
            <a:spAutoFit/>
          </a:bodyPr>
          <a:lstStyle/>
          <a:p>
            <a:pPr algn="ctr"/>
            <a:r>
              <a:rPr sz="750" b="1" i="0">
                <a:solidFill>
                  <a:srgbClr val="5A6472"/>
                </a:solidFill>
                <a:latin typeface="Sora"/>
              </a:rPr>
              <a:t>GA4</a:t>
            </a:r>
          </a:p>
        </p:txBody>
      </p:sp>
      <p:sp>
        <p:nvSpPr>
          <p:cNvPr id="16" name="Rounded Rectangle 15"/>
          <p:cNvSpPr/>
          <p:nvPr/>
        </p:nvSpPr>
        <p:spPr>
          <a:xfrm>
            <a:off x="548640" y="289864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08376"/>
            <a:ext cx="2286000" cy="457200"/>
          </a:xfrm>
          <a:prstGeom prst="rect">
            <a:avLst/>
          </a:prstGeom>
          <a:noFill/>
        </p:spPr>
        <p:txBody>
          <a:bodyPr wrap="square" lIns="0" rIns="0" tIns="0" bIns="0" anchor="t">
            <a:spAutoFit/>
          </a:bodyPr>
          <a:lstStyle/>
          <a:p>
            <a:pPr algn="l"/>
            <a:r>
              <a:rPr sz="2400" b="1" i="0">
                <a:solidFill>
                  <a:srgbClr val="C8102E"/>
                </a:solidFill>
                <a:latin typeface="Sora"/>
              </a:rPr>
              <a:t>78.19%</a:t>
            </a:r>
          </a:p>
        </p:txBody>
      </p:sp>
      <p:sp>
        <p:nvSpPr>
          <p:cNvPr id="18" name="TextBox 17"/>
          <p:cNvSpPr txBox="1"/>
          <p:nvPr/>
        </p:nvSpPr>
        <p:spPr>
          <a:xfrm>
            <a:off x="731520" y="3465576"/>
            <a:ext cx="2240280" cy="365760"/>
          </a:xfrm>
          <a:prstGeom prst="rect">
            <a:avLst/>
          </a:prstGeom>
          <a:noFill/>
        </p:spPr>
        <p:txBody>
          <a:bodyPr wrap="square" lIns="0" rIns="0" tIns="0" bIns="0" anchor="t">
            <a:spAutoFit/>
          </a:bodyPr>
          <a:lstStyle/>
          <a:p>
            <a:pPr algn="l"/>
            <a:r>
              <a:rPr sz="850" b="0" i="0">
                <a:solidFill>
                  <a:srgbClr val="5A6472"/>
                </a:solidFill>
                <a:latin typeface="Sora"/>
              </a:rPr>
              <a:t>engagement on /mru/academics/teaching-faculty (926 sessions)</a:t>
            </a:r>
          </a:p>
        </p:txBody>
      </p:sp>
      <p:sp>
        <p:nvSpPr>
          <p:cNvPr id="19" name="TextBox 18"/>
          <p:cNvSpPr txBox="1"/>
          <p:nvPr/>
        </p:nvSpPr>
        <p:spPr>
          <a:xfrm>
            <a:off x="3154680" y="3026664"/>
            <a:ext cx="4160520" cy="777240"/>
          </a:xfrm>
          <a:prstGeom prst="rect">
            <a:avLst/>
          </a:prstGeom>
          <a:noFill/>
        </p:spPr>
        <p:txBody>
          <a:bodyPr wrap="square" lIns="0" rIns="0" tIns="0" bIns="0" anchor="t">
            <a:spAutoFit/>
          </a:bodyPr>
          <a:lstStyle/>
          <a:p>
            <a:pPr algn="l"/>
            <a:r>
              <a:rPr sz="1050" b="0" i="0">
                <a:solidFill>
                  <a:srgbClr val="0F2C5C"/>
                </a:solidFill>
                <a:latin typeface="Sora"/>
              </a:rPr>
              <a:t>A filterable directory of named faculty holds users far better than the certificate gallery.</a:t>
            </a:r>
          </a:p>
        </p:txBody>
      </p:sp>
      <p:sp>
        <p:nvSpPr>
          <p:cNvPr id="20" name="Right Arrow 19"/>
          <p:cNvSpPr/>
          <p:nvPr/>
        </p:nvSpPr>
        <p:spPr>
          <a:xfrm>
            <a:off x="7178040" y="328269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3026664"/>
            <a:ext cx="3886200" cy="640080"/>
          </a:xfrm>
          <a:prstGeom prst="rect">
            <a:avLst/>
          </a:prstGeom>
          <a:noFill/>
        </p:spPr>
        <p:txBody>
          <a:bodyPr wrap="square" lIns="0" rIns="0" tIns="0" bIns="0" anchor="t">
            <a:spAutoFit/>
          </a:bodyPr>
          <a:lstStyle/>
          <a:p>
            <a:pPr algn="l"/>
            <a:r>
              <a:rPr sz="1050" b="1" i="0">
                <a:solidFill>
                  <a:srgbClr val="0F2C5C"/>
                </a:solidFill>
                <a:latin typeface="Sora"/>
              </a:rPr>
              <a:t>Proof attached to people, and findable by department, works on this site already.</a:t>
            </a:r>
          </a:p>
        </p:txBody>
      </p:sp>
      <p:sp>
        <p:nvSpPr>
          <p:cNvPr id="22" name="Rounded Rectangle 21"/>
          <p:cNvSpPr/>
          <p:nvPr/>
        </p:nvSpPr>
        <p:spPr>
          <a:xfrm>
            <a:off x="11243462" y="3630168"/>
            <a:ext cx="296265"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43462" y="3630168"/>
            <a:ext cx="296265" cy="201168"/>
          </a:xfrm>
          <a:prstGeom prst="rect">
            <a:avLst/>
          </a:prstGeom>
          <a:noFill/>
        </p:spPr>
        <p:txBody>
          <a:bodyPr wrap="square" lIns="0" rIns="0" tIns="0" bIns="0" anchor="ctr">
            <a:spAutoFit/>
          </a:bodyPr>
          <a:lstStyle/>
          <a:p>
            <a:pPr algn="ctr"/>
            <a:r>
              <a:rPr sz="750" b="1" i="0">
                <a:solidFill>
                  <a:srgbClr val="5A6472"/>
                </a:solidFill>
                <a:latin typeface="Sora"/>
              </a:rPr>
              <a:t>GA4</a:t>
            </a:r>
          </a:p>
        </p:txBody>
      </p:sp>
      <p:sp>
        <p:nvSpPr>
          <p:cNvPr id="24" name="Rounded Rectangle 23"/>
          <p:cNvSpPr/>
          <p:nvPr/>
        </p:nvSpPr>
        <p:spPr>
          <a:xfrm>
            <a:off x="548640" y="399592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105656"/>
            <a:ext cx="2286000" cy="457200"/>
          </a:xfrm>
          <a:prstGeom prst="rect">
            <a:avLst/>
          </a:prstGeom>
          <a:noFill/>
        </p:spPr>
        <p:txBody>
          <a:bodyPr wrap="square" lIns="0" rIns="0" tIns="0" bIns="0" anchor="t">
            <a:spAutoFit/>
          </a:bodyPr>
          <a:lstStyle/>
          <a:p>
            <a:pPr algn="l"/>
            <a:r>
              <a:rPr sz="2400" b="1" i="0">
                <a:solidFill>
                  <a:srgbClr val="C8102E"/>
                </a:solidFill>
                <a:latin typeface="Sora"/>
              </a:rPr>
              <a:t>NBA</a:t>
            </a:r>
          </a:p>
        </p:txBody>
      </p:sp>
      <p:sp>
        <p:nvSpPr>
          <p:cNvPr id="26" name="TextBox 25"/>
          <p:cNvSpPr txBox="1"/>
          <p:nvPr/>
        </p:nvSpPr>
        <p:spPr>
          <a:xfrm>
            <a:off x="731520" y="4562856"/>
            <a:ext cx="2240280" cy="365760"/>
          </a:xfrm>
          <a:prstGeom prst="rect">
            <a:avLst/>
          </a:prstGeom>
          <a:noFill/>
        </p:spPr>
        <p:txBody>
          <a:bodyPr wrap="square" lIns="0" rIns="0" tIns="0" bIns="0" anchor="t">
            <a:spAutoFit/>
          </a:bodyPr>
          <a:lstStyle/>
          <a:p>
            <a:pPr algn="l"/>
            <a:r>
              <a:rPr sz="850" b="0" i="0">
                <a:solidFill>
                  <a:srgbClr val="5A6472"/>
                </a:solidFill>
                <a:latin typeface="Sora"/>
              </a:rPr>
              <a:t>accreditation of B.Tech CSE — stated on the awards page, not in the CSE page text</a:t>
            </a:r>
          </a:p>
        </p:txBody>
      </p:sp>
      <p:sp>
        <p:nvSpPr>
          <p:cNvPr id="27" name="TextBox 26"/>
          <p:cNvSpPr txBox="1"/>
          <p:nvPr/>
        </p:nvSpPr>
        <p:spPr>
          <a:xfrm>
            <a:off x="3154680" y="4123944"/>
            <a:ext cx="4160520" cy="777240"/>
          </a:xfrm>
          <a:prstGeom prst="rect">
            <a:avLst/>
          </a:prstGeom>
          <a:noFill/>
        </p:spPr>
        <p:txBody>
          <a:bodyPr wrap="square" lIns="0" rIns="0" tIns="0" bIns="0" anchor="t">
            <a:spAutoFit/>
          </a:bodyPr>
          <a:lstStyle/>
          <a:p>
            <a:pPr algn="l"/>
            <a:r>
              <a:rPr sz="1050" b="0" i="0">
                <a:solidFill>
                  <a:srgbClr val="0F2C5C"/>
                </a:solidFill>
                <a:latin typeface="Sora"/>
              </a:rPr>
              <a:t>The most programme-relevant proof for the highest-traffic course sits on a page 67% of visitors bounce from.</a:t>
            </a:r>
          </a:p>
        </p:txBody>
      </p:sp>
      <p:sp>
        <p:nvSpPr>
          <p:cNvPr id="28" name="Right Arrow 27"/>
          <p:cNvSpPr/>
          <p:nvPr/>
        </p:nvSpPr>
        <p:spPr>
          <a:xfrm>
            <a:off x="7178040" y="437997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4123944"/>
            <a:ext cx="3886200" cy="640080"/>
          </a:xfrm>
          <a:prstGeom prst="rect">
            <a:avLst/>
          </a:prstGeom>
          <a:noFill/>
        </p:spPr>
        <p:txBody>
          <a:bodyPr wrap="square" lIns="0" rIns="0" tIns="0" bIns="0" anchor="t">
            <a:spAutoFit/>
          </a:bodyPr>
          <a:lstStyle/>
          <a:p>
            <a:pPr algn="l"/>
            <a:r>
              <a:rPr sz="1050" b="1" i="0">
                <a:solidFill>
                  <a:srgbClr val="0F2C5C"/>
                </a:solidFill>
                <a:latin typeface="Sora"/>
              </a:rPr>
              <a:t>Programme proof is not attached to the programme.</a:t>
            </a:r>
          </a:p>
        </p:txBody>
      </p:sp>
      <p:sp>
        <p:nvSpPr>
          <p:cNvPr id="30" name="Rounded Rectangle 29"/>
          <p:cNvSpPr/>
          <p:nvPr/>
        </p:nvSpPr>
        <p:spPr>
          <a:xfrm>
            <a:off x="11119103" y="4727448"/>
            <a:ext cx="420624"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119103" y="4727448"/>
            <a:ext cx="420624" cy="201168"/>
          </a:xfrm>
          <a:prstGeom prst="rect">
            <a:avLst/>
          </a:prstGeom>
          <a:noFill/>
        </p:spPr>
        <p:txBody>
          <a:bodyPr wrap="square" lIns="0" rIns="0" tIns="0" bIns="0" anchor="ctr">
            <a:spAutoFit/>
          </a:bodyPr>
          <a:lstStyle/>
          <a:p>
            <a:pPr algn="ctr"/>
            <a:r>
              <a:rPr sz="750" b="1" i="0">
                <a:solidFill>
                  <a:srgbClr val="5A6472"/>
                </a:solidFill>
                <a:latin typeface="Sora"/>
              </a:rPr>
              <a:t>AUDIT</a:t>
            </a:r>
          </a:p>
        </p:txBody>
      </p:sp>
      <p:sp>
        <p:nvSpPr>
          <p:cNvPr id="32" name="Rounded Rectangle 31"/>
          <p:cNvSpPr/>
          <p:nvPr/>
        </p:nvSpPr>
        <p:spPr>
          <a:xfrm>
            <a:off x="548640" y="509320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02936"/>
            <a:ext cx="2286000" cy="457200"/>
          </a:xfrm>
          <a:prstGeom prst="rect">
            <a:avLst/>
          </a:prstGeom>
          <a:noFill/>
        </p:spPr>
        <p:txBody>
          <a:bodyPr wrap="square" lIns="0" rIns="0" tIns="0" bIns="0" anchor="t">
            <a:spAutoFit/>
          </a:bodyPr>
          <a:lstStyle/>
          <a:p>
            <a:pPr algn="l"/>
            <a:r>
              <a:rPr sz="2400" b="1" i="0">
                <a:solidFill>
                  <a:srgbClr val="C8102E"/>
                </a:solidFill>
                <a:latin typeface="Sora"/>
              </a:rPr>
              <a:t>191</a:t>
            </a:r>
          </a:p>
        </p:txBody>
      </p:sp>
      <p:sp>
        <p:nvSpPr>
          <p:cNvPr id="34" name="TextBox 33"/>
          <p:cNvSpPr txBox="1"/>
          <p:nvPr/>
        </p:nvSpPr>
        <p:spPr>
          <a:xfrm>
            <a:off x="731520" y="5660136"/>
            <a:ext cx="2240280" cy="365760"/>
          </a:xfrm>
          <a:prstGeom prst="rect">
            <a:avLst/>
          </a:prstGeom>
          <a:noFill/>
        </p:spPr>
        <p:txBody>
          <a:bodyPr wrap="square" lIns="0" rIns="0" tIns="0" bIns="0" anchor="t">
            <a:spAutoFit/>
          </a:bodyPr>
          <a:lstStyle/>
          <a:p>
            <a:pPr algn="l"/>
            <a:r>
              <a:rPr sz="850" b="0" i="0">
                <a:solidFill>
                  <a:srgbClr val="5A6472"/>
                </a:solidFill>
                <a:latin typeface="Sora"/>
              </a:rPr>
              <a:t>sessions mapped to this persona in the event export (campus-life pages only)</a:t>
            </a:r>
          </a:p>
        </p:txBody>
      </p:sp>
      <p:sp>
        <p:nvSpPr>
          <p:cNvPr id="35" name="TextBox 34"/>
          <p:cNvSpPr txBox="1"/>
          <p:nvPr/>
        </p:nvSpPr>
        <p:spPr>
          <a:xfrm>
            <a:off x="3154680" y="5221224"/>
            <a:ext cx="4160520" cy="777240"/>
          </a:xfrm>
          <a:prstGeom prst="rect">
            <a:avLst/>
          </a:prstGeom>
          <a:noFill/>
        </p:spPr>
        <p:txBody>
          <a:bodyPr wrap="square" lIns="0" rIns="0" tIns="0" bIns="0" anchor="t">
            <a:spAutoFit/>
          </a:bodyPr>
          <a:lstStyle/>
          <a:p>
            <a:pPr algn="l"/>
            <a:r>
              <a:rPr sz="1050" b="0" i="0">
                <a:solidFill>
                  <a:srgbClr val="0F2C5C"/>
                </a:solidFill>
                <a:latin typeface="Sora"/>
              </a:rPr>
              <a:t>Awards, faculty and placement pages are not mapped to Proof Seeker in the export.</a:t>
            </a:r>
          </a:p>
        </p:txBody>
      </p:sp>
      <p:sp>
        <p:nvSpPr>
          <p:cNvPr id="36" name="Right Arrow 35"/>
          <p:cNvSpPr/>
          <p:nvPr/>
        </p:nvSpPr>
        <p:spPr>
          <a:xfrm>
            <a:off x="7178040" y="547725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0" y="5221224"/>
            <a:ext cx="3886200" cy="640080"/>
          </a:xfrm>
          <a:prstGeom prst="rect">
            <a:avLst/>
          </a:prstGeom>
          <a:noFill/>
        </p:spPr>
        <p:txBody>
          <a:bodyPr wrap="square" lIns="0" rIns="0" tIns="0" bIns="0" anchor="t">
            <a:spAutoFit/>
          </a:bodyPr>
          <a:lstStyle/>
          <a:p>
            <a:pPr algn="l"/>
            <a:r>
              <a:rPr sz="1050" b="1" i="0">
                <a:solidFill>
                  <a:srgbClr val="0F2C5C"/>
                </a:solidFill>
                <a:latin typeface="Sora"/>
              </a:rPr>
              <a:t>Proof-page event behaviour: evidence not available in current dataset.</a:t>
            </a:r>
          </a:p>
        </p:txBody>
      </p:sp>
      <p:sp>
        <p:nvSpPr>
          <p:cNvPr id="38" name="Rounded Rectangle 37"/>
          <p:cNvSpPr/>
          <p:nvPr/>
        </p:nvSpPr>
        <p:spPr>
          <a:xfrm>
            <a:off x="11243462" y="5824728"/>
            <a:ext cx="296265"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243462" y="5824728"/>
            <a:ext cx="296265" cy="201168"/>
          </a:xfrm>
          <a:prstGeom prst="rect">
            <a:avLst/>
          </a:prstGeom>
          <a:noFill/>
        </p:spPr>
        <p:txBody>
          <a:bodyPr wrap="square" lIns="0" rIns="0" tIns="0" bIns="0" anchor="ctr">
            <a:spAutoFit/>
          </a:bodyPr>
          <a:lstStyle/>
          <a:p>
            <a:pPr algn="ctr"/>
            <a:r>
              <a:rPr sz="750" b="1" i="0">
                <a:solidFill>
                  <a:srgbClr val="C8102E"/>
                </a:solidFill>
                <a:latin typeface="Sora"/>
              </a:rPr>
              <a:t>CSV</a:t>
            </a:r>
          </a:p>
        </p:txBody>
      </p:sp>
      <p:sp>
        <p:nvSpPr>
          <p:cNvPr id="40" name="TextBox 39"/>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Live site audit, 24 Sept 2026 · GA4 event export by page type (event counts; separate pull, not directly comparable).</a:t>
            </a:r>
          </a:p>
        </p:txBody>
      </p:sp>
      <p:sp>
        <p:nvSpPr>
          <p:cNvPr id="41" name="Rounded Rectangle 40"/>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PROOF SEEKER  ·  PAGE PATH</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Read the proof, then leave — rarely toward a programme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Page path from /mriirs/about/awards-recognitions, with the faculty directory as the contrast</a:t>
            </a:r>
          </a:p>
        </p:txBody>
      </p:sp>
      <p:sp>
        <p:nvSpPr>
          <p:cNvPr id="5" name="Rounded Rectangle 4"/>
          <p:cNvSpPr/>
          <p:nvPr/>
        </p:nvSpPr>
        <p:spPr>
          <a:xfrm>
            <a:off x="548640" y="1554480"/>
            <a:ext cx="2423160" cy="141732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64207"/>
            <a:ext cx="2148840" cy="182880"/>
          </a:xfrm>
          <a:prstGeom prst="rect">
            <a:avLst/>
          </a:prstGeom>
          <a:noFill/>
        </p:spPr>
        <p:txBody>
          <a:bodyPr wrap="square" lIns="0" rIns="0" tIns="0" bIns="0" anchor="t">
            <a:spAutoFit/>
          </a:bodyPr>
          <a:lstStyle/>
          <a:p>
            <a:pPr algn="l"/>
            <a:r>
              <a:rPr sz="850" b="1" i="0">
                <a:solidFill>
                  <a:srgbClr val="CADCFC"/>
                </a:solidFill>
                <a:latin typeface="Sora"/>
              </a:rPr>
              <a:t>LAND</a:t>
            </a:r>
          </a:p>
        </p:txBody>
      </p:sp>
      <p:sp>
        <p:nvSpPr>
          <p:cNvPr id="7" name="TextBox 6"/>
          <p:cNvSpPr txBox="1"/>
          <p:nvPr/>
        </p:nvSpPr>
        <p:spPr>
          <a:xfrm>
            <a:off x="685800" y="1856231"/>
            <a:ext cx="2148840" cy="228600"/>
          </a:xfrm>
          <a:prstGeom prst="rect">
            <a:avLst/>
          </a:prstGeom>
          <a:noFill/>
        </p:spPr>
        <p:txBody>
          <a:bodyPr wrap="square" lIns="0" rIns="0" tIns="0" bIns="0" anchor="t">
            <a:spAutoFit/>
          </a:bodyPr>
          <a:lstStyle/>
          <a:p>
            <a:pPr algn="l"/>
            <a:r>
              <a:rPr sz="950" b="1" i="0">
                <a:solidFill>
                  <a:srgbClr val="FFFFFF"/>
                </a:solidFill>
                <a:latin typeface="Sora"/>
              </a:rPr>
              <a:t>Awards &amp; recognitions</a:t>
            </a:r>
          </a:p>
        </p:txBody>
      </p:sp>
      <p:sp>
        <p:nvSpPr>
          <p:cNvPr id="8" name="TextBox 7"/>
          <p:cNvSpPr txBox="1"/>
          <p:nvPr/>
        </p:nvSpPr>
        <p:spPr>
          <a:xfrm>
            <a:off x="685800" y="2084831"/>
            <a:ext cx="2148840" cy="457200"/>
          </a:xfrm>
          <a:prstGeom prst="rect">
            <a:avLst/>
          </a:prstGeom>
          <a:noFill/>
        </p:spPr>
        <p:txBody>
          <a:bodyPr wrap="square" lIns="0" rIns="0" tIns="0" bIns="0" anchor="t">
            <a:spAutoFit/>
          </a:bodyPr>
          <a:lstStyle/>
          <a:p>
            <a:pPr algn="l"/>
            <a:r>
              <a:rPr sz="2600" b="1" i="0">
                <a:solidFill>
                  <a:srgbClr val="FFFFFF"/>
                </a:solidFill>
                <a:latin typeface="Sora"/>
              </a:rPr>
              <a:t>1,500</a:t>
            </a:r>
          </a:p>
        </p:txBody>
      </p:sp>
      <p:sp>
        <p:nvSpPr>
          <p:cNvPr id="9" name="TextBox 8"/>
          <p:cNvSpPr txBox="1"/>
          <p:nvPr/>
        </p:nvSpPr>
        <p:spPr>
          <a:xfrm>
            <a:off x="685800" y="2532888"/>
            <a:ext cx="2148840" cy="411480"/>
          </a:xfrm>
          <a:prstGeom prst="rect">
            <a:avLst/>
          </a:prstGeom>
          <a:noFill/>
        </p:spPr>
        <p:txBody>
          <a:bodyPr wrap="square" lIns="0" rIns="0" tIns="0" bIns="0" anchor="t">
            <a:spAutoFit/>
          </a:bodyPr>
          <a:lstStyle/>
          <a:p>
            <a:pPr algn="l"/>
            <a:r>
              <a:rPr sz="850" b="0" i="0">
                <a:solidFill>
                  <a:srgbClr val="FFFFFF"/>
                </a:solidFill>
                <a:latin typeface="Sora"/>
              </a:rPr>
              <a:t>sessions in 90 days</a:t>
            </a:r>
          </a:p>
        </p:txBody>
      </p:sp>
      <p:sp>
        <p:nvSpPr>
          <p:cNvPr id="10" name="Right Arrow 9"/>
          <p:cNvSpPr/>
          <p:nvPr/>
        </p:nvSpPr>
        <p:spPr>
          <a:xfrm>
            <a:off x="304495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554480"/>
            <a:ext cx="2423160" cy="141732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BOUNCE</a:t>
            </a:r>
          </a:p>
        </p:txBody>
      </p:sp>
      <p:sp>
        <p:nvSpPr>
          <p:cNvPr id="13" name="TextBox 12"/>
          <p:cNvSpPr txBox="1"/>
          <p:nvPr/>
        </p:nvSpPr>
        <p:spPr>
          <a:xfrm>
            <a:off x="356616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No second page</a:t>
            </a:r>
          </a:p>
        </p:txBody>
      </p:sp>
      <p:sp>
        <p:nvSpPr>
          <p:cNvPr id="14" name="TextBox 13"/>
          <p:cNvSpPr txBox="1"/>
          <p:nvPr/>
        </p:nvSpPr>
        <p:spPr>
          <a:xfrm>
            <a:off x="3566160" y="2084831"/>
            <a:ext cx="2148840" cy="457200"/>
          </a:xfrm>
          <a:prstGeom prst="rect">
            <a:avLst/>
          </a:prstGeom>
          <a:noFill/>
        </p:spPr>
        <p:txBody>
          <a:bodyPr wrap="square" lIns="0" rIns="0" tIns="0" bIns="0" anchor="t">
            <a:spAutoFit/>
          </a:bodyPr>
          <a:lstStyle/>
          <a:p>
            <a:pPr algn="l"/>
            <a:r>
              <a:rPr sz="2600" b="1" i="0">
                <a:solidFill>
                  <a:srgbClr val="C8102E"/>
                </a:solidFill>
                <a:latin typeface="Sora"/>
              </a:rPr>
              <a:t>67.13%</a:t>
            </a:r>
          </a:p>
        </p:txBody>
      </p:sp>
      <p:sp>
        <p:nvSpPr>
          <p:cNvPr id="15" name="TextBox 14"/>
          <p:cNvSpPr txBox="1"/>
          <p:nvPr/>
        </p:nvSpPr>
        <p:spPr>
          <a:xfrm>
            <a:off x="356616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bounce rate</a:t>
            </a:r>
          </a:p>
        </p:txBody>
      </p:sp>
      <p:sp>
        <p:nvSpPr>
          <p:cNvPr id="16" name="Right Arrow 15"/>
          <p:cNvSpPr/>
          <p:nvPr/>
        </p:nvSpPr>
        <p:spPr>
          <a:xfrm>
            <a:off x="592531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59" y="1554480"/>
            <a:ext cx="2423160" cy="14173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MOVE ON</a:t>
            </a:r>
          </a:p>
        </p:txBody>
      </p:sp>
      <p:sp>
        <p:nvSpPr>
          <p:cNvPr id="19" name="TextBox 18"/>
          <p:cNvSpPr txBox="1"/>
          <p:nvPr/>
        </p:nvSpPr>
        <p:spPr>
          <a:xfrm>
            <a:off x="644652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Mostly via navigation</a:t>
            </a:r>
          </a:p>
        </p:txBody>
      </p:sp>
      <p:sp>
        <p:nvSpPr>
          <p:cNvPr id="20" name="TextBox 19"/>
          <p:cNvSpPr txBox="1"/>
          <p:nvPr/>
        </p:nvSpPr>
        <p:spPr>
          <a:xfrm>
            <a:off x="6446520" y="2084831"/>
            <a:ext cx="2148840" cy="457200"/>
          </a:xfrm>
          <a:prstGeom prst="rect">
            <a:avLst/>
          </a:prstGeom>
          <a:noFill/>
        </p:spPr>
        <p:txBody>
          <a:bodyPr wrap="square" lIns="0" rIns="0" tIns="0" bIns="0" anchor="t">
            <a:spAutoFit/>
          </a:bodyPr>
          <a:lstStyle/>
          <a:p>
            <a:pPr algn="l"/>
            <a:r>
              <a:rPr sz="2600" b="1" i="0">
                <a:solidFill>
                  <a:srgbClr val="0F2C5C"/>
                </a:solidFill>
                <a:latin typeface="Sora"/>
              </a:rPr>
              <a:t>~11%</a:t>
            </a:r>
          </a:p>
        </p:txBody>
      </p:sp>
      <p:sp>
        <p:nvSpPr>
          <p:cNvPr id="21" name="TextBox 20"/>
          <p:cNvSpPr txBox="1"/>
          <p:nvPr/>
        </p:nvSpPr>
        <p:spPr>
          <a:xfrm>
            <a:off x="644652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move onward at all</a:t>
            </a:r>
          </a:p>
        </p:txBody>
      </p:sp>
      <p:sp>
        <p:nvSpPr>
          <p:cNvPr id="22" name="Right Arrow 21"/>
          <p:cNvSpPr/>
          <p:nvPr/>
        </p:nvSpPr>
        <p:spPr>
          <a:xfrm>
            <a:off x="880567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89719" y="1554480"/>
            <a:ext cx="2423160" cy="141732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REACH FEES</a:t>
            </a:r>
          </a:p>
        </p:txBody>
      </p:sp>
      <p:sp>
        <p:nvSpPr>
          <p:cNvPr id="25" name="TextBox 24"/>
          <p:cNvSpPr txBox="1"/>
          <p:nvPr/>
        </p:nvSpPr>
        <p:spPr>
          <a:xfrm>
            <a:off x="932688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Fee structure page</a:t>
            </a:r>
          </a:p>
        </p:txBody>
      </p:sp>
      <p:sp>
        <p:nvSpPr>
          <p:cNvPr id="26" name="TextBox 25"/>
          <p:cNvSpPr txBox="1"/>
          <p:nvPr/>
        </p:nvSpPr>
        <p:spPr>
          <a:xfrm>
            <a:off x="9326880" y="2084831"/>
            <a:ext cx="2148840" cy="457200"/>
          </a:xfrm>
          <a:prstGeom prst="rect">
            <a:avLst/>
          </a:prstGeom>
          <a:noFill/>
        </p:spPr>
        <p:txBody>
          <a:bodyPr wrap="square" lIns="0" rIns="0" tIns="0" bIns="0" anchor="t">
            <a:spAutoFit/>
          </a:bodyPr>
          <a:lstStyle/>
          <a:p>
            <a:pPr algn="l"/>
            <a:r>
              <a:rPr sz="2600" b="1" i="0">
                <a:solidFill>
                  <a:srgbClr val="C8102E"/>
                </a:solidFill>
                <a:latin typeface="Sora"/>
              </a:rPr>
              <a:t>9</a:t>
            </a:r>
          </a:p>
        </p:txBody>
      </p:sp>
      <p:sp>
        <p:nvSpPr>
          <p:cNvPr id="27" name="TextBox 26"/>
          <p:cNvSpPr txBox="1"/>
          <p:nvPr/>
        </p:nvSpPr>
        <p:spPr>
          <a:xfrm>
            <a:off x="932688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visitors reach fees</a:t>
            </a:r>
          </a:p>
        </p:txBody>
      </p:sp>
      <p:sp>
        <p:nvSpPr>
          <p:cNvPr id="28" name="Rounded Rectangle 27"/>
          <p:cNvSpPr/>
          <p:nvPr/>
        </p:nvSpPr>
        <p:spPr>
          <a:xfrm>
            <a:off x="548640" y="3154680"/>
            <a:ext cx="544068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246120"/>
            <a:ext cx="5166360" cy="182880"/>
          </a:xfrm>
          <a:prstGeom prst="rect">
            <a:avLst/>
          </a:prstGeom>
          <a:noFill/>
        </p:spPr>
        <p:txBody>
          <a:bodyPr wrap="square" lIns="0" rIns="0" tIns="0" bIns="0" anchor="t">
            <a:spAutoFit/>
          </a:bodyPr>
          <a:lstStyle/>
          <a:p>
            <a:pPr algn="l"/>
            <a:r>
              <a:rPr sz="800" b="1" i="0">
                <a:solidFill>
                  <a:srgbClr val="C8102E"/>
                </a:solidFill>
                <a:latin typeface="Sora"/>
              </a:rPr>
              <a:t>CONTRAST · WHAT WORKS</a:t>
            </a:r>
          </a:p>
        </p:txBody>
      </p:sp>
      <p:sp>
        <p:nvSpPr>
          <p:cNvPr id="30" name="TextBox 29"/>
          <p:cNvSpPr txBox="1"/>
          <p:nvPr/>
        </p:nvSpPr>
        <p:spPr>
          <a:xfrm>
            <a:off x="685800" y="3465576"/>
            <a:ext cx="5166360" cy="978407"/>
          </a:xfrm>
          <a:prstGeom prst="rect">
            <a:avLst/>
          </a:prstGeom>
          <a:noFill/>
        </p:spPr>
        <p:txBody>
          <a:bodyPr wrap="square" lIns="0" rIns="0" tIns="0" bIns="0" anchor="t">
            <a:spAutoFit/>
          </a:bodyPr>
          <a:lstStyle/>
          <a:p>
            <a:pPr algn="l"/>
            <a:r>
              <a:rPr sz="1050" b="0" i="0">
                <a:solidFill>
                  <a:srgbClr val="0F2C5C"/>
                </a:solidFill>
                <a:latin typeface="Sora"/>
              </a:rPr>
              <a:t>/mru/academics/teaching-faculty: 926 sessions, 78.19% engagement, 21.81% bounce — filter by school, department or name.</a:t>
            </a:r>
          </a:p>
        </p:txBody>
      </p:sp>
      <p:sp>
        <p:nvSpPr>
          <p:cNvPr id="31" name="Rounded Rectangle 30"/>
          <p:cNvSpPr/>
          <p:nvPr/>
        </p:nvSpPr>
        <p:spPr>
          <a:xfrm>
            <a:off x="5601614" y="3227832"/>
            <a:ext cx="296265"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01614" y="3227832"/>
            <a:ext cx="296265" cy="201168"/>
          </a:xfrm>
          <a:prstGeom prst="rect">
            <a:avLst/>
          </a:prstGeom>
          <a:noFill/>
        </p:spPr>
        <p:txBody>
          <a:bodyPr wrap="square" lIns="0" rIns="0" tIns="0" bIns="0" anchor="ctr">
            <a:spAutoFit/>
          </a:bodyPr>
          <a:lstStyle/>
          <a:p>
            <a:pPr algn="ctr"/>
            <a:r>
              <a:rPr sz="750" b="1" i="0">
                <a:solidFill>
                  <a:srgbClr val="5A6472"/>
                </a:solidFill>
                <a:latin typeface="Sora"/>
              </a:rPr>
              <a:t>GA4</a:t>
            </a:r>
          </a:p>
        </p:txBody>
      </p:sp>
      <p:sp>
        <p:nvSpPr>
          <p:cNvPr id="33" name="Rounded Rectangle 32"/>
          <p:cNvSpPr/>
          <p:nvPr/>
        </p:nvSpPr>
        <p:spPr>
          <a:xfrm>
            <a:off x="6172200" y="3154680"/>
            <a:ext cx="544068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246120"/>
            <a:ext cx="5166360" cy="182880"/>
          </a:xfrm>
          <a:prstGeom prst="rect">
            <a:avLst/>
          </a:prstGeom>
          <a:noFill/>
        </p:spPr>
        <p:txBody>
          <a:bodyPr wrap="square" lIns="0" rIns="0" tIns="0" bIns="0" anchor="t">
            <a:spAutoFit/>
          </a:bodyPr>
          <a:lstStyle/>
          <a:p>
            <a:pPr algn="l"/>
            <a:r>
              <a:rPr sz="800" b="1" i="0">
                <a:solidFill>
                  <a:srgbClr val="C8102E"/>
                </a:solidFill>
                <a:latin typeface="Sora"/>
              </a:rPr>
              <a:t>THE MISSING LINK</a:t>
            </a:r>
          </a:p>
        </p:txBody>
      </p:sp>
      <p:sp>
        <p:nvSpPr>
          <p:cNvPr id="35" name="TextBox 34"/>
          <p:cNvSpPr txBox="1"/>
          <p:nvPr/>
        </p:nvSpPr>
        <p:spPr>
          <a:xfrm>
            <a:off x="6309360" y="3465576"/>
            <a:ext cx="5166360" cy="978407"/>
          </a:xfrm>
          <a:prstGeom prst="rect">
            <a:avLst/>
          </a:prstGeom>
          <a:noFill/>
        </p:spPr>
        <p:txBody>
          <a:bodyPr wrap="square" lIns="0" rIns="0" tIns="0" bIns="0" anchor="t">
            <a:spAutoFit/>
          </a:bodyPr>
          <a:lstStyle/>
          <a:p>
            <a:pPr algn="l"/>
            <a:r>
              <a:rPr sz="1050" b="0" i="0">
                <a:solidFill>
                  <a:srgbClr val="0F2C5C"/>
                </a:solidFill>
                <a:latin typeface="Sora"/>
              </a:rPr>
              <a:t>Awards page: “B.Tech Programmes in CSE &amp; Biotechnology and MBA … accredited by NBA.” CSE page text: no mention of its NBA accreditation.</a:t>
            </a:r>
          </a:p>
        </p:txBody>
      </p:sp>
      <p:sp>
        <p:nvSpPr>
          <p:cNvPr id="36" name="Rounded Rectangle 35"/>
          <p:cNvSpPr/>
          <p:nvPr/>
        </p:nvSpPr>
        <p:spPr>
          <a:xfrm>
            <a:off x="11100815" y="3227832"/>
            <a:ext cx="420624"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100815" y="3227832"/>
            <a:ext cx="420624" cy="201168"/>
          </a:xfrm>
          <a:prstGeom prst="rect">
            <a:avLst/>
          </a:prstGeom>
          <a:noFill/>
        </p:spPr>
        <p:txBody>
          <a:bodyPr wrap="square" lIns="0" rIns="0" tIns="0" bIns="0" anchor="ctr">
            <a:spAutoFit/>
          </a:bodyPr>
          <a:lstStyle/>
          <a:p>
            <a:pPr algn="ctr"/>
            <a:r>
              <a:rPr sz="750" b="1" i="0">
                <a:solidFill>
                  <a:srgbClr val="5A6472"/>
                </a:solidFill>
                <a:latin typeface="Sora"/>
              </a:rPr>
              <a:t>AUDIT</a:t>
            </a:r>
          </a:p>
        </p:txBody>
      </p:sp>
      <p:sp>
        <p:nvSpPr>
          <p:cNvPr id="38" name="Rounded Rectangle 37"/>
          <p:cNvSpPr/>
          <p:nvPr/>
        </p:nvSpPr>
        <p:spPr>
          <a:xfrm>
            <a:off x="548640" y="4645152"/>
            <a:ext cx="3566160" cy="16916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782312"/>
            <a:ext cx="3200400" cy="182880"/>
          </a:xfrm>
          <a:prstGeom prst="rect">
            <a:avLst/>
          </a:prstGeom>
          <a:noFill/>
        </p:spPr>
        <p:txBody>
          <a:bodyPr wrap="square" lIns="0" rIns="0" tIns="0" bIns="0" anchor="t">
            <a:spAutoFit/>
          </a:bodyPr>
          <a:lstStyle/>
          <a:p>
            <a:pPr algn="l"/>
            <a:r>
              <a:rPr sz="850" b="1" i="0">
                <a:solidFill>
                  <a:srgbClr val="C8102E"/>
                </a:solidFill>
                <a:latin typeface="Sora"/>
              </a:rPr>
              <a:t>INTERPRETATION</a:t>
            </a:r>
          </a:p>
        </p:txBody>
      </p:sp>
      <p:sp>
        <p:nvSpPr>
          <p:cNvPr id="40" name="TextBox 39"/>
          <p:cNvSpPr txBox="1"/>
          <p:nvPr/>
        </p:nvSpPr>
        <p:spPr>
          <a:xfrm>
            <a:off x="731520" y="5029200"/>
            <a:ext cx="3200400" cy="1234440"/>
          </a:xfrm>
          <a:prstGeom prst="rect">
            <a:avLst/>
          </a:prstGeom>
          <a:noFill/>
        </p:spPr>
        <p:txBody>
          <a:bodyPr wrap="square" lIns="0" rIns="0" tIns="0" bIns="0" anchor="t">
            <a:spAutoFit/>
          </a:bodyPr>
          <a:lstStyle/>
          <a:p>
            <a:pPr algn="l"/>
            <a:r>
              <a:rPr sz="1000" b="0" i="0">
                <a:solidFill>
                  <a:srgbClr val="0F2C5C"/>
                </a:solidFill>
                <a:latin typeface="Sora"/>
              </a:rPr>
              <a:t>Proof pages answer “is this institution credible?” but not “is my programme credible?”. The awards page is a destination, not a bridge; the faculty directory shows that findable, person-level proof holds attention.</a:t>
            </a:r>
          </a:p>
        </p:txBody>
      </p:sp>
      <p:sp>
        <p:nvSpPr>
          <p:cNvPr id="41" name="Rounded Rectangle 40"/>
          <p:cNvSpPr/>
          <p:nvPr/>
        </p:nvSpPr>
        <p:spPr>
          <a:xfrm>
            <a:off x="4297680" y="4645152"/>
            <a:ext cx="3566160" cy="169164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0560" y="4782312"/>
            <a:ext cx="3200400" cy="182880"/>
          </a:xfrm>
          <a:prstGeom prst="rect">
            <a:avLst/>
          </a:prstGeom>
          <a:noFill/>
        </p:spPr>
        <p:txBody>
          <a:bodyPr wrap="square" lIns="0" rIns="0" tIns="0" bIns="0" anchor="t">
            <a:spAutoFit/>
          </a:bodyPr>
          <a:lstStyle/>
          <a:p>
            <a:pPr algn="l"/>
            <a:r>
              <a:rPr sz="850" b="1" i="0">
                <a:solidFill>
                  <a:srgbClr val="CADCFC"/>
                </a:solidFill>
                <a:latin typeface="Sora"/>
              </a:rPr>
              <a:t>CRO QUESTION</a:t>
            </a:r>
          </a:p>
        </p:txBody>
      </p:sp>
      <p:sp>
        <p:nvSpPr>
          <p:cNvPr id="43" name="TextBox 42"/>
          <p:cNvSpPr txBox="1"/>
          <p:nvPr/>
        </p:nvSpPr>
        <p:spPr>
          <a:xfrm>
            <a:off x="4480560" y="5029200"/>
            <a:ext cx="3200400" cy="1234440"/>
          </a:xfrm>
          <a:prstGeom prst="rect">
            <a:avLst/>
          </a:prstGeom>
          <a:noFill/>
        </p:spPr>
        <p:txBody>
          <a:bodyPr wrap="square" lIns="0" rIns="0" tIns="0" bIns="0" anchor="t">
            <a:spAutoFit/>
          </a:bodyPr>
          <a:lstStyle/>
          <a:p>
            <a:pPr algn="l"/>
            <a:r>
              <a:rPr sz="1250" b="1" i="0">
                <a:solidFill>
                  <a:srgbClr val="FFFFFF"/>
                </a:solidFill>
                <a:latin typeface="Sora"/>
              </a:rPr>
              <a:t>Does proof ever connect back to the programme decision it is meant to support?</a:t>
            </a:r>
          </a:p>
        </p:txBody>
      </p:sp>
      <p:sp>
        <p:nvSpPr>
          <p:cNvPr id="44" name="Rounded Rectangle 43"/>
          <p:cNvSpPr/>
          <p:nvPr/>
        </p:nvSpPr>
        <p:spPr>
          <a:xfrm>
            <a:off x="8046719" y="4645152"/>
            <a:ext cx="3566160" cy="1691640"/>
          </a:xfrm>
          <a:prstGeom prst="roundRect">
            <a:avLst>
              <a:gd name="adj" fmla="val 6000"/>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0" y="4782312"/>
            <a:ext cx="3200400" cy="182880"/>
          </a:xfrm>
          <a:prstGeom prst="rect">
            <a:avLst/>
          </a:prstGeom>
          <a:noFill/>
        </p:spPr>
        <p:txBody>
          <a:bodyPr wrap="square" lIns="0" rIns="0" tIns="0" bIns="0" anchor="t">
            <a:spAutoFit/>
          </a:bodyPr>
          <a:lstStyle/>
          <a:p>
            <a:pPr algn="l"/>
            <a:r>
              <a:rPr sz="850" b="1" i="0">
                <a:solidFill>
                  <a:srgbClr val="C8102E"/>
                </a:solidFill>
                <a:latin typeface="Sora"/>
              </a:rPr>
              <a:t>OPPORTUNITY</a:t>
            </a:r>
          </a:p>
        </p:txBody>
      </p:sp>
      <p:sp>
        <p:nvSpPr>
          <p:cNvPr id="46" name="TextBox 45"/>
          <p:cNvSpPr txBox="1"/>
          <p:nvPr/>
        </p:nvSpPr>
        <p:spPr>
          <a:xfrm>
            <a:off x="8229600" y="5029200"/>
            <a:ext cx="3200400" cy="1234440"/>
          </a:xfrm>
          <a:prstGeom prst="rect">
            <a:avLst/>
          </a:prstGeom>
          <a:noFill/>
        </p:spPr>
        <p:txBody>
          <a:bodyPr wrap="square" lIns="0" rIns="0" tIns="0" bIns="0" anchor="t">
            <a:spAutoFit/>
          </a:bodyPr>
          <a:lstStyle/>
          <a:p>
            <a:pPr algn="l"/>
            <a:r>
              <a:rPr sz="1050" b="0" i="0">
                <a:solidFill>
                  <a:srgbClr val="0F2C5C"/>
                </a:solidFill>
                <a:latin typeface="Sora"/>
              </a:rPr>
              <a:t>Attach verified, programme-specific proof to programme pages, and link every award or accreditation to the programmes it covers.</a:t>
            </a:r>
          </a:p>
        </p:txBody>
      </p:sp>
      <p:sp>
        <p:nvSpPr>
          <p:cNvPr id="47" name="TextBox 46"/>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Live site audit, 24 Sept 2026.</a:t>
            </a:r>
          </a:p>
        </p:txBody>
      </p:sp>
      <p:sp>
        <p:nvSpPr>
          <p:cNvPr id="48" name="Rounded Rectangle 47"/>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PROOF SEEKER  ·  PROOF INVENTORY</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What MREI can actually claim — and where it says it</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Verified fact vs interpretation vs recommended presentation. Nothing here is inferred; every row is quoted from an official MREI page</a:t>
            </a:r>
          </a:p>
        </p:txBody>
      </p:sp>
      <p:graphicFrame>
        <p:nvGraphicFramePr>
          <p:cNvPr id="5" name="Table 4"/>
          <p:cNvGraphicFramePr>
            <a:graphicFrameLocks noGrp="1"/>
          </p:cNvGraphicFramePr>
          <p:nvPr/>
        </p:nvGraphicFramePr>
        <p:xfrm>
          <a:off x="548640" y="1463040"/>
          <a:ext cx="11064239" cy="4892040"/>
        </p:xfrm>
        <a:graphic>
          <a:graphicData uri="http://schemas.openxmlformats.org/drawingml/2006/table">
            <a:tbl>
              <a:tblPr firstRow="1" bandRow="1">
                <a:tableStyleId>{5C22544A-7EE6-4342-B048-85BDC9FD1C3A}</a:tableStyleId>
              </a:tblPr>
              <a:tblGrid>
                <a:gridCol w="3977639"/>
                <a:gridCol w="1600200"/>
                <a:gridCol w="1325880"/>
                <a:gridCol w="1920240"/>
                <a:gridCol w="2240280"/>
              </a:tblGrid>
              <a:tr h="444730">
                <a:tc>
                  <a:txBody>
                    <a:bodyPr/>
                    <a:lstStyle/>
                    <a:p>
                      <a:r>
                        <a:rPr sz="800" b="1">
                          <a:solidFill>
                            <a:srgbClr val="FFFFFF"/>
                          </a:solidFill>
                          <a:latin typeface="Sora"/>
                        </a:rPr>
                        <a:t>Claim (quoted)</a:t>
                      </a:r>
                    </a:p>
                  </a:txBody>
                  <a:tcPr marL="54864" marR="54864" marT="27432" marB="27432" anchor="ctr">
                    <a:solidFill>
                      <a:srgbClr val="0F2C5C"/>
                    </a:solidFill>
                  </a:tcPr>
                </a:tc>
                <a:tc>
                  <a:txBody>
                    <a:bodyPr/>
                    <a:lstStyle/>
                    <a:p>
                      <a:r>
                        <a:rPr sz="800" b="1">
                          <a:solidFill>
                            <a:srgbClr val="FFFFFF"/>
                          </a:solidFill>
                          <a:latin typeface="Sora"/>
                        </a:rPr>
                        <a:t>Where it appears</a:t>
                      </a:r>
                    </a:p>
                  </a:txBody>
                  <a:tcPr marL="54864" marR="54864" marT="27432" marB="27432" anchor="ctr">
                    <a:solidFill>
                      <a:srgbClr val="0F2C5C"/>
                    </a:solidFill>
                  </a:tcPr>
                </a:tc>
                <a:tc>
                  <a:txBody>
                    <a:bodyPr/>
                    <a:lstStyle/>
                    <a:p>
                      <a:r>
                        <a:rPr sz="800" b="1">
                          <a:solidFill>
                            <a:srgbClr val="FFFFFF"/>
                          </a:solidFill>
                          <a:latin typeface="Sora"/>
                        </a:rPr>
                        <a:t>Status</a:t>
                      </a:r>
                    </a:p>
                  </a:txBody>
                  <a:tcPr marL="54864" marR="54864" marT="27432" marB="27432" anchor="ctr">
                    <a:solidFill>
                      <a:srgbClr val="0F2C5C"/>
                    </a:solidFill>
                  </a:tcPr>
                </a:tc>
                <a:tc>
                  <a:txBody>
                    <a:bodyPr/>
                    <a:lstStyle/>
                    <a:p>
                      <a:r>
                        <a:rPr sz="800" b="1">
                          <a:solidFill>
                            <a:srgbClr val="FFFFFF"/>
                          </a:solidFill>
                          <a:latin typeface="Sora"/>
                        </a:rPr>
                        <a:t>Interpretation</a:t>
                      </a:r>
                    </a:p>
                  </a:txBody>
                  <a:tcPr marL="54864" marR="54864" marT="27432" marB="27432" anchor="ctr">
                    <a:solidFill>
                      <a:srgbClr val="0F2C5C"/>
                    </a:solidFill>
                  </a:tcPr>
                </a:tc>
                <a:tc>
                  <a:txBody>
                    <a:bodyPr/>
                    <a:lstStyle/>
                    <a:p>
                      <a:r>
                        <a:rPr sz="800" b="1">
                          <a:solidFill>
                            <a:srgbClr val="FFFFFF"/>
                          </a:solidFill>
                          <a:latin typeface="Sora"/>
                        </a:rPr>
                        <a:t>Recommended presentation</a:t>
                      </a:r>
                    </a:p>
                  </a:txBody>
                  <a:tcPr marL="54864" marR="54864" marT="27432" marB="27432" anchor="ctr">
                    <a:solidFill>
                      <a:srgbClr val="0F2C5C"/>
                    </a:solidFill>
                  </a:tcPr>
                </a:tc>
              </a:tr>
              <a:tr h="444730">
                <a:tc>
                  <a:txBody>
                    <a:bodyPr/>
                    <a:lstStyle/>
                    <a:p>
                      <a:r>
                        <a:rPr sz="750" b="0">
                          <a:solidFill>
                            <a:srgbClr val="0F2C5C"/>
                          </a:solidFill>
                          <a:latin typeface="Sora"/>
                        </a:rPr>
                        <a:t>NBA accreditation — B.Tech CSE, Biotechnology, MBA (MRIIRS)</a:t>
                      </a:r>
                    </a:p>
                  </a:txBody>
                  <a:tcPr marL="54864" marR="54864" marT="27432" marB="27432" anchor="ctr">
                    <a:solidFill>
                      <a:srgbClr val="F4F6FA"/>
                    </a:solidFill>
                  </a:tcPr>
                </a:tc>
                <a:tc>
                  <a:txBody>
                    <a:bodyPr/>
                    <a:lstStyle/>
                    <a:p>
                      <a:r>
                        <a:rPr sz="750" b="0">
                          <a:solidFill>
                            <a:srgbClr val="5A6472"/>
                          </a:solidFill>
                          <a:latin typeface="Sora"/>
                        </a:rPr>
                        <a:t>Awards page</a:t>
                      </a:r>
                    </a:p>
                  </a:txBody>
                  <a:tcPr marL="54864" marR="54864" marT="27432" marB="27432" anchor="ctr">
                    <a:solidFill>
                      <a:srgbClr val="F4F6FA"/>
                    </a:solidFill>
                  </a:tcPr>
                </a:tc>
                <a:tc>
                  <a:txBody>
                    <a:bodyPr/>
                    <a:lstStyle/>
                    <a:p>
                      <a:r>
                        <a:rPr sz="700" b="1">
                          <a:solidFill>
                            <a:srgbClr val="1E7B4F"/>
                          </a:solidFill>
                          <a:latin typeface="Sora"/>
                        </a:rPr>
                        <a:t>VERIFIED</a:t>
                      </a:r>
                    </a:p>
                  </a:txBody>
                  <a:tcPr marL="54864" marR="54864" marT="27432" marB="27432" anchor="ctr">
                    <a:solidFill>
                      <a:srgbClr val="E6F3EC"/>
                    </a:solidFill>
                  </a:tcPr>
                </a:tc>
                <a:tc>
                  <a:txBody>
                    <a:bodyPr/>
                    <a:lstStyle/>
                    <a:p>
                      <a:r>
                        <a:rPr sz="750" b="0">
                          <a:solidFill>
                            <a:srgbClr val="5A6472"/>
                          </a:solidFill>
                          <a:latin typeface="Sora"/>
                        </a:rPr>
                        <a:t>Programme-level; high relevance</a:t>
                      </a:r>
                    </a:p>
                  </a:txBody>
                  <a:tcPr marL="54864" marR="54864" marT="27432" marB="27432" anchor="ctr">
                    <a:solidFill>
                      <a:srgbClr val="F4F6FA"/>
                    </a:solidFill>
                  </a:tcPr>
                </a:tc>
                <a:tc>
                  <a:txBody>
                    <a:bodyPr/>
                    <a:lstStyle/>
                    <a:p>
                      <a:r>
                        <a:rPr sz="750" b="1">
                          <a:solidFill>
                            <a:srgbClr val="0F2C5C"/>
                          </a:solidFill>
                          <a:latin typeface="Sora"/>
                        </a:rPr>
                        <a:t>Badge on each accredited programme page, near the form</a:t>
                      </a:r>
                    </a:p>
                  </a:txBody>
                  <a:tcPr marL="54864" marR="54864" marT="27432" marB="27432" anchor="ctr">
                    <a:solidFill>
                      <a:srgbClr val="F4F6FA"/>
                    </a:solidFill>
                  </a:tcPr>
                </a:tc>
              </a:tr>
              <a:tr h="444730">
                <a:tc>
                  <a:txBody>
                    <a:bodyPr/>
                    <a:lstStyle/>
                    <a:p>
                      <a:r>
                        <a:rPr sz="750" b="0">
                          <a:solidFill>
                            <a:srgbClr val="0F2C5C"/>
                          </a:solidFill>
                          <a:latin typeface="Sora"/>
                        </a:rPr>
                        <a:t>QS World University Rankings 2026 debut; QS Asia 2026: 741–750 band, 224th in Southern Asia</a:t>
                      </a:r>
                    </a:p>
                  </a:txBody>
                  <a:tcPr marL="54864" marR="54864" marT="27432" marB="27432" anchor="ctr">
                    <a:solidFill>
                      <a:srgbClr val="FFFFFF"/>
                    </a:solidFill>
                  </a:tcPr>
                </a:tc>
                <a:tc>
                  <a:txBody>
                    <a:bodyPr/>
                    <a:lstStyle/>
                    <a:p>
                      <a:r>
                        <a:rPr sz="750" b="0">
                          <a:solidFill>
                            <a:srgbClr val="5A6472"/>
                          </a:solidFill>
                          <a:latin typeface="Sora"/>
                        </a:rPr>
                        <a:t>Awards page</a:t>
                      </a:r>
                    </a:p>
                  </a:txBody>
                  <a:tcPr marL="54864" marR="54864" marT="27432" marB="27432" anchor="ctr">
                    <a:solidFill>
                      <a:srgbClr val="FFFFFF"/>
                    </a:solidFill>
                  </a:tcPr>
                </a:tc>
                <a:tc>
                  <a:txBody>
                    <a:bodyPr/>
                    <a:lstStyle/>
                    <a:p>
                      <a:r>
                        <a:rPr sz="700" b="1">
                          <a:solidFill>
                            <a:srgbClr val="1E7B4F"/>
                          </a:solidFill>
                          <a:latin typeface="Sora"/>
                        </a:rPr>
                        <a:t>VERIFIED</a:t>
                      </a:r>
                    </a:p>
                  </a:txBody>
                  <a:tcPr marL="54864" marR="54864" marT="27432" marB="27432" anchor="ctr">
                    <a:solidFill>
                      <a:srgbClr val="E6F3EC"/>
                    </a:solidFill>
                  </a:tcPr>
                </a:tc>
                <a:tc>
                  <a:txBody>
                    <a:bodyPr/>
                    <a:lstStyle/>
                    <a:p>
                      <a:r>
                        <a:rPr sz="750" b="0">
                          <a:solidFill>
                            <a:srgbClr val="5A6472"/>
                          </a:solidFill>
                          <a:latin typeface="Sora"/>
                        </a:rPr>
                        <a:t>Institution-level</a:t>
                      </a:r>
                    </a:p>
                  </a:txBody>
                  <a:tcPr marL="54864" marR="54864" marT="27432" marB="27432" anchor="ctr">
                    <a:solidFill>
                      <a:srgbClr val="FFFFFF"/>
                    </a:solidFill>
                  </a:tcPr>
                </a:tc>
                <a:tc>
                  <a:txBody>
                    <a:bodyPr/>
                    <a:lstStyle/>
                    <a:p>
                      <a:r>
                        <a:rPr sz="750" b="1">
                          <a:solidFill>
                            <a:srgbClr val="0F2C5C"/>
                          </a:solidFill>
                          <a:latin typeface="Sora"/>
                        </a:rPr>
                        <a:t>Quote the band exactly; institution pages only</a:t>
                      </a:r>
                    </a:p>
                  </a:txBody>
                  <a:tcPr marL="54864" marR="54864" marT="27432" marB="27432" anchor="ctr">
                    <a:solidFill>
                      <a:srgbClr val="FFFFFF"/>
                    </a:solidFill>
                  </a:tcPr>
                </a:tc>
              </a:tr>
              <a:tr h="444730">
                <a:tc>
                  <a:txBody>
                    <a:bodyPr/>
                    <a:lstStyle/>
                    <a:p>
                      <a:r>
                        <a:rPr sz="750" b="0">
                          <a:solidFill>
                            <a:srgbClr val="0F2C5C"/>
                          </a:solidFill>
                          <a:latin typeface="Sora"/>
                        </a:rPr>
                        <a:t>“5000+ placements in last few years” · “500+ recruiters” · “QS 5 Star — rated for employability”</a:t>
                      </a:r>
                    </a:p>
                  </a:txBody>
                  <a:tcPr marL="54864" marR="54864" marT="27432" marB="27432" anchor="ctr">
                    <a:solidFill>
                      <a:srgbClr val="F4F6FA"/>
                    </a:solidFill>
                  </a:tcPr>
                </a:tc>
                <a:tc>
                  <a:txBody>
                    <a:bodyPr/>
                    <a:lstStyle/>
                    <a:p>
                      <a:r>
                        <a:rPr sz="750" b="0">
                          <a:solidFill>
                            <a:srgbClr val="5A6472"/>
                          </a:solidFill>
                          <a:latin typeface="Sora"/>
                        </a:rPr>
                        <a:t>Placements overview</a:t>
                      </a:r>
                    </a:p>
                  </a:txBody>
                  <a:tcPr marL="54864" marR="54864" marT="27432" marB="27432" anchor="ctr">
                    <a:solidFill>
                      <a:srgbClr val="F4F6FA"/>
                    </a:solidFill>
                  </a:tcPr>
                </a:tc>
                <a:tc>
                  <a:txBody>
                    <a:bodyPr/>
                    <a:lstStyle/>
                    <a:p>
                      <a:r>
                        <a:rPr sz="700" b="1">
                          <a:solidFill>
                            <a:srgbClr val="B26B00"/>
                          </a:solidFill>
                          <a:latin typeface="Sora"/>
                        </a:rPr>
                        <a:t>NO TIME FRAME</a:t>
                      </a:r>
                    </a:p>
                  </a:txBody>
                  <a:tcPr marL="54864" marR="54864" marT="27432" marB="27432" anchor="ctr">
                    <a:solidFill>
                      <a:srgbClr val="FDF1DC"/>
                    </a:solidFill>
                  </a:tcPr>
                </a:tc>
                <a:tc>
                  <a:txBody>
                    <a:bodyPr/>
                    <a:lstStyle/>
                    <a:p>
                      <a:r>
                        <a:rPr sz="750" b="0">
                          <a:solidFill>
                            <a:srgbClr val="5A6472"/>
                          </a:solidFill>
                          <a:latin typeface="Sora"/>
                        </a:rPr>
                        <a:t>Institution-level</a:t>
                      </a:r>
                    </a:p>
                  </a:txBody>
                  <a:tcPr marL="54864" marR="54864" marT="27432" marB="27432" anchor="ctr">
                    <a:solidFill>
                      <a:srgbClr val="F4F6FA"/>
                    </a:solidFill>
                  </a:tcPr>
                </a:tc>
                <a:tc>
                  <a:txBody>
                    <a:bodyPr/>
                    <a:lstStyle/>
                    <a:p>
                      <a:r>
                        <a:rPr sz="750" b="1">
                          <a:solidFill>
                            <a:srgbClr val="0F2C5C"/>
                          </a:solidFill>
                          <a:latin typeface="Sora"/>
                        </a:rPr>
                        <a:t>Add the period before reuse</a:t>
                      </a:r>
                    </a:p>
                  </a:txBody>
                  <a:tcPr marL="54864" marR="54864" marT="27432" marB="27432" anchor="ctr">
                    <a:solidFill>
                      <a:srgbClr val="F4F6FA"/>
                    </a:solidFill>
                  </a:tcPr>
                </a:tc>
              </a:tr>
              <a:tr h="444730">
                <a:tc>
                  <a:txBody>
                    <a:bodyPr/>
                    <a:lstStyle/>
                    <a:p>
                      <a:r>
                        <a:rPr sz="750" b="0">
                          <a:solidFill>
                            <a:srgbClr val="0F2C5C"/>
                          </a:solidFill>
                          <a:latin typeface="Sora"/>
                        </a:rPr>
                        <a:t>Named offers: 40 LPA &amp; 32 LPA (Headout), 22 LPA (Kazam EV), 19 LPA (Arcesium), 17.78 LPA (American Express)</a:t>
                      </a:r>
                    </a:p>
                  </a:txBody>
                  <a:tcPr marL="54864" marR="54864" marT="27432" marB="27432" anchor="ctr">
                    <a:solidFill>
                      <a:srgbClr val="FFFFFF"/>
                    </a:solidFill>
                  </a:tcPr>
                </a:tc>
                <a:tc>
                  <a:txBody>
                    <a:bodyPr/>
                    <a:lstStyle/>
                    <a:p>
                      <a:r>
                        <a:rPr sz="750" b="0">
                          <a:solidFill>
                            <a:srgbClr val="5A6472"/>
                          </a:solidFill>
                          <a:latin typeface="Sora"/>
                        </a:rPr>
                        <a:t>Placements overview</a:t>
                      </a:r>
                    </a:p>
                  </a:txBody>
                  <a:tcPr marL="54864" marR="54864" marT="27432" marB="27432" anchor="ctr">
                    <a:solidFill>
                      <a:srgbClr val="FFFFFF"/>
                    </a:solidFill>
                  </a:tcPr>
                </a:tc>
                <a:tc>
                  <a:txBody>
                    <a:bodyPr/>
                    <a:lstStyle/>
                    <a:p>
                      <a:r>
                        <a:rPr sz="700" b="1">
                          <a:solidFill>
                            <a:srgbClr val="B26B00"/>
                          </a:solidFill>
                          <a:latin typeface="Sora"/>
                        </a:rPr>
                        <a:t>VERIFIED · UNSCOPED</a:t>
                      </a:r>
                    </a:p>
                  </a:txBody>
                  <a:tcPr marL="54864" marR="54864" marT="27432" marB="27432" anchor="ctr">
                    <a:solidFill>
                      <a:srgbClr val="FDF1DC"/>
                    </a:solidFill>
                  </a:tcPr>
                </a:tc>
                <a:tc>
                  <a:txBody>
                    <a:bodyPr/>
                    <a:lstStyle/>
                    <a:p>
                      <a:r>
                        <a:rPr sz="750" b="0">
                          <a:solidFill>
                            <a:srgbClr val="5A6472"/>
                          </a:solidFill>
                          <a:latin typeface="Sora"/>
                        </a:rPr>
                        <a:t>Programme &amp; year not stated</a:t>
                      </a:r>
                    </a:p>
                  </a:txBody>
                  <a:tcPr marL="54864" marR="54864" marT="27432" marB="27432" anchor="ctr">
                    <a:solidFill>
                      <a:srgbClr val="FFFFFF"/>
                    </a:solidFill>
                  </a:tcPr>
                </a:tc>
                <a:tc>
                  <a:txBody>
                    <a:bodyPr/>
                    <a:lstStyle/>
                    <a:p>
                      <a:r>
                        <a:rPr sz="750" b="1">
                          <a:solidFill>
                            <a:srgbClr val="0F2C5C"/>
                          </a:solidFill>
                          <a:latin typeface="Sora"/>
                        </a:rPr>
                        <a:t>Attach programme + year, then show on that programme</a:t>
                      </a:r>
                    </a:p>
                  </a:txBody>
                  <a:tcPr marL="54864" marR="54864" marT="27432" marB="27432" anchor="ctr">
                    <a:solidFill>
                      <a:srgbClr val="FFFFFF"/>
                    </a:solidFill>
                  </a:tcPr>
                </a:tc>
              </a:tr>
              <a:tr h="444730">
                <a:tc>
                  <a:txBody>
                    <a:bodyPr/>
                    <a:lstStyle/>
                    <a:p>
                      <a:r>
                        <a:rPr sz="750" b="0">
                          <a:solidFill>
                            <a:srgbClr val="0F2C5C"/>
                          </a:solidFill>
                          <a:latin typeface="Sora"/>
                        </a:rPr>
                        <a:t>“60 LPA — Highest CTC Offered”</a:t>
                      </a:r>
                    </a:p>
                  </a:txBody>
                  <a:tcPr marL="54864" marR="54864" marT="27432" marB="27432" anchor="ctr">
                    <a:solidFill>
                      <a:srgbClr val="F4F6FA"/>
                    </a:solidFill>
                  </a:tcPr>
                </a:tc>
                <a:tc>
                  <a:txBody>
                    <a:bodyPr/>
                    <a:lstStyle/>
                    <a:p>
                      <a:r>
                        <a:rPr sz="750" b="0">
                          <a:solidFill>
                            <a:srgbClr val="5A6472"/>
                          </a:solidFill>
                          <a:latin typeface="Sora"/>
                        </a:rPr>
                        <a:t>B.Tech CSE page</a:t>
                      </a:r>
                    </a:p>
                  </a:txBody>
                  <a:tcPr marL="54864" marR="54864" marT="27432" marB="27432" anchor="ctr">
                    <a:solidFill>
                      <a:srgbClr val="F4F6FA"/>
                    </a:solidFill>
                  </a:tcPr>
                </a:tc>
                <a:tc>
                  <a:txBody>
                    <a:bodyPr/>
                    <a:lstStyle/>
                    <a:p>
                      <a:r>
                        <a:rPr sz="700" b="1">
                          <a:solidFill>
                            <a:srgbClr val="B26B00"/>
                          </a:solidFill>
                          <a:latin typeface="Sora"/>
                        </a:rPr>
                        <a:t>UNSCOPED</a:t>
                      </a:r>
                    </a:p>
                  </a:txBody>
                  <a:tcPr marL="54864" marR="54864" marT="27432" marB="27432" anchor="ctr">
                    <a:solidFill>
                      <a:srgbClr val="FDF1DC"/>
                    </a:solidFill>
                  </a:tcPr>
                </a:tc>
                <a:tc>
                  <a:txBody>
                    <a:bodyPr/>
                    <a:lstStyle/>
                    <a:p>
                      <a:r>
                        <a:rPr sz="750" b="0">
                          <a:solidFill>
                            <a:srgbClr val="5A6472"/>
                          </a:solidFill>
                          <a:latin typeface="Sora"/>
                        </a:rPr>
                        <a:t>Higher than any named offer on the placements page (40 LPA)</a:t>
                      </a:r>
                    </a:p>
                  </a:txBody>
                  <a:tcPr marL="54864" marR="54864" marT="27432" marB="27432" anchor="ctr">
                    <a:solidFill>
                      <a:srgbClr val="F4F6FA"/>
                    </a:solidFill>
                  </a:tcPr>
                </a:tc>
                <a:tc>
                  <a:txBody>
                    <a:bodyPr/>
                    <a:lstStyle/>
                    <a:p>
                      <a:r>
                        <a:rPr sz="750" b="1">
                          <a:solidFill>
                            <a:srgbClr val="0F2C5C"/>
                          </a:solidFill>
                          <a:latin typeface="Sora"/>
                        </a:rPr>
                        <a:t>Confirm source, year and scope before use</a:t>
                      </a:r>
                    </a:p>
                  </a:txBody>
                  <a:tcPr marL="54864" marR="54864" marT="27432" marB="27432" anchor="ctr">
                    <a:solidFill>
                      <a:srgbClr val="F4F6FA"/>
                    </a:solidFill>
                  </a:tcPr>
                </a:tc>
              </a:tr>
              <a:tr h="444730">
                <a:tc>
                  <a:txBody>
                    <a:bodyPr/>
                    <a:lstStyle/>
                    <a:p>
                      <a:r>
                        <a:rPr sz="750" b="0">
                          <a:solidFill>
                            <a:srgbClr val="0F2C5C"/>
                          </a:solidFill>
                          <a:latin typeface="Sora"/>
                        </a:rPr>
                        <a:t>NIRF: “Ranked 96th · NIRF Rankings 2025” vs “Top 100 in NIRF Rankings 2026”</a:t>
                      </a:r>
                    </a:p>
                  </a:txBody>
                  <a:tcPr marL="54864" marR="54864" marT="27432" marB="27432" anchor="ctr">
                    <a:solidFill>
                      <a:srgbClr val="FFFFFF"/>
                    </a:solidFill>
                  </a:tcPr>
                </a:tc>
                <a:tc>
                  <a:txBody>
                    <a:bodyPr/>
                    <a:lstStyle/>
                    <a:p>
                      <a:r>
                        <a:rPr sz="750" b="0">
                          <a:solidFill>
                            <a:srgbClr val="5A6472"/>
                          </a:solidFill>
                          <a:latin typeface="Sora"/>
                        </a:rPr>
                        <a:t>Homepage banner vs awards page</a:t>
                      </a:r>
                    </a:p>
                  </a:txBody>
                  <a:tcPr marL="54864" marR="54864" marT="27432" marB="27432" anchor="ctr">
                    <a:solidFill>
                      <a:srgbClr val="FFFFFF"/>
                    </a:solidFill>
                  </a:tcPr>
                </a:tc>
                <a:tc>
                  <a:txBody>
                    <a:bodyPr/>
                    <a:lstStyle/>
                    <a:p>
                      <a:r>
                        <a:rPr sz="700" b="1">
                          <a:solidFill>
                            <a:srgbClr val="C8102E"/>
                          </a:solidFill>
                          <a:latin typeface="Sora"/>
                        </a:rPr>
                        <a:t>CONFLICTING</a:t>
                      </a:r>
                    </a:p>
                  </a:txBody>
                  <a:tcPr marL="54864" marR="54864" marT="27432" marB="27432" anchor="ctr">
                    <a:solidFill>
                      <a:srgbClr val="FBE9EC"/>
                    </a:solidFill>
                  </a:tcPr>
                </a:tc>
                <a:tc>
                  <a:txBody>
                    <a:bodyPr/>
                    <a:lstStyle/>
                    <a:p>
                      <a:r>
                        <a:rPr sz="750" b="0">
                          <a:solidFill>
                            <a:srgbClr val="5A6472"/>
                          </a:solidFill>
                          <a:latin typeface="Sora"/>
                        </a:rPr>
                        <a:t>Different years shown side by side</a:t>
                      </a:r>
                    </a:p>
                  </a:txBody>
                  <a:tcPr marL="54864" marR="54864" marT="27432" marB="27432" anchor="ctr">
                    <a:solidFill>
                      <a:srgbClr val="FFFFFF"/>
                    </a:solidFill>
                  </a:tcPr>
                </a:tc>
                <a:tc>
                  <a:txBody>
                    <a:bodyPr/>
                    <a:lstStyle/>
                    <a:p>
                      <a:r>
                        <a:rPr sz="750" b="1">
                          <a:solidFill>
                            <a:srgbClr val="0F2C5C"/>
                          </a:solidFill>
                          <a:latin typeface="Sora"/>
                        </a:rPr>
                        <a:t>Reconcile to the current year</a:t>
                      </a:r>
                    </a:p>
                  </a:txBody>
                  <a:tcPr marL="54864" marR="54864" marT="27432" marB="27432" anchor="ctr">
                    <a:solidFill>
                      <a:srgbClr val="FFFFFF"/>
                    </a:solidFill>
                  </a:tcPr>
                </a:tc>
              </a:tr>
              <a:tr h="444730">
                <a:tc>
                  <a:txBody>
                    <a:bodyPr/>
                    <a:lstStyle/>
                    <a:p>
                      <a:r>
                        <a:rPr sz="750" b="0">
                          <a:solidFill>
                            <a:srgbClr val="0F2C5C"/>
                          </a:solidFill>
                          <a:latin typeface="Sora"/>
                        </a:rPr>
                        <a:t>NAAC A++ (MRIIRS header logo) vs “NAAC A+ Accredited” (MRU prospectus page)</a:t>
                      </a:r>
                    </a:p>
                  </a:txBody>
                  <a:tcPr marL="54864" marR="54864" marT="27432" marB="27432" anchor="ctr">
                    <a:solidFill>
                      <a:srgbClr val="F4F6FA"/>
                    </a:solidFill>
                  </a:tcPr>
                </a:tc>
                <a:tc>
                  <a:txBody>
                    <a:bodyPr/>
                    <a:lstStyle/>
                    <a:p>
                      <a:r>
                        <a:rPr sz="750" b="0">
                          <a:solidFill>
                            <a:srgbClr val="5A6472"/>
                          </a:solidFill>
                          <a:latin typeface="Sora"/>
                        </a:rPr>
                        <a:t>Header vs brochure page</a:t>
                      </a:r>
                    </a:p>
                  </a:txBody>
                  <a:tcPr marL="54864" marR="54864" marT="27432" marB="27432" anchor="ctr">
                    <a:solidFill>
                      <a:srgbClr val="F4F6FA"/>
                    </a:solidFill>
                  </a:tcPr>
                </a:tc>
                <a:tc>
                  <a:txBody>
                    <a:bodyPr/>
                    <a:lstStyle/>
                    <a:p>
                      <a:r>
                        <a:rPr sz="700" b="1">
                          <a:solidFill>
                            <a:srgbClr val="B26B00"/>
                          </a:solidFill>
                          <a:latin typeface="Sora"/>
                        </a:rPr>
                        <a:t>CONFIRM</a:t>
                      </a:r>
                    </a:p>
                  </a:txBody>
                  <a:tcPr marL="54864" marR="54864" marT="27432" marB="27432" anchor="ctr">
                    <a:solidFill>
                      <a:srgbClr val="FDF1DC"/>
                    </a:solidFill>
                  </a:tcPr>
                </a:tc>
                <a:tc>
                  <a:txBody>
                    <a:bodyPr/>
                    <a:lstStyle/>
                    <a:p>
                      <a:r>
                        <a:rPr sz="750" b="0">
                          <a:solidFill>
                            <a:srgbClr val="5A6472"/>
                          </a:solidFill>
                          <a:latin typeface="Sora"/>
                        </a:rPr>
                        <a:t>May be correct per institution</a:t>
                      </a:r>
                    </a:p>
                  </a:txBody>
                  <a:tcPr marL="54864" marR="54864" marT="27432" marB="27432" anchor="ctr">
                    <a:solidFill>
                      <a:srgbClr val="F4F6FA"/>
                    </a:solidFill>
                  </a:tcPr>
                </a:tc>
                <a:tc>
                  <a:txBody>
                    <a:bodyPr/>
                    <a:lstStyle/>
                    <a:p>
                      <a:r>
                        <a:rPr sz="750" b="1">
                          <a:solidFill>
                            <a:srgbClr val="0F2C5C"/>
                          </a:solidFill>
                          <a:latin typeface="Sora"/>
                        </a:rPr>
                        <a:t>State the grade per institution</a:t>
                      </a:r>
                    </a:p>
                  </a:txBody>
                  <a:tcPr marL="54864" marR="54864" marT="27432" marB="27432" anchor="ctr">
                    <a:solidFill>
                      <a:srgbClr val="F4F6FA"/>
                    </a:solidFill>
                  </a:tcPr>
                </a:tc>
              </a:tr>
              <a:tr h="444730">
                <a:tc>
                  <a:txBody>
                    <a:bodyPr/>
                    <a:lstStyle/>
                    <a:p>
                      <a:r>
                        <a:rPr sz="750" b="0">
                          <a:solidFill>
                            <a:srgbClr val="0F2C5C"/>
                          </a:solidFill>
                          <a:latin typeface="Sora"/>
                        </a:rPr>
                        <a:t>“95% Placement Rate”</a:t>
                      </a:r>
                    </a:p>
                  </a:txBody>
                  <a:tcPr marL="54864" marR="54864" marT="27432" marB="27432" anchor="ctr">
                    <a:solidFill>
                      <a:srgbClr val="FFFFFF"/>
                    </a:solidFill>
                  </a:tcPr>
                </a:tc>
                <a:tc>
                  <a:txBody>
                    <a:bodyPr/>
                    <a:lstStyle/>
                    <a:p>
                      <a:r>
                        <a:rPr sz="750" b="0">
                          <a:solidFill>
                            <a:srgbClr val="5A6472"/>
                          </a:solidFill>
                          <a:latin typeface="Sora"/>
                        </a:rPr>
                        <a:t>Brochure page only</a:t>
                      </a:r>
                    </a:p>
                  </a:txBody>
                  <a:tcPr marL="54864" marR="54864" marT="27432" marB="27432" anchor="ctr">
                    <a:solidFill>
                      <a:srgbClr val="FFFFFF"/>
                    </a:solidFill>
                  </a:tcPr>
                </a:tc>
                <a:tc>
                  <a:txBody>
                    <a:bodyPr/>
                    <a:lstStyle/>
                    <a:p>
                      <a:r>
                        <a:rPr sz="700" b="1">
                          <a:solidFill>
                            <a:srgbClr val="C8102E"/>
                          </a:solidFill>
                          <a:latin typeface="Sora"/>
                        </a:rPr>
                        <a:t>NOT FOUND ELSEWHERE</a:t>
                      </a:r>
                    </a:p>
                  </a:txBody>
                  <a:tcPr marL="54864" marR="54864" marT="27432" marB="27432" anchor="ctr">
                    <a:solidFill>
                      <a:srgbClr val="FBE9EC"/>
                    </a:solidFill>
                  </a:tcPr>
                </a:tc>
                <a:tc>
                  <a:txBody>
                    <a:bodyPr/>
                    <a:lstStyle/>
                    <a:p>
                      <a:r>
                        <a:rPr sz="750" b="0">
                          <a:solidFill>
                            <a:srgbClr val="5A6472"/>
                          </a:solidFill>
                          <a:latin typeface="Sora"/>
                        </a:rPr>
                        <a:t>No source on placement pages</a:t>
                      </a:r>
                    </a:p>
                  </a:txBody>
                  <a:tcPr marL="54864" marR="54864" marT="27432" marB="27432" anchor="ctr">
                    <a:solidFill>
                      <a:srgbClr val="FFFFFF"/>
                    </a:solidFill>
                  </a:tcPr>
                </a:tc>
                <a:tc>
                  <a:txBody>
                    <a:bodyPr/>
                    <a:lstStyle/>
                    <a:p>
                      <a:r>
                        <a:rPr sz="750" b="1">
                          <a:solidFill>
                            <a:srgbClr val="0F2C5C"/>
                          </a:solidFill>
                          <a:latin typeface="Sora"/>
                        </a:rPr>
                        <a:t>Do not use until verified</a:t>
                      </a:r>
                    </a:p>
                  </a:txBody>
                  <a:tcPr marL="54864" marR="54864" marT="27432" marB="27432" anchor="ctr">
                    <a:solidFill>
                      <a:srgbClr val="FFFFFF"/>
                    </a:solidFill>
                  </a:tcPr>
                </a:tc>
              </a:tr>
              <a:tr h="444730">
                <a:tc>
                  <a:txBody>
                    <a:bodyPr/>
                    <a:lstStyle/>
                    <a:p>
                      <a:r>
                        <a:rPr sz="750" b="0">
                          <a:solidFill>
                            <a:srgbClr val="0F2C5C"/>
                          </a:solidFill>
                          <a:latin typeface="Sora"/>
                        </a:rPr>
                        <a:t>“Ranked no. 1 for Research and Placement”</a:t>
                      </a:r>
                    </a:p>
                  </a:txBody>
                  <a:tcPr marL="54864" marR="54864" marT="27432" marB="27432" anchor="ctr">
                    <a:solidFill>
                      <a:srgbClr val="F4F6FA"/>
                    </a:solidFill>
                  </a:tcPr>
                </a:tc>
                <a:tc>
                  <a:txBody>
                    <a:bodyPr/>
                    <a:lstStyle/>
                    <a:p>
                      <a:r>
                        <a:rPr sz="750" b="0">
                          <a:solidFill>
                            <a:srgbClr val="5A6472"/>
                          </a:solidFill>
                          <a:latin typeface="Sora"/>
                        </a:rPr>
                        <a:t>/mru</a:t>
                      </a:r>
                    </a:p>
                  </a:txBody>
                  <a:tcPr marL="54864" marR="54864" marT="27432" marB="27432" anchor="ctr">
                    <a:solidFill>
                      <a:srgbClr val="F4F6FA"/>
                    </a:solidFill>
                  </a:tcPr>
                </a:tc>
                <a:tc>
                  <a:txBody>
                    <a:bodyPr/>
                    <a:lstStyle/>
                    <a:p>
                      <a:r>
                        <a:rPr sz="700" b="1">
                          <a:solidFill>
                            <a:srgbClr val="C8102E"/>
                          </a:solidFill>
                          <a:latin typeface="Sora"/>
                        </a:rPr>
                        <a:t>NO SOURCE NAMED</a:t>
                      </a:r>
                    </a:p>
                  </a:txBody>
                  <a:tcPr marL="54864" marR="54864" marT="27432" marB="27432" anchor="ctr">
                    <a:solidFill>
                      <a:srgbClr val="FBE9EC"/>
                    </a:solidFill>
                  </a:tcPr>
                </a:tc>
                <a:tc>
                  <a:txBody>
                    <a:bodyPr/>
                    <a:lstStyle/>
                    <a:p>
                      <a:r>
                        <a:rPr sz="750" b="0">
                          <a:solidFill>
                            <a:srgbClr val="5A6472"/>
                          </a:solidFill>
                          <a:latin typeface="Sora"/>
                        </a:rPr>
                        <a:t>Ranking body not stated</a:t>
                      </a:r>
                    </a:p>
                  </a:txBody>
                  <a:tcPr marL="54864" marR="54864" marT="27432" marB="27432" anchor="ctr">
                    <a:solidFill>
                      <a:srgbClr val="F4F6FA"/>
                    </a:solidFill>
                  </a:tcPr>
                </a:tc>
                <a:tc>
                  <a:txBody>
                    <a:bodyPr/>
                    <a:lstStyle/>
                    <a:p>
                      <a:r>
                        <a:rPr sz="750" b="1">
                          <a:solidFill>
                            <a:srgbClr val="0F2C5C"/>
                          </a:solidFill>
                          <a:latin typeface="Sora"/>
                        </a:rPr>
                        <a:t>Name the source or remove</a:t>
                      </a:r>
                    </a:p>
                  </a:txBody>
                  <a:tcPr marL="54864" marR="54864" marT="27432" marB="27432" anchor="ctr">
                    <a:solidFill>
                      <a:srgbClr val="F4F6FA"/>
                    </a:solidFill>
                  </a:tcPr>
                </a:tc>
              </a:tr>
              <a:tr h="444740">
                <a:tc>
                  <a:txBody>
                    <a:bodyPr/>
                    <a:lstStyle/>
                    <a:p>
                      <a:r>
                        <a:rPr sz="750" b="0">
                          <a:solidFill>
                            <a:srgbClr val="0F2C5C"/>
                          </a:solidFill>
                          <a:latin typeface="Sora"/>
                        </a:rPr>
                        <a:t>Placement % and average package</a:t>
                      </a:r>
                    </a:p>
                  </a:txBody>
                  <a:tcPr marL="54864" marR="54864" marT="27432" marB="27432" anchor="ctr">
                    <a:solidFill>
                      <a:srgbClr val="FFFFFF"/>
                    </a:solidFill>
                  </a:tcPr>
                </a:tc>
                <a:tc>
                  <a:txBody>
                    <a:bodyPr/>
                    <a:lstStyle/>
                    <a:p>
                      <a:r>
                        <a:rPr sz="750" b="0">
                          <a:solidFill>
                            <a:srgbClr val="5A6472"/>
                          </a:solidFill>
                          <a:latin typeface="Sora"/>
                        </a:rPr>
                        <a:t>Placement pages audited</a:t>
                      </a:r>
                    </a:p>
                  </a:txBody>
                  <a:tcPr marL="54864" marR="54864" marT="27432" marB="27432" anchor="ctr">
                    <a:solidFill>
                      <a:srgbClr val="FFFFFF"/>
                    </a:solidFill>
                  </a:tcPr>
                </a:tc>
                <a:tc>
                  <a:txBody>
                    <a:bodyPr/>
                    <a:lstStyle/>
                    <a:p>
                      <a:r>
                        <a:rPr sz="700" b="1">
                          <a:solidFill>
                            <a:srgbClr val="C8102E"/>
                          </a:solidFill>
                          <a:latin typeface="Sora"/>
                        </a:rPr>
                        <a:t>NOT PUBLISHED</a:t>
                      </a:r>
                    </a:p>
                  </a:txBody>
                  <a:tcPr marL="54864" marR="54864" marT="27432" marB="27432" anchor="ctr">
                    <a:solidFill>
                      <a:srgbClr val="FBE9EC"/>
                    </a:solidFill>
                  </a:tcPr>
                </a:tc>
                <a:tc>
                  <a:txBody>
                    <a:bodyPr/>
                    <a:lstStyle/>
                    <a:p>
                      <a:r>
                        <a:rPr sz="750" b="0">
                          <a:solidFill>
                            <a:srgbClr val="5A6472"/>
                          </a:solidFill>
                          <a:latin typeface="Sora"/>
                        </a:rPr>
                        <a:t>Evidence not available</a:t>
                      </a:r>
                    </a:p>
                  </a:txBody>
                  <a:tcPr marL="54864" marR="54864" marT="27432" marB="27432" anchor="ctr">
                    <a:solidFill>
                      <a:srgbClr val="FFFFFF"/>
                    </a:solidFill>
                  </a:tcPr>
                </a:tc>
                <a:tc>
                  <a:txBody>
                    <a:bodyPr/>
                    <a:lstStyle/>
                    <a:p>
                      <a:r>
                        <a:rPr sz="750" b="1">
                          <a:solidFill>
                            <a:srgbClr val="0F2C5C"/>
                          </a:solidFill>
                          <a:latin typeface="Sora"/>
                        </a:rPr>
                        <a:t>Request from MREI placement cell</a:t>
                      </a:r>
                    </a:p>
                  </a:txBody>
                  <a:tcPr marL="54864" marR="54864" marT="27432" marB="27432" anchor="ctr">
                    <a:solidFill>
                      <a:srgbClr val="FFFFFF"/>
                    </a:solidFill>
                  </a:tcPr>
                </a:tc>
              </a:tr>
            </a:tbl>
          </a:graphicData>
        </a:graphic>
      </p:graphicFrame>
      <p:sp>
        <p:nvSpPr>
          <p:cNvPr id="6" name="TextBox 5"/>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Official MREI pages, read 24 Sept 2026 — /mriirs/about/awards-recognitions, /mriirs/placements/overview, /mru/placements/overview, /mru, B.Tech CSE page, /admissions/download-brochure, homepage.</a:t>
            </a:r>
          </a:p>
        </p:txBody>
      </p:sp>
      <p:sp>
        <p:nvSpPr>
          <p:cNvPr id="7" name="Rounded Rectangle 6"/>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39"/>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PROOF SEEKER — CURRENT STATE</a:t>
            </a:r>
            <a:endParaRPr sz="1500"/>
          </a:p>
        </p:txBody>
      </p:sp>
      <p:sp>
        <p:nvSpPr>
          <p:cNvPr id="661" name="Google Shape;661;p39"/>
          <p:cNvSpPr txBox="1"/>
          <p:nvPr/>
        </p:nvSpPr>
        <p:spPr>
          <a:xfrm>
            <a:off x="548640" y="713232"/>
            <a:ext cx="11064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F2C5C"/>
                </a:solidFill>
                <a:latin typeface="Sora"/>
                <a:ea typeface="Sora"/>
                <a:cs typeface="Sora"/>
                <a:sym typeface="Sora"/>
              </a:rPr>
              <a:t>/mriirs/about/awards-recognitions</a:t>
            </a:r>
            <a:endParaRPr sz="1500"/>
          </a:p>
        </p:txBody>
      </p:sp>
      <p:sp>
        <p:nvSpPr>
          <p:cNvPr id="662" name="Google Shape;662;p39"/>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1,500 sessions in 90 days · 67.13% bounce — the weakest Proof Seeker touchpoint on the site</a:t>
            </a:r>
            <a:endParaRPr sz="1500"/>
          </a:p>
        </p:txBody>
      </p:sp>
      <p:pic>
        <p:nvPicPr>
          <p:cNvPr descr="annotated-awards-fold1.png" id="663" name="Google Shape;663;p39"/>
          <p:cNvPicPr preferRelativeResize="0"/>
          <p:nvPr/>
        </p:nvPicPr>
        <p:blipFill rotWithShape="1">
          <a:blip r:embed="rId3">
            <a:alphaModFix/>
          </a:blip>
          <a:srcRect b="0" l="0" r="0" t="0"/>
          <a:stretch/>
        </p:blipFill>
        <p:spPr>
          <a:xfrm>
            <a:off x="548640" y="1600200"/>
            <a:ext cx="2007024" cy="4343405"/>
          </a:xfrm>
          <a:prstGeom prst="rect">
            <a:avLst/>
          </a:prstGeom>
          <a:noFill/>
          <a:ln>
            <a:noFill/>
          </a:ln>
        </p:spPr>
      </p:pic>
      <p:pic>
        <p:nvPicPr>
          <p:cNvPr descr="annotated-awards-fold2.png" id="664" name="Google Shape;664;p39"/>
          <p:cNvPicPr preferRelativeResize="0"/>
          <p:nvPr/>
        </p:nvPicPr>
        <p:blipFill rotWithShape="1">
          <a:blip r:embed="rId4">
            <a:alphaModFix/>
          </a:blip>
          <a:srcRect b="0" l="0" r="0" t="0"/>
          <a:stretch/>
        </p:blipFill>
        <p:spPr>
          <a:xfrm>
            <a:off x="2811693" y="1600200"/>
            <a:ext cx="2007024" cy="4343405"/>
          </a:xfrm>
          <a:prstGeom prst="rect">
            <a:avLst/>
          </a:prstGeom>
          <a:noFill/>
          <a:ln>
            <a:noFill/>
          </a:ln>
        </p:spPr>
      </p:pic>
      <p:sp>
        <p:nvSpPr>
          <p:cNvPr id="665" name="Google Shape;665;p39"/>
          <p:cNvSpPr txBox="1"/>
          <p:nvPr/>
        </p:nvSpPr>
        <p:spPr>
          <a:xfrm>
            <a:off x="548640"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1</a:t>
            </a:r>
            <a:endParaRPr sz="1500"/>
          </a:p>
        </p:txBody>
      </p:sp>
      <p:sp>
        <p:nvSpPr>
          <p:cNvPr id="666" name="Google Shape;666;p39"/>
          <p:cNvSpPr txBox="1"/>
          <p:nvPr/>
        </p:nvSpPr>
        <p:spPr>
          <a:xfrm>
            <a:off x="2811693"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2</a:t>
            </a:r>
            <a:endParaRPr sz="1500"/>
          </a:p>
        </p:txBody>
      </p:sp>
      <p:sp>
        <p:nvSpPr>
          <p:cNvPr id="667" name="Google Shape;667;p39"/>
          <p:cNvSpPr/>
          <p:nvPr/>
        </p:nvSpPr>
        <p:spPr>
          <a:xfrm>
            <a:off x="5184474" y="1600200"/>
            <a:ext cx="6458700" cy="46176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68" name="Google Shape;668;p39"/>
          <p:cNvSpPr/>
          <p:nvPr/>
        </p:nvSpPr>
        <p:spPr>
          <a:xfrm>
            <a:off x="5440506" y="1819656"/>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69" name="Google Shape;669;p39"/>
          <p:cNvSpPr txBox="1"/>
          <p:nvPr/>
        </p:nvSpPr>
        <p:spPr>
          <a:xfrm>
            <a:off x="5440506" y="1819656"/>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1</a:t>
            </a:r>
            <a:endParaRPr sz="1500"/>
          </a:p>
        </p:txBody>
      </p:sp>
      <p:sp>
        <p:nvSpPr>
          <p:cNvPr id="670" name="Google Shape;670;p39"/>
          <p:cNvSpPr txBox="1"/>
          <p:nvPr/>
        </p:nvSpPr>
        <p:spPr>
          <a:xfrm>
            <a:off x="5934282" y="1783080"/>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Real, strong proof content — THE Sustainability Impact Rankings, QS Asia — but presented mainly as certificate images.</a:t>
            </a:r>
            <a:endParaRPr sz="1500"/>
          </a:p>
        </p:txBody>
      </p:sp>
      <p:sp>
        <p:nvSpPr>
          <p:cNvPr id="671" name="Google Shape;671;p39"/>
          <p:cNvSpPr/>
          <p:nvPr/>
        </p:nvSpPr>
        <p:spPr>
          <a:xfrm>
            <a:off x="5440506" y="2715768"/>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72" name="Google Shape;672;p39"/>
          <p:cNvSpPr txBox="1"/>
          <p:nvPr/>
        </p:nvSpPr>
        <p:spPr>
          <a:xfrm>
            <a:off x="5440506" y="2715768"/>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2</a:t>
            </a:r>
            <a:endParaRPr sz="1500"/>
          </a:p>
        </p:txBody>
      </p:sp>
      <p:sp>
        <p:nvSpPr>
          <p:cNvPr id="673" name="Google Shape;673;p39"/>
          <p:cNvSpPr txBox="1"/>
          <p:nvPr/>
        </p:nvSpPr>
        <p:spPr>
          <a:xfrm>
            <a:off x="5934282" y="2679192"/>
            <a:ext cx="54528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The rank and what it covers are not the headline — the certificate is.</a:t>
            </a:r>
            <a:endParaRPr sz="1500"/>
          </a:p>
        </p:txBody>
      </p:sp>
      <p:sp>
        <p:nvSpPr>
          <p:cNvPr id="674" name="Google Shape;674;p39"/>
          <p:cNvSpPr/>
          <p:nvPr/>
        </p:nvSpPr>
        <p:spPr>
          <a:xfrm>
            <a:off x="5440506" y="3611880"/>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75" name="Google Shape;675;p39"/>
          <p:cNvSpPr txBox="1"/>
          <p:nvPr/>
        </p:nvSpPr>
        <p:spPr>
          <a:xfrm>
            <a:off x="5440506" y="3611880"/>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3</a:t>
            </a:r>
            <a:endParaRPr sz="1500"/>
          </a:p>
        </p:txBody>
      </p:sp>
      <p:sp>
        <p:nvSpPr>
          <p:cNvPr id="676" name="Google Shape;676;p39"/>
          <p:cNvSpPr txBox="1"/>
          <p:nvPr/>
        </p:nvSpPr>
        <p:spPr>
          <a:xfrm>
            <a:off x="5934282" y="3575304"/>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Zero links from any award back to a course, school or department page.</a:t>
            </a:r>
            <a:endParaRPr sz="1500"/>
          </a:p>
        </p:txBody>
      </p:sp>
      <p:sp>
        <p:nvSpPr>
          <p:cNvPr id="677" name="Google Shape;677;p39"/>
          <p:cNvSpPr/>
          <p:nvPr/>
        </p:nvSpPr>
        <p:spPr>
          <a:xfrm>
            <a:off x="5440506" y="4507992"/>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78" name="Google Shape;678;p39"/>
          <p:cNvSpPr txBox="1"/>
          <p:nvPr/>
        </p:nvSpPr>
        <p:spPr>
          <a:xfrm>
            <a:off x="5440506" y="4507992"/>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4</a:t>
            </a:r>
            <a:endParaRPr sz="1500"/>
          </a:p>
        </p:txBody>
      </p:sp>
      <p:sp>
        <p:nvSpPr>
          <p:cNvPr id="679" name="Google Shape;679;p39"/>
          <p:cNvSpPr txBox="1"/>
          <p:nvPr/>
        </p:nvSpPr>
        <p:spPr>
          <a:xfrm>
            <a:off x="5934282" y="4471416"/>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Nothing to do here but Apply or Enquire — no bridge to “what this means for me.”</a:t>
            </a:r>
            <a:endParaRPr sz="1500"/>
          </a:p>
        </p:txBody>
      </p:sp>
      <p:sp>
        <p:nvSpPr>
          <p:cNvPr id="680" name="Google Shape;680;p39"/>
          <p:cNvSpPr/>
          <p:nvPr/>
        </p:nvSpPr>
        <p:spPr>
          <a:xfrm>
            <a:off x="5440506" y="5404104"/>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81" name="Google Shape;681;p39"/>
          <p:cNvSpPr txBox="1"/>
          <p:nvPr/>
        </p:nvSpPr>
        <p:spPr>
          <a:xfrm>
            <a:off x="5440506" y="5404104"/>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5</a:t>
            </a:r>
            <a:endParaRPr sz="1500"/>
          </a:p>
        </p:txBody>
      </p:sp>
      <p:sp>
        <p:nvSpPr>
          <p:cNvPr id="682" name="Google Shape;682;p39"/>
          <p:cNvSpPr txBox="1"/>
          <p:nvPr/>
        </p:nvSpPr>
        <p:spPr>
          <a:xfrm>
            <a:off x="5934282" y="5367528"/>
            <a:ext cx="54528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Same generic sticky CTAs and chat overlay as every other template.</a:t>
            </a:r>
            <a:endParaRPr sz="1500"/>
          </a:p>
        </p:txBody>
      </p:sp>
      <p:sp>
        <p:nvSpPr>
          <p:cNvPr id="683" name="Google Shape;683;p39"/>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13 Jun – 10 Sept 2026. Live capture, 390px mobile viewport, 22 Sept 2026.</a:t>
            </a:r>
            <a:endParaRPr sz="1500"/>
          </a:p>
        </p:txBody>
      </p:sp>
      <p:sp>
        <p:nvSpPr>
          <p:cNvPr id="684" name="Rounded Rectangle 683"/>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0"/>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PROOF SEEKER — CURRENT STATE</a:t>
            </a:r>
            <a:endParaRPr sz="1500"/>
          </a:p>
        </p:txBody>
      </p:sp>
      <p:sp>
        <p:nvSpPr>
          <p:cNvPr id="689" name="Google Shape;689;p40"/>
          <p:cNvSpPr txBox="1"/>
          <p:nvPr/>
        </p:nvSpPr>
        <p:spPr>
          <a:xfrm>
            <a:off x="548640" y="713232"/>
            <a:ext cx="11064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F2C5C"/>
                </a:solidFill>
                <a:latin typeface="Sora"/>
                <a:ea typeface="Sora"/>
                <a:cs typeface="Sora"/>
                <a:sym typeface="Sora"/>
              </a:rPr>
              <a:t>/mru/academics/teaching-faculty</a:t>
            </a:r>
            <a:endParaRPr sz="1500"/>
          </a:p>
        </p:txBody>
      </p:sp>
      <p:sp>
        <p:nvSpPr>
          <p:cNvPr id="690" name="Google Shape;690;p40"/>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926 sessions · 78.19% engagement, 21.81% bounce — one of the best-performing pages on the whole site</a:t>
            </a:r>
            <a:endParaRPr sz="1500"/>
          </a:p>
        </p:txBody>
      </p:sp>
      <p:pic>
        <p:nvPicPr>
          <p:cNvPr descr="annotated-faculty-fold1.png" id="691" name="Google Shape;691;p40"/>
          <p:cNvPicPr preferRelativeResize="0"/>
          <p:nvPr/>
        </p:nvPicPr>
        <p:blipFill rotWithShape="1">
          <a:blip r:embed="rId3">
            <a:alphaModFix/>
          </a:blip>
          <a:srcRect b="0" l="0" r="0" t="0"/>
          <a:stretch/>
        </p:blipFill>
        <p:spPr>
          <a:xfrm>
            <a:off x="548640" y="1600200"/>
            <a:ext cx="2007024" cy="4343405"/>
          </a:xfrm>
          <a:prstGeom prst="rect">
            <a:avLst/>
          </a:prstGeom>
          <a:noFill/>
          <a:ln>
            <a:noFill/>
          </a:ln>
        </p:spPr>
      </p:pic>
      <p:pic>
        <p:nvPicPr>
          <p:cNvPr descr="annotated-faculty-fold2.png" id="692" name="Google Shape;692;p40"/>
          <p:cNvPicPr preferRelativeResize="0"/>
          <p:nvPr/>
        </p:nvPicPr>
        <p:blipFill rotWithShape="1">
          <a:blip r:embed="rId4">
            <a:alphaModFix/>
          </a:blip>
          <a:srcRect b="0" l="0" r="0" t="0"/>
          <a:stretch/>
        </p:blipFill>
        <p:spPr>
          <a:xfrm>
            <a:off x="2811693" y="1600200"/>
            <a:ext cx="2007024" cy="4343405"/>
          </a:xfrm>
          <a:prstGeom prst="rect">
            <a:avLst/>
          </a:prstGeom>
          <a:noFill/>
          <a:ln>
            <a:noFill/>
          </a:ln>
        </p:spPr>
      </p:pic>
      <p:sp>
        <p:nvSpPr>
          <p:cNvPr id="693" name="Google Shape;693;p40"/>
          <p:cNvSpPr txBox="1"/>
          <p:nvPr/>
        </p:nvSpPr>
        <p:spPr>
          <a:xfrm>
            <a:off x="548640"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1</a:t>
            </a:r>
            <a:endParaRPr sz="1500"/>
          </a:p>
        </p:txBody>
      </p:sp>
      <p:sp>
        <p:nvSpPr>
          <p:cNvPr id="694" name="Google Shape;694;p40"/>
          <p:cNvSpPr txBox="1"/>
          <p:nvPr/>
        </p:nvSpPr>
        <p:spPr>
          <a:xfrm>
            <a:off x="2811693"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2</a:t>
            </a:r>
            <a:endParaRPr sz="1500"/>
          </a:p>
        </p:txBody>
      </p:sp>
      <p:sp>
        <p:nvSpPr>
          <p:cNvPr id="695" name="Google Shape;695;p40"/>
          <p:cNvSpPr/>
          <p:nvPr/>
        </p:nvSpPr>
        <p:spPr>
          <a:xfrm>
            <a:off x="5184474" y="1600200"/>
            <a:ext cx="6458700" cy="46176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96" name="Google Shape;696;p40"/>
          <p:cNvSpPr/>
          <p:nvPr/>
        </p:nvSpPr>
        <p:spPr>
          <a:xfrm>
            <a:off x="5440506" y="1847088"/>
            <a:ext cx="365700" cy="365700"/>
          </a:xfrm>
          <a:prstGeom prst="ellipse">
            <a:avLst/>
          </a:prstGeom>
          <a:solidFill>
            <a:srgbClr val="1E7B34"/>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97" name="Google Shape;697;p40"/>
          <p:cNvSpPr txBox="1"/>
          <p:nvPr/>
        </p:nvSpPr>
        <p:spPr>
          <a:xfrm>
            <a:off x="5440506" y="1847088"/>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1</a:t>
            </a:r>
            <a:endParaRPr sz="1500"/>
          </a:p>
        </p:txBody>
      </p:sp>
      <p:sp>
        <p:nvSpPr>
          <p:cNvPr id="698" name="Google Shape;698;p40"/>
          <p:cNvSpPr txBox="1"/>
          <p:nvPr/>
        </p:nvSpPr>
        <p:spPr>
          <a:xfrm>
            <a:off x="5934282" y="181051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Filterable directory — School, Department or Name — lets a visitor self-serve straight to their answer.</a:t>
            </a:r>
            <a:endParaRPr sz="1500"/>
          </a:p>
        </p:txBody>
      </p:sp>
      <p:sp>
        <p:nvSpPr>
          <p:cNvPr id="699" name="Google Shape;699;p40"/>
          <p:cNvSpPr/>
          <p:nvPr/>
        </p:nvSpPr>
        <p:spPr>
          <a:xfrm>
            <a:off x="5440506" y="2834640"/>
            <a:ext cx="365700" cy="365700"/>
          </a:xfrm>
          <a:prstGeom prst="ellipse">
            <a:avLst/>
          </a:prstGeom>
          <a:solidFill>
            <a:srgbClr val="1E7B34"/>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00" name="Google Shape;700;p40"/>
          <p:cNvSpPr txBox="1"/>
          <p:nvPr/>
        </p:nvSpPr>
        <p:spPr>
          <a:xfrm>
            <a:off x="5440506" y="2834640"/>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2</a:t>
            </a:r>
            <a:endParaRPr sz="1500"/>
          </a:p>
        </p:txBody>
      </p:sp>
      <p:sp>
        <p:nvSpPr>
          <p:cNvPr id="701" name="Google Shape;701;p40"/>
          <p:cNvSpPr txBox="1"/>
          <p:nvPr/>
        </p:nvSpPr>
        <p:spPr>
          <a:xfrm>
            <a:off x="5934282" y="2798064"/>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Real named faculty: photo, title, department — credibility attached to a person, not a certificate.</a:t>
            </a:r>
            <a:endParaRPr sz="1500"/>
          </a:p>
        </p:txBody>
      </p:sp>
      <p:sp>
        <p:nvSpPr>
          <p:cNvPr id="702" name="Google Shape;702;p40"/>
          <p:cNvSpPr/>
          <p:nvPr/>
        </p:nvSpPr>
        <p:spPr>
          <a:xfrm>
            <a:off x="5440506" y="3822192"/>
            <a:ext cx="365700" cy="365700"/>
          </a:xfrm>
          <a:prstGeom prst="ellipse">
            <a:avLst/>
          </a:prstGeom>
          <a:solidFill>
            <a:srgbClr val="1E7B34"/>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03" name="Google Shape;703;p40"/>
          <p:cNvSpPr txBox="1"/>
          <p:nvPr/>
        </p:nvSpPr>
        <p:spPr>
          <a:xfrm>
            <a:off x="5440506" y="3822192"/>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3</a:t>
            </a:r>
            <a:endParaRPr sz="1500"/>
          </a:p>
        </p:txBody>
      </p:sp>
      <p:sp>
        <p:nvSpPr>
          <p:cNvPr id="704" name="Google Shape;704;p40"/>
          <p:cNvSpPr txBox="1"/>
          <p:nvPr/>
        </p:nvSpPr>
        <p:spPr>
          <a:xfrm>
            <a:off x="5934282" y="3785616"/>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Consistent card grid stays scannable across every scroll — no walls of text.</a:t>
            </a:r>
            <a:endParaRPr sz="1500"/>
          </a:p>
        </p:txBody>
      </p:sp>
      <p:sp>
        <p:nvSpPr>
          <p:cNvPr id="705" name="Google Shape;705;p40"/>
          <p:cNvSpPr/>
          <p:nvPr/>
        </p:nvSpPr>
        <p:spPr>
          <a:xfrm>
            <a:off x="5440506" y="4809744"/>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06" name="Google Shape;706;p40"/>
          <p:cNvSpPr txBox="1"/>
          <p:nvPr/>
        </p:nvSpPr>
        <p:spPr>
          <a:xfrm>
            <a:off x="5440506" y="4809744"/>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4</a:t>
            </a:r>
            <a:endParaRPr sz="1500"/>
          </a:p>
        </p:txBody>
      </p:sp>
      <p:sp>
        <p:nvSpPr>
          <p:cNvPr id="707" name="Google Shape;707;p40"/>
          <p:cNvSpPr txBox="1"/>
          <p:nvPr/>
        </p:nvSpPr>
        <p:spPr>
          <a:xfrm>
            <a:off x="5934282" y="4773168"/>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Still carries the same generic sticky CTAs and chat overlay as the rest of the site.</a:t>
            </a:r>
            <a:endParaRPr sz="1500"/>
          </a:p>
        </p:txBody>
      </p:sp>
      <p:sp>
        <p:nvSpPr>
          <p:cNvPr id="708" name="Google Shape;708;p40"/>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13 Jun – 10 Sept 2026. Live capture, 390px mobile viewport, 22 Sept 2026.</a:t>
            </a:r>
            <a:endParaRPr sz="1500"/>
          </a:p>
        </p:txBody>
      </p:sp>
      <p:sp>
        <p:nvSpPr>
          <p:cNvPr id="709" name="Rounded Rectangle 708"/>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1"/>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WHO LANDS HERE</a:t>
            </a:r>
            <a:endParaRPr sz="1500"/>
          </a:p>
        </p:txBody>
      </p:sp>
      <p:sp>
        <p:nvSpPr>
          <p:cNvPr id="714" name="Google Shape;714;p41"/>
          <p:cNvSpPr txBox="1"/>
          <p:nvPr/>
        </p:nvSpPr>
        <p:spPr>
          <a:xfrm>
            <a:off x="548640" y="713232"/>
            <a:ext cx="110643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F2C5C"/>
                </a:solidFill>
                <a:latin typeface="Sora"/>
                <a:ea typeface="Sora"/>
                <a:cs typeface="Sora"/>
                <a:sym typeface="Sora"/>
              </a:rPr>
              <a:t>The Proof Seeker — well served in one place, abandoned in another</a:t>
            </a:r>
            <a:endParaRPr sz="1500"/>
          </a:p>
        </p:txBody>
      </p:sp>
      <p:sp>
        <p:nvSpPr>
          <p:cNvPr id="715" name="Google Shape;715;p41"/>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“Should I believe what they claim?” — faculty, placements, rankings, campus life</a:t>
            </a:r>
            <a:endParaRPr sz="1500"/>
          </a:p>
        </p:txBody>
      </p:sp>
      <p:sp>
        <p:nvSpPr>
          <p:cNvPr id="716" name="Google Shape;716;p41"/>
          <p:cNvSpPr/>
          <p:nvPr/>
        </p:nvSpPr>
        <p:spPr>
          <a:xfrm>
            <a:off x="548640" y="1645920"/>
            <a:ext cx="3520500" cy="9600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17" name="Google Shape;717;p41"/>
          <p:cNvSpPr txBox="1"/>
          <p:nvPr/>
        </p:nvSpPr>
        <p:spPr>
          <a:xfrm>
            <a:off x="749808" y="1773936"/>
            <a:ext cx="3118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F2C5C"/>
                </a:solidFill>
                <a:latin typeface="Sora"/>
                <a:ea typeface="Sora"/>
                <a:cs typeface="Sora"/>
                <a:sym typeface="Sora"/>
              </a:rPr>
              <a:t>27,579</a:t>
            </a:r>
            <a:endParaRPr sz="1500"/>
          </a:p>
        </p:txBody>
      </p:sp>
      <p:sp>
        <p:nvSpPr>
          <p:cNvPr id="718" name="Google Shape;718;p41"/>
          <p:cNvSpPr txBox="1"/>
          <p:nvPr/>
        </p:nvSpPr>
        <p:spPr>
          <a:xfrm>
            <a:off x="749808" y="2194560"/>
            <a:ext cx="31185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sessions sitewide · 18% of all prospect traffic</a:t>
            </a:r>
            <a:endParaRPr sz="1500"/>
          </a:p>
        </p:txBody>
      </p:sp>
      <p:sp>
        <p:nvSpPr>
          <p:cNvPr id="719" name="Google Shape;719;p41"/>
          <p:cNvSpPr/>
          <p:nvPr/>
        </p:nvSpPr>
        <p:spPr>
          <a:xfrm>
            <a:off x="4251960" y="1645920"/>
            <a:ext cx="3520500" cy="9600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20" name="Google Shape;720;p41"/>
          <p:cNvSpPr txBox="1"/>
          <p:nvPr/>
        </p:nvSpPr>
        <p:spPr>
          <a:xfrm>
            <a:off x="4453128" y="1773936"/>
            <a:ext cx="3118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F2C5C"/>
                </a:solidFill>
                <a:latin typeface="Sora"/>
                <a:ea typeface="Sora"/>
                <a:cs typeface="Sora"/>
                <a:sym typeface="Sora"/>
              </a:rPr>
              <a:t>62.2%</a:t>
            </a:r>
            <a:endParaRPr sz="1500"/>
          </a:p>
        </p:txBody>
      </p:sp>
      <p:sp>
        <p:nvSpPr>
          <p:cNvPr id="721" name="Google Shape;721;p41"/>
          <p:cNvSpPr txBox="1"/>
          <p:nvPr/>
        </p:nvSpPr>
        <p:spPr>
          <a:xfrm>
            <a:off x="4453128" y="2194560"/>
            <a:ext cx="31185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average engagement rate across every Proof Seeker page</a:t>
            </a:r>
            <a:endParaRPr sz="1500"/>
          </a:p>
        </p:txBody>
      </p:sp>
      <p:sp>
        <p:nvSpPr>
          <p:cNvPr id="722" name="Google Shape;722;p41"/>
          <p:cNvSpPr/>
          <p:nvPr/>
        </p:nvSpPr>
        <p:spPr>
          <a:xfrm>
            <a:off x="548640" y="2880360"/>
            <a:ext cx="5349300" cy="18744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23" name="Google Shape;723;p41"/>
          <p:cNvSpPr/>
          <p:nvPr/>
        </p:nvSpPr>
        <p:spPr>
          <a:xfrm>
            <a:off x="4846320" y="3081528"/>
            <a:ext cx="822900" cy="292500"/>
          </a:xfrm>
          <a:prstGeom prst="roundRect">
            <a:avLst>
              <a:gd fmla="val 50000" name="adj"/>
            </a:avLst>
          </a:prstGeom>
          <a:solidFill>
            <a:srgbClr val="C810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24" name="Google Shape;724;p41"/>
          <p:cNvSpPr txBox="1"/>
          <p:nvPr/>
        </p:nvSpPr>
        <p:spPr>
          <a:xfrm>
            <a:off x="4846320" y="3141059"/>
            <a:ext cx="822900"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Sora"/>
                <a:ea typeface="Sora"/>
                <a:cs typeface="Sora"/>
                <a:sym typeface="Sora"/>
              </a:rPr>
              <a:t>WEAK</a:t>
            </a:r>
            <a:endParaRPr sz="1500"/>
          </a:p>
        </p:txBody>
      </p:sp>
      <p:sp>
        <p:nvSpPr>
          <p:cNvPr id="725" name="Google Shape;725;p41"/>
          <p:cNvSpPr txBox="1"/>
          <p:nvPr/>
        </p:nvSpPr>
        <p:spPr>
          <a:xfrm>
            <a:off x="777240" y="3063240"/>
            <a:ext cx="40692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/mriirs/about/awards-recognitions</a:t>
            </a:r>
            <a:endParaRPr sz="1500"/>
          </a:p>
        </p:txBody>
      </p:sp>
      <p:sp>
        <p:nvSpPr>
          <p:cNvPr id="726" name="Google Shape;726;p41"/>
          <p:cNvSpPr txBox="1"/>
          <p:nvPr/>
        </p:nvSpPr>
        <p:spPr>
          <a:xfrm>
            <a:off x="777240" y="3447288"/>
            <a:ext cx="48921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1,500 sessions · 32.87% engagement · 67.13% bounce</a:t>
            </a:r>
            <a:endParaRPr sz="1500"/>
          </a:p>
        </p:txBody>
      </p:sp>
      <p:sp>
        <p:nvSpPr>
          <p:cNvPr id="727" name="Google Shape;727;p41"/>
          <p:cNvSpPr txBox="1"/>
          <p:nvPr/>
        </p:nvSpPr>
        <p:spPr>
          <a:xfrm>
            <a:off x="777240" y="3931920"/>
            <a:ext cx="48921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1" lang="en-US" sz="1200" u="none" cap="none" strike="noStrike">
                <a:solidFill>
                  <a:srgbClr val="C8102E"/>
                </a:solidFill>
                <a:latin typeface="Sora"/>
                <a:ea typeface="Sora"/>
                <a:cs typeface="Sora"/>
                <a:sym typeface="Sora"/>
              </a:rPr>
              <a:t>“~11% move onward; destinations are navigation clicks, only 9 reach fees.”</a:t>
            </a:r>
            <a:endParaRPr sz="1500"/>
          </a:p>
        </p:txBody>
      </p:sp>
      <p:sp>
        <p:nvSpPr>
          <p:cNvPr id="728" name="Google Shape;728;p41"/>
          <p:cNvSpPr/>
          <p:nvPr/>
        </p:nvSpPr>
        <p:spPr>
          <a:xfrm>
            <a:off x="6080760" y="2880360"/>
            <a:ext cx="5349300" cy="18744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29" name="Google Shape;729;p41"/>
          <p:cNvSpPr/>
          <p:nvPr/>
        </p:nvSpPr>
        <p:spPr>
          <a:xfrm>
            <a:off x="10378440" y="3081528"/>
            <a:ext cx="822900" cy="292500"/>
          </a:xfrm>
          <a:prstGeom prst="roundRect">
            <a:avLst>
              <a:gd fmla="val 50000" name="adj"/>
            </a:avLst>
          </a:prstGeom>
          <a:solidFill>
            <a:srgbClr val="1E7B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30" name="Google Shape;730;p41"/>
          <p:cNvSpPr txBox="1"/>
          <p:nvPr/>
        </p:nvSpPr>
        <p:spPr>
          <a:xfrm>
            <a:off x="10378440" y="3141059"/>
            <a:ext cx="822900"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Sora"/>
                <a:ea typeface="Sora"/>
                <a:cs typeface="Sora"/>
                <a:sym typeface="Sora"/>
              </a:rPr>
              <a:t>STRONG</a:t>
            </a:r>
            <a:endParaRPr sz="1500"/>
          </a:p>
        </p:txBody>
      </p:sp>
      <p:sp>
        <p:nvSpPr>
          <p:cNvPr id="731" name="Google Shape;731;p41"/>
          <p:cNvSpPr txBox="1"/>
          <p:nvPr/>
        </p:nvSpPr>
        <p:spPr>
          <a:xfrm>
            <a:off x="6309360" y="3063240"/>
            <a:ext cx="40692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/mru/academics/teaching-faculty</a:t>
            </a:r>
            <a:endParaRPr sz="1500"/>
          </a:p>
        </p:txBody>
      </p:sp>
      <p:sp>
        <p:nvSpPr>
          <p:cNvPr id="732" name="Google Shape;732;p41"/>
          <p:cNvSpPr txBox="1"/>
          <p:nvPr/>
        </p:nvSpPr>
        <p:spPr>
          <a:xfrm>
            <a:off x="6309360" y="3447288"/>
            <a:ext cx="48921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926 sessions · 78.19% engagement · 21.81% bounce</a:t>
            </a:r>
            <a:endParaRPr sz="1500"/>
          </a:p>
        </p:txBody>
      </p:sp>
      <p:sp>
        <p:nvSpPr>
          <p:cNvPr id="733" name="Google Shape;733;p41"/>
          <p:cNvSpPr txBox="1"/>
          <p:nvPr/>
        </p:nvSpPr>
        <p:spPr>
          <a:xfrm>
            <a:off x="6309360" y="3931920"/>
            <a:ext cx="48921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1" lang="en-US" sz="1200" u="none" cap="none" strike="noStrike">
                <a:solidFill>
                  <a:srgbClr val="1E7B34"/>
                </a:solidFill>
                <a:latin typeface="Sora"/>
                <a:ea typeface="Sora"/>
                <a:cs typeface="Sora"/>
                <a:sym typeface="Sora"/>
              </a:rPr>
              <a:t>Outperforms the Proof Seeker average by 16 points of engagement.</a:t>
            </a:r>
            <a:endParaRPr sz="1500"/>
          </a:p>
        </p:txBody>
      </p:sp>
      <p:sp>
        <p:nvSpPr>
          <p:cNvPr id="734" name="Google Shape;734;p41"/>
          <p:cNvSpPr/>
          <p:nvPr/>
        </p:nvSpPr>
        <p:spPr>
          <a:xfrm>
            <a:off x="548640" y="5074920"/>
            <a:ext cx="11091600" cy="1051500"/>
          </a:xfrm>
          <a:prstGeom prst="roundRect">
            <a:avLst>
              <a:gd fmla="val 8000" name="adj"/>
            </a:avLst>
          </a:prstGeom>
          <a:solidFill>
            <a:srgbClr val="0F2C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35" name="Google Shape;735;p41"/>
          <p:cNvSpPr txBox="1"/>
          <p:nvPr/>
        </p:nvSpPr>
        <p:spPr>
          <a:xfrm>
            <a:off x="822960" y="5230368"/>
            <a:ext cx="10515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8095"/>
                </a:solidFill>
                <a:latin typeface="Sora"/>
                <a:ea typeface="Sora"/>
                <a:cs typeface="Sora"/>
                <a:sym typeface="Sora"/>
              </a:rPr>
              <a:t>WHAT THIS MEANS</a:t>
            </a:r>
            <a:endParaRPr sz="1500"/>
          </a:p>
        </p:txBody>
      </p:sp>
      <p:sp>
        <p:nvSpPr>
          <p:cNvPr id="736" name="Google Shape;736;p41"/>
          <p:cNvSpPr txBox="1"/>
          <p:nvPr/>
        </p:nvSpPr>
        <p:spPr>
          <a:xfrm>
            <a:off x="822960" y="5486400"/>
            <a:ext cx="105156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This persona isn't uniformly failing — it's inconsistent. The fix is half replication (do more of what /mru/teaching-faculty already does) and half repair (fix the awards page's dead end).</a:t>
            </a:r>
            <a:endParaRPr sz="1500"/>
          </a:p>
        </p:txBody>
      </p:sp>
      <p:sp>
        <p:nvSpPr>
          <p:cNvPr id="737" name="Google Shape;737;p41"/>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and Pivot — Persona (in scope), 13 Jun – 10 Sept 2026.</a:t>
            </a:r>
            <a:endParaRPr sz="1500"/>
          </a:p>
        </p:txBody>
      </p:sp>
      <p:sp>
        <p:nvSpPr>
          <p:cNvPr id="738" name="Rounded Rectangle 737"/>
          <p:cNvSpPr/>
          <p:nvPr/>
        </p:nvSpPr>
        <p:spPr>
          <a:xfrm>
            <a:off x="10908792" y="41148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42"/>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COMPETITIVE BENCHMARKING</a:t>
            </a:r>
            <a:endParaRPr sz="1500"/>
          </a:p>
        </p:txBody>
      </p:sp>
      <p:sp>
        <p:nvSpPr>
          <p:cNvPr id="743" name="Google Shape;743;p42"/>
          <p:cNvSpPr txBox="1"/>
          <p:nvPr/>
        </p:nvSpPr>
        <p:spPr>
          <a:xfrm>
            <a:off x="548640" y="713232"/>
            <a:ext cx="11064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F2C5C"/>
                </a:solidFill>
                <a:latin typeface="Sora"/>
                <a:ea typeface="Sora"/>
                <a:cs typeface="Sora"/>
                <a:sym typeface="Sora"/>
              </a:rPr>
              <a:t>Two ways competitors make proof feel earned, not printed</a:t>
            </a:r>
            <a:endParaRPr sz="1500"/>
          </a:p>
        </p:txBody>
      </p:sp>
      <p:sp>
        <p:nvSpPr>
          <p:cNvPr id="744" name="Google Shape;744;p42"/>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Observed live and via public faculty profiles</a:t>
            </a:r>
            <a:endParaRPr sz="1500"/>
          </a:p>
        </p:txBody>
      </p:sp>
      <p:sp>
        <p:nvSpPr>
          <p:cNvPr id="745" name="Google Shape;745;p42"/>
          <p:cNvSpPr/>
          <p:nvPr/>
        </p:nvSpPr>
        <p:spPr>
          <a:xfrm>
            <a:off x="548640" y="1691640"/>
            <a:ext cx="5349300" cy="4389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46" name="Google Shape;746;p42"/>
          <p:cNvSpPr/>
          <p:nvPr/>
        </p:nvSpPr>
        <p:spPr>
          <a:xfrm>
            <a:off x="777240"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47" name="Google Shape;747;p42"/>
          <p:cNvSpPr txBox="1"/>
          <p:nvPr/>
        </p:nvSpPr>
        <p:spPr>
          <a:xfrm>
            <a:off x="777240" y="1892808"/>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1</a:t>
            </a:r>
            <a:endParaRPr sz="1500"/>
          </a:p>
        </p:txBody>
      </p:sp>
      <p:sp>
        <p:nvSpPr>
          <p:cNvPr id="748" name="Google Shape;748;p42"/>
          <p:cNvSpPr txBox="1"/>
          <p:nvPr/>
        </p:nvSpPr>
        <p:spPr>
          <a:xfrm>
            <a:off x="1417320" y="1911096"/>
            <a:ext cx="4251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Accreditation as text, not a picture</a:t>
            </a:r>
            <a:endParaRPr sz="1500"/>
          </a:p>
        </p:txBody>
      </p:sp>
      <p:sp>
        <p:nvSpPr>
          <p:cNvPr id="749" name="Google Shape;749;p42"/>
          <p:cNvSpPr txBox="1"/>
          <p:nvPr/>
        </p:nvSpPr>
        <p:spPr>
          <a:xfrm>
            <a:off x="777240" y="2468880"/>
            <a:ext cx="4892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AMITY ONLINE · HOMEPAGE</a:t>
            </a:r>
            <a:endParaRPr sz="1500"/>
          </a:p>
        </p:txBody>
      </p:sp>
      <p:pic>
        <p:nvPicPr>
          <p:cNvPr descr="crop-amity-badges.png" id="750" name="Google Shape;750;p42"/>
          <p:cNvPicPr preferRelativeResize="0"/>
          <p:nvPr/>
        </p:nvPicPr>
        <p:blipFill rotWithShape="1">
          <a:blip r:embed="rId3">
            <a:alphaModFix/>
          </a:blip>
          <a:srcRect b="0" l="0" r="0" t="0"/>
          <a:stretch/>
        </p:blipFill>
        <p:spPr>
          <a:xfrm>
            <a:off x="777240" y="2834640"/>
            <a:ext cx="4892041" cy="439029"/>
          </a:xfrm>
          <a:prstGeom prst="rect">
            <a:avLst/>
          </a:prstGeom>
          <a:noFill/>
          <a:ln>
            <a:noFill/>
          </a:ln>
        </p:spPr>
      </p:pic>
      <p:sp>
        <p:nvSpPr>
          <p:cNvPr id="751" name="Google Shape;751;p42"/>
          <p:cNvSpPr txBox="1"/>
          <p:nvPr/>
        </p:nvSpPr>
        <p:spPr>
          <a:xfrm>
            <a:off x="777240" y="3977640"/>
            <a:ext cx="4892100" cy="5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00" u="none" cap="none" strike="noStrike">
                <a:solidFill>
                  <a:srgbClr val="5A6472"/>
                </a:solidFill>
                <a:latin typeface="Sora"/>
                <a:ea typeface="Sora"/>
                <a:cs typeface="Sora"/>
                <a:sym typeface="Sora"/>
              </a:rPr>
              <a:t>“UGC Entitled” and “Globally Recognized” sit as compact icon + text badges, readable in one glance and indexable by search — not a certificate scan a visitor has to zoom into.</a:t>
            </a:r>
            <a:endParaRPr sz="1500"/>
          </a:p>
        </p:txBody>
      </p:sp>
      <p:sp>
        <p:nvSpPr>
          <p:cNvPr id="752" name="Google Shape;752;p42"/>
          <p:cNvSpPr/>
          <p:nvPr/>
        </p:nvSpPr>
        <p:spPr>
          <a:xfrm>
            <a:off x="6172200" y="1691640"/>
            <a:ext cx="5349300" cy="4389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53" name="Google Shape;753;p42"/>
          <p:cNvSpPr/>
          <p:nvPr/>
        </p:nvSpPr>
        <p:spPr>
          <a:xfrm>
            <a:off x="6400800"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54" name="Google Shape;754;p42"/>
          <p:cNvSpPr txBox="1"/>
          <p:nvPr/>
        </p:nvSpPr>
        <p:spPr>
          <a:xfrm>
            <a:off x="6400800" y="1892808"/>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2</a:t>
            </a:r>
            <a:endParaRPr sz="1500"/>
          </a:p>
        </p:txBody>
      </p:sp>
      <p:sp>
        <p:nvSpPr>
          <p:cNvPr id="755" name="Google Shape;755;p42"/>
          <p:cNvSpPr txBox="1"/>
          <p:nvPr/>
        </p:nvSpPr>
        <p:spPr>
          <a:xfrm>
            <a:off x="7040880" y="1911096"/>
            <a:ext cx="4251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Rankings fused to a named person</a:t>
            </a:r>
            <a:endParaRPr sz="1500"/>
          </a:p>
        </p:txBody>
      </p:sp>
      <p:sp>
        <p:nvSpPr>
          <p:cNvPr id="756" name="Google Shape;756;p42"/>
          <p:cNvSpPr txBox="1"/>
          <p:nvPr/>
        </p:nvSpPr>
        <p:spPr>
          <a:xfrm>
            <a:off x="6400800" y="2468880"/>
            <a:ext cx="4892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BENNETT UNIVERSITY · FACULTY PROFILE</a:t>
            </a:r>
            <a:endParaRPr sz="1500"/>
          </a:p>
        </p:txBody>
      </p:sp>
      <p:pic>
        <p:nvPicPr>
          <p:cNvPr descr="crop-bennett-shankar.png" id="757" name="Google Shape;757;p42"/>
          <p:cNvPicPr preferRelativeResize="0"/>
          <p:nvPr/>
        </p:nvPicPr>
        <p:blipFill rotWithShape="1">
          <a:blip r:embed="rId4">
            <a:alphaModFix/>
          </a:blip>
          <a:srcRect b="0" l="0" r="0" t="0"/>
          <a:stretch/>
        </p:blipFill>
        <p:spPr>
          <a:xfrm>
            <a:off x="6400800" y="2743200"/>
            <a:ext cx="2263275" cy="3071576"/>
          </a:xfrm>
          <a:prstGeom prst="rect">
            <a:avLst/>
          </a:prstGeom>
          <a:noFill/>
          <a:ln>
            <a:noFill/>
          </a:ln>
        </p:spPr>
      </p:pic>
      <p:sp>
        <p:nvSpPr>
          <p:cNvPr id="758" name="Google Shape;758;p42"/>
          <p:cNvSpPr txBox="1"/>
          <p:nvPr/>
        </p:nvSpPr>
        <p:spPr>
          <a:xfrm>
            <a:off x="8847267" y="2834650"/>
            <a:ext cx="2546100" cy="221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00" u="none" cap="none" strike="noStrike">
                <a:solidFill>
                  <a:srgbClr val="5A6472"/>
                </a:solidFill>
                <a:latin typeface="Sora"/>
                <a:ea typeface="Sora"/>
                <a:cs typeface="Sora"/>
                <a:sym typeface="Sora"/>
              </a:rPr>
              <a:t>This professor's own bio leads with “World's Top 2% Scientists, Stanford (2023 &amp; 2024)” — the institutional ranking becomes personal credibility for whoever might teach you.</a:t>
            </a:r>
            <a:endParaRPr sz="1500"/>
          </a:p>
          <a:p>
            <a:pPr indent="0" lvl="0" marL="0" marR="0" rtl="0" algn="l">
              <a:lnSpc>
                <a:spcPct val="110000"/>
              </a:lnSpc>
              <a:spcBef>
                <a:spcPts val="0"/>
              </a:spcBef>
              <a:spcAft>
                <a:spcPts val="0"/>
              </a:spcAft>
              <a:buNone/>
            </a:pPr>
            <a:r>
              <a:t/>
            </a:r>
            <a:endParaRPr b="0" i="0" sz="1200" u="none" cap="none" strike="noStrike">
              <a:solidFill>
                <a:srgbClr val="5A6472"/>
              </a:solidFill>
              <a:latin typeface="Sora"/>
              <a:ea typeface="Sora"/>
              <a:cs typeface="Sora"/>
              <a:sym typeface="Sora"/>
            </a:endParaRPr>
          </a:p>
          <a:p>
            <a:pPr indent="0" lvl="0" marL="0" marR="0" rtl="0" algn="l">
              <a:lnSpc>
                <a:spcPct val="110000"/>
              </a:lnSpc>
              <a:spcBef>
                <a:spcPts val="0"/>
              </a:spcBef>
              <a:spcAft>
                <a:spcPts val="0"/>
              </a:spcAft>
              <a:buNone/>
            </a:pPr>
            <a:r>
              <a:rPr b="0" i="0" lang="en-US" sz="1200" u="none" cap="none" strike="noStrike">
                <a:solidFill>
                  <a:srgbClr val="5A6472"/>
                </a:solidFill>
                <a:latin typeface="Sora"/>
                <a:ea typeface="Sora"/>
                <a:cs typeface="Sora"/>
                <a:sym typeface="Sora"/>
              </a:rPr>
              <a:t>MREI has both halves today (rankings + named faculty) on two different pages that never reference each other.</a:t>
            </a:r>
            <a:endParaRPr sz="1500"/>
          </a:p>
        </p:txBody>
      </p:sp>
      <p:sp>
        <p:nvSpPr>
          <p:cNvPr id="759" name="Google Shape;759;p42"/>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Amity Online homepage, live capture 22 Sept 2026. Bennett University faculty profile, public page, 22 Sept 2026.</a:t>
            </a:r>
            <a:endParaRPr sz="1500"/>
          </a:p>
        </p:txBody>
      </p:sp>
      <p:sp>
        <p:nvSpPr>
          <p:cNvPr id="760" name="Rounded Rectangle 759"/>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C5C"/>
        </a:solidFill>
      </p:bgPr>
    </p:bg>
    <p:spTree>
      <p:nvGrpSpPr>
        <p:cNvPr id="970" name="Shape 970"/>
        <p:cNvGrpSpPr/>
        <p:nvPr/>
      </p:nvGrpSpPr>
      <p:grpSpPr>
        <a:xfrm>
          <a:off x="0" y="0"/>
          <a:ext cx="0" cy="0"/>
          <a:chOff x="0" y="0"/>
          <a:chExt cx="0" cy="0"/>
        </a:xfrm>
      </p:grpSpPr>
      <p:sp>
        <p:nvSpPr>
          <p:cNvPr id="971" name="Google Shape;971;p54"/>
          <p:cNvSpPr txBox="1"/>
          <p:nvPr/>
        </p:nvSpPr>
        <p:spPr>
          <a:xfrm>
            <a:off x="501015" y="3145490"/>
            <a:ext cx="10058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Sora"/>
              <a:buNone/>
            </a:pPr>
            <a:r>
              <a:rPr b="1" lang="en-US" sz="3200">
                <a:solidFill>
                  <a:srgbClr val="FFFFFF"/>
                </a:solidFill>
                <a:latin typeface="Sora"/>
                <a:ea typeface="Sora"/>
                <a:cs typeface="Sora"/>
                <a:sym typeface="Sora"/>
              </a:rPr>
              <a:t>EARLY EXPLORER</a:t>
            </a:r>
            <a:endParaRPr b="1" sz="3200">
              <a:solidFill>
                <a:srgbClr val="FFFFFF"/>
              </a:solidFill>
              <a:latin typeface="Sora"/>
              <a:ea typeface="Sora"/>
              <a:cs typeface="Sora"/>
              <a:sym typeface="Sora"/>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EARLY EXPLORER  ·  WHAT WE KNOW</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Articles answer their own question — then send readers home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“What should I even study after 12th?” — 792 in-scope blog articles</a:t>
            </a:r>
          </a:p>
        </p:txBody>
      </p:sp>
      <p:sp>
        <p:nvSpPr>
          <p:cNvPr id="5" name="TextBox 4"/>
          <p:cNvSpPr txBox="1"/>
          <p:nvPr/>
        </p:nvSpPr>
        <p:spPr>
          <a:xfrm>
            <a:off x="548640" y="1554480"/>
            <a:ext cx="2377440" cy="182880"/>
          </a:xfrm>
          <a:prstGeom prst="rect">
            <a:avLst/>
          </a:prstGeom>
          <a:noFill/>
        </p:spPr>
        <p:txBody>
          <a:bodyPr wrap="square" lIns="0" rIns="0" tIns="0" bIns="0" anchor="t">
            <a:spAutoFit/>
          </a:bodyPr>
          <a:lstStyle/>
          <a:p>
            <a:pPr algn="l"/>
            <a:r>
              <a:rPr sz="800" b="1" i="0">
                <a:solidFill>
                  <a:srgbClr val="96A1B0"/>
                </a:solidFill>
                <a:latin typeface="Sora"/>
              </a:rPr>
              <a:t>METRIC</a:t>
            </a:r>
          </a:p>
        </p:txBody>
      </p:sp>
      <p:sp>
        <p:nvSpPr>
          <p:cNvPr id="6" name="TextBox 5"/>
          <p:cNvSpPr txBox="1"/>
          <p:nvPr/>
        </p:nvSpPr>
        <p:spPr>
          <a:xfrm>
            <a:off x="3154680" y="1554480"/>
            <a:ext cx="4114800" cy="182880"/>
          </a:xfrm>
          <a:prstGeom prst="rect">
            <a:avLst/>
          </a:prstGeom>
          <a:noFill/>
        </p:spPr>
        <p:txBody>
          <a:bodyPr wrap="square" lIns="0" rIns="0" tIns="0" bIns="0" anchor="t">
            <a:spAutoFit/>
          </a:bodyPr>
          <a:lstStyle/>
          <a:p>
            <a:pPr algn="l"/>
            <a:r>
              <a:rPr sz="800" b="1" i="0">
                <a:solidFill>
                  <a:srgbClr val="96A1B0"/>
                </a:solidFill>
                <a:latin typeface="Sora"/>
              </a:rPr>
              <a:t>WHAT USERS DO</a:t>
            </a:r>
          </a:p>
        </p:txBody>
      </p:sp>
      <p:sp>
        <p:nvSpPr>
          <p:cNvPr id="7" name="TextBox 6"/>
          <p:cNvSpPr txBox="1"/>
          <p:nvPr/>
        </p:nvSpPr>
        <p:spPr>
          <a:xfrm>
            <a:off x="7589520" y="1554480"/>
            <a:ext cx="3931920" cy="182880"/>
          </a:xfrm>
          <a:prstGeom prst="rect">
            <a:avLst/>
          </a:prstGeom>
          <a:noFill/>
        </p:spPr>
        <p:txBody>
          <a:bodyPr wrap="square" lIns="0" rIns="0" tIns="0" bIns="0" anchor="t">
            <a:spAutoFit/>
          </a:bodyPr>
          <a:lstStyle/>
          <a:p>
            <a:pPr algn="l"/>
            <a:r>
              <a:rPr sz="800" b="1" i="0">
                <a:solidFill>
                  <a:srgbClr val="96A1B0"/>
                </a:solidFill>
                <a:latin typeface="Sora"/>
              </a:rPr>
              <a:t>SO WHAT THIS TELLS US</a:t>
            </a:r>
          </a:p>
        </p:txBody>
      </p:sp>
      <p:sp>
        <p:nvSpPr>
          <p:cNvPr id="8" name="Rounded Rectangle 7"/>
          <p:cNvSpPr/>
          <p:nvPr/>
        </p:nvSpPr>
        <p:spPr>
          <a:xfrm>
            <a:off x="548640" y="180136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11095"/>
            <a:ext cx="2286000" cy="457200"/>
          </a:xfrm>
          <a:prstGeom prst="rect">
            <a:avLst/>
          </a:prstGeom>
          <a:noFill/>
        </p:spPr>
        <p:txBody>
          <a:bodyPr wrap="square" lIns="0" rIns="0" tIns="0" bIns="0" anchor="t">
            <a:spAutoFit/>
          </a:bodyPr>
          <a:lstStyle/>
          <a:p>
            <a:pPr algn="l"/>
            <a:r>
              <a:rPr sz="2400" b="1" i="0">
                <a:solidFill>
                  <a:srgbClr val="C8102E"/>
                </a:solidFill>
                <a:latin typeface="Sora"/>
              </a:rPr>
              <a:t>35</a:t>
            </a:r>
          </a:p>
        </p:txBody>
      </p:sp>
      <p:sp>
        <p:nvSpPr>
          <p:cNvPr id="10" name="TextBox 9"/>
          <p:cNvSpPr txBox="1"/>
          <p:nvPr/>
        </p:nvSpPr>
        <p:spPr>
          <a:xfrm>
            <a:off x="731520" y="2368296"/>
            <a:ext cx="2240280" cy="365760"/>
          </a:xfrm>
          <a:prstGeom prst="rect">
            <a:avLst/>
          </a:prstGeom>
          <a:noFill/>
        </p:spPr>
        <p:txBody>
          <a:bodyPr wrap="square" lIns="0" rIns="0" tIns="0" bIns="0" anchor="t">
            <a:spAutoFit/>
          </a:bodyPr>
          <a:lstStyle/>
          <a:p>
            <a:pPr algn="l"/>
            <a:r>
              <a:rPr sz="850" b="0" i="0">
                <a:solidFill>
                  <a:srgbClr val="5A6472"/>
                </a:solidFill>
                <a:latin typeface="Sora"/>
              </a:rPr>
              <a:t>of 4,195 readers of the NEET/BPT article reach the BPT course page</a:t>
            </a:r>
          </a:p>
        </p:txBody>
      </p:sp>
      <p:sp>
        <p:nvSpPr>
          <p:cNvPr id="11" name="TextBox 10"/>
          <p:cNvSpPr txBox="1"/>
          <p:nvPr/>
        </p:nvSpPr>
        <p:spPr>
          <a:xfrm>
            <a:off x="3154680" y="1929384"/>
            <a:ext cx="4160520" cy="777240"/>
          </a:xfrm>
          <a:prstGeom prst="rect">
            <a:avLst/>
          </a:prstGeom>
          <a:noFill/>
        </p:spPr>
        <p:txBody>
          <a:bodyPr wrap="square" lIns="0" rIns="0" tIns="0" bIns="0" anchor="t">
            <a:spAutoFit/>
          </a:bodyPr>
          <a:lstStyle/>
          <a:p>
            <a:pPr algn="l"/>
            <a:r>
              <a:rPr sz="1050" b="0" i="0">
                <a:solidFill>
                  <a:srgbClr val="0F2C5C"/>
                </a:solidFill>
                <a:latin typeface="Sora"/>
              </a:rPr>
              <a:t>~4% move onward at all; the top onward destination is the homepage (82).</a:t>
            </a:r>
          </a:p>
        </p:txBody>
      </p:sp>
      <p:sp>
        <p:nvSpPr>
          <p:cNvPr id="12" name="Right Arrow 11"/>
          <p:cNvSpPr/>
          <p:nvPr/>
        </p:nvSpPr>
        <p:spPr>
          <a:xfrm>
            <a:off x="7178040" y="218541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929384"/>
            <a:ext cx="3886200" cy="640080"/>
          </a:xfrm>
          <a:prstGeom prst="rect">
            <a:avLst/>
          </a:prstGeom>
          <a:noFill/>
        </p:spPr>
        <p:txBody>
          <a:bodyPr wrap="square" lIns="0" rIns="0" tIns="0" bIns="0" anchor="t">
            <a:spAutoFit/>
          </a:bodyPr>
          <a:lstStyle/>
          <a:p>
            <a:pPr algn="l"/>
            <a:r>
              <a:rPr sz="1050" b="1" i="0">
                <a:solidFill>
                  <a:srgbClr val="0F2C5C"/>
                </a:solidFill>
                <a:latin typeface="Sora"/>
              </a:rPr>
              <a:t>Informational traffic has no bridge to the programme it describes.</a:t>
            </a:r>
          </a:p>
        </p:txBody>
      </p:sp>
      <p:sp>
        <p:nvSpPr>
          <p:cNvPr id="14" name="Rounded Rectangle 13"/>
          <p:cNvSpPr/>
          <p:nvPr/>
        </p:nvSpPr>
        <p:spPr>
          <a:xfrm>
            <a:off x="10932566" y="2532888"/>
            <a:ext cx="607161"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32566" y="2532888"/>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16" name="Rounded Rectangle 15"/>
          <p:cNvSpPr/>
          <p:nvPr/>
        </p:nvSpPr>
        <p:spPr>
          <a:xfrm>
            <a:off x="548640" y="289864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08376"/>
            <a:ext cx="2286000" cy="457200"/>
          </a:xfrm>
          <a:prstGeom prst="rect">
            <a:avLst/>
          </a:prstGeom>
          <a:noFill/>
        </p:spPr>
        <p:txBody>
          <a:bodyPr wrap="square" lIns="0" rIns="0" tIns="0" bIns="0" anchor="t">
            <a:spAutoFit/>
          </a:bodyPr>
          <a:lstStyle/>
          <a:p>
            <a:pPr algn="l"/>
            <a:r>
              <a:rPr sz="2400" b="1" i="0">
                <a:solidFill>
                  <a:srgbClr val="C8102E"/>
                </a:solidFill>
                <a:latin typeface="Sora"/>
              </a:rPr>
              <a:t>10 : 0–1</a:t>
            </a:r>
          </a:p>
        </p:txBody>
      </p:sp>
      <p:sp>
        <p:nvSpPr>
          <p:cNvPr id="18" name="TextBox 17"/>
          <p:cNvSpPr txBox="1"/>
          <p:nvPr/>
        </p:nvSpPr>
        <p:spPr>
          <a:xfrm>
            <a:off x="731520" y="3465576"/>
            <a:ext cx="2240280" cy="365760"/>
          </a:xfrm>
          <a:prstGeom prst="rect">
            <a:avLst/>
          </a:prstGeom>
          <a:noFill/>
        </p:spPr>
        <p:txBody>
          <a:bodyPr wrap="square" lIns="0" rIns="0" tIns="0" bIns="0" anchor="t">
            <a:spAutoFit/>
          </a:bodyPr>
          <a:lstStyle/>
          <a:p>
            <a:pPr algn="l"/>
            <a:r>
              <a:rPr sz="850" b="0" i="0">
                <a:solidFill>
                  <a:srgbClr val="5A6472"/>
                </a:solidFill>
                <a:latin typeface="Sora"/>
              </a:rPr>
              <a:t>in-body blog links vs programme links, in each of 3 sampled articles</a:t>
            </a:r>
          </a:p>
        </p:txBody>
      </p:sp>
      <p:sp>
        <p:nvSpPr>
          <p:cNvPr id="19" name="TextBox 18"/>
          <p:cNvSpPr txBox="1"/>
          <p:nvPr/>
        </p:nvSpPr>
        <p:spPr>
          <a:xfrm>
            <a:off x="3154680" y="3026664"/>
            <a:ext cx="4160520" cy="777240"/>
          </a:xfrm>
          <a:prstGeom prst="rect">
            <a:avLst/>
          </a:prstGeom>
          <a:noFill/>
        </p:spPr>
        <p:txBody>
          <a:bodyPr wrap="square" lIns="0" rIns="0" tIns="0" bIns="0" anchor="t">
            <a:spAutoFit/>
          </a:bodyPr>
          <a:lstStyle/>
          <a:p>
            <a:pPr algn="l"/>
            <a:r>
              <a:rPr sz="1050" b="0" i="0">
                <a:solidFill>
                  <a:srgbClr val="0F2C5C"/>
                </a:solidFill>
                <a:latin typeface="Sora"/>
              </a:rPr>
              <a:t>Articles link to other articles. The CLAT article links to no law programme.</a:t>
            </a:r>
          </a:p>
        </p:txBody>
      </p:sp>
      <p:sp>
        <p:nvSpPr>
          <p:cNvPr id="20" name="Right Arrow 19"/>
          <p:cNvSpPr/>
          <p:nvPr/>
        </p:nvSpPr>
        <p:spPr>
          <a:xfrm>
            <a:off x="7178040" y="328269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3026664"/>
            <a:ext cx="3886200" cy="640080"/>
          </a:xfrm>
          <a:prstGeom prst="rect">
            <a:avLst/>
          </a:prstGeom>
          <a:noFill/>
        </p:spPr>
        <p:txBody>
          <a:bodyPr wrap="square" lIns="0" rIns="0" tIns="0" bIns="0" anchor="t">
            <a:spAutoFit/>
          </a:bodyPr>
          <a:lstStyle/>
          <a:p>
            <a:pPr algn="l"/>
            <a:r>
              <a:rPr sz="1050" b="1" i="0">
                <a:solidFill>
                  <a:srgbClr val="0F2C5C"/>
                </a:solidFill>
                <a:latin typeface="Sora"/>
              </a:rPr>
              <a:t>The link graph keeps readers in the blog or sends them up to the homepage.</a:t>
            </a:r>
          </a:p>
        </p:txBody>
      </p:sp>
      <p:sp>
        <p:nvSpPr>
          <p:cNvPr id="22" name="Rounded Rectangle 21"/>
          <p:cNvSpPr/>
          <p:nvPr/>
        </p:nvSpPr>
        <p:spPr>
          <a:xfrm>
            <a:off x="11119103" y="3630168"/>
            <a:ext cx="420624"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19103" y="3630168"/>
            <a:ext cx="420624" cy="201168"/>
          </a:xfrm>
          <a:prstGeom prst="rect">
            <a:avLst/>
          </a:prstGeom>
          <a:noFill/>
        </p:spPr>
        <p:txBody>
          <a:bodyPr wrap="square" lIns="0" rIns="0" tIns="0" bIns="0" anchor="ctr">
            <a:spAutoFit/>
          </a:bodyPr>
          <a:lstStyle/>
          <a:p>
            <a:pPr algn="ctr"/>
            <a:r>
              <a:rPr sz="750" b="1" i="0">
                <a:solidFill>
                  <a:srgbClr val="5A6472"/>
                </a:solidFill>
                <a:latin typeface="Sora"/>
              </a:rPr>
              <a:t>AUDIT</a:t>
            </a:r>
          </a:p>
        </p:txBody>
      </p:sp>
      <p:sp>
        <p:nvSpPr>
          <p:cNvPr id="24" name="Rounded Rectangle 23"/>
          <p:cNvSpPr/>
          <p:nvPr/>
        </p:nvSpPr>
        <p:spPr>
          <a:xfrm>
            <a:off x="548640" y="399592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105656"/>
            <a:ext cx="2286000" cy="457200"/>
          </a:xfrm>
          <a:prstGeom prst="rect">
            <a:avLst/>
          </a:prstGeom>
          <a:noFill/>
        </p:spPr>
        <p:txBody>
          <a:bodyPr wrap="square" lIns="0" rIns="0" tIns="0" bIns="0" anchor="t">
            <a:spAutoFit/>
          </a:bodyPr>
          <a:lstStyle/>
          <a:p>
            <a:pPr algn="l"/>
            <a:r>
              <a:rPr sz="2400" b="1" i="0">
                <a:solidFill>
                  <a:srgbClr val="C8102E"/>
                </a:solidFill>
                <a:latin typeface="Sora"/>
              </a:rPr>
              <a:t>0 / 0</a:t>
            </a:r>
          </a:p>
        </p:txBody>
      </p:sp>
      <p:sp>
        <p:nvSpPr>
          <p:cNvPr id="26" name="TextBox 25"/>
          <p:cNvSpPr txBox="1"/>
          <p:nvPr/>
        </p:nvSpPr>
        <p:spPr>
          <a:xfrm>
            <a:off x="731520" y="4562856"/>
            <a:ext cx="2240280" cy="365760"/>
          </a:xfrm>
          <a:prstGeom prst="rect">
            <a:avLst/>
          </a:prstGeom>
          <a:noFill/>
        </p:spPr>
        <p:txBody>
          <a:bodyPr wrap="square" lIns="0" rIns="0" tIns="0" bIns="0" anchor="t">
            <a:spAutoFit/>
          </a:bodyPr>
          <a:lstStyle/>
          <a:p>
            <a:pPr algn="l"/>
            <a:r>
              <a:rPr sz="850" b="0" i="0">
                <a:solidFill>
                  <a:srgbClr val="5A6472"/>
                </a:solidFill>
                <a:latin typeface="Sora"/>
              </a:rPr>
              <a:t>Apply clicks / phone clicks on 32,318 blog-index landings</a:t>
            </a:r>
          </a:p>
        </p:txBody>
      </p:sp>
      <p:sp>
        <p:nvSpPr>
          <p:cNvPr id="27" name="TextBox 26"/>
          <p:cNvSpPr txBox="1"/>
          <p:nvPr/>
        </p:nvSpPr>
        <p:spPr>
          <a:xfrm>
            <a:off x="3154680" y="4123944"/>
            <a:ext cx="4160520" cy="777240"/>
          </a:xfrm>
          <a:prstGeom prst="rect">
            <a:avLst/>
          </a:prstGeom>
          <a:noFill/>
        </p:spPr>
        <p:txBody>
          <a:bodyPr wrap="square" lIns="0" rIns="0" tIns="0" bIns="0" anchor="t">
            <a:spAutoFit/>
          </a:bodyPr>
          <a:lstStyle/>
          <a:p>
            <a:pPr algn="l"/>
            <a:r>
              <a:rPr sz="1050" b="0" i="0">
                <a:solidFill>
                  <a:srgbClr val="0F2C5C"/>
                </a:solidFill>
                <a:latin typeface="Sora"/>
              </a:rPr>
              <a:t>21 form submits and no other intent action on this page type.</a:t>
            </a:r>
          </a:p>
        </p:txBody>
      </p:sp>
      <p:sp>
        <p:nvSpPr>
          <p:cNvPr id="28" name="Right Arrow 27"/>
          <p:cNvSpPr/>
          <p:nvPr/>
        </p:nvSpPr>
        <p:spPr>
          <a:xfrm>
            <a:off x="7178040" y="437997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4123944"/>
            <a:ext cx="3886200" cy="640080"/>
          </a:xfrm>
          <a:prstGeom prst="rect">
            <a:avLst/>
          </a:prstGeom>
          <a:noFill/>
        </p:spPr>
        <p:txBody>
          <a:bodyPr wrap="square" lIns="0" rIns="0" tIns="0" bIns="0" anchor="t">
            <a:spAutoFit/>
          </a:bodyPr>
          <a:lstStyle/>
          <a:p>
            <a:pPr algn="l"/>
            <a:r>
              <a:rPr sz="1050" b="1" i="0">
                <a:solidFill>
                  <a:srgbClr val="0F2C5C"/>
                </a:solidFill>
                <a:latin typeface="Sora"/>
              </a:rPr>
              <a:t>This template produces no intent signal at all today.</a:t>
            </a:r>
          </a:p>
        </p:txBody>
      </p:sp>
      <p:sp>
        <p:nvSpPr>
          <p:cNvPr id="30" name="Rounded Rectangle 29"/>
          <p:cNvSpPr/>
          <p:nvPr/>
        </p:nvSpPr>
        <p:spPr>
          <a:xfrm>
            <a:off x="11243462" y="4727448"/>
            <a:ext cx="296265"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43462" y="4727448"/>
            <a:ext cx="296265" cy="201168"/>
          </a:xfrm>
          <a:prstGeom prst="rect">
            <a:avLst/>
          </a:prstGeom>
          <a:noFill/>
        </p:spPr>
        <p:txBody>
          <a:bodyPr wrap="square" lIns="0" rIns="0" tIns="0" bIns="0" anchor="ctr">
            <a:spAutoFit/>
          </a:bodyPr>
          <a:lstStyle/>
          <a:p>
            <a:pPr algn="ctr"/>
            <a:r>
              <a:rPr sz="750" b="1" i="0">
                <a:solidFill>
                  <a:srgbClr val="C8102E"/>
                </a:solidFill>
                <a:latin typeface="Sora"/>
              </a:rPr>
              <a:t>CSV</a:t>
            </a:r>
          </a:p>
        </p:txBody>
      </p:sp>
      <p:sp>
        <p:nvSpPr>
          <p:cNvPr id="32" name="Rounded Rectangle 31"/>
          <p:cNvSpPr/>
          <p:nvPr/>
        </p:nvSpPr>
        <p:spPr>
          <a:xfrm>
            <a:off x="548640" y="509320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02936"/>
            <a:ext cx="2286000" cy="457200"/>
          </a:xfrm>
          <a:prstGeom prst="rect">
            <a:avLst/>
          </a:prstGeom>
          <a:noFill/>
        </p:spPr>
        <p:txBody>
          <a:bodyPr wrap="square" lIns="0" rIns="0" tIns="0" bIns="0" anchor="t">
            <a:spAutoFit/>
          </a:bodyPr>
          <a:lstStyle/>
          <a:p>
            <a:pPr algn="l"/>
            <a:r>
              <a:rPr sz="2400" b="1" i="0">
                <a:solidFill>
                  <a:srgbClr val="C8102E"/>
                </a:solidFill>
                <a:latin typeface="Sora"/>
              </a:rPr>
              <a:t>42</a:t>
            </a:r>
          </a:p>
        </p:txBody>
      </p:sp>
      <p:sp>
        <p:nvSpPr>
          <p:cNvPr id="34" name="TextBox 33"/>
          <p:cNvSpPr txBox="1"/>
          <p:nvPr/>
        </p:nvSpPr>
        <p:spPr>
          <a:xfrm>
            <a:off x="731520" y="5660136"/>
            <a:ext cx="2240280" cy="365760"/>
          </a:xfrm>
          <a:prstGeom prst="rect">
            <a:avLst/>
          </a:prstGeom>
          <a:noFill/>
        </p:spPr>
        <p:txBody>
          <a:bodyPr wrap="square" lIns="0" rIns="0" tIns="0" bIns="0" anchor="t">
            <a:spAutoFit/>
          </a:bodyPr>
          <a:lstStyle/>
          <a:p>
            <a:pPr algn="l"/>
            <a:r>
              <a:rPr sz="850" b="0" i="0">
                <a:solidFill>
                  <a:srgbClr val="5A6472"/>
                </a:solidFill>
                <a:latin typeface="Sora"/>
              </a:rPr>
              <a:t>90%-scroll events on 32,318 blog-index landings</a:t>
            </a:r>
          </a:p>
        </p:txBody>
      </p:sp>
      <p:sp>
        <p:nvSpPr>
          <p:cNvPr id="35" name="TextBox 34"/>
          <p:cNvSpPr txBox="1"/>
          <p:nvPr/>
        </p:nvSpPr>
        <p:spPr>
          <a:xfrm>
            <a:off x="3154680" y="5221224"/>
            <a:ext cx="4160520" cy="777240"/>
          </a:xfrm>
          <a:prstGeom prst="rect">
            <a:avLst/>
          </a:prstGeom>
          <a:noFill/>
        </p:spPr>
        <p:txBody>
          <a:bodyPr wrap="square" lIns="0" rIns="0" tIns="0" bIns="0" anchor="t">
            <a:spAutoFit/>
          </a:bodyPr>
          <a:lstStyle/>
          <a:p>
            <a:pPr algn="l"/>
            <a:r>
              <a:rPr sz="1050" b="0" i="0">
                <a:solidFill>
                  <a:srgbClr val="0F2C5C"/>
                </a:solidFill>
                <a:latin typeface="Sora"/>
              </a:rPr>
              <a:t>Implausibly low scroll for a content page — the deck already flags /blog as “Review”.</a:t>
            </a:r>
          </a:p>
        </p:txBody>
      </p:sp>
      <p:sp>
        <p:nvSpPr>
          <p:cNvPr id="36" name="Right Arrow 35"/>
          <p:cNvSpPr/>
          <p:nvPr/>
        </p:nvSpPr>
        <p:spPr>
          <a:xfrm>
            <a:off x="7178040" y="547725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0" y="5221224"/>
            <a:ext cx="3886200" cy="640080"/>
          </a:xfrm>
          <a:prstGeom prst="rect">
            <a:avLst/>
          </a:prstGeom>
          <a:noFill/>
        </p:spPr>
        <p:txBody>
          <a:bodyPr wrap="square" lIns="0" rIns="0" tIns="0" bIns="0" anchor="t">
            <a:spAutoFit/>
          </a:bodyPr>
          <a:lstStyle/>
          <a:p>
            <a:pPr algn="l"/>
            <a:r>
              <a:rPr sz="1050" b="1" i="0">
                <a:solidFill>
                  <a:srgbClr val="0F2C5C"/>
                </a:solidFill>
                <a:latin typeface="Sora"/>
              </a:rPr>
              <a:t>Validate traffic quality and tracking before optimising this template.</a:t>
            </a:r>
          </a:p>
        </p:txBody>
      </p:sp>
      <p:sp>
        <p:nvSpPr>
          <p:cNvPr id="38" name="Rounded Rectangle 37"/>
          <p:cNvSpPr/>
          <p:nvPr/>
        </p:nvSpPr>
        <p:spPr>
          <a:xfrm>
            <a:off x="11243462" y="5824728"/>
            <a:ext cx="296265"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243462" y="5824728"/>
            <a:ext cx="296265" cy="201168"/>
          </a:xfrm>
          <a:prstGeom prst="rect">
            <a:avLst/>
          </a:prstGeom>
          <a:noFill/>
        </p:spPr>
        <p:txBody>
          <a:bodyPr wrap="square" lIns="0" rIns="0" tIns="0" bIns="0" anchor="ctr">
            <a:spAutoFit/>
          </a:bodyPr>
          <a:lstStyle/>
          <a:p>
            <a:pPr algn="ctr"/>
            <a:r>
              <a:rPr sz="750" b="1" i="0">
                <a:solidFill>
                  <a:srgbClr val="C8102E"/>
                </a:solidFill>
                <a:latin typeface="Sora"/>
              </a:rPr>
              <a:t>CSV</a:t>
            </a:r>
          </a:p>
        </p:txBody>
      </p:sp>
      <p:sp>
        <p:nvSpPr>
          <p:cNvPr id="40" name="TextBox 39"/>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Live site audit, 24 Sept 2026 (articles: best-mba-specialisations, clat-registration…, mat-exam-pattern…) · GA4 event export by page type (event counts; separate pull, not directly comparable).</a:t>
            </a:r>
          </a:p>
        </p:txBody>
      </p:sp>
      <p:sp>
        <p:nvSpPr>
          <p:cNvPr id="41" name="Rounded Rectangle 40"/>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EARLY EXPLORER  ·  PAGE PATH</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Read the article, then go home — not to the programme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Page path from the blog article “Is NEET Compulsory for BPT Admission 2026?”</a:t>
            </a:r>
          </a:p>
        </p:txBody>
      </p:sp>
      <p:sp>
        <p:nvSpPr>
          <p:cNvPr id="5" name="Rounded Rectangle 4"/>
          <p:cNvSpPr/>
          <p:nvPr/>
        </p:nvSpPr>
        <p:spPr>
          <a:xfrm>
            <a:off x="548640" y="1554480"/>
            <a:ext cx="2423160" cy="141732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64207"/>
            <a:ext cx="2148840" cy="182880"/>
          </a:xfrm>
          <a:prstGeom prst="rect">
            <a:avLst/>
          </a:prstGeom>
          <a:noFill/>
        </p:spPr>
        <p:txBody>
          <a:bodyPr wrap="square" lIns="0" rIns="0" tIns="0" bIns="0" anchor="t">
            <a:spAutoFit/>
          </a:bodyPr>
          <a:lstStyle/>
          <a:p>
            <a:pPr algn="l"/>
            <a:r>
              <a:rPr sz="850" b="1" i="0">
                <a:solidFill>
                  <a:srgbClr val="CADCFC"/>
                </a:solidFill>
                <a:latin typeface="Sora"/>
              </a:rPr>
              <a:t>LAND</a:t>
            </a:r>
          </a:p>
        </p:txBody>
      </p:sp>
      <p:sp>
        <p:nvSpPr>
          <p:cNvPr id="7" name="TextBox 6"/>
          <p:cNvSpPr txBox="1"/>
          <p:nvPr/>
        </p:nvSpPr>
        <p:spPr>
          <a:xfrm>
            <a:off x="685800" y="1856231"/>
            <a:ext cx="2148840" cy="228600"/>
          </a:xfrm>
          <a:prstGeom prst="rect">
            <a:avLst/>
          </a:prstGeom>
          <a:noFill/>
        </p:spPr>
        <p:txBody>
          <a:bodyPr wrap="square" lIns="0" rIns="0" tIns="0" bIns="0" anchor="t">
            <a:spAutoFit/>
          </a:bodyPr>
          <a:lstStyle/>
          <a:p>
            <a:pPr algn="l"/>
            <a:r>
              <a:rPr sz="950" b="1" i="0">
                <a:solidFill>
                  <a:srgbClr val="FFFFFF"/>
                </a:solidFill>
                <a:latin typeface="Sora"/>
              </a:rPr>
              <a:t>NEET / BPT article</a:t>
            </a:r>
          </a:p>
        </p:txBody>
      </p:sp>
      <p:sp>
        <p:nvSpPr>
          <p:cNvPr id="8" name="TextBox 7"/>
          <p:cNvSpPr txBox="1"/>
          <p:nvPr/>
        </p:nvSpPr>
        <p:spPr>
          <a:xfrm>
            <a:off x="685800" y="2084831"/>
            <a:ext cx="2148840" cy="457200"/>
          </a:xfrm>
          <a:prstGeom prst="rect">
            <a:avLst/>
          </a:prstGeom>
          <a:noFill/>
        </p:spPr>
        <p:txBody>
          <a:bodyPr wrap="square" lIns="0" rIns="0" tIns="0" bIns="0" anchor="t">
            <a:spAutoFit/>
          </a:bodyPr>
          <a:lstStyle/>
          <a:p>
            <a:pPr algn="l"/>
            <a:r>
              <a:rPr sz="2600" b="1" i="0">
                <a:solidFill>
                  <a:srgbClr val="FFFFFF"/>
                </a:solidFill>
                <a:latin typeface="Sora"/>
              </a:rPr>
              <a:t>4,195</a:t>
            </a:r>
          </a:p>
        </p:txBody>
      </p:sp>
      <p:sp>
        <p:nvSpPr>
          <p:cNvPr id="9" name="TextBox 8"/>
          <p:cNvSpPr txBox="1"/>
          <p:nvPr/>
        </p:nvSpPr>
        <p:spPr>
          <a:xfrm>
            <a:off x="685800" y="2532888"/>
            <a:ext cx="2148840" cy="411480"/>
          </a:xfrm>
          <a:prstGeom prst="rect">
            <a:avLst/>
          </a:prstGeom>
          <a:noFill/>
        </p:spPr>
        <p:txBody>
          <a:bodyPr wrap="square" lIns="0" rIns="0" tIns="0" bIns="0" anchor="t">
            <a:spAutoFit/>
          </a:bodyPr>
          <a:lstStyle/>
          <a:p>
            <a:pPr algn="l"/>
            <a:r>
              <a:rPr sz="850" b="0" i="0">
                <a:solidFill>
                  <a:srgbClr val="FFFFFF"/>
                </a:solidFill>
                <a:latin typeface="Sora"/>
              </a:rPr>
              <a:t>sessions</a:t>
            </a:r>
          </a:p>
        </p:txBody>
      </p:sp>
      <p:sp>
        <p:nvSpPr>
          <p:cNvPr id="10" name="Right Arrow 9"/>
          <p:cNvSpPr/>
          <p:nvPr/>
        </p:nvSpPr>
        <p:spPr>
          <a:xfrm>
            <a:off x="304495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554480"/>
            <a:ext cx="2423160" cy="141732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MOVE ON</a:t>
            </a:r>
          </a:p>
        </p:txBody>
      </p:sp>
      <p:sp>
        <p:nvSpPr>
          <p:cNvPr id="13" name="TextBox 12"/>
          <p:cNvSpPr txBox="1"/>
          <p:nvPr/>
        </p:nvSpPr>
        <p:spPr>
          <a:xfrm>
            <a:off x="356616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Any second page</a:t>
            </a:r>
          </a:p>
        </p:txBody>
      </p:sp>
      <p:sp>
        <p:nvSpPr>
          <p:cNvPr id="14" name="TextBox 13"/>
          <p:cNvSpPr txBox="1"/>
          <p:nvPr/>
        </p:nvSpPr>
        <p:spPr>
          <a:xfrm>
            <a:off x="3566160" y="2084831"/>
            <a:ext cx="2148840" cy="457200"/>
          </a:xfrm>
          <a:prstGeom prst="rect">
            <a:avLst/>
          </a:prstGeom>
          <a:noFill/>
        </p:spPr>
        <p:txBody>
          <a:bodyPr wrap="square" lIns="0" rIns="0" tIns="0" bIns="0" anchor="t">
            <a:spAutoFit/>
          </a:bodyPr>
          <a:lstStyle/>
          <a:p>
            <a:pPr algn="l"/>
            <a:r>
              <a:rPr sz="2600" b="1" i="0">
                <a:solidFill>
                  <a:srgbClr val="C8102E"/>
                </a:solidFill>
                <a:latin typeface="Sora"/>
              </a:rPr>
              <a:t>~4%</a:t>
            </a:r>
          </a:p>
        </p:txBody>
      </p:sp>
      <p:sp>
        <p:nvSpPr>
          <p:cNvPr id="15" name="TextBox 14"/>
          <p:cNvSpPr txBox="1"/>
          <p:nvPr/>
        </p:nvSpPr>
        <p:spPr>
          <a:xfrm>
            <a:off x="356616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move onward at all</a:t>
            </a:r>
          </a:p>
        </p:txBody>
      </p:sp>
      <p:sp>
        <p:nvSpPr>
          <p:cNvPr id="16" name="Right Arrow 15"/>
          <p:cNvSpPr/>
          <p:nvPr/>
        </p:nvSpPr>
        <p:spPr>
          <a:xfrm>
            <a:off x="592531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59" y="1554480"/>
            <a:ext cx="2423160" cy="1417320"/>
          </a:xfrm>
          <a:prstGeom prst="roundRect">
            <a:avLst>
              <a:gd name="adj" fmla="val 6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TOP DESTINATION</a:t>
            </a:r>
          </a:p>
        </p:txBody>
      </p:sp>
      <p:sp>
        <p:nvSpPr>
          <p:cNvPr id="19" name="TextBox 18"/>
          <p:cNvSpPr txBox="1"/>
          <p:nvPr/>
        </p:nvSpPr>
        <p:spPr>
          <a:xfrm>
            <a:off x="644652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Homepage</a:t>
            </a:r>
          </a:p>
        </p:txBody>
      </p:sp>
      <p:sp>
        <p:nvSpPr>
          <p:cNvPr id="20" name="TextBox 19"/>
          <p:cNvSpPr txBox="1"/>
          <p:nvPr/>
        </p:nvSpPr>
        <p:spPr>
          <a:xfrm>
            <a:off x="6446520" y="2084831"/>
            <a:ext cx="2148840" cy="457200"/>
          </a:xfrm>
          <a:prstGeom prst="rect">
            <a:avLst/>
          </a:prstGeom>
          <a:noFill/>
        </p:spPr>
        <p:txBody>
          <a:bodyPr wrap="square" lIns="0" rIns="0" tIns="0" bIns="0" anchor="t">
            <a:spAutoFit/>
          </a:bodyPr>
          <a:lstStyle/>
          <a:p>
            <a:pPr algn="l"/>
            <a:r>
              <a:rPr sz="2600" b="1" i="0">
                <a:solidFill>
                  <a:srgbClr val="0F2C5C"/>
                </a:solidFill>
                <a:latin typeface="Sora"/>
              </a:rPr>
              <a:t>82</a:t>
            </a:r>
          </a:p>
        </p:txBody>
      </p:sp>
      <p:sp>
        <p:nvSpPr>
          <p:cNvPr id="21" name="TextBox 20"/>
          <p:cNvSpPr txBox="1"/>
          <p:nvPr/>
        </p:nvSpPr>
        <p:spPr>
          <a:xfrm>
            <a:off x="644652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moves to the homepage</a:t>
            </a:r>
          </a:p>
        </p:txBody>
      </p:sp>
      <p:sp>
        <p:nvSpPr>
          <p:cNvPr id="22" name="Right Arrow 21"/>
          <p:cNvSpPr/>
          <p:nvPr/>
        </p:nvSpPr>
        <p:spPr>
          <a:xfrm>
            <a:off x="8805672" y="2125980"/>
            <a:ext cx="310896" cy="27432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89719" y="1554480"/>
            <a:ext cx="2423160" cy="141732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664207"/>
            <a:ext cx="2148840" cy="182880"/>
          </a:xfrm>
          <a:prstGeom prst="rect">
            <a:avLst/>
          </a:prstGeom>
          <a:noFill/>
        </p:spPr>
        <p:txBody>
          <a:bodyPr wrap="square" lIns="0" rIns="0" tIns="0" bIns="0" anchor="t">
            <a:spAutoFit/>
          </a:bodyPr>
          <a:lstStyle/>
          <a:p>
            <a:pPr algn="l"/>
            <a:r>
              <a:rPr sz="850" b="1" i="0">
                <a:solidFill>
                  <a:srgbClr val="C8102E"/>
                </a:solidFill>
                <a:latin typeface="Sora"/>
              </a:rPr>
              <a:t>PROGRAMME</a:t>
            </a:r>
          </a:p>
        </p:txBody>
      </p:sp>
      <p:sp>
        <p:nvSpPr>
          <p:cNvPr id="25" name="TextBox 24"/>
          <p:cNvSpPr txBox="1"/>
          <p:nvPr/>
        </p:nvSpPr>
        <p:spPr>
          <a:xfrm>
            <a:off x="9326880" y="1856231"/>
            <a:ext cx="2148840" cy="228600"/>
          </a:xfrm>
          <a:prstGeom prst="rect">
            <a:avLst/>
          </a:prstGeom>
          <a:noFill/>
        </p:spPr>
        <p:txBody>
          <a:bodyPr wrap="square" lIns="0" rIns="0" tIns="0" bIns="0" anchor="t">
            <a:spAutoFit/>
          </a:bodyPr>
          <a:lstStyle/>
          <a:p>
            <a:pPr algn="l"/>
            <a:r>
              <a:rPr sz="950" b="1" i="0">
                <a:solidFill>
                  <a:srgbClr val="5A6472"/>
                </a:solidFill>
                <a:latin typeface="Sora"/>
              </a:rPr>
              <a:t>BPT course page</a:t>
            </a:r>
          </a:p>
        </p:txBody>
      </p:sp>
      <p:sp>
        <p:nvSpPr>
          <p:cNvPr id="26" name="TextBox 25"/>
          <p:cNvSpPr txBox="1"/>
          <p:nvPr/>
        </p:nvSpPr>
        <p:spPr>
          <a:xfrm>
            <a:off x="9326880" y="2084831"/>
            <a:ext cx="2148840" cy="457200"/>
          </a:xfrm>
          <a:prstGeom prst="rect">
            <a:avLst/>
          </a:prstGeom>
          <a:noFill/>
        </p:spPr>
        <p:txBody>
          <a:bodyPr wrap="square" lIns="0" rIns="0" tIns="0" bIns="0" anchor="t">
            <a:spAutoFit/>
          </a:bodyPr>
          <a:lstStyle/>
          <a:p>
            <a:pPr algn="l"/>
            <a:r>
              <a:rPr sz="2600" b="1" i="0">
                <a:solidFill>
                  <a:srgbClr val="C8102E"/>
                </a:solidFill>
                <a:latin typeface="Sora"/>
              </a:rPr>
              <a:t>35</a:t>
            </a:r>
          </a:p>
        </p:txBody>
      </p:sp>
      <p:sp>
        <p:nvSpPr>
          <p:cNvPr id="27" name="TextBox 26"/>
          <p:cNvSpPr txBox="1"/>
          <p:nvPr/>
        </p:nvSpPr>
        <p:spPr>
          <a:xfrm>
            <a:off x="9326880" y="2532888"/>
            <a:ext cx="2148840" cy="411480"/>
          </a:xfrm>
          <a:prstGeom prst="rect">
            <a:avLst/>
          </a:prstGeom>
          <a:noFill/>
        </p:spPr>
        <p:txBody>
          <a:bodyPr wrap="square" lIns="0" rIns="0" tIns="0" bIns="0" anchor="t">
            <a:spAutoFit/>
          </a:bodyPr>
          <a:lstStyle/>
          <a:p>
            <a:pPr algn="l"/>
            <a:r>
              <a:rPr sz="850" b="0" i="0">
                <a:solidFill>
                  <a:srgbClr val="5A6472"/>
                </a:solidFill>
                <a:latin typeface="Sora"/>
              </a:rPr>
              <a:t>readers ever reach it</a:t>
            </a:r>
          </a:p>
        </p:txBody>
      </p:sp>
      <p:sp>
        <p:nvSpPr>
          <p:cNvPr id="28" name="Rounded Rectangle 27"/>
          <p:cNvSpPr/>
          <p:nvPr/>
        </p:nvSpPr>
        <p:spPr>
          <a:xfrm>
            <a:off x="548640" y="3154680"/>
            <a:ext cx="544068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246120"/>
            <a:ext cx="5166360" cy="182880"/>
          </a:xfrm>
          <a:prstGeom prst="rect">
            <a:avLst/>
          </a:prstGeom>
          <a:noFill/>
        </p:spPr>
        <p:txBody>
          <a:bodyPr wrap="square" lIns="0" rIns="0" tIns="0" bIns="0" anchor="t">
            <a:spAutoFit/>
          </a:bodyPr>
          <a:lstStyle/>
          <a:p>
            <a:pPr algn="l"/>
            <a:r>
              <a:rPr sz="800" b="1" i="0">
                <a:solidFill>
                  <a:srgbClr val="C8102E"/>
                </a:solidFill>
                <a:latin typeface="Sora"/>
              </a:rPr>
              <a:t>LINK GRAPH (3 ARTICLES SAMPLED)</a:t>
            </a:r>
          </a:p>
        </p:txBody>
      </p:sp>
      <p:sp>
        <p:nvSpPr>
          <p:cNvPr id="30" name="TextBox 29"/>
          <p:cNvSpPr txBox="1"/>
          <p:nvPr/>
        </p:nvSpPr>
        <p:spPr>
          <a:xfrm>
            <a:off x="685800" y="3465576"/>
            <a:ext cx="5166360" cy="978407"/>
          </a:xfrm>
          <a:prstGeom prst="rect">
            <a:avLst/>
          </a:prstGeom>
          <a:noFill/>
        </p:spPr>
        <p:txBody>
          <a:bodyPr wrap="square" lIns="0" rIns="0" tIns="0" bIns="0" anchor="t">
            <a:spAutoFit/>
          </a:bodyPr>
          <a:lstStyle/>
          <a:p>
            <a:pPr algn="l"/>
            <a:r>
              <a:rPr sz="1050" b="0" i="0">
                <a:solidFill>
                  <a:srgbClr val="0F2C5C"/>
                </a:solidFill>
                <a:latin typeface="Sora"/>
              </a:rPr>
              <a:t>Each article: ~10 in-body links to other blog posts, 0–1 to a programme page. “Also Read” exists — it never points to a course.</a:t>
            </a:r>
          </a:p>
        </p:txBody>
      </p:sp>
      <p:sp>
        <p:nvSpPr>
          <p:cNvPr id="31" name="Rounded Rectangle 30"/>
          <p:cNvSpPr/>
          <p:nvPr/>
        </p:nvSpPr>
        <p:spPr>
          <a:xfrm>
            <a:off x="5477256" y="3227832"/>
            <a:ext cx="420624"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77256" y="3227832"/>
            <a:ext cx="420624" cy="201168"/>
          </a:xfrm>
          <a:prstGeom prst="rect">
            <a:avLst/>
          </a:prstGeom>
          <a:noFill/>
        </p:spPr>
        <p:txBody>
          <a:bodyPr wrap="square" lIns="0" rIns="0" tIns="0" bIns="0" anchor="ctr">
            <a:spAutoFit/>
          </a:bodyPr>
          <a:lstStyle/>
          <a:p>
            <a:pPr algn="ctr"/>
            <a:r>
              <a:rPr sz="750" b="1" i="0">
                <a:solidFill>
                  <a:srgbClr val="5A6472"/>
                </a:solidFill>
                <a:latin typeface="Sora"/>
              </a:rPr>
              <a:t>AUDIT</a:t>
            </a:r>
          </a:p>
        </p:txBody>
      </p:sp>
      <p:sp>
        <p:nvSpPr>
          <p:cNvPr id="33" name="Rounded Rectangle 32"/>
          <p:cNvSpPr/>
          <p:nvPr/>
        </p:nvSpPr>
        <p:spPr>
          <a:xfrm>
            <a:off x="6172200" y="3154680"/>
            <a:ext cx="5440680" cy="1325880"/>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246120"/>
            <a:ext cx="5166360" cy="182880"/>
          </a:xfrm>
          <a:prstGeom prst="rect">
            <a:avLst/>
          </a:prstGeom>
          <a:noFill/>
        </p:spPr>
        <p:txBody>
          <a:bodyPr wrap="square" lIns="0" rIns="0" tIns="0" bIns="0" anchor="t">
            <a:spAutoFit/>
          </a:bodyPr>
          <a:lstStyle/>
          <a:p>
            <a:pPr algn="l"/>
            <a:r>
              <a:rPr sz="800" b="1" i="0">
                <a:solidFill>
                  <a:srgbClr val="C8102E"/>
                </a:solidFill>
                <a:latin typeface="Sora"/>
              </a:rPr>
              <a:t>BLOG TEMPLATE EVENTS</a:t>
            </a:r>
          </a:p>
        </p:txBody>
      </p:sp>
      <p:sp>
        <p:nvSpPr>
          <p:cNvPr id="35" name="TextBox 34"/>
          <p:cNvSpPr txBox="1"/>
          <p:nvPr/>
        </p:nvSpPr>
        <p:spPr>
          <a:xfrm>
            <a:off x="6309360" y="3465576"/>
            <a:ext cx="5166360" cy="978407"/>
          </a:xfrm>
          <a:prstGeom prst="rect">
            <a:avLst/>
          </a:prstGeom>
          <a:noFill/>
        </p:spPr>
        <p:txBody>
          <a:bodyPr wrap="square" lIns="0" rIns="0" tIns="0" bIns="0" anchor="t">
            <a:spAutoFit/>
          </a:bodyPr>
          <a:lstStyle/>
          <a:p>
            <a:pPr algn="l"/>
            <a:r>
              <a:rPr sz="1050" b="0" i="0">
                <a:solidFill>
                  <a:srgbClr val="0F2C5C"/>
                </a:solidFill>
                <a:latin typeface="Sora"/>
              </a:rPr>
              <a:t>32,318 blog-index landings → 0 Apply · 0 phone · 22 form_start · 21 form_submit · 42 scroll events.</a:t>
            </a:r>
          </a:p>
        </p:txBody>
      </p:sp>
      <p:sp>
        <p:nvSpPr>
          <p:cNvPr id="36" name="Rounded Rectangle 35"/>
          <p:cNvSpPr/>
          <p:nvPr/>
        </p:nvSpPr>
        <p:spPr>
          <a:xfrm>
            <a:off x="11225174" y="3227832"/>
            <a:ext cx="296265"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25174" y="3227832"/>
            <a:ext cx="296265" cy="201168"/>
          </a:xfrm>
          <a:prstGeom prst="rect">
            <a:avLst/>
          </a:prstGeom>
          <a:noFill/>
        </p:spPr>
        <p:txBody>
          <a:bodyPr wrap="square" lIns="0" rIns="0" tIns="0" bIns="0" anchor="ctr">
            <a:spAutoFit/>
          </a:bodyPr>
          <a:lstStyle/>
          <a:p>
            <a:pPr algn="ctr"/>
            <a:r>
              <a:rPr sz="750" b="1" i="0">
                <a:solidFill>
                  <a:srgbClr val="5A6472"/>
                </a:solidFill>
                <a:latin typeface="Sora"/>
              </a:rPr>
              <a:t>CSV</a:t>
            </a:r>
          </a:p>
        </p:txBody>
      </p:sp>
      <p:sp>
        <p:nvSpPr>
          <p:cNvPr id="38" name="Rounded Rectangle 37"/>
          <p:cNvSpPr/>
          <p:nvPr/>
        </p:nvSpPr>
        <p:spPr>
          <a:xfrm>
            <a:off x="548640" y="4645152"/>
            <a:ext cx="3566160" cy="16916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782312"/>
            <a:ext cx="3200400" cy="182880"/>
          </a:xfrm>
          <a:prstGeom prst="rect">
            <a:avLst/>
          </a:prstGeom>
          <a:noFill/>
        </p:spPr>
        <p:txBody>
          <a:bodyPr wrap="square" lIns="0" rIns="0" tIns="0" bIns="0" anchor="t">
            <a:spAutoFit/>
          </a:bodyPr>
          <a:lstStyle/>
          <a:p>
            <a:pPr algn="l"/>
            <a:r>
              <a:rPr sz="850" b="1" i="0">
                <a:solidFill>
                  <a:srgbClr val="C8102E"/>
                </a:solidFill>
                <a:latin typeface="Sora"/>
              </a:rPr>
              <a:t>INTERPRETATION</a:t>
            </a:r>
          </a:p>
        </p:txBody>
      </p:sp>
      <p:sp>
        <p:nvSpPr>
          <p:cNvPr id="40" name="TextBox 39"/>
          <p:cNvSpPr txBox="1"/>
          <p:nvPr/>
        </p:nvSpPr>
        <p:spPr>
          <a:xfrm>
            <a:off x="731520" y="5029200"/>
            <a:ext cx="3200400" cy="1234440"/>
          </a:xfrm>
          <a:prstGeom prst="rect">
            <a:avLst/>
          </a:prstGeom>
          <a:noFill/>
        </p:spPr>
        <p:txBody>
          <a:bodyPr wrap="square" lIns="0" rIns="0" tIns="0" bIns="0" anchor="t">
            <a:spAutoFit/>
          </a:bodyPr>
          <a:lstStyle/>
          <a:p>
            <a:pPr algn="l"/>
            <a:r>
              <a:rPr sz="1000" b="0" i="0">
                <a:solidFill>
                  <a:srgbClr val="0F2C5C"/>
                </a:solidFill>
                <a:latin typeface="Sora"/>
              </a:rPr>
              <a:t>The article does its job — it answers the exam question — and then offers only more articles. The readers who move on go to the homepage and start over.</a:t>
            </a:r>
          </a:p>
        </p:txBody>
      </p:sp>
      <p:sp>
        <p:nvSpPr>
          <p:cNvPr id="41" name="Rounded Rectangle 40"/>
          <p:cNvSpPr/>
          <p:nvPr/>
        </p:nvSpPr>
        <p:spPr>
          <a:xfrm>
            <a:off x="4297680" y="4645152"/>
            <a:ext cx="3566160" cy="169164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0560" y="4782312"/>
            <a:ext cx="3200400" cy="182880"/>
          </a:xfrm>
          <a:prstGeom prst="rect">
            <a:avLst/>
          </a:prstGeom>
          <a:noFill/>
        </p:spPr>
        <p:txBody>
          <a:bodyPr wrap="square" lIns="0" rIns="0" tIns="0" bIns="0" anchor="t">
            <a:spAutoFit/>
          </a:bodyPr>
          <a:lstStyle/>
          <a:p>
            <a:pPr algn="l"/>
            <a:r>
              <a:rPr sz="850" b="1" i="0">
                <a:solidFill>
                  <a:srgbClr val="CADCFC"/>
                </a:solidFill>
                <a:latin typeface="Sora"/>
              </a:rPr>
              <a:t>CRO QUESTION</a:t>
            </a:r>
          </a:p>
        </p:txBody>
      </p:sp>
      <p:sp>
        <p:nvSpPr>
          <p:cNvPr id="43" name="TextBox 42"/>
          <p:cNvSpPr txBox="1"/>
          <p:nvPr/>
        </p:nvSpPr>
        <p:spPr>
          <a:xfrm>
            <a:off x="4480560" y="5029200"/>
            <a:ext cx="3200400" cy="1234440"/>
          </a:xfrm>
          <a:prstGeom prst="rect">
            <a:avLst/>
          </a:prstGeom>
          <a:noFill/>
        </p:spPr>
        <p:txBody>
          <a:bodyPr wrap="square" lIns="0" rIns="0" tIns="0" bIns="0" anchor="t">
            <a:spAutoFit/>
          </a:bodyPr>
          <a:lstStyle/>
          <a:p>
            <a:pPr algn="l"/>
            <a:r>
              <a:rPr sz="1250" b="1" i="0">
                <a:solidFill>
                  <a:srgbClr val="FFFFFF"/>
                </a:solidFill>
                <a:latin typeface="Sora"/>
              </a:rPr>
              <a:t>Why does informational traffic rarely progress to the programme it describes?</a:t>
            </a:r>
          </a:p>
        </p:txBody>
      </p:sp>
      <p:sp>
        <p:nvSpPr>
          <p:cNvPr id="44" name="Rounded Rectangle 43"/>
          <p:cNvSpPr/>
          <p:nvPr/>
        </p:nvSpPr>
        <p:spPr>
          <a:xfrm>
            <a:off x="8046719" y="4645152"/>
            <a:ext cx="3566160" cy="1691640"/>
          </a:xfrm>
          <a:prstGeom prst="roundRect">
            <a:avLst>
              <a:gd name="adj" fmla="val 6000"/>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0" y="4782312"/>
            <a:ext cx="3200400" cy="182880"/>
          </a:xfrm>
          <a:prstGeom prst="rect">
            <a:avLst/>
          </a:prstGeom>
          <a:noFill/>
        </p:spPr>
        <p:txBody>
          <a:bodyPr wrap="square" lIns="0" rIns="0" tIns="0" bIns="0" anchor="t">
            <a:spAutoFit/>
          </a:bodyPr>
          <a:lstStyle/>
          <a:p>
            <a:pPr algn="l"/>
            <a:r>
              <a:rPr sz="850" b="1" i="0">
                <a:solidFill>
                  <a:srgbClr val="C8102E"/>
                </a:solidFill>
                <a:latin typeface="Sora"/>
              </a:rPr>
              <a:t>OPPORTUNITY</a:t>
            </a:r>
          </a:p>
        </p:txBody>
      </p:sp>
      <p:sp>
        <p:nvSpPr>
          <p:cNvPr id="46" name="TextBox 45"/>
          <p:cNvSpPr txBox="1"/>
          <p:nvPr/>
        </p:nvSpPr>
        <p:spPr>
          <a:xfrm>
            <a:off x="8229600" y="5029200"/>
            <a:ext cx="3200400" cy="1234440"/>
          </a:xfrm>
          <a:prstGeom prst="rect">
            <a:avLst/>
          </a:prstGeom>
          <a:noFill/>
        </p:spPr>
        <p:txBody>
          <a:bodyPr wrap="square" lIns="0" rIns="0" tIns="0" bIns="0" anchor="t">
            <a:spAutoFit/>
          </a:bodyPr>
          <a:lstStyle/>
          <a:p>
            <a:pPr algn="l"/>
            <a:r>
              <a:rPr sz="1050" b="0" i="0">
                <a:solidFill>
                  <a:srgbClr val="0F2C5C"/>
                </a:solidFill>
                <a:latin typeface="Sora"/>
              </a:rPr>
              <a:t>A programme-link rule for every course or exam mention, and an end-of-article card for the matching MRIIRS / MRU programme.</a:t>
            </a:r>
          </a:p>
        </p:txBody>
      </p:sp>
      <p:sp>
        <p:nvSpPr>
          <p:cNvPr id="47" name="TextBox 46"/>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Live site audit, 24 Sept 2026 · GA4 event export by page type (event counts; separate pull, not directly comparable).</a:t>
            </a:r>
          </a:p>
        </p:txBody>
      </p:sp>
      <p:sp>
        <p:nvSpPr>
          <p:cNvPr id="48" name="Rounded Rectangle 47"/>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55"/>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EARLY EXPLORER — CURRENT STATE</a:t>
            </a:r>
            <a:endParaRPr sz="1500"/>
          </a:p>
        </p:txBody>
      </p:sp>
      <p:sp>
        <p:nvSpPr>
          <p:cNvPr id="977" name="Google Shape;977;p55"/>
          <p:cNvSpPr txBox="1"/>
          <p:nvPr/>
        </p:nvSpPr>
        <p:spPr>
          <a:xfrm>
            <a:off x="548640" y="713232"/>
            <a:ext cx="110643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F2C5C"/>
                </a:solidFill>
                <a:latin typeface="Sora"/>
                <a:ea typeface="Sora"/>
                <a:cs typeface="Sora"/>
                <a:sym typeface="Sora"/>
              </a:rPr>
              <a:t>“Is NEET Compulsory for BPT Admission 2026?”</a:t>
            </a:r>
            <a:endParaRPr sz="1500"/>
          </a:p>
        </p:txBody>
      </p:sp>
      <p:sp>
        <p:nvSpPr>
          <p:cNvPr id="978" name="Google Shape;978;p55"/>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4,195 sessions · only 35 readers ever reach the BPT course page</a:t>
            </a:r>
            <a:endParaRPr sz="1500"/>
          </a:p>
        </p:txBody>
      </p:sp>
      <p:pic>
        <p:nvPicPr>
          <p:cNvPr descr="annotated-neet-bpt-fold1.png" id="979" name="Google Shape;979;p55"/>
          <p:cNvPicPr preferRelativeResize="0"/>
          <p:nvPr/>
        </p:nvPicPr>
        <p:blipFill rotWithShape="1">
          <a:blip r:embed="rId3">
            <a:alphaModFix/>
          </a:blip>
          <a:srcRect b="0" l="0" r="0" t="0"/>
          <a:stretch/>
        </p:blipFill>
        <p:spPr>
          <a:xfrm>
            <a:off x="548640" y="1600200"/>
            <a:ext cx="2007024" cy="4343405"/>
          </a:xfrm>
          <a:prstGeom prst="rect">
            <a:avLst/>
          </a:prstGeom>
          <a:noFill/>
          <a:ln>
            <a:noFill/>
          </a:ln>
        </p:spPr>
      </p:pic>
      <p:pic>
        <p:nvPicPr>
          <p:cNvPr descr="annotated-neet-bpt-fold2.png" id="980" name="Google Shape;980;p55"/>
          <p:cNvPicPr preferRelativeResize="0"/>
          <p:nvPr/>
        </p:nvPicPr>
        <p:blipFill rotWithShape="1">
          <a:blip r:embed="rId4">
            <a:alphaModFix/>
          </a:blip>
          <a:srcRect b="0" l="0" r="0" t="0"/>
          <a:stretch/>
        </p:blipFill>
        <p:spPr>
          <a:xfrm>
            <a:off x="2811693" y="1600200"/>
            <a:ext cx="2007024" cy="4343405"/>
          </a:xfrm>
          <a:prstGeom prst="rect">
            <a:avLst/>
          </a:prstGeom>
          <a:noFill/>
          <a:ln>
            <a:noFill/>
          </a:ln>
        </p:spPr>
      </p:pic>
      <p:sp>
        <p:nvSpPr>
          <p:cNvPr id="981" name="Google Shape;981;p55"/>
          <p:cNvSpPr txBox="1"/>
          <p:nvPr/>
        </p:nvSpPr>
        <p:spPr>
          <a:xfrm>
            <a:off x="548640"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1</a:t>
            </a:r>
            <a:endParaRPr sz="1500"/>
          </a:p>
        </p:txBody>
      </p:sp>
      <p:sp>
        <p:nvSpPr>
          <p:cNvPr id="982" name="Google Shape;982;p55"/>
          <p:cNvSpPr txBox="1"/>
          <p:nvPr/>
        </p:nvSpPr>
        <p:spPr>
          <a:xfrm>
            <a:off x="2811693"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2</a:t>
            </a:r>
            <a:endParaRPr sz="1500"/>
          </a:p>
        </p:txBody>
      </p:sp>
      <p:sp>
        <p:nvSpPr>
          <p:cNvPr id="983" name="Google Shape;983;p55"/>
          <p:cNvSpPr/>
          <p:nvPr/>
        </p:nvSpPr>
        <p:spPr>
          <a:xfrm>
            <a:off x="5184474" y="1600200"/>
            <a:ext cx="6458700" cy="46176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84" name="Google Shape;984;p55"/>
          <p:cNvSpPr/>
          <p:nvPr/>
        </p:nvSpPr>
        <p:spPr>
          <a:xfrm>
            <a:off x="5440506" y="1847088"/>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85" name="Google Shape;985;p55"/>
          <p:cNvSpPr txBox="1"/>
          <p:nvPr/>
        </p:nvSpPr>
        <p:spPr>
          <a:xfrm>
            <a:off x="5440506" y="1926463"/>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1</a:t>
            </a:r>
            <a:endParaRPr sz="1500"/>
          </a:p>
        </p:txBody>
      </p:sp>
      <p:sp>
        <p:nvSpPr>
          <p:cNvPr id="986" name="Google Shape;986;p55"/>
          <p:cNvSpPr txBox="1"/>
          <p:nvPr/>
        </p:nvSpPr>
        <p:spPr>
          <a:xfrm>
            <a:off x="5934282" y="181051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1,300+ words on NEET rules and BPT curriculum — genuinely useful, well-researched content.</a:t>
            </a:r>
            <a:endParaRPr sz="1500"/>
          </a:p>
        </p:txBody>
      </p:sp>
      <p:sp>
        <p:nvSpPr>
          <p:cNvPr id="987" name="Google Shape;987;p55"/>
          <p:cNvSpPr/>
          <p:nvPr/>
        </p:nvSpPr>
        <p:spPr>
          <a:xfrm>
            <a:off x="5440506" y="2898648"/>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88" name="Google Shape;988;p55"/>
          <p:cNvSpPr txBox="1"/>
          <p:nvPr/>
        </p:nvSpPr>
        <p:spPr>
          <a:xfrm>
            <a:off x="5440506" y="2978023"/>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2</a:t>
            </a:r>
            <a:endParaRPr sz="1500"/>
          </a:p>
        </p:txBody>
      </p:sp>
      <p:sp>
        <p:nvSpPr>
          <p:cNvPr id="989" name="Google Shape;989;p55"/>
          <p:cNvSpPr txBox="1"/>
          <p:nvPr/>
        </p:nvSpPr>
        <p:spPr>
          <a:xfrm>
            <a:off x="5934282" y="286207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Not one mention of MREI's own BPT programme, anywhere in the article.</a:t>
            </a:r>
            <a:endParaRPr sz="1500"/>
          </a:p>
        </p:txBody>
      </p:sp>
      <p:sp>
        <p:nvSpPr>
          <p:cNvPr id="990" name="Google Shape;990;p55"/>
          <p:cNvSpPr/>
          <p:nvPr/>
        </p:nvSpPr>
        <p:spPr>
          <a:xfrm>
            <a:off x="5440506" y="3950208"/>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91" name="Google Shape;991;p55"/>
          <p:cNvSpPr txBox="1"/>
          <p:nvPr/>
        </p:nvSpPr>
        <p:spPr>
          <a:xfrm>
            <a:off x="5440506" y="4029583"/>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3</a:t>
            </a:r>
            <a:endParaRPr sz="1500"/>
          </a:p>
        </p:txBody>
      </p:sp>
      <p:sp>
        <p:nvSpPr>
          <p:cNvPr id="992" name="Google Shape;992;p55"/>
          <p:cNvSpPr txBox="1"/>
          <p:nvPr/>
        </p:nvSpPr>
        <p:spPr>
          <a:xfrm>
            <a:off x="5934282" y="391363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“~4% move onward; top destination is the homepage (82); only 35 of 4,195 reach the BPT course page.”</a:t>
            </a:r>
            <a:endParaRPr sz="1500"/>
          </a:p>
        </p:txBody>
      </p:sp>
      <p:sp>
        <p:nvSpPr>
          <p:cNvPr id="993" name="Google Shape;993;p55"/>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and Path Exploration, 13 Jun – 10 Sept 2026. Live capture, 22 Sept 2026.</a:t>
            </a:r>
            <a:endParaRPr sz="1500"/>
          </a:p>
        </p:txBody>
      </p:sp>
      <p:sp>
        <p:nvSpPr>
          <p:cNvPr id="994" name="Rounded Rectangle 993"/>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56"/>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EARLY EXPLORER — CURRENT STATE</a:t>
            </a:r>
            <a:endParaRPr sz="1500"/>
          </a:p>
        </p:txBody>
      </p:sp>
      <p:sp>
        <p:nvSpPr>
          <p:cNvPr id="999" name="Google Shape;999;p56"/>
          <p:cNvSpPr txBox="1"/>
          <p:nvPr/>
        </p:nvSpPr>
        <p:spPr>
          <a:xfrm>
            <a:off x="548640" y="713232"/>
            <a:ext cx="11064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F2C5C"/>
                </a:solidFill>
                <a:latin typeface="Sora"/>
                <a:ea typeface="Sora"/>
                <a:cs typeface="Sora"/>
                <a:sym typeface="Sora"/>
              </a:rPr>
              <a:t>“Best Career Options After BDS?”</a:t>
            </a:r>
            <a:endParaRPr sz="1500"/>
          </a:p>
        </p:txBody>
      </p:sp>
      <p:sp>
        <p:nvSpPr>
          <p:cNvPr id="1000" name="Google Shape;1000;p56"/>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1,220 sessions · the site already builds in-content links — just not to a course</a:t>
            </a:r>
            <a:endParaRPr sz="1500"/>
          </a:p>
        </p:txBody>
      </p:sp>
      <p:pic>
        <p:nvPicPr>
          <p:cNvPr descr="annotated-bds-fold1.png" id="1001" name="Google Shape;1001;p56"/>
          <p:cNvPicPr preferRelativeResize="0"/>
          <p:nvPr/>
        </p:nvPicPr>
        <p:blipFill rotWithShape="1">
          <a:blip r:embed="rId3">
            <a:alphaModFix/>
          </a:blip>
          <a:srcRect b="0" l="0" r="0" t="0"/>
          <a:stretch/>
        </p:blipFill>
        <p:spPr>
          <a:xfrm>
            <a:off x="548640" y="1600200"/>
            <a:ext cx="2007024" cy="4343405"/>
          </a:xfrm>
          <a:prstGeom prst="rect">
            <a:avLst/>
          </a:prstGeom>
          <a:noFill/>
          <a:ln>
            <a:noFill/>
          </a:ln>
        </p:spPr>
      </p:pic>
      <p:pic>
        <p:nvPicPr>
          <p:cNvPr descr="annotated-bds-fold2.png" id="1002" name="Google Shape;1002;p56"/>
          <p:cNvPicPr preferRelativeResize="0"/>
          <p:nvPr/>
        </p:nvPicPr>
        <p:blipFill rotWithShape="1">
          <a:blip r:embed="rId4">
            <a:alphaModFix/>
          </a:blip>
          <a:srcRect b="0" l="0" r="0" t="0"/>
          <a:stretch/>
        </p:blipFill>
        <p:spPr>
          <a:xfrm>
            <a:off x="2811693" y="1600200"/>
            <a:ext cx="2007024" cy="4343405"/>
          </a:xfrm>
          <a:prstGeom prst="rect">
            <a:avLst/>
          </a:prstGeom>
          <a:noFill/>
          <a:ln>
            <a:noFill/>
          </a:ln>
        </p:spPr>
      </p:pic>
      <p:sp>
        <p:nvSpPr>
          <p:cNvPr id="1003" name="Google Shape;1003;p56"/>
          <p:cNvSpPr txBox="1"/>
          <p:nvPr/>
        </p:nvSpPr>
        <p:spPr>
          <a:xfrm>
            <a:off x="548640"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1</a:t>
            </a:r>
            <a:endParaRPr sz="1500"/>
          </a:p>
        </p:txBody>
      </p:sp>
      <p:sp>
        <p:nvSpPr>
          <p:cNvPr id="1004" name="Google Shape;1004;p56"/>
          <p:cNvSpPr txBox="1"/>
          <p:nvPr/>
        </p:nvSpPr>
        <p:spPr>
          <a:xfrm>
            <a:off x="2811693"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2</a:t>
            </a:r>
            <a:endParaRPr sz="1500"/>
          </a:p>
        </p:txBody>
      </p:sp>
      <p:sp>
        <p:nvSpPr>
          <p:cNvPr id="1005" name="Google Shape;1005;p56"/>
          <p:cNvSpPr/>
          <p:nvPr/>
        </p:nvSpPr>
        <p:spPr>
          <a:xfrm>
            <a:off x="5184474" y="1600200"/>
            <a:ext cx="6458700" cy="46176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06" name="Google Shape;1006;p56"/>
          <p:cNvSpPr/>
          <p:nvPr/>
        </p:nvSpPr>
        <p:spPr>
          <a:xfrm>
            <a:off x="5440506" y="1847088"/>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07" name="Google Shape;1007;p56"/>
          <p:cNvSpPr txBox="1"/>
          <p:nvPr/>
        </p:nvSpPr>
        <p:spPr>
          <a:xfrm>
            <a:off x="5440506" y="1927299"/>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1</a:t>
            </a:r>
            <a:endParaRPr sz="1500"/>
          </a:p>
        </p:txBody>
      </p:sp>
      <p:sp>
        <p:nvSpPr>
          <p:cNvPr id="1008" name="Google Shape;1008;p56"/>
          <p:cNvSpPr txBox="1"/>
          <p:nvPr/>
        </p:nvSpPr>
        <p:spPr>
          <a:xfrm>
            <a:off x="5934282" y="181051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“Also Read” in-content links already exist here — but only point to other blog posts, never a course page.</a:t>
            </a:r>
            <a:endParaRPr sz="1500"/>
          </a:p>
        </p:txBody>
      </p:sp>
      <p:sp>
        <p:nvSpPr>
          <p:cNvPr id="1009" name="Google Shape;1009;p56"/>
          <p:cNvSpPr/>
          <p:nvPr/>
        </p:nvSpPr>
        <p:spPr>
          <a:xfrm>
            <a:off x="5440506" y="2898648"/>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10" name="Google Shape;1010;p56"/>
          <p:cNvSpPr txBox="1"/>
          <p:nvPr/>
        </p:nvSpPr>
        <p:spPr>
          <a:xfrm>
            <a:off x="5440506" y="2978859"/>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2</a:t>
            </a:r>
            <a:endParaRPr sz="1500"/>
          </a:p>
        </p:txBody>
      </p:sp>
      <p:sp>
        <p:nvSpPr>
          <p:cNvPr id="1011" name="Google Shape;1011;p56"/>
          <p:cNvSpPr txBox="1"/>
          <p:nvPr/>
        </p:nvSpPr>
        <p:spPr>
          <a:xfrm>
            <a:off x="5934282" y="286207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Mentions “MBA in Hospital Management” — a real MRIIRS programme — with no link at all.</a:t>
            </a:r>
            <a:endParaRPr sz="1500"/>
          </a:p>
        </p:txBody>
      </p:sp>
      <p:sp>
        <p:nvSpPr>
          <p:cNvPr id="1012" name="Google Shape;1012;p56"/>
          <p:cNvSpPr/>
          <p:nvPr/>
        </p:nvSpPr>
        <p:spPr>
          <a:xfrm>
            <a:off x="5440506" y="3950208"/>
            <a:ext cx="365700" cy="365700"/>
          </a:xfrm>
          <a:prstGeom prst="ellipse">
            <a:avLst/>
          </a:prstGeom>
          <a:solidFill>
            <a:srgbClr val="B8860B"/>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13" name="Google Shape;1013;p56"/>
          <p:cNvSpPr txBox="1"/>
          <p:nvPr/>
        </p:nvSpPr>
        <p:spPr>
          <a:xfrm>
            <a:off x="5440506" y="4030419"/>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3</a:t>
            </a:r>
            <a:endParaRPr sz="1500"/>
          </a:p>
        </p:txBody>
      </p:sp>
      <p:sp>
        <p:nvSpPr>
          <p:cNvPr id="1014" name="Google Shape;1014;p56"/>
          <p:cNvSpPr txBox="1"/>
          <p:nvPr/>
        </p:nvSpPr>
        <p:spPr>
          <a:xfrm>
            <a:off x="5934282" y="391363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Scope note: BDS itself sits at MRDC, outside MRIIRS/MRU — the fix is a related MRIIRS programme link, not a direct BDS one.</a:t>
            </a:r>
            <a:endParaRPr sz="1500"/>
          </a:p>
        </p:txBody>
      </p:sp>
      <p:sp>
        <p:nvSpPr>
          <p:cNvPr id="1015" name="Google Shape;1015;p56"/>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13 Jun – 10 Sept 2026. Live capture, 390px mobile viewport, 22 Sept 2026.</a:t>
            </a:r>
            <a:endParaRPr sz="1500"/>
          </a:p>
        </p:txBody>
      </p:sp>
      <p:sp>
        <p:nvSpPr>
          <p:cNvPr id="1016" name="Rounded Rectangle 1015"/>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57"/>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WHO LANDS HERE</a:t>
            </a:r>
            <a:endParaRPr sz="1500"/>
          </a:p>
        </p:txBody>
      </p:sp>
      <p:sp>
        <p:nvSpPr>
          <p:cNvPr id="1021" name="Google Shape;1021;p57"/>
          <p:cNvSpPr txBox="1"/>
          <p:nvPr/>
        </p:nvSpPr>
        <p:spPr>
          <a:xfrm>
            <a:off x="548640" y="713232"/>
            <a:ext cx="11064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F2C5C"/>
                </a:solidFill>
                <a:latin typeface="Sora"/>
                <a:ea typeface="Sora"/>
                <a:cs typeface="Sora"/>
                <a:sym typeface="Sora"/>
              </a:rPr>
              <a:t>The Early Explorer — lowest depth of any persona on the site</a:t>
            </a:r>
            <a:endParaRPr sz="1500"/>
          </a:p>
        </p:txBody>
      </p:sp>
      <p:sp>
        <p:nvSpPr>
          <p:cNvPr id="1022" name="Google Shape;1022;p57"/>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“What should I even study after 12th?” — arrives with a question, leaves with only an answer to that question</a:t>
            </a:r>
            <a:endParaRPr sz="1500"/>
          </a:p>
        </p:txBody>
      </p:sp>
      <p:sp>
        <p:nvSpPr>
          <p:cNvPr id="1023" name="Google Shape;1023;p57"/>
          <p:cNvSpPr/>
          <p:nvPr/>
        </p:nvSpPr>
        <p:spPr>
          <a:xfrm>
            <a:off x="548640" y="1645920"/>
            <a:ext cx="3520500" cy="1005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24" name="Google Shape;1024;p57"/>
          <p:cNvSpPr txBox="1"/>
          <p:nvPr/>
        </p:nvSpPr>
        <p:spPr>
          <a:xfrm>
            <a:off x="749808" y="1773936"/>
            <a:ext cx="3118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C8102E"/>
                </a:solidFill>
                <a:latin typeface="Sora"/>
                <a:ea typeface="Sora"/>
                <a:cs typeface="Sora"/>
                <a:sym typeface="Sora"/>
              </a:rPr>
              <a:t>22,813</a:t>
            </a:r>
            <a:endParaRPr sz="1500"/>
          </a:p>
        </p:txBody>
      </p:sp>
      <p:sp>
        <p:nvSpPr>
          <p:cNvPr id="1025" name="Google Shape;1025;p57"/>
          <p:cNvSpPr txBox="1"/>
          <p:nvPr/>
        </p:nvSpPr>
        <p:spPr>
          <a:xfrm>
            <a:off x="749808" y="2194560"/>
            <a:ext cx="31185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sessions across 792 in-scope articles · 15% of all sessions</a:t>
            </a:r>
            <a:endParaRPr sz="1500"/>
          </a:p>
        </p:txBody>
      </p:sp>
      <p:sp>
        <p:nvSpPr>
          <p:cNvPr id="1026" name="Google Shape;1026;p57"/>
          <p:cNvSpPr/>
          <p:nvPr/>
        </p:nvSpPr>
        <p:spPr>
          <a:xfrm>
            <a:off x="4251960" y="1645920"/>
            <a:ext cx="3520500" cy="1005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27" name="Google Shape;1027;p57"/>
          <p:cNvSpPr txBox="1"/>
          <p:nvPr/>
        </p:nvSpPr>
        <p:spPr>
          <a:xfrm>
            <a:off x="4453128" y="1773936"/>
            <a:ext cx="3118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C8102E"/>
                </a:solidFill>
                <a:latin typeface="Sora"/>
                <a:ea typeface="Sora"/>
                <a:cs typeface="Sora"/>
                <a:sym typeface="Sora"/>
              </a:rPr>
              <a:t>59.6%</a:t>
            </a:r>
            <a:endParaRPr sz="1500"/>
          </a:p>
        </p:txBody>
      </p:sp>
      <p:sp>
        <p:nvSpPr>
          <p:cNvPr id="1028" name="Google Shape;1028;p57"/>
          <p:cNvSpPr txBox="1"/>
          <p:nvPr/>
        </p:nvSpPr>
        <p:spPr>
          <a:xfrm>
            <a:off x="4453128" y="2194560"/>
            <a:ext cx="31185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engagement rate — lowest of any persona on the site</a:t>
            </a:r>
            <a:endParaRPr sz="1500"/>
          </a:p>
        </p:txBody>
      </p:sp>
      <p:sp>
        <p:nvSpPr>
          <p:cNvPr id="1029" name="Google Shape;1029;p57"/>
          <p:cNvSpPr/>
          <p:nvPr/>
        </p:nvSpPr>
        <p:spPr>
          <a:xfrm>
            <a:off x="7955280" y="1645920"/>
            <a:ext cx="3520500" cy="1005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30" name="Google Shape;1030;p57"/>
          <p:cNvSpPr txBox="1"/>
          <p:nvPr/>
        </p:nvSpPr>
        <p:spPr>
          <a:xfrm>
            <a:off x="8156448" y="1773936"/>
            <a:ext cx="3118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C8102E"/>
                </a:solidFill>
                <a:latin typeface="Sora"/>
                <a:ea typeface="Sora"/>
                <a:cs typeface="Sora"/>
                <a:sym typeface="Sora"/>
              </a:rPr>
              <a:t>1.20</a:t>
            </a:r>
            <a:endParaRPr sz="1500"/>
          </a:p>
        </p:txBody>
      </p:sp>
      <p:sp>
        <p:nvSpPr>
          <p:cNvPr id="1031" name="Google Shape;1031;p57"/>
          <p:cNvSpPr txBox="1"/>
          <p:nvPr/>
        </p:nvSpPr>
        <p:spPr>
          <a:xfrm>
            <a:off x="8156448" y="2194560"/>
            <a:ext cx="31185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views per session — also the lowest on the site</a:t>
            </a:r>
            <a:endParaRPr sz="1500"/>
          </a:p>
        </p:txBody>
      </p:sp>
      <p:sp>
        <p:nvSpPr>
          <p:cNvPr id="1032" name="Google Shape;1032;p57"/>
          <p:cNvSpPr/>
          <p:nvPr/>
        </p:nvSpPr>
        <p:spPr>
          <a:xfrm>
            <a:off x="548640" y="2880360"/>
            <a:ext cx="3520500" cy="1920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33" name="Google Shape;1033;p57"/>
          <p:cNvSpPr/>
          <p:nvPr/>
        </p:nvSpPr>
        <p:spPr>
          <a:xfrm>
            <a:off x="2926080" y="3063240"/>
            <a:ext cx="914400" cy="292500"/>
          </a:xfrm>
          <a:prstGeom prst="roundRect">
            <a:avLst>
              <a:gd fmla="val 50000" name="adj"/>
            </a:avLst>
          </a:prstGeom>
          <a:solidFill>
            <a:srgbClr val="B8860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34" name="Google Shape;1034;p57"/>
          <p:cNvSpPr txBox="1"/>
          <p:nvPr/>
        </p:nvSpPr>
        <p:spPr>
          <a:xfrm>
            <a:off x="2926080" y="3136229"/>
            <a:ext cx="9144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REVIEW</a:t>
            </a:r>
            <a:endParaRPr sz="1500"/>
          </a:p>
        </p:txBody>
      </p:sp>
      <p:sp>
        <p:nvSpPr>
          <p:cNvPr id="1035" name="Google Shape;1035;p57"/>
          <p:cNvSpPr txBox="1"/>
          <p:nvPr/>
        </p:nvSpPr>
        <p:spPr>
          <a:xfrm>
            <a:off x="749808" y="3044952"/>
            <a:ext cx="22404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/blog (index)</a:t>
            </a:r>
            <a:endParaRPr sz="1500"/>
          </a:p>
        </p:txBody>
      </p:sp>
      <p:sp>
        <p:nvSpPr>
          <p:cNvPr id="1036" name="Google Shape;1036;p57"/>
          <p:cNvSpPr txBox="1"/>
          <p:nvPr/>
        </p:nvSpPr>
        <p:spPr>
          <a:xfrm>
            <a:off x="749808" y="3447288"/>
            <a:ext cx="31185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33,075 sessions · 68.26% engagement</a:t>
            </a:r>
            <a:endParaRPr sz="1500"/>
          </a:p>
        </p:txBody>
      </p:sp>
      <p:sp>
        <p:nvSpPr>
          <p:cNvPr id="1037" name="Google Shape;1037;p57"/>
          <p:cNvSpPr txBox="1"/>
          <p:nvPr/>
        </p:nvSpPr>
        <p:spPr>
          <a:xfrm>
            <a:off x="749808" y="3931920"/>
            <a:ext cx="3118500" cy="572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1" lang="en-US" sz="1200" u="none" cap="none" strike="noStrike">
                <a:solidFill>
                  <a:srgbClr val="B8860B"/>
                </a:solidFill>
                <a:latin typeface="Sora"/>
                <a:ea typeface="Sora"/>
                <a:cs typeface="Sora"/>
                <a:sym typeface="Sora"/>
              </a:rPr>
              <a:t>Scope flagged “Review” — traffic source unexplained. Fix measurement before optimising further.</a:t>
            </a:r>
            <a:endParaRPr sz="1500"/>
          </a:p>
        </p:txBody>
      </p:sp>
      <p:sp>
        <p:nvSpPr>
          <p:cNvPr id="1038" name="Google Shape;1038;p57"/>
          <p:cNvSpPr/>
          <p:nvPr/>
        </p:nvSpPr>
        <p:spPr>
          <a:xfrm>
            <a:off x="4251960" y="2880360"/>
            <a:ext cx="3520500" cy="1920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39" name="Google Shape;1039;p57"/>
          <p:cNvSpPr/>
          <p:nvPr/>
        </p:nvSpPr>
        <p:spPr>
          <a:xfrm>
            <a:off x="6629400" y="3063240"/>
            <a:ext cx="914400" cy="292500"/>
          </a:xfrm>
          <a:prstGeom prst="roundRect">
            <a:avLst>
              <a:gd fmla="val 50000" name="adj"/>
            </a:avLst>
          </a:prstGeom>
          <a:solidFill>
            <a:srgbClr val="C810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40" name="Google Shape;1040;p57"/>
          <p:cNvSpPr txBox="1"/>
          <p:nvPr/>
        </p:nvSpPr>
        <p:spPr>
          <a:xfrm>
            <a:off x="6629400" y="3136229"/>
            <a:ext cx="9144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DEAD END</a:t>
            </a:r>
            <a:endParaRPr sz="1500"/>
          </a:p>
        </p:txBody>
      </p:sp>
      <p:sp>
        <p:nvSpPr>
          <p:cNvPr id="1041" name="Google Shape;1041;p57"/>
          <p:cNvSpPr txBox="1"/>
          <p:nvPr/>
        </p:nvSpPr>
        <p:spPr>
          <a:xfrm>
            <a:off x="4453128" y="3044952"/>
            <a:ext cx="22404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NEET/BPT article</a:t>
            </a:r>
            <a:endParaRPr sz="1500"/>
          </a:p>
        </p:txBody>
      </p:sp>
      <p:sp>
        <p:nvSpPr>
          <p:cNvPr id="1042" name="Google Shape;1042;p57"/>
          <p:cNvSpPr txBox="1"/>
          <p:nvPr/>
        </p:nvSpPr>
        <p:spPr>
          <a:xfrm>
            <a:off x="4453128" y="3447288"/>
            <a:ext cx="31185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4,195 sessions · 38.52% bounce</a:t>
            </a:r>
            <a:endParaRPr sz="1500"/>
          </a:p>
        </p:txBody>
      </p:sp>
      <p:sp>
        <p:nvSpPr>
          <p:cNvPr id="1043" name="Google Shape;1043;p57"/>
          <p:cNvSpPr txBox="1"/>
          <p:nvPr/>
        </p:nvSpPr>
        <p:spPr>
          <a:xfrm>
            <a:off x="4453128" y="3931920"/>
            <a:ext cx="31185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1" lang="en-US" sz="1200" u="none" cap="none" strike="noStrike">
                <a:solidFill>
                  <a:srgbClr val="C8102E"/>
                </a:solidFill>
                <a:latin typeface="Sora"/>
                <a:ea typeface="Sora"/>
                <a:cs typeface="Sora"/>
                <a:sym typeface="Sora"/>
              </a:rPr>
              <a:t>Only 35 readers ever reach the BPT course page.</a:t>
            </a:r>
            <a:endParaRPr sz="1500"/>
          </a:p>
        </p:txBody>
      </p:sp>
      <p:sp>
        <p:nvSpPr>
          <p:cNvPr id="1044" name="Google Shape;1044;p57"/>
          <p:cNvSpPr/>
          <p:nvPr/>
        </p:nvSpPr>
        <p:spPr>
          <a:xfrm>
            <a:off x="7955280" y="2880360"/>
            <a:ext cx="3520500" cy="1920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45" name="Google Shape;1045;p57"/>
          <p:cNvSpPr/>
          <p:nvPr/>
        </p:nvSpPr>
        <p:spPr>
          <a:xfrm>
            <a:off x="10332720" y="3063240"/>
            <a:ext cx="914400" cy="292500"/>
          </a:xfrm>
          <a:prstGeom prst="roundRect">
            <a:avLst>
              <a:gd fmla="val 50000" name="adj"/>
            </a:avLst>
          </a:prstGeom>
          <a:solidFill>
            <a:srgbClr val="C810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46" name="Google Shape;1046;p57"/>
          <p:cNvSpPr txBox="1"/>
          <p:nvPr/>
        </p:nvSpPr>
        <p:spPr>
          <a:xfrm>
            <a:off x="10332720" y="3136229"/>
            <a:ext cx="9144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DEAD END</a:t>
            </a:r>
            <a:endParaRPr sz="1500"/>
          </a:p>
        </p:txBody>
      </p:sp>
      <p:sp>
        <p:nvSpPr>
          <p:cNvPr id="1047" name="Google Shape;1047;p57"/>
          <p:cNvSpPr txBox="1"/>
          <p:nvPr/>
        </p:nvSpPr>
        <p:spPr>
          <a:xfrm>
            <a:off x="8156448" y="3044952"/>
            <a:ext cx="22404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BDS article</a:t>
            </a:r>
            <a:endParaRPr sz="1500"/>
          </a:p>
        </p:txBody>
      </p:sp>
      <p:sp>
        <p:nvSpPr>
          <p:cNvPr id="1048" name="Google Shape;1048;p57"/>
          <p:cNvSpPr txBox="1"/>
          <p:nvPr/>
        </p:nvSpPr>
        <p:spPr>
          <a:xfrm>
            <a:off x="8156448" y="3447288"/>
            <a:ext cx="31185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1,220 sessions · 35.16% bounce</a:t>
            </a:r>
            <a:endParaRPr sz="1500"/>
          </a:p>
        </p:txBody>
      </p:sp>
      <p:sp>
        <p:nvSpPr>
          <p:cNvPr id="1049" name="Google Shape;1049;p57"/>
          <p:cNvSpPr txBox="1"/>
          <p:nvPr/>
        </p:nvSpPr>
        <p:spPr>
          <a:xfrm>
            <a:off x="8156448" y="3931920"/>
            <a:ext cx="31185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1" lang="en-US" sz="1200" u="none" cap="none" strike="noStrike">
                <a:solidFill>
                  <a:srgbClr val="C8102E"/>
                </a:solidFill>
                <a:latin typeface="Sora"/>
                <a:ea typeface="Sora"/>
                <a:cs typeface="Sora"/>
                <a:sym typeface="Sora"/>
              </a:rPr>
              <a:t>Links to other posts exist — never to a course.</a:t>
            </a:r>
            <a:endParaRPr sz="1500"/>
          </a:p>
        </p:txBody>
      </p:sp>
      <p:sp>
        <p:nvSpPr>
          <p:cNvPr id="1050" name="Google Shape;1050;p57"/>
          <p:cNvSpPr/>
          <p:nvPr/>
        </p:nvSpPr>
        <p:spPr>
          <a:xfrm>
            <a:off x="548640" y="5074920"/>
            <a:ext cx="11091600" cy="1051500"/>
          </a:xfrm>
          <a:prstGeom prst="roundRect">
            <a:avLst>
              <a:gd fmla="val 8000" name="adj"/>
            </a:avLst>
          </a:prstGeom>
          <a:solidFill>
            <a:srgbClr val="0F2C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51" name="Google Shape;1051;p57"/>
          <p:cNvSpPr txBox="1"/>
          <p:nvPr/>
        </p:nvSpPr>
        <p:spPr>
          <a:xfrm>
            <a:off x="822960" y="5230368"/>
            <a:ext cx="10515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8095"/>
                </a:solidFill>
                <a:latin typeface="Sora"/>
                <a:ea typeface="Sora"/>
                <a:cs typeface="Sora"/>
                <a:sym typeface="Sora"/>
              </a:rPr>
              <a:t>WHAT THIS MEANS</a:t>
            </a:r>
            <a:endParaRPr sz="1500"/>
          </a:p>
        </p:txBody>
      </p:sp>
      <p:sp>
        <p:nvSpPr>
          <p:cNvPr id="1052" name="Google Shape;1052;p57"/>
          <p:cNvSpPr txBox="1"/>
          <p:nvPr/>
        </p:nvSpPr>
        <p:spPr>
          <a:xfrm>
            <a:off x="822960" y="5486400"/>
            <a:ext cx="105156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The content answers the question it was written for, then stops. Nothing here asks anything of the reader — which is exactly why depth is the lowest on the site.</a:t>
            </a:r>
            <a:endParaRPr sz="1500"/>
          </a:p>
        </p:txBody>
      </p:sp>
      <p:sp>
        <p:nvSpPr>
          <p:cNvPr id="1053" name="Google Shape;1053;p57"/>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and Pivot — Persona (in scope), 13 Jun – 10 Sept 2026.</a:t>
            </a:r>
            <a:endParaRPr sz="1500"/>
          </a:p>
        </p:txBody>
      </p:sp>
      <p:sp>
        <p:nvSpPr>
          <p:cNvPr id="1054" name="Rounded Rectangle 1053"/>
          <p:cNvSpPr/>
          <p:nvPr/>
        </p:nvSpPr>
        <p:spPr>
          <a:xfrm>
            <a:off x="10908792" y="41148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58"/>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COMPETITIVE BENCHMARKING</a:t>
            </a:r>
            <a:endParaRPr sz="1500"/>
          </a:p>
        </p:txBody>
      </p:sp>
      <p:sp>
        <p:nvSpPr>
          <p:cNvPr id="1059" name="Google Shape;1059;p58"/>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Exploration content that still leads somewhere</a:t>
            </a:r>
            <a:endParaRPr sz="1500"/>
          </a:p>
        </p:txBody>
      </p:sp>
      <p:sp>
        <p:nvSpPr>
          <p:cNvPr id="1060" name="Google Shape;1060;p58"/>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Observed live on Amity Online's blog</a:t>
            </a:r>
            <a:endParaRPr sz="1500"/>
          </a:p>
        </p:txBody>
      </p:sp>
      <p:sp>
        <p:nvSpPr>
          <p:cNvPr id="1061" name="Google Shape;1061;p58"/>
          <p:cNvSpPr/>
          <p:nvPr/>
        </p:nvSpPr>
        <p:spPr>
          <a:xfrm>
            <a:off x="548640" y="1691640"/>
            <a:ext cx="5349300" cy="4389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62" name="Google Shape;1062;p58"/>
          <p:cNvSpPr/>
          <p:nvPr/>
        </p:nvSpPr>
        <p:spPr>
          <a:xfrm>
            <a:off x="777240"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63" name="Google Shape;1063;p58"/>
          <p:cNvSpPr txBox="1"/>
          <p:nvPr/>
        </p:nvSpPr>
        <p:spPr>
          <a:xfrm>
            <a:off x="777240" y="1994408"/>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1</a:t>
            </a:r>
            <a:endParaRPr sz="1500"/>
          </a:p>
        </p:txBody>
      </p:sp>
      <p:sp>
        <p:nvSpPr>
          <p:cNvPr id="1064" name="Google Shape;1064;p58"/>
          <p:cNvSpPr txBox="1"/>
          <p:nvPr/>
        </p:nvSpPr>
        <p:spPr>
          <a:xfrm>
            <a:off x="1417320" y="1911096"/>
            <a:ext cx="4251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Browse by interest, not by exam</a:t>
            </a:r>
            <a:endParaRPr sz="1500"/>
          </a:p>
        </p:txBody>
      </p:sp>
      <p:sp>
        <p:nvSpPr>
          <p:cNvPr id="1065" name="Google Shape;1065;p58"/>
          <p:cNvSpPr txBox="1"/>
          <p:nvPr/>
        </p:nvSpPr>
        <p:spPr>
          <a:xfrm>
            <a:off x="777240" y="2468880"/>
            <a:ext cx="4892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AMITY ONLINE · BLOG INDEX</a:t>
            </a:r>
            <a:endParaRPr sz="1500"/>
          </a:p>
        </p:txBody>
      </p:sp>
      <p:pic>
        <p:nvPicPr>
          <p:cNvPr descr="crop-amity-category.png" id="1066" name="Google Shape;1066;p58"/>
          <p:cNvPicPr preferRelativeResize="0"/>
          <p:nvPr/>
        </p:nvPicPr>
        <p:blipFill rotWithShape="1">
          <a:blip r:embed="rId3">
            <a:alphaModFix/>
          </a:blip>
          <a:srcRect b="0" l="0" r="0" t="0"/>
          <a:stretch/>
        </p:blipFill>
        <p:spPr>
          <a:xfrm>
            <a:off x="777240" y="2788920"/>
            <a:ext cx="3840480" cy="1920240"/>
          </a:xfrm>
          <a:prstGeom prst="rect">
            <a:avLst/>
          </a:prstGeom>
          <a:noFill/>
          <a:ln>
            <a:noFill/>
          </a:ln>
        </p:spPr>
      </p:pic>
      <p:sp>
        <p:nvSpPr>
          <p:cNvPr id="1067" name="Google Shape;1067;p58"/>
          <p:cNvSpPr txBox="1"/>
          <p:nvPr/>
        </p:nvSpPr>
        <p:spPr>
          <a:xfrm>
            <a:off x="777240" y="4892040"/>
            <a:ext cx="4892100" cy="702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00" u="none" cap="none" strike="noStrike">
                <a:solidFill>
                  <a:srgbClr val="5A6472"/>
                </a:solidFill>
                <a:latin typeface="Sora"/>
                <a:ea typeface="Sora"/>
                <a:cs typeface="Sora"/>
                <a:sym typeface="Sora"/>
              </a:rPr>
              <a:t>Every article carries a category ribbon (“MANAGEMENT”) instead of just an exam name. The sticky CTA on this template also swaps to “Call Us / 1-1 Counselling” — the right ask for someone still deciding, not “Apply Now.”</a:t>
            </a:r>
            <a:endParaRPr sz="1500"/>
          </a:p>
        </p:txBody>
      </p:sp>
      <p:sp>
        <p:nvSpPr>
          <p:cNvPr id="1068" name="Google Shape;1068;p58"/>
          <p:cNvSpPr/>
          <p:nvPr/>
        </p:nvSpPr>
        <p:spPr>
          <a:xfrm>
            <a:off x="6172200" y="1691640"/>
            <a:ext cx="5349300" cy="4389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69" name="Google Shape;1069;p58"/>
          <p:cNvSpPr/>
          <p:nvPr/>
        </p:nvSpPr>
        <p:spPr>
          <a:xfrm>
            <a:off x="6400800"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70" name="Google Shape;1070;p58"/>
          <p:cNvSpPr txBox="1"/>
          <p:nvPr/>
        </p:nvSpPr>
        <p:spPr>
          <a:xfrm>
            <a:off x="6400800" y="1994408"/>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2</a:t>
            </a:r>
            <a:endParaRPr sz="1500"/>
          </a:p>
        </p:txBody>
      </p:sp>
      <p:sp>
        <p:nvSpPr>
          <p:cNvPr id="1071" name="Google Shape;1071;p58"/>
          <p:cNvSpPr txBox="1"/>
          <p:nvPr/>
        </p:nvSpPr>
        <p:spPr>
          <a:xfrm>
            <a:off x="7040880" y="1911096"/>
            <a:ext cx="4251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The explainer article still ends in an answer</a:t>
            </a:r>
            <a:endParaRPr sz="1500"/>
          </a:p>
        </p:txBody>
      </p:sp>
      <p:sp>
        <p:nvSpPr>
          <p:cNvPr id="1072" name="Google Shape;1072;p58"/>
          <p:cNvSpPr txBox="1"/>
          <p:nvPr/>
        </p:nvSpPr>
        <p:spPr>
          <a:xfrm>
            <a:off x="6400800" y="2468880"/>
            <a:ext cx="4892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AMITY ONLINE · “WHAT IS AN MBA IN BUSINESS ANALYTICS”</a:t>
            </a:r>
            <a:endParaRPr sz="1500"/>
          </a:p>
        </p:txBody>
      </p:sp>
      <p:pic>
        <p:nvPicPr>
          <p:cNvPr descr="crop-amity-highlights.png" id="1073" name="Google Shape;1073;p58"/>
          <p:cNvPicPr preferRelativeResize="0"/>
          <p:nvPr/>
        </p:nvPicPr>
        <p:blipFill rotWithShape="1">
          <a:blip r:embed="rId4">
            <a:alphaModFix/>
          </a:blip>
          <a:srcRect b="0" l="0" r="0" t="0"/>
          <a:stretch/>
        </p:blipFill>
        <p:spPr>
          <a:xfrm>
            <a:off x="6400800" y="2788920"/>
            <a:ext cx="2877952" cy="2103122"/>
          </a:xfrm>
          <a:prstGeom prst="rect">
            <a:avLst/>
          </a:prstGeom>
          <a:noFill/>
          <a:ln>
            <a:noFill/>
          </a:ln>
        </p:spPr>
      </p:pic>
      <p:sp>
        <p:nvSpPr>
          <p:cNvPr id="1074" name="Google Shape;1074;p58"/>
          <p:cNvSpPr txBox="1"/>
          <p:nvPr/>
        </p:nvSpPr>
        <p:spPr>
          <a:xfrm>
            <a:off x="6400800" y="5029200"/>
            <a:ext cx="4892100" cy="525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00" u="none" cap="none" strike="noStrike">
                <a:solidFill>
                  <a:srgbClr val="5A6472"/>
                </a:solidFill>
                <a:latin typeface="Sora"/>
                <a:ea typeface="Sora"/>
                <a:cs typeface="Sora"/>
                <a:sym typeface="Sora"/>
              </a:rPr>
              <a:t>Same genre as MREI's NEET/BPT and BDS articles — but this one closes with Amity's own course name, duration, fee, and top recruiters. Curiosity content still resolves into a real answer.</a:t>
            </a:r>
            <a:endParaRPr sz="1500"/>
          </a:p>
        </p:txBody>
      </p:sp>
      <p:sp>
        <p:nvSpPr>
          <p:cNvPr id="1075" name="Google Shape;1075;p58"/>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live capture, Amity Online blog, mobile viewport, 22 Sept 2026.</a:t>
            </a:r>
            <a:endParaRPr sz="1500"/>
          </a:p>
        </p:txBody>
      </p:sp>
      <p:sp>
        <p:nvSpPr>
          <p:cNvPr id="1076" name="Rounded Rectangle 1075"/>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C5C"/>
        </a:solidFill>
      </p:bgPr>
    </p:bg>
    <p:spTree>
      <p:nvGrpSpPr>
        <p:cNvPr id="798" name="Shape 798"/>
        <p:cNvGrpSpPr/>
        <p:nvPr/>
      </p:nvGrpSpPr>
      <p:grpSpPr>
        <a:xfrm>
          <a:off x="0" y="0"/>
          <a:ext cx="0" cy="0"/>
          <a:chOff x="0" y="0"/>
          <a:chExt cx="0" cy="0"/>
        </a:xfrm>
      </p:grpSpPr>
      <p:sp>
        <p:nvSpPr>
          <p:cNvPr id="799" name="Google Shape;799;p45"/>
          <p:cNvSpPr txBox="1"/>
          <p:nvPr/>
        </p:nvSpPr>
        <p:spPr>
          <a:xfrm>
            <a:off x="501015" y="3145490"/>
            <a:ext cx="10058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Sora"/>
              <a:buNone/>
            </a:pPr>
            <a:r>
              <a:rPr b="1" lang="en-US" sz="3200">
                <a:solidFill>
                  <a:srgbClr val="FFFFFF"/>
                </a:solidFill>
                <a:latin typeface="Sora"/>
                <a:ea typeface="Sora"/>
                <a:cs typeface="Sora"/>
                <a:sym typeface="Sora"/>
              </a:rPr>
              <a:t>UNIVERSITY SHORTLISTER</a:t>
            </a:r>
            <a:endParaRPr b="1" sz="3200">
              <a:solidFill>
                <a:srgbClr val="FFFFFF"/>
              </a:solidFill>
              <a:latin typeface="Sora"/>
              <a:ea typeface="Sora"/>
              <a:cs typeface="Sora"/>
              <a:sym typeface="Sora"/>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UNIVERSITY SHORTLISTER  ·  WHAT WE KNOW</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The one journey that already works — the benchmark</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“Is this university right for me?” — /mriirs and /mru institution roots</a:t>
            </a:r>
          </a:p>
        </p:txBody>
      </p:sp>
      <p:sp>
        <p:nvSpPr>
          <p:cNvPr id="5" name="TextBox 4"/>
          <p:cNvSpPr txBox="1"/>
          <p:nvPr/>
        </p:nvSpPr>
        <p:spPr>
          <a:xfrm>
            <a:off x="548640" y="1554480"/>
            <a:ext cx="2377440" cy="182880"/>
          </a:xfrm>
          <a:prstGeom prst="rect">
            <a:avLst/>
          </a:prstGeom>
          <a:noFill/>
        </p:spPr>
        <p:txBody>
          <a:bodyPr wrap="square" lIns="0" rIns="0" tIns="0" bIns="0" anchor="t">
            <a:spAutoFit/>
          </a:bodyPr>
          <a:lstStyle/>
          <a:p>
            <a:pPr algn="l"/>
            <a:r>
              <a:rPr sz="800" b="1" i="0">
                <a:solidFill>
                  <a:srgbClr val="96A1B0"/>
                </a:solidFill>
                <a:latin typeface="Sora"/>
              </a:rPr>
              <a:t>METRIC</a:t>
            </a:r>
          </a:p>
        </p:txBody>
      </p:sp>
      <p:sp>
        <p:nvSpPr>
          <p:cNvPr id="6" name="TextBox 5"/>
          <p:cNvSpPr txBox="1"/>
          <p:nvPr/>
        </p:nvSpPr>
        <p:spPr>
          <a:xfrm>
            <a:off x="3154680" y="1554480"/>
            <a:ext cx="4114800" cy="182880"/>
          </a:xfrm>
          <a:prstGeom prst="rect">
            <a:avLst/>
          </a:prstGeom>
          <a:noFill/>
        </p:spPr>
        <p:txBody>
          <a:bodyPr wrap="square" lIns="0" rIns="0" tIns="0" bIns="0" anchor="t">
            <a:spAutoFit/>
          </a:bodyPr>
          <a:lstStyle/>
          <a:p>
            <a:pPr algn="l"/>
            <a:r>
              <a:rPr sz="800" b="1" i="0">
                <a:solidFill>
                  <a:srgbClr val="96A1B0"/>
                </a:solidFill>
                <a:latin typeface="Sora"/>
              </a:rPr>
              <a:t>WHAT USERS DO</a:t>
            </a:r>
          </a:p>
        </p:txBody>
      </p:sp>
      <p:sp>
        <p:nvSpPr>
          <p:cNvPr id="7" name="TextBox 6"/>
          <p:cNvSpPr txBox="1"/>
          <p:nvPr/>
        </p:nvSpPr>
        <p:spPr>
          <a:xfrm>
            <a:off x="7589520" y="1554480"/>
            <a:ext cx="3931920" cy="182880"/>
          </a:xfrm>
          <a:prstGeom prst="rect">
            <a:avLst/>
          </a:prstGeom>
          <a:noFill/>
        </p:spPr>
        <p:txBody>
          <a:bodyPr wrap="square" lIns="0" rIns="0" tIns="0" bIns="0" anchor="t">
            <a:spAutoFit/>
          </a:bodyPr>
          <a:lstStyle/>
          <a:p>
            <a:pPr algn="l"/>
            <a:r>
              <a:rPr sz="800" b="1" i="0">
                <a:solidFill>
                  <a:srgbClr val="96A1B0"/>
                </a:solidFill>
                <a:latin typeface="Sora"/>
              </a:rPr>
              <a:t>SO WHAT THIS TELLS US</a:t>
            </a:r>
          </a:p>
        </p:txBody>
      </p:sp>
      <p:sp>
        <p:nvSpPr>
          <p:cNvPr id="8" name="Rounded Rectangle 7"/>
          <p:cNvSpPr/>
          <p:nvPr/>
        </p:nvSpPr>
        <p:spPr>
          <a:xfrm>
            <a:off x="548640" y="180136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11095"/>
            <a:ext cx="2286000" cy="457200"/>
          </a:xfrm>
          <a:prstGeom prst="rect">
            <a:avLst/>
          </a:prstGeom>
          <a:noFill/>
        </p:spPr>
        <p:txBody>
          <a:bodyPr wrap="square" lIns="0" rIns="0" tIns="0" bIns="0" anchor="t">
            <a:spAutoFit/>
          </a:bodyPr>
          <a:lstStyle/>
          <a:p>
            <a:pPr algn="l"/>
            <a:r>
              <a:rPr sz="2400" b="1" i="0">
                <a:solidFill>
                  <a:srgbClr val="C8102E"/>
                </a:solidFill>
                <a:latin typeface="Sora"/>
              </a:rPr>
              <a:t>76.1%</a:t>
            </a:r>
          </a:p>
        </p:txBody>
      </p:sp>
      <p:sp>
        <p:nvSpPr>
          <p:cNvPr id="10" name="TextBox 9"/>
          <p:cNvSpPr txBox="1"/>
          <p:nvPr/>
        </p:nvSpPr>
        <p:spPr>
          <a:xfrm>
            <a:off x="731520" y="2368296"/>
            <a:ext cx="2240280" cy="365760"/>
          </a:xfrm>
          <a:prstGeom prst="rect">
            <a:avLst/>
          </a:prstGeom>
          <a:noFill/>
        </p:spPr>
        <p:txBody>
          <a:bodyPr wrap="square" lIns="0" rIns="0" tIns="0" bIns="0" anchor="t">
            <a:spAutoFit/>
          </a:bodyPr>
          <a:lstStyle/>
          <a:p>
            <a:pPr algn="l"/>
            <a:r>
              <a:rPr sz="850" b="0" i="0">
                <a:solidFill>
                  <a:srgbClr val="5A6472"/>
                </a:solidFill>
                <a:latin typeface="Sora"/>
              </a:rPr>
              <a:t>engagement · 3.33 views per session — the best of any persona</a:t>
            </a:r>
          </a:p>
        </p:txBody>
      </p:sp>
      <p:sp>
        <p:nvSpPr>
          <p:cNvPr id="11" name="TextBox 10"/>
          <p:cNvSpPr txBox="1"/>
          <p:nvPr/>
        </p:nvSpPr>
        <p:spPr>
          <a:xfrm>
            <a:off x="3154680" y="1929384"/>
            <a:ext cx="4160520" cy="777240"/>
          </a:xfrm>
          <a:prstGeom prst="rect">
            <a:avLst/>
          </a:prstGeom>
          <a:noFill/>
        </p:spPr>
        <p:txBody>
          <a:bodyPr wrap="square" lIns="0" rIns="0" tIns="0" bIns="0" anchor="t">
            <a:spAutoFit/>
          </a:bodyPr>
          <a:lstStyle/>
          <a:p>
            <a:pPr algn="l"/>
            <a:r>
              <a:rPr sz="1050" b="0" i="0">
                <a:solidFill>
                  <a:srgbClr val="0F2C5C"/>
                </a:solidFill>
                <a:latin typeface="Sora"/>
              </a:rPr>
              <a:t>Users self-segment in the hub: UG 2,452 · PG 587 · school hub 465 · search 318 · fees 287.</a:t>
            </a:r>
          </a:p>
        </p:txBody>
      </p:sp>
      <p:sp>
        <p:nvSpPr>
          <p:cNvPr id="12" name="Right Arrow 11"/>
          <p:cNvSpPr/>
          <p:nvPr/>
        </p:nvSpPr>
        <p:spPr>
          <a:xfrm>
            <a:off x="7178040" y="218541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929384"/>
            <a:ext cx="3886200" cy="640080"/>
          </a:xfrm>
          <a:prstGeom prst="rect">
            <a:avLst/>
          </a:prstGeom>
          <a:noFill/>
        </p:spPr>
        <p:txBody>
          <a:bodyPr wrap="square" lIns="0" rIns="0" tIns="0" bIns="0" anchor="t">
            <a:spAutoFit/>
          </a:bodyPr>
          <a:lstStyle/>
          <a:p>
            <a:pPr algn="l"/>
            <a:r>
              <a:rPr sz="1050" b="1" i="0">
                <a:solidFill>
                  <a:srgbClr val="0F2C5C"/>
                </a:solidFill>
                <a:latin typeface="Sora"/>
              </a:rPr>
              <a:t>Self-segmentation + onward routing is the pattern other templates lack.</a:t>
            </a:r>
          </a:p>
        </p:txBody>
      </p:sp>
      <p:sp>
        <p:nvSpPr>
          <p:cNvPr id="14" name="Rounded Rectangle 13"/>
          <p:cNvSpPr/>
          <p:nvPr/>
        </p:nvSpPr>
        <p:spPr>
          <a:xfrm>
            <a:off x="11243462" y="2532888"/>
            <a:ext cx="296265"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43462" y="2532888"/>
            <a:ext cx="296265" cy="201168"/>
          </a:xfrm>
          <a:prstGeom prst="rect">
            <a:avLst/>
          </a:prstGeom>
          <a:noFill/>
        </p:spPr>
        <p:txBody>
          <a:bodyPr wrap="square" lIns="0" rIns="0" tIns="0" bIns="0" anchor="ctr">
            <a:spAutoFit/>
          </a:bodyPr>
          <a:lstStyle/>
          <a:p>
            <a:pPr algn="ctr"/>
            <a:r>
              <a:rPr sz="750" b="1" i="0">
                <a:solidFill>
                  <a:srgbClr val="5A6472"/>
                </a:solidFill>
                <a:latin typeface="Sora"/>
              </a:rPr>
              <a:t>GA4</a:t>
            </a:r>
          </a:p>
        </p:txBody>
      </p:sp>
      <p:sp>
        <p:nvSpPr>
          <p:cNvPr id="16" name="Rounded Rectangle 15"/>
          <p:cNvSpPr/>
          <p:nvPr/>
        </p:nvSpPr>
        <p:spPr>
          <a:xfrm>
            <a:off x="548640" y="289864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08376"/>
            <a:ext cx="2286000" cy="457200"/>
          </a:xfrm>
          <a:prstGeom prst="rect">
            <a:avLst/>
          </a:prstGeom>
          <a:noFill/>
        </p:spPr>
        <p:txBody>
          <a:bodyPr wrap="square" lIns="0" rIns="0" tIns="0" bIns="0" anchor="t">
            <a:spAutoFit/>
          </a:bodyPr>
          <a:lstStyle/>
          <a:p>
            <a:pPr algn="l"/>
            <a:r>
              <a:rPr sz="2400" b="1" i="0">
                <a:solidFill>
                  <a:srgbClr val="C8102E"/>
                </a:solidFill>
                <a:latin typeface="Sora"/>
              </a:rPr>
              <a:t>517 / 613</a:t>
            </a:r>
          </a:p>
        </p:txBody>
      </p:sp>
      <p:sp>
        <p:nvSpPr>
          <p:cNvPr id="18" name="TextBox 17"/>
          <p:cNvSpPr txBox="1"/>
          <p:nvPr/>
        </p:nvSpPr>
        <p:spPr>
          <a:xfrm>
            <a:off x="731520" y="3465576"/>
            <a:ext cx="2240280" cy="365760"/>
          </a:xfrm>
          <a:prstGeom prst="rect">
            <a:avLst/>
          </a:prstGeom>
          <a:noFill/>
        </p:spPr>
        <p:txBody>
          <a:bodyPr wrap="square" lIns="0" rIns="0" tIns="0" bIns="0" anchor="t">
            <a:spAutoFit/>
          </a:bodyPr>
          <a:lstStyle/>
          <a:p>
            <a:pPr algn="l"/>
            <a:r>
              <a:rPr sz="850" b="0" i="0">
                <a:solidFill>
                  <a:srgbClr val="5A6472"/>
                </a:solidFill>
                <a:latin typeface="Sora"/>
              </a:rPr>
              <a:t>Apply-MRIIRS clicks that happen on institution roots (all 134 Apply-MRU too)</a:t>
            </a:r>
          </a:p>
        </p:txBody>
      </p:sp>
      <p:sp>
        <p:nvSpPr>
          <p:cNvPr id="19" name="TextBox 18"/>
          <p:cNvSpPr txBox="1"/>
          <p:nvPr/>
        </p:nvSpPr>
        <p:spPr>
          <a:xfrm>
            <a:off x="3154680" y="3026664"/>
            <a:ext cx="4160520" cy="777240"/>
          </a:xfrm>
          <a:prstGeom prst="rect">
            <a:avLst/>
          </a:prstGeom>
          <a:noFill/>
        </p:spPr>
        <p:txBody>
          <a:bodyPr wrap="square" lIns="0" rIns="0" tIns="0" bIns="0" anchor="t">
            <a:spAutoFit/>
          </a:bodyPr>
          <a:lstStyle/>
          <a:p>
            <a:pPr algn="l"/>
            <a:r>
              <a:rPr sz="1050" b="0" i="0">
                <a:solidFill>
                  <a:srgbClr val="0F2C5C"/>
                </a:solidFill>
                <a:latin typeface="Sora"/>
              </a:rPr>
              <a:t>Institution roots also carry 607 form submits and 260 of 658 phone clicks.</a:t>
            </a:r>
          </a:p>
        </p:txBody>
      </p:sp>
      <p:sp>
        <p:nvSpPr>
          <p:cNvPr id="20" name="Right Arrow 19"/>
          <p:cNvSpPr/>
          <p:nvPr/>
        </p:nvSpPr>
        <p:spPr>
          <a:xfrm>
            <a:off x="7178040" y="328269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3026664"/>
            <a:ext cx="3886200" cy="640080"/>
          </a:xfrm>
          <a:prstGeom prst="rect">
            <a:avLst/>
          </a:prstGeom>
          <a:noFill/>
        </p:spPr>
        <p:txBody>
          <a:bodyPr wrap="square" lIns="0" rIns="0" tIns="0" bIns="0" anchor="t">
            <a:spAutoFit/>
          </a:bodyPr>
          <a:lstStyle/>
          <a:p>
            <a:pPr algn="l"/>
            <a:r>
              <a:rPr sz="1050" b="1" i="0">
                <a:solidFill>
                  <a:srgbClr val="0F2C5C"/>
                </a:solidFill>
                <a:latin typeface="Sora"/>
              </a:rPr>
              <a:t>Outside the homepage, this is the only persona template that converts at scale.</a:t>
            </a:r>
          </a:p>
        </p:txBody>
      </p:sp>
      <p:sp>
        <p:nvSpPr>
          <p:cNvPr id="22" name="Rounded Rectangle 21"/>
          <p:cNvSpPr/>
          <p:nvPr/>
        </p:nvSpPr>
        <p:spPr>
          <a:xfrm>
            <a:off x="11243462" y="3630168"/>
            <a:ext cx="296265"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43462" y="3630168"/>
            <a:ext cx="296265" cy="201168"/>
          </a:xfrm>
          <a:prstGeom prst="rect">
            <a:avLst/>
          </a:prstGeom>
          <a:noFill/>
        </p:spPr>
        <p:txBody>
          <a:bodyPr wrap="square" lIns="0" rIns="0" tIns="0" bIns="0" anchor="ctr">
            <a:spAutoFit/>
          </a:bodyPr>
          <a:lstStyle/>
          <a:p>
            <a:pPr algn="ctr"/>
            <a:r>
              <a:rPr sz="750" b="1" i="0">
                <a:solidFill>
                  <a:srgbClr val="C8102E"/>
                </a:solidFill>
                <a:latin typeface="Sora"/>
              </a:rPr>
              <a:t>CSV</a:t>
            </a:r>
          </a:p>
        </p:txBody>
      </p:sp>
      <p:sp>
        <p:nvSpPr>
          <p:cNvPr id="24" name="Rounded Rectangle 23"/>
          <p:cNvSpPr/>
          <p:nvPr/>
        </p:nvSpPr>
        <p:spPr>
          <a:xfrm>
            <a:off x="548640" y="399592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105656"/>
            <a:ext cx="2286000" cy="457200"/>
          </a:xfrm>
          <a:prstGeom prst="rect">
            <a:avLst/>
          </a:prstGeom>
          <a:noFill/>
        </p:spPr>
        <p:txBody>
          <a:bodyPr wrap="square" lIns="0" rIns="0" tIns="0" bIns="0" anchor="t">
            <a:spAutoFit/>
          </a:bodyPr>
          <a:lstStyle/>
          <a:p>
            <a:pPr algn="l"/>
            <a:r>
              <a:rPr sz="2400" b="1" i="0">
                <a:solidFill>
                  <a:srgbClr val="C8102E"/>
                </a:solidFill>
                <a:latin typeface="Sora"/>
              </a:rPr>
              <a:t>673</a:t>
            </a:r>
          </a:p>
        </p:txBody>
      </p:sp>
      <p:sp>
        <p:nvSpPr>
          <p:cNvPr id="26" name="TextBox 25"/>
          <p:cNvSpPr txBox="1"/>
          <p:nvPr/>
        </p:nvSpPr>
        <p:spPr>
          <a:xfrm>
            <a:off x="731520" y="4562856"/>
            <a:ext cx="2240280" cy="365760"/>
          </a:xfrm>
          <a:prstGeom prst="rect">
            <a:avLst/>
          </a:prstGeom>
          <a:noFill/>
        </p:spPr>
        <p:txBody>
          <a:bodyPr wrap="square" lIns="0" rIns="0" tIns="0" bIns="0" anchor="t">
            <a:spAutoFit/>
          </a:bodyPr>
          <a:lstStyle/>
          <a:p>
            <a:pPr algn="l"/>
            <a:r>
              <a:rPr sz="850" b="0" i="0">
                <a:solidFill>
                  <a:srgbClr val="5A6472"/>
                </a:solidFill>
                <a:latin typeface="Sora"/>
              </a:rPr>
              <a:t>moves from /mriirs go to the homepage</a:t>
            </a:r>
          </a:p>
        </p:txBody>
      </p:sp>
      <p:sp>
        <p:nvSpPr>
          <p:cNvPr id="27" name="TextBox 26"/>
          <p:cNvSpPr txBox="1"/>
          <p:nvPr/>
        </p:nvSpPr>
        <p:spPr>
          <a:xfrm>
            <a:off x="3154680" y="4123944"/>
            <a:ext cx="4160520" cy="777240"/>
          </a:xfrm>
          <a:prstGeom prst="rect">
            <a:avLst/>
          </a:prstGeom>
          <a:noFill/>
        </p:spPr>
        <p:txBody>
          <a:bodyPr wrap="square" lIns="0" rIns="0" tIns="0" bIns="0" anchor="t">
            <a:spAutoFit/>
          </a:bodyPr>
          <a:lstStyle/>
          <a:p>
            <a:pPr algn="l"/>
            <a:r>
              <a:rPr sz="1050" b="0" i="0">
                <a:solidFill>
                  <a:srgbClr val="0F2C5C"/>
                </a:solidFill>
                <a:latin typeface="Sora"/>
              </a:rPr>
              <a:t>Users who don’t find their route in the hub loop back to the top.</a:t>
            </a:r>
          </a:p>
        </p:txBody>
      </p:sp>
      <p:sp>
        <p:nvSpPr>
          <p:cNvPr id="28" name="Right Arrow 27"/>
          <p:cNvSpPr/>
          <p:nvPr/>
        </p:nvSpPr>
        <p:spPr>
          <a:xfrm>
            <a:off x="7178040" y="437997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4123944"/>
            <a:ext cx="3886200" cy="640080"/>
          </a:xfrm>
          <a:prstGeom prst="rect">
            <a:avLst/>
          </a:prstGeom>
          <a:noFill/>
        </p:spPr>
        <p:txBody>
          <a:bodyPr wrap="square" lIns="0" rIns="0" tIns="0" bIns="0" anchor="t">
            <a:spAutoFit/>
          </a:bodyPr>
          <a:lstStyle/>
          <a:p>
            <a:pPr algn="l"/>
            <a:r>
              <a:rPr sz="1050" b="1" i="0">
                <a:solidFill>
                  <a:srgbClr val="0F2C5C"/>
                </a:solidFill>
                <a:latin typeface="Sora"/>
              </a:rPr>
              <a:t>Even the best template leaks when the user is still comparing.</a:t>
            </a:r>
          </a:p>
        </p:txBody>
      </p:sp>
      <p:sp>
        <p:nvSpPr>
          <p:cNvPr id="30" name="Rounded Rectangle 29"/>
          <p:cNvSpPr/>
          <p:nvPr/>
        </p:nvSpPr>
        <p:spPr>
          <a:xfrm>
            <a:off x="10932566" y="4727448"/>
            <a:ext cx="607161"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32566" y="4727448"/>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32" name="Rounded Rectangle 31"/>
          <p:cNvSpPr/>
          <p:nvPr/>
        </p:nvSpPr>
        <p:spPr>
          <a:xfrm>
            <a:off x="548640" y="5093208"/>
            <a:ext cx="11064240" cy="100584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02936"/>
            <a:ext cx="2286000" cy="457200"/>
          </a:xfrm>
          <a:prstGeom prst="rect">
            <a:avLst/>
          </a:prstGeom>
          <a:noFill/>
        </p:spPr>
        <p:txBody>
          <a:bodyPr wrap="square" lIns="0" rIns="0" tIns="0" bIns="0" anchor="t">
            <a:spAutoFit/>
          </a:bodyPr>
          <a:lstStyle/>
          <a:p>
            <a:pPr algn="l"/>
            <a:r>
              <a:rPr sz="2400" b="1" i="0">
                <a:solidFill>
                  <a:srgbClr val="C8102E"/>
                </a:solidFill>
                <a:latin typeface="Sora"/>
              </a:rPr>
              <a:t>166</a:t>
            </a:r>
          </a:p>
        </p:txBody>
      </p:sp>
      <p:sp>
        <p:nvSpPr>
          <p:cNvPr id="34" name="TextBox 33"/>
          <p:cNvSpPr txBox="1"/>
          <p:nvPr/>
        </p:nvSpPr>
        <p:spPr>
          <a:xfrm>
            <a:off x="731520" y="5660136"/>
            <a:ext cx="2240280" cy="365760"/>
          </a:xfrm>
          <a:prstGeom prst="rect">
            <a:avLst/>
          </a:prstGeom>
          <a:noFill/>
        </p:spPr>
        <p:txBody>
          <a:bodyPr wrap="square" lIns="0" rIns="0" tIns="0" bIns="0" anchor="t">
            <a:spAutoFit/>
          </a:bodyPr>
          <a:lstStyle/>
          <a:p>
            <a:pPr algn="l"/>
            <a:r>
              <a:rPr sz="850" b="0" i="0">
                <a:solidFill>
                  <a:srgbClr val="5A6472"/>
                </a:solidFill>
                <a:latin typeface="Sora"/>
              </a:rPr>
              <a:t>moves from /mru to /mriirs (and 494 between the two fee pages)</a:t>
            </a:r>
          </a:p>
        </p:txBody>
      </p:sp>
      <p:sp>
        <p:nvSpPr>
          <p:cNvPr id="35" name="TextBox 34"/>
          <p:cNvSpPr txBox="1"/>
          <p:nvPr/>
        </p:nvSpPr>
        <p:spPr>
          <a:xfrm>
            <a:off x="3154680" y="5221224"/>
            <a:ext cx="4160520" cy="777240"/>
          </a:xfrm>
          <a:prstGeom prst="rect">
            <a:avLst/>
          </a:prstGeom>
          <a:noFill/>
        </p:spPr>
        <p:txBody>
          <a:bodyPr wrap="square" lIns="0" rIns="0" tIns="0" bIns="0" anchor="t">
            <a:spAutoFit/>
          </a:bodyPr>
          <a:lstStyle/>
          <a:p>
            <a:pPr algn="l"/>
            <a:r>
              <a:rPr sz="1050" b="0" i="0">
                <a:solidFill>
                  <a:srgbClr val="0F2C5C"/>
                </a:solidFill>
                <a:latin typeface="Sora"/>
              </a:rPr>
              <a:t>Users compare institutions by hopping between parallel copies of the same section.</a:t>
            </a:r>
          </a:p>
        </p:txBody>
      </p:sp>
      <p:sp>
        <p:nvSpPr>
          <p:cNvPr id="36" name="Right Arrow 35"/>
          <p:cNvSpPr/>
          <p:nvPr/>
        </p:nvSpPr>
        <p:spPr>
          <a:xfrm>
            <a:off x="7178040" y="5477256"/>
            <a:ext cx="274320" cy="237744"/>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0" y="5221224"/>
            <a:ext cx="3886200" cy="640080"/>
          </a:xfrm>
          <a:prstGeom prst="rect">
            <a:avLst/>
          </a:prstGeom>
          <a:noFill/>
        </p:spPr>
        <p:txBody>
          <a:bodyPr wrap="square" lIns="0" rIns="0" tIns="0" bIns="0" anchor="t">
            <a:spAutoFit/>
          </a:bodyPr>
          <a:lstStyle/>
          <a:p>
            <a:pPr algn="l"/>
            <a:r>
              <a:rPr sz="1050" b="1" i="0">
                <a:solidFill>
                  <a:srgbClr val="0F2C5C"/>
                </a:solidFill>
                <a:latin typeface="Sora"/>
              </a:rPr>
              <a:t>Comparison between MRIIRS and MRU is unsupported.</a:t>
            </a:r>
          </a:p>
        </p:txBody>
      </p:sp>
      <p:sp>
        <p:nvSpPr>
          <p:cNvPr id="38" name="Rounded Rectangle 37"/>
          <p:cNvSpPr/>
          <p:nvPr/>
        </p:nvSpPr>
        <p:spPr>
          <a:xfrm>
            <a:off x="10932566" y="5824728"/>
            <a:ext cx="607161" cy="2011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32566" y="5824728"/>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40" name="TextBox 39"/>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GA4 event export by page type (event counts; separate pull, not directly comparable).</a:t>
            </a:r>
          </a:p>
        </p:txBody>
      </p:sp>
      <p:sp>
        <p:nvSpPr>
          <p:cNvPr id="41" name="Rounded Rectangle 40"/>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UNIVERSITY SHORTLISTER  ·  PAGE PATH</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Land on the hub, pick a lane — the pattern to replicate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Onward distribution from /mriirs (11,597 sessions)</a:t>
            </a:r>
          </a:p>
        </p:txBody>
      </p:sp>
      <p:sp>
        <p:nvSpPr>
          <p:cNvPr id="5" name="Rounded Rectangle 4"/>
          <p:cNvSpPr/>
          <p:nvPr/>
        </p:nvSpPr>
        <p:spPr>
          <a:xfrm>
            <a:off x="548640" y="1600200"/>
            <a:ext cx="2377440" cy="2697480"/>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2011680" cy="182880"/>
          </a:xfrm>
          <a:prstGeom prst="rect">
            <a:avLst/>
          </a:prstGeom>
          <a:noFill/>
        </p:spPr>
        <p:txBody>
          <a:bodyPr wrap="square" lIns="0" rIns="0" tIns="0" bIns="0" anchor="t">
            <a:spAutoFit/>
          </a:bodyPr>
          <a:lstStyle/>
          <a:p>
            <a:pPr algn="l"/>
            <a:r>
              <a:rPr sz="850" b="1" i="0">
                <a:solidFill>
                  <a:srgbClr val="CADCFC"/>
                </a:solidFill>
                <a:latin typeface="Sora"/>
              </a:rPr>
              <a:t>LAND</a:t>
            </a:r>
          </a:p>
        </p:txBody>
      </p:sp>
      <p:sp>
        <p:nvSpPr>
          <p:cNvPr id="7" name="TextBox 6"/>
          <p:cNvSpPr txBox="1"/>
          <p:nvPr/>
        </p:nvSpPr>
        <p:spPr>
          <a:xfrm>
            <a:off x="731520" y="1965960"/>
            <a:ext cx="2011680" cy="274320"/>
          </a:xfrm>
          <a:prstGeom prst="rect">
            <a:avLst/>
          </a:prstGeom>
          <a:noFill/>
        </p:spPr>
        <p:txBody>
          <a:bodyPr wrap="square" lIns="0" rIns="0" tIns="0" bIns="0" anchor="t">
            <a:spAutoFit/>
          </a:bodyPr>
          <a:lstStyle/>
          <a:p>
            <a:pPr algn="l"/>
            <a:r>
              <a:rPr sz="1100" b="1" i="0">
                <a:solidFill>
                  <a:srgbClr val="FFFFFF"/>
                </a:solidFill>
                <a:latin typeface="Sora"/>
              </a:rPr>
              <a:t>/mriirs</a:t>
            </a:r>
          </a:p>
        </p:txBody>
      </p:sp>
      <p:sp>
        <p:nvSpPr>
          <p:cNvPr id="8" name="TextBox 7"/>
          <p:cNvSpPr txBox="1"/>
          <p:nvPr/>
        </p:nvSpPr>
        <p:spPr>
          <a:xfrm>
            <a:off x="731520" y="2286000"/>
            <a:ext cx="2011680" cy="457200"/>
          </a:xfrm>
          <a:prstGeom prst="rect">
            <a:avLst/>
          </a:prstGeom>
          <a:noFill/>
        </p:spPr>
        <p:txBody>
          <a:bodyPr wrap="square" lIns="0" rIns="0" tIns="0" bIns="0" anchor="t">
            <a:spAutoFit/>
          </a:bodyPr>
          <a:lstStyle/>
          <a:p>
            <a:pPr algn="l"/>
            <a:r>
              <a:rPr sz="2800" b="1" i="0">
                <a:solidFill>
                  <a:srgbClr val="FFFFFF"/>
                </a:solidFill>
                <a:latin typeface="Sora"/>
              </a:rPr>
              <a:t>11,597</a:t>
            </a:r>
          </a:p>
        </p:txBody>
      </p:sp>
      <p:sp>
        <p:nvSpPr>
          <p:cNvPr id="9" name="TextBox 8"/>
          <p:cNvSpPr txBox="1"/>
          <p:nvPr/>
        </p:nvSpPr>
        <p:spPr>
          <a:xfrm>
            <a:off x="731520" y="2834640"/>
            <a:ext cx="2011680" cy="1280160"/>
          </a:xfrm>
          <a:prstGeom prst="rect">
            <a:avLst/>
          </a:prstGeom>
          <a:noFill/>
        </p:spPr>
        <p:txBody>
          <a:bodyPr wrap="square" lIns="0" rIns="0" tIns="0" bIns="0" anchor="t">
            <a:spAutoFit/>
          </a:bodyPr>
          <a:lstStyle/>
          <a:p>
            <a:pPr algn="l"/>
            <a:r>
              <a:rPr sz="900" b="0" i="0">
                <a:solidFill>
                  <a:srgbClr val="CADCFC"/>
                </a:solidFill>
                <a:latin typeface="Sora"/>
              </a:rPr>
              <a:t>sessions · 74.72% engagement · 3.32 views/session</a:t>
            </a:r>
          </a:p>
        </p:txBody>
      </p:sp>
      <p:sp>
        <p:nvSpPr>
          <p:cNvPr id="10" name="Right Arrow 9"/>
          <p:cNvSpPr/>
          <p:nvPr/>
        </p:nvSpPr>
        <p:spPr>
          <a:xfrm>
            <a:off x="3017520" y="1728216"/>
            <a:ext cx="274320" cy="201168"/>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600200"/>
            <a:ext cx="3657600" cy="457200"/>
          </a:xfrm>
          <a:prstGeom prst="roundRect">
            <a:avLst>
              <a:gd name="adj" fmla="val 20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40" y="1600200"/>
            <a:ext cx="2011680" cy="457200"/>
          </a:xfrm>
          <a:prstGeom prst="rect">
            <a:avLst/>
          </a:prstGeom>
          <a:noFill/>
        </p:spPr>
        <p:txBody>
          <a:bodyPr wrap="square" lIns="0" rIns="0" tIns="0" bIns="0" anchor="ctr">
            <a:spAutoFit/>
          </a:bodyPr>
          <a:lstStyle/>
          <a:p>
            <a:pPr algn="l"/>
            <a:r>
              <a:rPr sz="1200" b="1" i="0">
                <a:solidFill>
                  <a:srgbClr val="0F2C5C"/>
                </a:solidFill>
                <a:latin typeface="Sora"/>
              </a:rPr>
              <a:t>2,452  </a:t>
            </a:r>
            <a:r>
              <a:rPr sz="1000" b="0" i="0">
                <a:solidFill>
                  <a:srgbClr val="5A6472"/>
                </a:solidFill>
                <a:latin typeface="Sora"/>
              </a:rPr>
              <a:t>UG hub</a:t>
            </a:r>
          </a:p>
        </p:txBody>
      </p:sp>
      <p:sp>
        <p:nvSpPr>
          <p:cNvPr id="13" name="Right Arrow 12"/>
          <p:cNvSpPr/>
          <p:nvPr/>
        </p:nvSpPr>
        <p:spPr>
          <a:xfrm>
            <a:off x="3017520" y="2276856"/>
            <a:ext cx="274320" cy="201168"/>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9000" y="2148840"/>
            <a:ext cx="875616" cy="457200"/>
          </a:xfrm>
          <a:prstGeom prst="roundRect">
            <a:avLst>
              <a:gd name="adj" fmla="val 20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96056" y="2148840"/>
            <a:ext cx="2011680" cy="457200"/>
          </a:xfrm>
          <a:prstGeom prst="rect">
            <a:avLst/>
          </a:prstGeom>
          <a:noFill/>
        </p:spPr>
        <p:txBody>
          <a:bodyPr wrap="square" lIns="0" rIns="0" tIns="0" bIns="0" anchor="ctr">
            <a:spAutoFit/>
          </a:bodyPr>
          <a:lstStyle/>
          <a:p>
            <a:pPr algn="l"/>
            <a:r>
              <a:rPr sz="1200" b="1" i="0">
                <a:solidFill>
                  <a:srgbClr val="0F2C5C"/>
                </a:solidFill>
                <a:latin typeface="Sora"/>
              </a:rPr>
              <a:t>587  </a:t>
            </a:r>
            <a:r>
              <a:rPr sz="1000" b="0" i="0">
                <a:solidFill>
                  <a:srgbClr val="5A6472"/>
                </a:solidFill>
                <a:latin typeface="Sora"/>
              </a:rPr>
              <a:t>PG hub</a:t>
            </a:r>
          </a:p>
        </p:txBody>
      </p:sp>
      <p:sp>
        <p:nvSpPr>
          <p:cNvPr id="16" name="Right Arrow 15"/>
          <p:cNvSpPr/>
          <p:nvPr/>
        </p:nvSpPr>
        <p:spPr>
          <a:xfrm>
            <a:off x="3017520" y="2825496"/>
            <a:ext cx="274320" cy="201168"/>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29000" y="2697480"/>
            <a:ext cx="693631" cy="457200"/>
          </a:xfrm>
          <a:prstGeom prst="roundRect">
            <a:avLst>
              <a:gd name="adj" fmla="val 20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4071" y="2697480"/>
            <a:ext cx="2011680" cy="457200"/>
          </a:xfrm>
          <a:prstGeom prst="rect">
            <a:avLst/>
          </a:prstGeom>
          <a:noFill/>
        </p:spPr>
        <p:txBody>
          <a:bodyPr wrap="square" lIns="0" rIns="0" tIns="0" bIns="0" anchor="ctr">
            <a:spAutoFit/>
          </a:bodyPr>
          <a:lstStyle/>
          <a:p>
            <a:pPr algn="l"/>
            <a:r>
              <a:rPr sz="1200" b="1" i="0">
                <a:solidFill>
                  <a:srgbClr val="0F2C5C"/>
                </a:solidFill>
                <a:latin typeface="Sora"/>
              </a:rPr>
              <a:t>465  </a:t>
            </a:r>
            <a:r>
              <a:rPr sz="1000" b="0" i="0">
                <a:solidFill>
                  <a:srgbClr val="5A6472"/>
                </a:solidFill>
                <a:latin typeface="Sora"/>
              </a:rPr>
              <a:t>School hub</a:t>
            </a:r>
          </a:p>
        </p:txBody>
      </p:sp>
      <p:sp>
        <p:nvSpPr>
          <p:cNvPr id="19" name="Right Arrow 18"/>
          <p:cNvSpPr/>
          <p:nvPr/>
        </p:nvSpPr>
        <p:spPr>
          <a:xfrm>
            <a:off x="3017520" y="3374136"/>
            <a:ext cx="274320" cy="201168"/>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429000" y="3246120"/>
            <a:ext cx="474354" cy="457200"/>
          </a:xfrm>
          <a:prstGeom prst="roundRect">
            <a:avLst>
              <a:gd name="adj" fmla="val 20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94794" y="3246120"/>
            <a:ext cx="2011680" cy="457200"/>
          </a:xfrm>
          <a:prstGeom prst="rect">
            <a:avLst/>
          </a:prstGeom>
          <a:noFill/>
        </p:spPr>
        <p:txBody>
          <a:bodyPr wrap="square" lIns="0" rIns="0" tIns="0" bIns="0" anchor="ctr">
            <a:spAutoFit/>
          </a:bodyPr>
          <a:lstStyle/>
          <a:p>
            <a:pPr algn="l"/>
            <a:r>
              <a:rPr sz="1200" b="1" i="0">
                <a:solidFill>
                  <a:srgbClr val="0F2C5C"/>
                </a:solidFill>
                <a:latin typeface="Sora"/>
              </a:rPr>
              <a:t>318  </a:t>
            </a:r>
            <a:r>
              <a:rPr sz="1000" b="0" i="0">
                <a:solidFill>
                  <a:srgbClr val="5A6472"/>
                </a:solidFill>
                <a:latin typeface="Sora"/>
              </a:rPr>
              <a:t>Search</a:t>
            </a:r>
          </a:p>
        </p:txBody>
      </p:sp>
      <p:sp>
        <p:nvSpPr>
          <p:cNvPr id="22" name="Right Arrow 21"/>
          <p:cNvSpPr/>
          <p:nvPr/>
        </p:nvSpPr>
        <p:spPr>
          <a:xfrm>
            <a:off x="3017520" y="3922776"/>
            <a:ext cx="274320" cy="201168"/>
          </a:xfrm>
          <a:prstGeom prst="rightArrow">
            <a:avLst/>
          </a:prstGeom>
          <a:solidFill>
            <a:srgbClr val="96A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29000" y="3794760"/>
            <a:ext cx="428112" cy="457200"/>
          </a:xfrm>
          <a:prstGeom prst="roundRect">
            <a:avLst>
              <a:gd name="adj" fmla="val 20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48552" y="3794760"/>
            <a:ext cx="2011680" cy="457200"/>
          </a:xfrm>
          <a:prstGeom prst="rect">
            <a:avLst/>
          </a:prstGeom>
          <a:noFill/>
        </p:spPr>
        <p:txBody>
          <a:bodyPr wrap="square" lIns="0" rIns="0" tIns="0" bIns="0" anchor="ctr">
            <a:spAutoFit/>
          </a:bodyPr>
          <a:lstStyle/>
          <a:p>
            <a:pPr algn="l"/>
            <a:r>
              <a:rPr sz="1200" b="1" i="0">
                <a:solidFill>
                  <a:srgbClr val="0F2C5C"/>
                </a:solidFill>
                <a:latin typeface="Sora"/>
              </a:rPr>
              <a:t>287  </a:t>
            </a:r>
            <a:r>
              <a:rPr sz="1000" b="0" i="0">
                <a:solidFill>
                  <a:srgbClr val="5A6472"/>
                </a:solidFill>
                <a:latin typeface="Sora"/>
              </a:rPr>
              <a:t>Fees</a:t>
            </a:r>
          </a:p>
        </p:txBody>
      </p:sp>
      <p:sp>
        <p:nvSpPr>
          <p:cNvPr id="25" name="Rounded Rectangle 24"/>
          <p:cNvSpPr/>
          <p:nvPr/>
        </p:nvSpPr>
        <p:spPr>
          <a:xfrm>
            <a:off x="9144000" y="1600200"/>
            <a:ext cx="2468880" cy="128016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81160" y="1691640"/>
            <a:ext cx="2194560" cy="182880"/>
          </a:xfrm>
          <a:prstGeom prst="rect">
            <a:avLst/>
          </a:prstGeom>
          <a:noFill/>
        </p:spPr>
        <p:txBody>
          <a:bodyPr wrap="square" lIns="0" rIns="0" tIns="0" bIns="0" anchor="t">
            <a:spAutoFit/>
          </a:bodyPr>
          <a:lstStyle/>
          <a:p>
            <a:pPr algn="l"/>
            <a:r>
              <a:rPr sz="800" b="1" i="0">
                <a:solidFill>
                  <a:srgbClr val="C8102E"/>
                </a:solidFill>
                <a:latin typeface="Sora"/>
              </a:rPr>
              <a:t>LEAK · LOOP HOME</a:t>
            </a:r>
          </a:p>
        </p:txBody>
      </p:sp>
      <p:sp>
        <p:nvSpPr>
          <p:cNvPr id="27" name="TextBox 26"/>
          <p:cNvSpPr txBox="1"/>
          <p:nvPr/>
        </p:nvSpPr>
        <p:spPr>
          <a:xfrm>
            <a:off x="9281160" y="1911095"/>
            <a:ext cx="2194560" cy="932688"/>
          </a:xfrm>
          <a:prstGeom prst="rect">
            <a:avLst/>
          </a:prstGeom>
          <a:noFill/>
        </p:spPr>
        <p:txBody>
          <a:bodyPr wrap="square" lIns="0" rIns="0" tIns="0" bIns="0" anchor="t">
            <a:spAutoFit/>
          </a:bodyPr>
          <a:lstStyle/>
          <a:p>
            <a:pPr algn="l"/>
            <a:r>
              <a:rPr sz="1050" b="0" i="0">
                <a:solidFill>
                  <a:srgbClr val="0F2C5C"/>
                </a:solidFill>
                <a:latin typeface="Sora"/>
              </a:rPr>
              <a:t>673 moves from /mriirs go to the homepage.</a:t>
            </a:r>
          </a:p>
        </p:txBody>
      </p:sp>
      <p:sp>
        <p:nvSpPr>
          <p:cNvPr id="28" name="Rounded Rectangle 27"/>
          <p:cNvSpPr/>
          <p:nvPr/>
        </p:nvSpPr>
        <p:spPr>
          <a:xfrm>
            <a:off x="10914278" y="1673352"/>
            <a:ext cx="607161"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14278" y="1673352"/>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30" name="Rounded Rectangle 29"/>
          <p:cNvSpPr/>
          <p:nvPr/>
        </p:nvSpPr>
        <p:spPr>
          <a:xfrm>
            <a:off x="9144000" y="3017520"/>
            <a:ext cx="2468880" cy="128016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81160" y="3108960"/>
            <a:ext cx="2194560" cy="182880"/>
          </a:xfrm>
          <a:prstGeom prst="rect">
            <a:avLst/>
          </a:prstGeom>
          <a:noFill/>
        </p:spPr>
        <p:txBody>
          <a:bodyPr wrap="square" lIns="0" rIns="0" tIns="0" bIns="0" anchor="t">
            <a:spAutoFit/>
          </a:bodyPr>
          <a:lstStyle/>
          <a:p>
            <a:pPr algn="l"/>
            <a:r>
              <a:rPr sz="800" b="1" i="0">
                <a:solidFill>
                  <a:srgbClr val="C8102E"/>
                </a:solidFill>
                <a:latin typeface="Sora"/>
              </a:rPr>
              <a:t>LEAK · BRAND HOP</a:t>
            </a:r>
          </a:p>
        </p:txBody>
      </p:sp>
      <p:sp>
        <p:nvSpPr>
          <p:cNvPr id="32" name="TextBox 31"/>
          <p:cNvSpPr txBox="1"/>
          <p:nvPr/>
        </p:nvSpPr>
        <p:spPr>
          <a:xfrm>
            <a:off x="9281160" y="3328415"/>
            <a:ext cx="2194560" cy="932688"/>
          </a:xfrm>
          <a:prstGeom prst="rect">
            <a:avLst/>
          </a:prstGeom>
          <a:noFill/>
        </p:spPr>
        <p:txBody>
          <a:bodyPr wrap="square" lIns="0" rIns="0" tIns="0" bIns="0" anchor="t">
            <a:spAutoFit/>
          </a:bodyPr>
          <a:lstStyle/>
          <a:p>
            <a:pPr algn="l"/>
            <a:r>
              <a:rPr sz="1050" b="0" i="0">
                <a:solidFill>
                  <a:srgbClr val="0F2C5C"/>
                </a:solidFill>
                <a:latin typeface="Sora"/>
              </a:rPr>
              <a:t>166 moves from /mru to /mriirs; 494 between the fee pages.</a:t>
            </a:r>
          </a:p>
        </p:txBody>
      </p:sp>
      <p:sp>
        <p:nvSpPr>
          <p:cNvPr id="33" name="Rounded Rectangle 32"/>
          <p:cNvSpPr/>
          <p:nvPr/>
        </p:nvSpPr>
        <p:spPr>
          <a:xfrm>
            <a:off x="10914278" y="3090672"/>
            <a:ext cx="607161" cy="201168"/>
          </a:xfrm>
          <a:prstGeom prst="roundRect">
            <a:avLst>
              <a:gd name="adj" fmla="val 50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14278" y="3090672"/>
            <a:ext cx="607161" cy="201168"/>
          </a:xfrm>
          <a:prstGeom prst="rect">
            <a:avLst/>
          </a:prstGeom>
          <a:noFill/>
        </p:spPr>
        <p:txBody>
          <a:bodyPr wrap="square" lIns="0" rIns="0" tIns="0" bIns="0" anchor="ctr">
            <a:spAutoFit/>
          </a:bodyPr>
          <a:lstStyle/>
          <a:p>
            <a:pPr algn="ctr"/>
            <a:r>
              <a:rPr sz="750" b="1" i="0">
                <a:solidFill>
                  <a:srgbClr val="5A6472"/>
                </a:solidFill>
                <a:latin typeface="Sora"/>
              </a:rPr>
              <a:t>GA4 PATH</a:t>
            </a:r>
          </a:p>
        </p:txBody>
      </p:sp>
      <p:sp>
        <p:nvSpPr>
          <p:cNvPr id="35" name="Rounded Rectangle 34"/>
          <p:cNvSpPr/>
          <p:nvPr/>
        </p:nvSpPr>
        <p:spPr>
          <a:xfrm>
            <a:off x="548640" y="4617720"/>
            <a:ext cx="3566160" cy="171907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754880"/>
            <a:ext cx="3200400" cy="182880"/>
          </a:xfrm>
          <a:prstGeom prst="rect">
            <a:avLst/>
          </a:prstGeom>
          <a:noFill/>
        </p:spPr>
        <p:txBody>
          <a:bodyPr wrap="square" lIns="0" rIns="0" tIns="0" bIns="0" anchor="t">
            <a:spAutoFit/>
          </a:bodyPr>
          <a:lstStyle/>
          <a:p>
            <a:pPr algn="l"/>
            <a:r>
              <a:rPr sz="850" b="1" i="0">
                <a:solidFill>
                  <a:srgbClr val="C8102E"/>
                </a:solidFill>
                <a:latin typeface="Sora"/>
              </a:rPr>
              <a:t>INTERPRETATION</a:t>
            </a:r>
          </a:p>
        </p:txBody>
      </p:sp>
      <p:sp>
        <p:nvSpPr>
          <p:cNvPr id="37" name="TextBox 36"/>
          <p:cNvSpPr txBox="1"/>
          <p:nvPr/>
        </p:nvSpPr>
        <p:spPr>
          <a:xfrm>
            <a:off x="731520" y="5001768"/>
            <a:ext cx="3200400" cy="1261872"/>
          </a:xfrm>
          <a:prstGeom prst="rect">
            <a:avLst/>
          </a:prstGeom>
          <a:noFill/>
        </p:spPr>
        <p:txBody>
          <a:bodyPr wrap="square" lIns="0" rIns="0" tIns="0" bIns="0" anchor="t">
            <a:spAutoFit/>
          </a:bodyPr>
          <a:lstStyle/>
          <a:p>
            <a:pPr algn="l"/>
            <a:r>
              <a:rPr sz="1000" b="0" i="0">
                <a:solidFill>
                  <a:srgbClr val="0F2C5C"/>
                </a:solidFill>
                <a:latin typeface="Sora"/>
              </a:rPr>
              <a:t>Institution roots let users self-segment in one step and route them onward — and they carry 517 of 613 Apply-MRIIRS clicks. The leak is comparison: users who are still choosing loop home or hop brands.</a:t>
            </a:r>
          </a:p>
        </p:txBody>
      </p:sp>
      <p:sp>
        <p:nvSpPr>
          <p:cNvPr id="38" name="Rounded Rectangle 37"/>
          <p:cNvSpPr/>
          <p:nvPr/>
        </p:nvSpPr>
        <p:spPr>
          <a:xfrm>
            <a:off x="4297680" y="4617720"/>
            <a:ext cx="3566160" cy="1719072"/>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80560" y="4754880"/>
            <a:ext cx="3200400" cy="182880"/>
          </a:xfrm>
          <a:prstGeom prst="rect">
            <a:avLst/>
          </a:prstGeom>
          <a:noFill/>
        </p:spPr>
        <p:txBody>
          <a:bodyPr wrap="square" lIns="0" rIns="0" tIns="0" bIns="0" anchor="t">
            <a:spAutoFit/>
          </a:bodyPr>
          <a:lstStyle/>
          <a:p>
            <a:pPr algn="l"/>
            <a:r>
              <a:rPr sz="850" b="1" i="0">
                <a:solidFill>
                  <a:srgbClr val="CADCFC"/>
                </a:solidFill>
                <a:latin typeface="Sora"/>
              </a:rPr>
              <a:t>CRO QUESTION</a:t>
            </a:r>
          </a:p>
        </p:txBody>
      </p:sp>
      <p:sp>
        <p:nvSpPr>
          <p:cNvPr id="40" name="TextBox 39"/>
          <p:cNvSpPr txBox="1"/>
          <p:nvPr/>
        </p:nvSpPr>
        <p:spPr>
          <a:xfrm>
            <a:off x="4480560" y="5001768"/>
            <a:ext cx="3200400" cy="1261872"/>
          </a:xfrm>
          <a:prstGeom prst="rect">
            <a:avLst/>
          </a:prstGeom>
          <a:noFill/>
        </p:spPr>
        <p:txBody>
          <a:bodyPr wrap="square" lIns="0" rIns="0" tIns="0" bIns="0" anchor="t">
            <a:spAutoFit/>
          </a:bodyPr>
          <a:lstStyle/>
          <a:p>
            <a:pPr algn="l"/>
            <a:r>
              <a:rPr sz="1250" b="1" i="0">
                <a:solidFill>
                  <a:srgbClr val="FFFFFF"/>
                </a:solidFill>
                <a:latin typeface="Sora"/>
              </a:rPr>
              <a:t>What is working here that other templates should copy — and where do comparers lose the thread?</a:t>
            </a:r>
          </a:p>
        </p:txBody>
      </p:sp>
      <p:sp>
        <p:nvSpPr>
          <p:cNvPr id="41" name="Rounded Rectangle 40"/>
          <p:cNvSpPr/>
          <p:nvPr/>
        </p:nvSpPr>
        <p:spPr>
          <a:xfrm>
            <a:off x="8046719" y="4617720"/>
            <a:ext cx="3566160" cy="1719072"/>
          </a:xfrm>
          <a:prstGeom prst="roundRect">
            <a:avLst>
              <a:gd name="adj" fmla="val 6000"/>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0" y="4754880"/>
            <a:ext cx="3200400" cy="182880"/>
          </a:xfrm>
          <a:prstGeom prst="rect">
            <a:avLst/>
          </a:prstGeom>
          <a:noFill/>
        </p:spPr>
        <p:txBody>
          <a:bodyPr wrap="square" lIns="0" rIns="0" tIns="0" bIns="0" anchor="t">
            <a:spAutoFit/>
          </a:bodyPr>
          <a:lstStyle/>
          <a:p>
            <a:pPr algn="l"/>
            <a:r>
              <a:rPr sz="850" b="1" i="0">
                <a:solidFill>
                  <a:srgbClr val="C8102E"/>
                </a:solidFill>
                <a:latin typeface="Sora"/>
              </a:rPr>
              <a:t>OPPORTUNITY</a:t>
            </a:r>
          </a:p>
        </p:txBody>
      </p:sp>
      <p:sp>
        <p:nvSpPr>
          <p:cNvPr id="43" name="TextBox 42"/>
          <p:cNvSpPr txBox="1"/>
          <p:nvPr/>
        </p:nvSpPr>
        <p:spPr>
          <a:xfrm>
            <a:off x="8229600" y="5001768"/>
            <a:ext cx="3200400" cy="1261872"/>
          </a:xfrm>
          <a:prstGeom prst="rect">
            <a:avLst/>
          </a:prstGeom>
          <a:noFill/>
        </p:spPr>
        <p:txBody>
          <a:bodyPr wrap="square" lIns="0" rIns="0" tIns="0" bIns="0" anchor="t">
            <a:spAutoFit/>
          </a:bodyPr>
          <a:lstStyle/>
          <a:p>
            <a:pPr algn="l"/>
            <a:r>
              <a:rPr sz="1050" b="0" i="0">
                <a:solidFill>
                  <a:srgbClr val="0F2C5C"/>
                </a:solidFill>
                <a:latin typeface="Sora"/>
              </a:rPr>
              <a:t>Protect the hub pattern and replicate it on school pages; add a “compare MRIIRS and MRU” / counsellor route for users still choosing.</a:t>
            </a:r>
          </a:p>
        </p:txBody>
      </p:sp>
      <p:sp>
        <p:nvSpPr>
          <p:cNvPr id="44" name="TextBox 43"/>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GA4 event export by page type (event counts; separate pull, not directly comparable).</a:t>
            </a:r>
          </a:p>
        </p:txBody>
      </p:sp>
      <p:sp>
        <p:nvSpPr>
          <p:cNvPr id="45" name="Rounded Rectangle 44"/>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46"/>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UNIVERSITY SHORTLISTER — CURRENT STATE</a:t>
            </a:r>
            <a:endParaRPr sz="1500"/>
          </a:p>
        </p:txBody>
      </p:sp>
      <p:sp>
        <p:nvSpPr>
          <p:cNvPr id="805" name="Google Shape;805;p46"/>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/mriirs — the institution root page</a:t>
            </a:r>
            <a:endParaRPr sz="1500"/>
          </a:p>
        </p:txBody>
      </p:sp>
      <p:sp>
        <p:nvSpPr>
          <p:cNvPr id="806" name="Google Shape;806;p46"/>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11,597 sessions · 74.72% engagement, 3.32 views/session — already one of the best templates on the site</a:t>
            </a:r>
            <a:endParaRPr sz="1500"/>
          </a:p>
        </p:txBody>
      </p:sp>
      <p:pic>
        <p:nvPicPr>
          <p:cNvPr descr="annotated-mriirs-root-fold1.png" id="807" name="Google Shape;807;p46"/>
          <p:cNvPicPr preferRelativeResize="0"/>
          <p:nvPr/>
        </p:nvPicPr>
        <p:blipFill rotWithShape="1">
          <a:blip r:embed="rId3">
            <a:alphaModFix/>
          </a:blip>
          <a:srcRect b="0" l="0" r="0" t="0"/>
          <a:stretch/>
        </p:blipFill>
        <p:spPr>
          <a:xfrm>
            <a:off x="548640" y="1600200"/>
            <a:ext cx="2007024" cy="4343405"/>
          </a:xfrm>
          <a:prstGeom prst="rect">
            <a:avLst/>
          </a:prstGeom>
          <a:noFill/>
          <a:ln>
            <a:noFill/>
          </a:ln>
        </p:spPr>
      </p:pic>
      <p:pic>
        <p:nvPicPr>
          <p:cNvPr descr="annotated-mriirs-root-fold2.png" id="808" name="Google Shape;808;p46"/>
          <p:cNvPicPr preferRelativeResize="0"/>
          <p:nvPr/>
        </p:nvPicPr>
        <p:blipFill rotWithShape="1">
          <a:blip r:embed="rId4">
            <a:alphaModFix/>
          </a:blip>
          <a:srcRect b="0" l="0" r="0" t="0"/>
          <a:stretch/>
        </p:blipFill>
        <p:spPr>
          <a:xfrm>
            <a:off x="2811693" y="1600200"/>
            <a:ext cx="2007024" cy="4343405"/>
          </a:xfrm>
          <a:prstGeom prst="rect">
            <a:avLst/>
          </a:prstGeom>
          <a:noFill/>
          <a:ln>
            <a:noFill/>
          </a:ln>
        </p:spPr>
      </p:pic>
      <p:sp>
        <p:nvSpPr>
          <p:cNvPr id="809" name="Google Shape;809;p46"/>
          <p:cNvSpPr txBox="1"/>
          <p:nvPr/>
        </p:nvSpPr>
        <p:spPr>
          <a:xfrm>
            <a:off x="548640"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1</a:t>
            </a:r>
            <a:endParaRPr sz="1500"/>
          </a:p>
        </p:txBody>
      </p:sp>
      <p:sp>
        <p:nvSpPr>
          <p:cNvPr id="810" name="Google Shape;810;p46"/>
          <p:cNvSpPr txBox="1"/>
          <p:nvPr/>
        </p:nvSpPr>
        <p:spPr>
          <a:xfrm>
            <a:off x="2811693"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2</a:t>
            </a:r>
            <a:endParaRPr sz="1500"/>
          </a:p>
        </p:txBody>
      </p:sp>
      <p:sp>
        <p:nvSpPr>
          <p:cNvPr id="811" name="Google Shape;811;p46"/>
          <p:cNvSpPr/>
          <p:nvPr/>
        </p:nvSpPr>
        <p:spPr>
          <a:xfrm>
            <a:off x="5184474" y="1600200"/>
            <a:ext cx="6458700" cy="46176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12" name="Google Shape;812;p46"/>
          <p:cNvSpPr/>
          <p:nvPr/>
        </p:nvSpPr>
        <p:spPr>
          <a:xfrm>
            <a:off x="5440506" y="1847088"/>
            <a:ext cx="365700" cy="365700"/>
          </a:xfrm>
          <a:prstGeom prst="ellipse">
            <a:avLst/>
          </a:prstGeom>
          <a:solidFill>
            <a:srgbClr val="1E7B34"/>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13" name="Google Shape;813;p46"/>
          <p:cNvSpPr txBox="1"/>
          <p:nvPr/>
        </p:nvSpPr>
        <p:spPr>
          <a:xfrm>
            <a:off x="5440506" y="1847088"/>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1</a:t>
            </a:r>
            <a:endParaRPr sz="1500"/>
          </a:p>
        </p:txBody>
      </p:sp>
      <p:sp>
        <p:nvSpPr>
          <p:cNvPr id="814" name="Google Shape;814;p46"/>
          <p:cNvSpPr txBox="1"/>
          <p:nvPr/>
        </p:nvSpPr>
        <p:spPr>
          <a:xfrm>
            <a:off x="5934282" y="181051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“Find A Program” search sits right in the hero — self-segmentation from second one.</a:t>
            </a:r>
            <a:endParaRPr sz="1500"/>
          </a:p>
        </p:txBody>
      </p:sp>
      <p:sp>
        <p:nvSpPr>
          <p:cNvPr id="815" name="Google Shape;815;p46"/>
          <p:cNvSpPr/>
          <p:nvPr/>
        </p:nvSpPr>
        <p:spPr>
          <a:xfrm>
            <a:off x="5440506" y="2834640"/>
            <a:ext cx="365700" cy="365700"/>
          </a:xfrm>
          <a:prstGeom prst="ellipse">
            <a:avLst/>
          </a:prstGeom>
          <a:solidFill>
            <a:srgbClr val="1E7B34"/>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16" name="Google Shape;816;p46"/>
          <p:cNvSpPr txBox="1"/>
          <p:nvPr/>
        </p:nvSpPr>
        <p:spPr>
          <a:xfrm>
            <a:off x="5440506" y="2834640"/>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2</a:t>
            </a:r>
            <a:endParaRPr sz="1500"/>
          </a:p>
        </p:txBody>
      </p:sp>
      <p:sp>
        <p:nvSpPr>
          <p:cNvPr id="817" name="Google Shape;817;p46"/>
          <p:cNvSpPr txBox="1"/>
          <p:nvPr/>
        </p:nvSpPr>
        <p:spPr>
          <a:xfrm>
            <a:off x="5934282" y="2798064"/>
            <a:ext cx="54528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Trust signals up front: Deemed-to-be-University status + NAAC A++.</a:t>
            </a:r>
            <a:endParaRPr sz="1500"/>
          </a:p>
        </p:txBody>
      </p:sp>
      <p:sp>
        <p:nvSpPr>
          <p:cNvPr id="818" name="Google Shape;818;p46"/>
          <p:cNvSpPr/>
          <p:nvPr/>
        </p:nvSpPr>
        <p:spPr>
          <a:xfrm>
            <a:off x="5440506" y="3822192"/>
            <a:ext cx="365700" cy="365700"/>
          </a:xfrm>
          <a:prstGeom prst="ellipse">
            <a:avLst/>
          </a:prstGeom>
          <a:solidFill>
            <a:srgbClr val="1E7B34"/>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19" name="Google Shape;819;p46"/>
          <p:cNvSpPr txBox="1"/>
          <p:nvPr/>
        </p:nvSpPr>
        <p:spPr>
          <a:xfrm>
            <a:off x="5440506" y="3822192"/>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3</a:t>
            </a:r>
            <a:endParaRPr sz="1500"/>
          </a:p>
        </p:txBody>
      </p:sp>
      <p:sp>
        <p:nvSpPr>
          <p:cNvPr id="820" name="Google Shape;820;p46"/>
          <p:cNvSpPr txBox="1"/>
          <p:nvPr/>
        </p:nvSpPr>
        <p:spPr>
          <a:xfrm>
            <a:off x="5934282" y="3785616"/>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Clean UG / PG / Doctoral hub — exactly the picker pattern competitors use.</a:t>
            </a:r>
            <a:endParaRPr sz="1500"/>
          </a:p>
        </p:txBody>
      </p:sp>
      <p:sp>
        <p:nvSpPr>
          <p:cNvPr id="821" name="Google Shape;821;p46"/>
          <p:cNvSpPr/>
          <p:nvPr/>
        </p:nvSpPr>
        <p:spPr>
          <a:xfrm>
            <a:off x="5440506" y="4809744"/>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22" name="Google Shape;822;p46"/>
          <p:cNvSpPr txBox="1"/>
          <p:nvPr/>
        </p:nvSpPr>
        <p:spPr>
          <a:xfrm>
            <a:off x="5440506" y="4809744"/>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4</a:t>
            </a:r>
            <a:endParaRPr sz="1500"/>
          </a:p>
        </p:txBody>
      </p:sp>
      <p:sp>
        <p:nvSpPr>
          <p:cNvPr id="823" name="Google Shape;823;p46"/>
          <p:cNvSpPr txBox="1"/>
          <p:nvPr/>
        </p:nvSpPr>
        <p:spPr>
          <a:xfrm>
            <a:off x="5934282" y="4773168"/>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Same generic sticky CTAs and chat overlay clip the search bar and the hub tiles.</a:t>
            </a:r>
            <a:endParaRPr sz="1500"/>
          </a:p>
        </p:txBody>
      </p:sp>
      <p:sp>
        <p:nvSpPr>
          <p:cNvPr id="824" name="Google Shape;824;p46"/>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13 Jun – 10 Sept 2026. Live capture, 390px mobile viewport, 22 Sept 2026.</a:t>
            </a:r>
            <a:endParaRPr sz="1500"/>
          </a:p>
        </p:txBody>
      </p:sp>
      <p:sp>
        <p:nvSpPr>
          <p:cNvPr id="825" name="Rounded Rectangle 824"/>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47"/>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UNIVERSITY SHORTLISTER — CURRENT STATE</a:t>
            </a:r>
            <a:endParaRPr sz="1500"/>
          </a:p>
        </p:txBody>
      </p:sp>
      <p:sp>
        <p:nvSpPr>
          <p:cNvPr id="830" name="Google Shape;830;p47"/>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/mru — the same template, one institution over</a:t>
            </a:r>
            <a:endParaRPr sz="1500"/>
          </a:p>
        </p:txBody>
      </p:sp>
      <p:sp>
        <p:nvSpPr>
          <p:cNvPr id="831" name="Google Shape;831;p47"/>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3,877 sessions · 78.44% engagement, 21.56% bounce — the pattern travels correctly</a:t>
            </a:r>
            <a:endParaRPr sz="1500"/>
          </a:p>
        </p:txBody>
      </p:sp>
      <p:pic>
        <p:nvPicPr>
          <p:cNvPr descr="annotated-mru-root-fold1.png" id="832" name="Google Shape;832;p47"/>
          <p:cNvPicPr preferRelativeResize="0"/>
          <p:nvPr/>
        </p:nvPicPr>
        <p:blipFill rotWithShape="1">
          <a:blip r:embed="rId3">
            <a:alphaModFix/>
          </a:blip>
          <a:srcRect b="0" l="0" r="0" t="0"/>
          <a:stretch/>
        </p:blipFill>
        <p:spPr>
          <a:xfrm>
            <a:off x="548640" y="1600200"/>
            <a:ext cx="2007024" cy="4343405"/>
          </a:xfrm>
          <a:prstGeom prst="rect">
            <a:avLst/>
          </a:prstGeom>
          <a:noFill/>
          <a:ln>
            <a:noFill/>
          </a:ln>
        </p:spPr>
      </p:pic>
      <p:pic>
        <p:nvPicPr>
          <p:cNvPr descr="annotated-mru-root-fold2.png" id="833" name="Google Shape;833;p47"/>
          <p:cNvPicPr preferRelativeResize="0"/>
          <p:nvPr/>
        </p:nvPicPr>
        <p:blipFill rotWithShape="1">
          <a:blip r:embed="rId4">
            <a:alphaModFix/>
          </a:blip>
          <a:srcRect b="0" l="0" r="0" t="0"/>
          <a:stretch/>
        </p:blipFill>
        <p:spPr>
          <a:xfrm>
            <a:off x="2811693" y="1600200"/>
            <a:ext cx="2007024" cy="4343405"/>
          </a:xfrm>
          <a:prstGeom prst="rect">
            <a:avLst/>
          </a:prstGeom>
          <a:noFill/>
          <a:ln>
            <a:noFill/>
          </a:ln>
        </p:spPr>
      </p:pic>
      <p:sp>
        <p:nvSpPr>
          <p:cNvPr id="834" name="Google Shape;834;p47"/>
          <p:cNvSpPr txBox="1"/>
          <p:nvPr/>
        </p:nvSpPr>
        <p:spPr>
          <a:xfrm>
            <a:off x="548640"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1</a:t>
            </a:r>
            <a:endParaRPr sz="1500"/>
          </a:p>
        </p:txBody>
      </p:sp>
      <p:sp>
        <p:nvSpPr>
          <p:cNvPr id="835" name="Google Shape;835;p47"/>
          <p:cNvSpPr txBox="1"/>
          <p:nvPr/>
        </p:nvSpPr>
        <p:spPr>
          <a:xfrm>
            <a:off x="2811693" y="5989320"/>
            <a:ext cx="20073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5A6472"/>
                </a:solidFill>
                <a:latin typeface="Sora"/>
                <a:ea typeface="Sora"/>
                <a:cs typeface="Sora"/>
                <a:sym typeface="Sora"/>
              </a:rPr>
              <a:t>FOLD 2</a:t>
            </a:r>
            <a:endParaRPr sz="1500"/>
          </a:p>
        </p:txBody>
      </p:sp>
      <p:sp>
        <p:nvSpPr>
          <p:cNvPr id="836" name="Google Shape;836;p47"/>
          <p:cNvSpPr/>
          <p:nvPr/>
        </p:nvSpPr>
        <p:spPr>
          <a:xfrm>
            <a:off x="5184474" y="1600200"/>
            <a:ext cx="6458700" cy="46176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37" name="Google Shape;837;p47"/>
          <p:cNvSpPr/>
          <p:nvPr/>
        </p:nvSpPr>
        <p:spPr>
          <a:xfrm>
            <a:off x="5440506" y="1847088"/>
            <a:ext cx="365700" cy="365700"/>
          </a:xfrm>
          <a:prstGeom prst="ellipse">
            <a:avLst/>
          </a:prstGeom>
          <a:solidFill>
            <a:srgbClr val="1E7B34"/>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38" name="Google Shape;838;p47"/>
          <p:cNvSpPr txBox="1"/>
          <p:nvPr/>
        </p:nvSpPr>
        <p:spPr>
          <a:xfrm>
            <a:off x="5440506" y="1847088"/>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1</a:t>
            </a:r>
            <a:endParaRPr sz="1500"/>
          </a:p>
        </p:txBody>
      </p:sp>
      <p:sp>
        <p:nvSpPr>
          <p:cNvPr id="839" name="Google Shape;839;p47"/>
          <p:cNvSpPr txBox="1"/>
          <p:nvPr/>
        </p:nvSpPr>
        <p:spPr>
          <a:xfrm>
            <a:off x="5934282" y="1810512"/>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Same “Find A Program” search and candid campus photography — consistent template.</a:t>
            </a:r>
            <a:endParaRPr sz="1500"/>
          </a:p>
        </p:txBody>
      </p:sp>
      <p:sp>
        <p:nvSpPr>
          <p:cNvPr id="840" name="Google Shape;840;p47"/>
          <p:cNvSpPr/>
          <p:nvPr/>
        </p:nvSpPr>
        <p:spPr>
          <a:xfrm>
            <a:off x="5440506" y="2834640"/>
            <a:ext cx="365700" cy="365700"/>
          </a:xfrm>
          <a:prstGeom prst="ellipse">
            <a:avLst/>
          </a:prstGeom>
          <a:solidFill>
            <a:srgbClr val="1E7B34"/>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41" name="Google Shape;841;p47"/>
          <p:cNvSpPr txBox="1"/>
          <p:nvPr/>
        </p:nvSpPr>
        <p:spPr>
          <a:xfrm>
            <a:off x="5440506" y="2834640"/>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2</a:t>
            </a:r>
            <a:endParaRPr sz="1500"/>
          </a:p>
        </p:txBody>
      </p:sp>
      <p:sp>
        <p:nvSpPr>
          <p:cNvPr id="842" name="Google Shape;842;p47"/>
          <p:cNvSpPr txBox="1"/>
          <p:nvPr/>
        </p:nvSpPr>
        <p:spPr>
          <a:xfrm>
            <a:off x="5934282" y="2798064"/>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Same UG / PG / Doctoral hub — MRU is actually 3.7 points higher on engagement than MRIIRS.</a:t>
            </a:r>
            <a:endParaRPr sz="1500"/>
          </a:p>
        </p:txBody>
      </p:sp>
      <p:sp>
        <p:nvSpPr>
          <p:cNvPr id="843" name="Google Shape;843;p47"/>
          <p:cNvSpPr/>
          <p:nvPr/>
        </p:nvSpPr>
        <p:spPr>
          <a:xfrm>
            <a:off x="5440506" y="3822192"/>
            <a:ext cx="365700" cy="365700"/>
          </a:xfrm>
          <a:prstGeom prst="ellipse">
            <a:avLst/>
          </a:prstGeom>
          <a:solidFill>
            <a:srgbClr val="B8860B"/>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44" name="Google Shape;844;p47"/>
          <p:cNvSpPr txBox="1"/>
          <p:nvPr/>
        </p:nvSpPr>
        <p:spPr>
          <a:xfrm>
            <a:off x="5440506" y="3822192"/>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3</a:t>
            </a:r>
            <a:endParaRPr sz="1500"/>
          </a:p>
        </p:txBody>
      </p:sp>
      <p:sp>
        <p:nvSpPr>
          <p:cNvPr id="845" name="Google Shape;845;p47"/>
          <p:cNvSpPr txBox="1"/>
          <p:nvPr/>
        </p:nvSpPr>
        <p:spPr>
          <a:xfrm>
            <a:off x="5934282" y="3785616"/>
            <a:ext cx="5452800" cy="37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NAAC badge text gets clipped in the header on this sub-brand — a small polish miss.</a:t>
            </a:r>
            <a:endParaRPr sz="1500"/>
          </a:p>
        </p:txBody>
      </p:sp>
      <p:sp>
        <p:nvSpPr>
          <p:cNvPr id="846" name="Google Shape;846;p47"/>
          <p:cNvSpPr/>
          <p:nvPr/>
        </p:nvSpPr>
        <p:spPr>
          <a:xfrm>
            <a:off x="5440506" y="4809744"/>
            <a:ext cx="365700" cy="3657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47" name="Google Shape;847;p47"/>
          <p:cNvSpPr txBox="1"/>
          <p:nvPr/>
        </p:nvSpPr>
        <p:spPr>
          <a:xfrm>
            <a:off x="5440506" y="4809744"/>
            <a:ext cx="3657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Sora"/>
                <a:ea typeface="Sora"/>
                <a:cs typeface="Sora"/>
                <a:sym typeface="Sora"/>
              </a:rPr>
              <a:t>4</a:t>
            </a:r>
            <a:endParaRPr sz="1500"/>
          </a:p>
        </p:txBody>
      </p:sp>
      <p:sp>
        <p:nvSpPr>
          <p:cNvPr id="848" name="Google Shape;848;p47"/>
          <p:cNvSpPr txBox="1"/>
          <p:nvPr/>
        </p:nvSpPr>
        <p:spPr>
          <a:xfrm>
            <a:off x="5934282" y="4773168"/>
            <a:ext cx="54528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0F2C5C"/>
                </a:solidFill>
                <a:latin typeface="Sora"/>
                <a:ea typeface="Sora"/>
                <a:cs typeface="Sora"/>
                <a:sym typeface="Sora"/>
              </a:rPr>
              <a:t>Sticky CTAs still present, still generic, still undifferentiated by persona.</a:t>
            </a:r>
            <a:endParaRPr sz="1500"/>
          </a:p>
        </p:txBody>
      </p:sp>
      <p:sp>
        <p:nvSpPr>
          <p:cNvPr id="849" name="Google Shape;849;p47"/>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13 Jun – 10 Sept 2026. Live capture, 390px mobile viewport, 22 Sept 2026.</a:t>
            </a:r>
            <a:endParaRPr sz="1500"/>
          </a:p>
        </p:txBody>
      </p:sp>
      <p:sp>
        <p:nvSpPr>
          <p:cNvPr id="850" name="Rounded Rectangle 849"/>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48"/>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WHO LANDS HERE</a:t>
            </a:r>
            <a:endParaRPr sz="1500"/>
          </a:p>
        </p:txBody>
      </p:sp>
      <p:sp>
        <p:nvSpPr>
          <p:cNvPr id="855" name="Google Shape;855;p48"/>
          <p:cNvSpPr txBox="1"/>
          <p:nvPr/>
        </p:nvSpPr>
        <p:spPr>
          <a:xfrm>
            <a:off x="548640" y="713232"/>
            <a:ext cx="11064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F2C5C"/>
                </a:solidFill>
                <a:latin typeface="Sora"/>
                <a:ea typeface="Sora"/>
                <a:cs typeface="Sora"/>
                <a:sym typeface="Sora"/>
              </a:rPr>
              <a:t>The University Shortlister — the best-performing journey on the site</a:t>
            </a:r>
            <a:endParaRPr sz="1500"/>
          </a:p>
        </p:txBody>
      </p:sp>
      <p:sp>
        <p:nvSpPr>
          <p:cNvPr id="856" name="Google Shape;856;p48"/>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“Is this university right for me?” — comparing across institutions before committing to a course</a:t>
            </a:r>
            <a:endParaRPr sz="1500"/>
          </a:p>
        </p:txBody>
      </p:sp>
      <p:sp>
        <p:nvSpPr>
          <p:cNvPr id="857" name="Google Shape;857;p48"/>
          <p:cNvSpPr/>
          <p:nvPr/>
        </p:nvSpPr>
        <p:spPr>
          <a:xfrm>
            <a:off x="548640" y="1645920"/>
            <a:ext cx="2651700" cy="1188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58" name="Google Shape;858;p48"/>
          <p:cNvSpPr txBox="1"/>
          <p:nvPr/>
        </p:nvSpPr>
        <p:spPr>
          <a:xfrm>
            <a:off x="749808" y="1792224"/>
            <a:ext cx="22497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C8102E"/>
                </a:solidFill>
                <a:latin typeface="Sora"/>
                <a:ea typeface="Sora"/>
                <a:cs typeface="Sora"/>
                <a:sym typeface="Sora"/>
              </a:rPr>
              <a:t>18,752</a:t>
            </a:r>
            <a:endParaRPr sz="1500"/>
          </a:p>
        </p:txBody>
      </p:sp>
      <p:sp>
        <p:nvSpPr>
          <p:cNvPr id="859" name="Google Shape;859;p48"/>
          <p:cNvSpPr txBox="1"/>
          <p:nvPr/>
        </p:nvSpPr>
        <p:spPr>
          <a:xfrm>
            <a:off x="749808" y="2286000"/>
            <a:ext cx="2249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sessions · 12% of all sessions</a:t>
            </a:r>
            <a:endParaRPr sz="1500"/>
          </a:p>
        </p:txBody>
      </p:sp>
      <p:sp>
        <p:nvSpPr>
          <p:cNvPr id="860" name="Google Shape;860;p48"/>
          <p:cNvSpPr/>
          <p:nvPr/>
        </p:nvSpPr>
        <p:spPr>
          <a:xfrm>
            <a:off x="3364992" y="1645920"/>
            <a:ext cx="2651700" cy="1188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61" name="Google Shape;861;p48"/>
          <p:cNvSpPr txBox="1"/>
          <p:nvPr/>
        </p:nvSpPr>
        <p:spPr>
          <a:xfrm>
            <a:off x="3566160" y="1792224"/>
            <a:ext cx="22497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C8102E"/>
                </a:solidFill>
                <a:latin typeface="Sora"/>
                <a:ea typeface="Sora"/>
                <a:cs typeface="Sora"/>
                <a:sym typeface="Sora"/>
              </a:rPr>
              <a:t>76.1%</a:t>
            </a:r>
            <a:endParaRPr sz="1500"/>
          </a:p>
        </p:txBody>
      </p:sp>
      <p:sp>
        <p:nvSpPr>
          <p:cNvPr id="862" name="Google Shape;862;p48"/>
          <p:cNvSpPr txBox="1"/>
          <p:nvPr/>
        </p:nvSpPr>
        <p:spPr>
          <a:xfrm>
            <a:off x="3566160" y="2286000"/>
            <a:ext cx="22497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engagement rate — best of any persona on the site</a:t>
            </a:r>
            <a:endParaRPr sz="1500"/>
          </a:p>
        </p:txBody>
      </p:sp>
      <p:sp>
        <p:nvSpPr>
          <p:cNvPr id="863" name="Google Shape;863;p48"/>
          <p:cNvSpPr/>
          <p:nvPr/>
        </p:nvSpPr>
        <p:spPr>
          <a:xfrm>
            <a:off x="6181344" y="1645920"/>
            <a:ext cx="2651700" cy="1188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64" name="Google Shape;864;p48"/>
          <p:cNvSpPr txBox="1"/>
          <p:nvPr/>
        </p:nvSpPr>
        <p:spPr>
          <a:xfrm>
            <a:off x="6382512" y="1792224"/>
            <a:ext cx="22497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C8102E"/>
                </a:solidFill>
                <a:latin typeface="Sora"/>
                <a:ea typeface="Sora"/>
                <a:cs typeface="Sora"/>
                <a:sym typeface="Sora"/>
              </a:rPr>
              <a:t>3.33</a:t>
            </a:r>
            <a:endParaRPr sz="1500"/>
          </a:p>
        </p:txBody>
      </p:sp>
      <p:sp>
        <p:nvSpPr>
          <p:cNvPr id="865" name="Google Shape;865;p48"/>
          <p:cNvSpPr txBox="1"/>
          <p:nvPr/>
        </p:nvSpPr>
        <p:spPr>
          <a:xfrm>
            <a:off x="6382512" y="2286000"/>
            <a:ext cx="22497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views per session — also the best on the site</a:t>
            </a:r>
            <a:endParaRPr sz="1500"/>
          </a:p>
        </p:txBody>
      </p:sp>
      <p:sp>
        <p:nvSpPr>
          <p:cNvPr id="866" name="Google Shape;866;p48"/>
          <p:cNvSpPr/>
          <p:nvPr/>
        </p:nvSpPr>
        <p:spPr>
          <a:xfrm>
            <a:off x="8997696" y="1645920"/>
            <a:ext cx="2651700" cy="11889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67" name="Google Shape;867;p48"/>
          <p:cNvSpPr txBox="1"/>
          <p:nvPr/>
        </p:nvSpPr>
        <p:spPr>
          <a:xfrm>
            <a:off x="9198864" y="1792224"/>
            <a:ext cx="22497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C8102E"/>
                </a:solidFill>
                <a:latin typeface="Sora"/>
                <a:ea typeface="Sora"/>
                <a:cs typeface="Sora"/>
                <a:sym typeface="Sora"/>
              </a:rPr>
              <a:t>/mriirs, /mru</a:t>
            </a:r>
            <a:endParaRPr sz="1500"/>
          </a:p>
        </p:txBody>
      </p:sp>
      <p:sp>
        <p:nvSpPr>
          <p:cNvPr id="868" name="Google Shape;868;p48"/>
          <p:cNvSpPr txBox="1"/>
          <p:nvPr/>
        </p:nvSpPr>
        <p:spPr>
          <a:xfrm>
            <a:off x="9198864" y="2286000"/>
            <a:ext cx="22497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0F2C5C"/>
                </a:solidFill>
                <a:latin typeface="Sora"/>
                <a:ea typeface="Sora"/>
                <a:cs typeface="Sora"/>
                <a:sym typeface="Sora"/>
              </a:rPr>
              <a:t>distribute onward correctly: UG, PG, school hubs, search, fees</a:t>
            </a:r>
            <a:endParaRPr sz="1500"/>
          </a:p>
        </p:txBody>
      </p:sp>
      <p:sp>
        <p:nvSpPr>
          <p:cNvPr id="869" name="Google Shape;869;p48"/>
          <p:cNvSpPr/>
          <p:nvPr/>
        </p:nvSpPr>
        <p:spPr>
          <a:xfrm>
            <a:off x="548640" y="3154680"/>
            <a:ext cx="5349300" cy="15549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70" name="Google Shape;870;p48"/>
          <p:cNvSpPr txBox="1"/>
          <p:nvPr/>
        </p:nvSpPr>
        <p:spPr>
          <a:xfrm>
            <a:off x="777240" y="3319272"/>
            <a:ext cx="48921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MRIIRS — /mriirs</a:t>
            </a:r>
            <a:endParaRPr sz="1500"/>
          </a:p>
        </p:txBody>
      </p:sp>
      <p:sp>
        <p:nvSpPr>
          <p:cNvPr id="871" name="Google Shape;871;p48"/>
          <p:cNvSpPr txBox="1"/>
          <p:nvPr/>
        </p:nvSpPr>
        <p:spPr>
          <a:xfrm>
            <a:off x="777240" y="3685032"/>
            <a:ext cx="48921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11,597 sessions · 74.72% engagement · 3.32 views/session</a:t>
            </a:r>
            <a:endParaRPr sz="1500"/>
          </a:p>
        </p:txBody>
      </p:sp>
      <p:sp>
        <p:nvSpPr>
          <p:cNvPr id="872" name="Google Shape;872;p48"/>
          <p:cNvSpPr txBox="1"/>
          <p:nvPr/>
        </p:nvSpPr>
        <p:spPr>
          <a:xfrm>
            <a:off x="777240" y="4114800"/>
            <a:ext cx="4892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100" u="none" cap="none" strike="noStrike">
                <a:solidFill>
                  <a:srgbClr val="C8102E"/>
                </a:solidFill>
                <a:latin typeface="Sora"/>
                <a:ea typeface="Sora"/>
                <a:cs typeface="Sora"/>
                <a:sym typeface="Sora"/>
              </a:rPr>
              <a:t>“Distributes onward: UG hub 2,452 · PG 587 · school hub 465 · search 318 · fees 287.”</a:t>
            </a:r>
            <a:endParaRPr sz="1500"/>
          </a:p>
        </p:txBody>
      </p:sp>
      <p:sp>
        <p:nvSpPr>
          <p:cNvPr id="873" name="Google Shape;873;p48"/>
          <p:cNvSpPr/>
          <p:nvPr/>
        </p:nvSpPr>
        <p:spPr>
          <a:xfrm>
            <a:off x="6080760" y="3154680"/>
            <a:ext cx="5349300" cy="15549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74" name="Google Shape;874;p48"/>
          <p:cNvSpPr txBox="1"/>
          <p:nvPr/>
        </p:nvSpPr>
        <p:spPr>
          <a:xfrm>
            <a:off x="6309360" y="3319272"/>
            <a:ext cx="48921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MRU — /mru</a:t>
            </a:r>
            <a:endParaRPr sz="1500"/>
          </a:p>
        </p:txBody>
      </p:sp>
      <p:sp>
        <p:nvSpPr>
          <p:cNvPr id="875" name="Google Shape;875;p48"/>
          <p:cNvSpPr txBox="1"/>
          <p:nvPr/>
        </p:nvSpPr>
        <p:spPr>
          <a:xfrm>
            <a:off x="6309360" y="3685032"/>
            <a:ext cx="48921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6472"/>
                </a:solidFill>
                <a:latin typeface="Sora"/>
                <a:ea typeface="Sora"/>
                <a:cs typeface="Sora"/>
                <a:sym typeface="Sora"/>
              </a:rPr>
              <a:t>3,877 sessions · 78.44% engagement · 3.44 views/session</a:t>
            </a:r>
            <a:endParaRPr sz="1500"/>
          </a:p>
        </p:txBody>
      </p:sp>
      <p:sp>
        <p:nvSpPr>
          <p:cNvPr id="876" name="Google Shape;876;p48"/>
          <p:cNvSpPr txBox="1"/>
          <p:nvPr/>
        </p:nvSpPr>
        <p:spPr>
          <a:xfrm>
            <a:off x="6309360" y="4114800"/>
            <a:ext cx="4892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100" u="none" cap="none" strike="noStrike">
                <a:solidFill>
                  <a:srgbClr val="C8102E"/>
                </a:solidFill>
                <a:latin typeface="Sora"/>
                <a:ea typeface="Sora"/>
                <a:cs typeface="Sora"/>
                <a:sym typeface="Sora"/>
              </a:rPr>
              <a:t>Even stronger than MRIIRS on every metric — the same template, performing consistently.</a:t>
            </a:r>
            <a:endParaRPr sz="1500"/>
          </a:p>
        </p:txBody>
      </p:sp>
      <p:sp>
        <p:nvSpPr>
          <p:cNvPr id="877" name="Google Shape;877;p48"/>
          <p:cNvSpPr/>
          <p:nvPr/>
        </p:nvSpPr>
        <p:spPr>
          <a:xfrm>
            <a:off x="548640" y="4983480"/>
            <a:ext cx="11091600" cy="1051500"/>
          </a:xfrm>
          <a:prstGeom prst="roundRect">
            <a:avLst>
              <a:gd fmla="val 8000" name="adj"/>
            </a:avLst>
          </a:prstGeom>
          <a:solidFill>
            <a:srgbClr val="0F2C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78" name="Google Shape;878;p48"/>
          <p:cNvSpPr txBox="1"/>
          <p:nvPr/>
        </p:nvSpPr>
        <p:spPr>
          <a:xfrm>
            <a:off x="822960" y="5138928"/>
            <a:ext cx="10515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8095"/>
                </a:solidFill>
                <a:latin typeface="Sora"/>
                <a:ea typeface="Sora"/>
                <a:cs typeface="Sora"/>
                <a:sym typeface="Sora"/>
              </a:rPr>
              <a:t>WHAT THIS MEANS</a:t>
            </a:r>
            <a:endParaRPr sz="1500"/>
          </a:p>
        </p:txBody>
      </p:sp>
      <p:sp>
        <p:nvSpPr>
          <p:cNvPr id="879" name="Google Shape;879;p48"/>
          <p:cNvSpPr txBox="1"/>
          <p:nvPr/>
        </p:nvSpPr>
        <p:spPr>
          <a:xfrm>
            <a:off x="822960" y="5394960"/>
            <a:ext cx="105156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This is the template to protect and replicate, not redesign. The main deck already flagged it: “Already works — replicate its navigation pattern across institution and school pages.”</a:t>
            </a:r>
            <a:endParaRPr sz="1500"/>
          </a:p>
        </p:txBody>
      </p:sp>
      <p:sp>
        <p:nvSpPr>
          <p:cNvPr id="880" name="Google Shape;880;p48"/>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GA4 Landing Page Data and Pivot — Persona (in scope), 13 Jun – 10 Sept 2026.</a:t>
            </a:r>
            <a:endParaRPr sz="1500"/>
          </a:p>
        </p:txBody>
      </p:sp>
      <p:sp>
        <p:nvSpPr>
          <p:cNvPr id="881" name="Rounded Rectangle 880"/>
          <p:cNvSpPr/>
          <p:nvPr/>
        </p:nvSpPr>
        <p:spPr>
          <a:xfrm>
            <a:off x="10908792" y="41148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F2C5C"/>
        </a:solidFill>
        <a:effectLst/>
      </p:bgPr>
    </p:bg>
    <p:spTree>
      <p:nvGrpSpPr>
        <p:cNvPr id="1" name=""/>
        <p:cNvGrpSpPr/>
        <p:nvPr/>
      </p:nvGrpSpPr>
      <p:grpSpPr/>
      <p:sp>
        <p:nvSpPr>
          <p:cNvPr id="2" name="TextBox 1"/>
          <p:cNvSpPr txBox="1"/>
          <p:nvPr/>
        </p:nvSpPr>
        <p:spPr>
          <a:xfrm>
            <a:off x="822960" y="2514600"/>
            <a:ext cx="2743200" cy="457200"/>
          </a:xfrm>
          <a:prstGeom prst="rect">
            <a:avLst/>
          </a:prstGeom>
          <a:noFill/>
        </p:spPr>
        <p:txBody>
          <a:bodyPr wrap="square" lIns="0" rIns="0" tIns="0" bIns="0" anchor="t">
            <a:spAutoFit/>
          </a:bodyPr>
          <a:lstStyle/>
          <a:p>
            <a:pPr algn="l"/>
            <a:r>
              <a:rPr sz="1600" b="1" i="0">
                <a:solidFill>
                  <a:srgbClr val="C8102E"/>
                </a:solidFill>
                <a:latin typeface="Sora"/>
              </a:rPr>
              <a:t>04</a:t>
            </a:r>
          </a:p>
        </p:txBody>
      </p:sp>
      <p:sp>
        <p:nvSpPr>
          <p:cNvPr id="3" name="TextBox 2"/>
          <p:cNvSpPr txBox="1"/>
          <p:nvPr/>
        </p:nvSpPr>
        <p:spPr>
          <a:xfrm>
            <a:off x="822960" y="2926080"/>
            <a:ext cx="10058400" cy="731520"/>
          </a:xfrm>
          <a:prstGeom prst="rect">
            <a:avLst/>
          </a:prstGeom>
          <a:noFill/>
        </p:spPr>
        <p:txBody>
          <a:bodyPr wrap="square" lIns="0" rIns="0" tIns="0" bIns="0" anchor="t">
            <a:spAutoFit/>
          </a:bodyPr>
          <a:lstStyle/>
          <a:p>
            <a:pPr algn="l"/>
            <a:r>
              <a:rPr sz="3400" b="1" i="0">
                <a:solidFill>
                  <a:srgbClr val="FFFFFF"/>
                </a:solidFill>
                <a:latin typeface="Sora"/>
              </a:rPr>
              <a:t>What breaks</a:t>
            </a:r>
          </a:p>
        </p:txBody>
      </p:sp>
      <p:sp>
        <p:nvSpPr>
          <p:cNvPr id="4" name="TextBox 3"/>
          <p:cNvSpPr txBox="1"/>
          <p:nvPr/>
        </p:nvSpPr>
        <p:spPr>
          <a:xfrm>
            <a:off x="822960" y="3703320"/>
            <a:ext cx="9601200" cy="548640"/>
          </a:xfrm>
          <a:prstGeom prst="rect">
            <a:avLst/>
          </a:prstGeom>
          <a:noFill/>
        </p:spPr>
        <p:txBody>
          <a:bodyPr wrap="square" lIns="0" rIns="0" tIns="0" bIns="0" anchor="t">
            <a:spAutoFit/>
          </a:bodyPr>
          <a:lstStyle/>
          <a:p>
            <a:pPr algn="l"/>
            <a:r>
              <a:rPr sz="1400" b="0" i="0">
                <a:solidFill>
                  <a:srgbClr val="CADCFC"/>
                </a:solidFill>
                <a:latin typeface="Sora"/>
              </a:rPr>
              <a:t>Three gaps that repeat across journeys — and the template issues underneath them.</a:t>
            </a: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nvSpPr>
        <p:spPr>
          <a:xfrm>
            <a:off x="548640" y="411480"/>
            <a:ext cx="110643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200"/>
              <a:buFont typeface="Sora"/>
              <a:buNone/>
            </a:pPr>
            <a:r>
              <a:rPr b="1" i="0" lang="en-US" sz="3200" u="none" cap="none" strike="noStrike">
                <a:solidFill>
                  <a:srgbClr val="0F2C5C"/>
                </a:solidFill>
                <a:latin typeface="Sora"/>
                <a:ea typeface="Sora"/>
                <a:cs typeface="Sora"/>
                <a:sym typeface="Sora"/>
              </a:rPr>
              <a:t>Three gaps, repeating everywhere</a:t>
            </a:r>
            <a:endParaRPr b="0" i="0" sz="3200" u="none" cap="none" strike="noStrike">
              <a:solidFill>
                <a:schemeClr val="dk1"/>
              </a:solidFill>
              <a:latin typeface="Calibri"/>
              <a:ea typeface="Calibri"/>
              <a:cs typeface="Calibri"/>
              <a:sym typeface="Calibri"/>
            </a:endParaRPr>
          </a:p>
        </p:txBody>
      </p:sp>
      <p:sp>
        <p:nvSpPr>
          <p:cNvPr id="169" name="Google Shape;169;p19"/>
          <p:cNvSpPr txBox="1"/>
          <p:nvPr/>
        </p:nvSpPr>
        <p:spPr>
          <a:xfrm>
            <a:off x="548640" y="1005840"/>
            <a:ext cx="11064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500"/>
              <a:buFont typeface="Sora"/>
              <a:buNone/>
            </a:pPr>
            <a:r>
              <a:rPr b="0" i="0" lang="en-US" sz="1500" u="none" cap="none" strike="noStrike">
                <a:solidFill>
                  <a:srgbClr val="5A6472"/>
                </a:solidFill>
                <a:latin typeface="Sora"/>
                <a:ea typeface="Sora"/>
                <a:cs typeface="Sora"/>
                <a:sym typeface="Sora"/>
              </a:rPr>
              <a:t>Different pages, different personas, identical shape</a:t>
            </a:r>
            <a:endParaRPr b="0" i="0" sz="1500" u="none" cap="none" strike="noStrike">
              <a:solidFill>
                <a:schemeClr val="dk1"/>
              </a:solidFill>
              <a:latin typeface="Calibri"/>
              <a:ea typeface="Calibri"/>
              <a:cs typeface="Calibri"/>
              <a:sym typeface="Calibri"/>
            </a:endParaRPr>
          </a:p>
        </p:txBody>
      </p:sp>
      <p:sp>
        <p:nvSpPr>
          <p:cNvPr id="170" name="Google Shape;170;p19"/>
          <p:cNvSpPr/>
          <p:nvPr/>
        </p:nvSpPr>
        <p:spPr>
          <a:xfrm>
            <a:off x="548640" y="1554480"/>
            <a:ext cx="3429300" cy="4480500"/>
          </a:xfrm>
          <a:prstGeom prst="roundRect">
            <a:avLst>
              <a:gd fmla="val 2133"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a:off x="804672" y="1783080"/>
            <a:ext cx="566700" cy="566700"/>
          </a:xfrm>
          <a:prstGeom prst="roundRect">
            <a:avLst>
              <a:gd fmla="val 50000" name="adj"/>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txBox="1"/>
          <p:nvPr/>
        </p:nvSpPr>
        <p:spPr>
          <a:xfrm>
            <a:off x="804672" y="1901952"/>
            <a:ext cx="566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01</a:t>
            </a:r>
            <a:endParaRPr b="0" i="0" sz="1500" u="none" cap="none" strike="noStrike">
              <a:solidFill>
                <a:schemeClr val="dk1"/>
              </a:solidFill>
              <a:latin typeface="Calibri"/>
              <a:ea typeface="Calibri"/>
              <a:cs typeface="Calibri"/>
              <a:sym typeface="Calibri"/>
            </a:endParaRPr>
          </a:p>
        </p:txBody>
      </p:sp>
      <p:sp>
        <p:nvSpPr>
          <p:cNvPr id="173" name="Google Shape;173;p19"/>
          <p:cNvSpPr txBox="1"/>
          <p:nvPr/>
        </p:nvSpPr>
        <p:spPr>
          <a:xfrm>
            <a:off x="804672" y="2487168"/>
            <a:ext cx="2926500" cy="6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600"/>
              <a:buFont typeface="Sora"/>
              <a:buNone/>
            </a:pPr>
            <a:r>
              <a:rPr b="1" i="0" lang="en-US" sz="1600" u="none" cap="none" strike="noStrike">
                <a:solidFill>
                  <a:srgbClr val="0F2C5C"/>
                </a:solidFill>
                <a:latin typeface="Sora"/>
                <a:ea typeface="Sora"/>
                <a:cs typeface="Sora"/>
                <a:sym typeface="Sora"/>
              </a:rPr>
              <a:t>The answer is not on the page</a:t>
            </a:r>
            <a:endParaRPr b="0" i="0" sz="1600" u="none" cap="none" strike="noStrike">
              <a:solidFill>
                <a:schemeClr val="dk1"/>
              </a:solidFill>
              <a:latin typeface="Calibri"/>
              <a:ea typeface="Calibri"/>
              <a:cs typeface="Calibri"/>
              <a:sym typeface="Calibri"/>
            </a:endParaRPr>
          </a:p>
        </p:txBody>
      </p:sp>
      <p:sp>
        <p:nvSpPr>
          <p:cNvPr id="174" name="Google Shape;174;p19"/>
          <p:cNvSpPr txBox="1"/>
          <p:nvPr/>
        </p:nvSpPr>
        <p:spPr>
          <a:xfrm>
            <a:off x="804672" y="3200400"/>
            <a:ext cx="2926500" cy="105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Sora"/>
              <a:buNone/>
            </a:pPr>
            <a:r>
              <a:rPr b="0" i="0" lang="en-US" sz="1200" u="none" cap="none" strike="noStrike">
                <a:solidFill>
                  <a:srgbClr val="5A6472"/>
                </a:solidFill>
                <a:latin typeface="Sora"/>
                <a:ea typeface="Sora"/>
                <a:cs typeface="Sora"/>
                <a:sym typeface="Sora"/>
              </a:rPr>
              <a:t>Users reach a course page, cannot complete their decision there, and leave to find the missing piece.</a:t>
            </a:r>
            <a:endParaRPr b="0" i="0" sz="1200" u="none" cap="none" strike="noStrike">
              <a:solidFill>
                <a:schemeClr val="dk1"/>
              </a:solidFill>
              <a:latin typeface="Calibri"/>
              <a:ea typeface="Calibri"/>
              <a:cs typeface="Calibri"/>
              <a:sym typeface="Calibri"/>
            </a:endParaRPr>
          </a:p>
        </p:txBody>
      </p:sp>
      <p:sp>
        <p:nvSpPr>
          <p:cNvPr id="175" name="Google Shape;175;p19"/>
          <p:cNvSpPr txBox="1"/>
          <p:nvPr/>
        </p:nvSpPr>
        <p:spPr>
          <a:xfrm>
            <a:off x="804672" y="4279392"/>
            <a:ext cx="2926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900"/>
              <a:buFont typeface="Sora"/>
              <a:buNone/>
            </a:pPr>
            <a:r>
              <a:rPr b="1" i="0" lang="en-US" sz="900" u="none" cap="none" strike="noStrike">
                <a:solidFill>
                  <a:srgbClr val="C8102E"/>
                </a:solidFill>
                <a:latin typeface="Sora"/>
                <a:ea typeface="Sora"/>
                <a:cs typeface="Sora"/>
                <a:sym typeface="Sora"/>
              </a:rPr>
              <a:t>EVIDENCE</a:t>
            </a:r>
            <a:endParaRPr b="0" i="0" sz="900" u="none" cap="none" strike="noStrike">
              <a:solidFill>
                <a:schemeClr val="dk1"/>
              </a:solidFill>
              <a:latin typeface="Calibri"/>
              <a:ea typeface="Calibri"/>
              <a:cs typeface="Calibri"/>
              <a:sym typeface="Calibri"/>
            </a:endParaRPr>
          </a:p>
        </p:txBody>
      </p:sp>
      <p:sp>
        <p:nvSpPr>
          <p:cNvPr id="176" name="Google Shape;176;p19"/>
          <p:cNvSpPr txBox="1"/>
          <p:nvPr/>
        </p:nvSpPr>
        <p:spPr>
          <a:xfrm>
            <a:off x="804672" y="4553712"/>
            <a:ext cx="2926500" cy="1326000"/>
          </a:xfrm>
          <a:prstGeom prst="rect">
            <a:avLst/>
          </a:prstGeom>
          <a:noFill/>
          <a:ln>
            <a:noFill/>
          </a:ln>
        </p:spPr>
        <p:txBody>
          <a:bodyPr anchorCtr="0" anchor="ctr" bIns="0" lIns="0" spcFirstLastPara="1" rIns="0" wrap="square" tIns="0">
            <a:noAutofit/>
          </a:bodyPr>
          <a:lstStyle/>
          <a:p>
            <a:pPr indent="-349250" lvl="0" marL="342900" marR="0" rtl="0" algn="l">
              <a:spcBef>
                <a:spcPts val="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84.3% of onward movement from the course page goes to fees</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Only 4% of blog article readers move onward at all</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11% move onward from credibility pages; 67% bounce</a:t>
            </a:r>
            <a:endParaRPr b="0" i="0" sz="1100" u="none" cap="none" strike="noStrike">
              <a:solidFill>
                <a:schemeClr val="dk1"/>
              </a:solidFill>
              <a:latin typeface="Calibri"/>
              <a:ea typeface="Calibri"/>
              <a:cs typeface="Calibri"/>
              <a:sym typeface="Calibri"/>
            </a:endParaRPr>
          </a:p>
        </p:txBody>
      </p:sp>
      <p:sp>
        <p:nvSpPr>
          <p:cNvPr id="177" name="Google Shape;177;p19"/>
          <p:cNvSpPr/>
          <p:nvPr/>
        </p:nvSpPr>
        <p:spPr>
          <a:xfrm>
            <a:off x="4206240" y="1554480"/>
            <a:ext cx="3429300" cy="4480500"/>
          </a:xfrm>
          <a:prstGeom prst="roundRect">
            <a:avLst>
              <a:gd fmla="val 2133"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a:off x="4462272" y="1783080"/>
            <a:ext cx="566700" cy="566700"/>
          </a:xfrm>
          <a:prstGeom prst="roundRect">
            <a:avLst>
              <a:gd fmla="val 50000" name="adj"/>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txBox="1"/>
          <p:nvPr/>
        </p:nvSpPr>
        <p:spPr>
          <a:xfrm>
            <a:off x="4462272" y="1901952"/>
            <a:ext cx="566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02</a:t>
            </a:r>
            <a:endParaRPr b="0" i="0" sz="1500" u="none" cap="none" strike="noStrike">
              <a:solidFill>
                <a:schemeClr val="dk1"/>
              </a:solidFill>
              <a:latin typeface="Calibri"/>
              <a:ea typeface="Calibri"/>
              <a:cs typeface="Calibri"/>
              <a:sym typeface="Calibri"/>
            </a:endParaRPr>
          </a:p>
        </p:txBody>
      </p:sp>
      <p:sp>
        <p:nvSpPr>
          <p:cNvPr id="180" name="Google Shape;180;p19"/>
          <p:cNvSpPr txBox="1"/>
          <p:nvPr/>
        </p:nvSpPr>
        <p:spPr>
          <a:xfrm>
            <a:off x="4462272" y="2487168"/>
            <a:ext cx="2926500" cy="6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600"/>
              <a:buFont typeface="Sora"/>
              <a:buNone/>
            </a:pPr>
            <a:r>
              <a:rPr b="1" i="0" lang="en-US" sz="1600" u="none" cap="none" strike="noStrike">
                <a:solidFill>
                  <a:srgbClr val="0F2C5C"/>
                </a:solidFill>
                <a:latin typeface="Sora"/>
                <a:ea typeface="Sora"/>
                <a:cs typeface="Sora"/>
                <a:sym typeface="Sora"/>
              </a:rPr>
              <a:t>The destination is not built for them</a:t>
            </a:r>
            <a:endParaRPr b="0" i="0" sz="1600" u="none" cap="none" strike="noStrike">
              <a:solidFill>
                <a:schemeClr val="dk1"/>
              </a:solidFill>
              <a:latin typeface="Calibri"/>
              <a:ea typeface="Calibri"/>
              <a:cs typeface="Calibri"/>
              <a:sym typeface="Calibri"/>
            </a:endParaRPr>
          </a:p>
        </p:txBody>
      </p:sp>
      <p:sp>
        <p:nvSpPr>
          <p:cNvPr id="181" name="Google Shape;181;p19"/>
          <p:cNvSpPr txBox="1"/>
          <p:nvPr/>
        </p:nvSpPr>
        <p:spPr>
          <a:xfrm>
            <a:off x="4462272" y="3200400"/>
            <a:ext cx="2926500" cy="105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Sora"/>
              <a:buNone/>
            </a:pPr>
            <a:r>
              <a:rPr b="0" i="0" lang="en-US" sz="1200" u="none" cap="none" strike="noStrike">
                <a:solidFill>
                  <a:srgbClr val="5A6472"/>
                </a:solidFill>
                <a:latin typeface="Sora"/>
                <a:ea typeface="Sora"/>
                <a:cs typeface="Sora"/>
                <a:sym typeface="Sora"/>
              </a:rPr>
              <a:t>The page they leave to is built for everyone, so they work hard, find their answer, and come back rather than move forward.</a:t>
            </a:r>
            <a:endParaRPr b="0" i="0" sz="1200" u="none" cap="none" strike="noStrike">
              <a:solidFill>
                <a:schemeClr val="dk1"/>
              </a:solidFill>
              <a:latin typeface="Calibri"/>
              <a:ea typeface="Calibri"/>
              <a:cs typeface="Calibri"/>
              <a:sym typeface="Calibri"/>
            </a:endParaRPr>
          </a:p>
        </p:txBody>
      </p:sp>
      <p:sp>
        <p:nvSpPr>
          <p:cNvPr id="182" name="Google Shape;182;p19"/>
          <p:cNvSpPr txBox="1"/>
          <p:nvPr/>
        </p:nvSpPr>
        <p:spPr>
          <a:xfrm>
            <a:off x="4462272" y="4279392"/>
            <a:ext cx="2926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900"/>
              <a:buFont typeface="Sora"/>
              <a:buNone/>
            </a:pPr>
            <a:r>
              <a:rPr b="1" i="0" lang="en-US" sz="900" u="none" cap="none" strike="noStrike">
                <a:solidFill>
                  <a:srgbClr val="C8102E"/>
                </a:solidFill>
                <a:latin typeface="Sora"/>
                <a:ea typeface="Sora"/>
                <a:cs typeface="Sora"/>
                <a:sym typeface="Sora"/>
              </a:rPr>
              <a:t>EVIDENCE</a:t>
            </a:r>
            <a:endParaRPr b="0" i="0" sz="900" u="none" cap="none" strike="noStrike">
              <a:solidFill>
                <a:schemeClr val="dk1"/>
              </a:solidFill>
              <a:latin typeface="Calibri"/>
              <a:ea typeface="Calibri"/>
              <a:cs typeface="Calibri"/>
              <a:sym typeface="Calibri"/>
            </a:endParaRPr>
          </a:p>
        </p:txBody>
      </p:sp>
      <p:sp>
        <p:nvSpPr>
          <p:cNvPr id="183" name="Google Shape;183;p19"/>
          <p:cNvSpPr txBox="1"/>
          <p:nvPr/>
        </p:nvSpPr>
        <p:spPr>
          <a:xfrm>
            <a:off x="4462272" y="4553712"/>
            <a:ext cx="2926500" cy="1326000"/>
          </a:xfrm>
          <a:prstGeom prst="rect">
            <a:avLst/>
          </a:prstGeom>
          <a:noFill/>
          <a:ln>
            <a:noFill/>
          </a:ln>
        </p:spPr>
        <p:txBody>
          <a:bodyPr anchorCtr="0" anchor="ctr" bIns="0" lIns="0" spcFirstLastPara="1" rIns="0" wrap="square" tIns="0">
            <a:noAutofit/>
          </a:bodyPr>
          <a:lstStyle/>
          <a:p>
            <a:pPr indent="-349250" lvl="0" marL="342900" marR="0" rtl="0" algn="l">
              <a:spcBef>
                <a:spcPts val="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43.9% of fee-page sessions scroll past 90% of the page</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99.3% then return to the page they came from</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70% of all fee-page entries arrive from one course page</a:t>
            </a:r>
            <a:endParaRPr b="0" i="0" sz="1100" u="none" cap="none" strike="noStrike">
              <a:solidFill>
                <a:schemeClr val="dk1"/>
              </a:solidFill>
              <a:latin typeface="Calibri"/>
              <a:ea typeface="Calibri"/>
              <a:cs typeface="Calibri"/>
              <a:sym typeface="Calibri"/>
            </a:endParaRPr>
          </a:p>
        </p:txBody>
      </p:sp>
      <p:sp>
        <p:nvSpPr>
          <p:cNvPr id="184" name="Google Shape;184;p19"/>
          <p:cNvSpPr/>
          <p:nvPr/>
        </p:nvSpPr>
        <p:spPr>
          <a:xfrm>
            <a:off x="7863840" y="1554480"/>
            <a:ext cx="3429300" cy="4480500"/>
          </a:xfrm>
          <a:prstGeom prst="roundRect">
            <a:avLst>
              <a:gd fmla="val 2133"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p:nvPr/>
        </p:nvSpPr>
        <p:spPr>
          <a:xfrm>
            <a:off x="8119872" y="1783080"/>
            <a:ext cx="566700" cy="566700"/>
          </a:xfrm>
          <a:prstGeom prst="roundRect">
            <a:avLst>
              <a:gd fmla="val 50000" name="adj"/>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txBox="1"/>
          <p:nvPr/>
        </p:nvSpPr>
        <p:spPr>
          <a:xfrm>
            <a:off x="8119872" y="1901952"/>
            <a:ext cx="566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03</a:t>
            </a:r>
            <a:endParaRPr b="0" i="0" sz="1500" u="none" cap="none" strike="noStrike">
              <a:solidFill>
                <a:schemeClr val="dk1"/>
              </a:solidFill>
              <a:latin typeface="Calibri"/>
              <a:ea typeface="Calibri"/>
              <a:cs typeface="Calibri"/>
              <a:sym typeface="Calibri"/>
            </a:endParaRPr>
          </a:p>
        </p:txBody>
      </p:sp>
      <p:sp>
        <p:nvSpPr>
          <p:cNvPr id="187" name="Google Shape;187;p19"/>
          <p:cNvSpPr txBox="1"/>
          <p:nvPr/>
        </p:nvSpPr>
        <p:spPr>
          <a:xfrm>
            <a:off x="8119872" y="2487168"/>
            <a:ext cx="2926500" cy="68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600"/>
              <a:buFont typeface="Sora"/>
              <a:buNone/>
            </a:pPr>
            <a:r>
              <a:rPr b="1" i="0" lang="en-US" sz="1600" u="none" cap="none" strike="noStrike">
                <a:solidFill>
                  <a:srgbClr val="0F2C5C"/>
                </a:solidFill>
                <a:latin typeface="Sora"/>
                <a:ea typeface="Sora"/>
                <a:cs typeface="Sora"/>
                <a:sym typeface="Sora"/>
              </a:rPr>
              <a:t>There is no next step</a:t>
            </a:r>
            <a:endParaRPr b="0" i="0" sz="1600" u="none" cap="none" strike="noStrike">
              <a:solidFill>
                <a:schemeClr val="dk1"/>
              </a:solidFill>
              <a:latin typeface="Calibri"/>
              <a:ea typeface="Calibri"/>
              <a:cs typeface="Calibri"/>
              <a:sym typeface="Calibri"/>
            </a:endParaRPr>
          </a:p>
        </p:txBody>
      </p:sp>
      <p:sp>
        <p:nvSpPr>
          <p:cNvPr id="188" name="Google Shape;188;p19"/>
          <p:cNvSpPr txBox="1"/>
          <p:nvPr/>
        </p:nvSpPr>
        <p:spPr>
          <a:xfrm>
            <a:off x="8119872" y="3200400"/>
            <a:ext cx="2926500" cy="105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Sora"/>
              <a:buNone/>
            </a:pPr>
            <a:r>
              <a:rPr b="0" i="0" lang="en-US" sz="1200" u="none" cap="none" strike="noStrike">
                <a:solidFill>
                  <a:srgbClr val="5A6472"/>
                </a:solidFill>
                <a:latin typeface="Sora"/>
                <a:ea typeface="Sora"/>
                <a:cs typeface="Sora"/>
                <a:sym typeface="Sora"/>
              </a:rPr>
              <a:t>Once the research is complete, nothing invites the user to act. The journey ends where the lead should begin.</a:t>
            </a:r>
            <a:endParaRPr b="0" i="0" sz="1200" u="none" cap="none" strike="noStrike">
              <a:solidFill>
                <a:schemeClr val="dk1"/>
              </a:solidFill>
              <a:latin typeface="Calibri"/>
              <a:ea typeface="Calibri"/>
              <a:cs typeface="Calibri"/>
              <a:sym typeface="Calibri"/>
            </a:endParaRPr>
          </a:p>
        </p:txBody>
      </p:sp>
      <p:sp>
        <p:nvSpPr>
          <p:cNvPr id="189" name="Google Shape;189;p19"/>
          <p:cNvSpPr txBox="1"/>
          <p:nvPr/>
        </p:nvSpPr>
        <p:spPr>
          <a:xfrm>
            <a:off x="8119872" y="4279392"/>
            <a:ext cx="2926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900"/>
              <a:buFont typeface="Sora"/>
              <a:buNone/>
            </a:pPr>
            <a:r>
              <a:rPr b="1" i="0" lang="en-US" sz="900" u="none" cap="none" strike="noStrike">
                <a:solidFill>
                  <a:srgbClr val="C8102E"/>
                </a:solidFill>
                <a:latin typeface="Sora"/>
                <a:ea typeface="Sora"/>
                <a:cs typeface="Sora"/>
                <a:sym typeface="Sora"/>
              </a:rPr>
              <a:t>EVIDENCE</a:t>
            </a:r>
            <a:endParaRPr b="0" i="0" sz="900" u="none" cap="none" strike="noStrike">
              <a:solidFill>
                <a:schemeClr val="dk1"/>
              </a:solidFill>
              <a:latin typeface="Calibri"/>
              <a:ea typeface="Calibri"/>
              <a:cs typeface="Calibri"/>
              <a:sym typeface="Calibri"/>
            </a:endParaRPr>
          </a:p>
        </p:txBody>
      </p:sp>
      <p:sp>
        <p:nvSpPr>
          <p:cNvPr id="190" name="Google Shape;190;p19"/>
          <p:cNvSpPr txBox="1"/>
          <p:nvPr/>
        </p:nvSpPr>
        <p:spPr>
          <a:xfrm>
            <a:off x="8119872" y="4553712"/>
            <a:ext cx="2926500" cy="1326000"/>
          </a:xfrm>
          <a:prstGeom prst="rect">
            <a:avLst/>
          </a:prstGeom>
          <a:noFill/>
          <a:ln>
            <a:noFill/>
          </a:ln>
        </p:spPr>
        <p:txBody>
          <a:bodyPr anchorCtr="0" anchor="ctr" bIns="0" lIns="0" spcFirstLastPara="1" rIns="0" wrap="square" tIns="0">
            <a:noAutofit/>
          </a:bodyPr>
          <a:lstStyle/>
          <a:p>
            <a:pPr indent="-349250" lvl="0" marL="342900" marR="0" rtl="0" algn="l">
              <a:spcBef>
                <a:spcPts val="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6 users continue anywhere after 6,964 return moves</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Only 0.6% of site sessions reach a conversion page</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0F2C5C"/>
              </a:buClr>
              <a:buSzPts val="1100"/>
              <a:buFont typeface="Sora"/>
              <a:buChar char="•"/>
            </a:pPr>
            <a:r>
              <a:rPr b="0" i="0" lang="en-US" sz="1100" u="none" cap="none" strike="noStrike">
                <a:solidFill>
                  <a:srgbClr val="0F2C5C"/>
                </a:solidFill>
                <a:latin typeface="Sora"/>
                <a:ea typeface="Sora"/>
                <a:cs typeface="Sora"/>
                <a:sym typeface="Sora"/>
              </a:rPr>
              <a:t>35 of 4,195 blog readers reach the course they read about</a:t>
            </a:r>
            <a:endParaRPr b="0" i="0" sz="1100" u="none" cap="none" strike="noStrike">
              <a:solidFill>
                <a:schemeClr val="dk1"/>
              </a:solidFill>
              <a:latin typeface="Calibri"/>
              <a:ea typeface="Calibri"/>
              <a:cs typeface="Calibri"/>
              <a:sym typeface="Calibri"/>
            </a:endParaRPr>
          </a:p>
        </p:txBody>
      </p:sp>
      <p:sp>
        <p:nvSpPr>
          <p:cNvPr id="191" name="Google Shape;191;p19"/>
          <p:cNvSpPr txBox="1"/>
          <p:nvPr/>
        </p:nvSpPr>
        <p:spPr>
          <a:xfrm>
            <a:off x="548640" y="6355080"/>
            <a:ext cx="110643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0" i="0" lang="en-US" sz="900" u="none" cap="none" strike="noStrike">
                <a:solidFill>
                  <a:srgbClr val="96A1B0"/>
                </a:solidFill>
                <a:latin typeface="Sora"/>
                <a:ea typeface="Sora"/>
                <a:cs typeface="Sora"/>
                <a:sym typeface="Sora"/>
              </a:rPr>
              <a:t>Source: GA4 Path Exploration, Per-cent-scrolled and Landing page reports, 13 Jun – 10 Sept 2026.</a:t>
            </a:r>
            <a:endParaRPr b="0" i="0" sz="900" u="none" cap="none" strike="noStrike">
              <a:solidFill>
                <a:schemeClr val="dk1"/>
              </a:solidFill>
              <a:latin typeface="Calibri"/>
              <a:ea typeface="Calibri"/>
              <a:cs typeface="Calibri"/>
              <a:sym typeface="Calibri"/>
            </a:endParaRPr>
          </a:p>
        </p:txBody>
      </p:sp>
      <p:sp>
        <p:nvSpPr>
          <p:cNvPr id="192" name="Rounded Rectangle 191"/>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WHAT BREAKS  ·  SITEWIDE — FUNCTIONAL / UX</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Six template issues that follow users onto every page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Moved out of the persona sections: these belong to the shared template, not to any one journey</a:t>
            </a:r>
          </a:p>
        </p:txBody>
      </p:sp>
      <p:pic>
        <p:nvPicPr>
          <p:cNvPr id="5" name="Picture 4" descr="cse_m_f1.png"/>
          <p:cNvPicPr>
            <a:picLocks noChangeAspect="1"/>
          </p:cNvPicPr>
          <p:nvPr/>
        </p:nvPicPr>
        <p:blipFill>
          <a:blip r:embed="rId2"/>
          <a:stretch>
            <a:fillRect/>
          </a:stretch>
        </p:blipFill>
        <p:spPr>
          <a:xfrm>
            <a:off x="548640" y="1481328"/>
            <a:ext cx="1964768" cy="4251960"/>
          </a:xfrm>
          <a:prstGeom prst="rect">
            <a:avLst/>
          </a:prstGeom>
          <a:ln w="12700">
            <a:solidFill>
              <a:srgbClr val="D8DFE8"/>
            </a:solidFill>
          </a:ln>
        </p:spPr>
      </p:pic>
      <p:pic>
        <p:nvPicPr>
          <p:cNvPr id="6" name="Picture 5" descr="fee_mriirs_m_f2.png"/>
          <p:cNvPicPr>
            <a:picLocks noChangeAspect="1"/>
          </p:cNvPicPr>
          <p:nvPr/>
        </p:nvPicPr>
        <p:blipFill>
          <a:blip r:embed="rId3"/>
          <a:stretch>
            <a:fillRect/>
          </a:stretch>
        </p:blipFill>
        <p:spPr>
          <a:xfrm>
            <a:off x="2742008" y="1481328"/>
            <a:ext cx="1964768" cy="4251960"/>
          </a:xfrm>
          <a:prstGeom prst="rect">
            <a:avLst/>
          </a:prstGeom>
          <a:ln w="12700">
            <a:solidFill>
              <a:srgbClr val="D8DFE8"/>
            </a:solidFill>
          </a:ln>
        </p:spPr>
      </p:pic>
      <p:sp>
        <p:nvSpPr>
          <p:cNvPr id="7" name="Oval 6"/>
          <p:cNvSpPr/>
          <p:nvPr/>
        </p:nvSpPr>
        <p:spPr>
          <a:xfrm>
            <a:off x="1185448" y="1438024"/>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1</a:t>
            </a:r>
          </a:p>
        </p:txBody>
      </p:sp>
      <p:sp>
        <p:nvSpPr>
          <p:cNvPr id="8" name="Oval 7"/>
          <p:cNvSpPr/>
          <p:nvPr/>
        </p:nvSpPr>
        <p:spPr>
          <a:xfrm>
            <a:off x="1689234" y="398214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1</a:t>
            </a:r>
          </a:p>
        </p:txBody>
      </p:sp>
      <p:sp>
        <p:nvSpPr>
          <p:cNvPr id="9" name="Oval 8"/>
          <p:cNvSpPr/>
          <p:nvPr/>
        </p:nvSpPr>
        <p:spPr>
          <a:xfrm>
            <a:off x="1941128" y="174029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2</a:t>
            </a:r>
          </a:p>
        </p:txBody>
      </p:sp>
      <p:sp>
        <p:nvSpPr>
          <p:cNvPr id="10" name="Oval 9"/>
          <p:cNvSpPr/>
          <p:nvPr/>
        </p:nvSpPr>
        <p:spPr>
          <a:xfrm>
            <a:off x="2283703" y="2621922"/>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3</a:t>
            </a:r>
          </a:p>
        </p:txBody>
      </p:sp>
      <p:sp>
        <p:nvSpPr>
          <p:cNvPr id="11" name="Oval 10"/>
          <p:cNvSpPr/>
          <p:nvPr/>
        </p:nvSpPr>
        <p:spPr>
          <a:xfrm>
            <a:off x="1789992" y="4727751"/>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4</a:t>
            </a:r>
          </a:p>
        </p:txBody>
      </p:sp>
      <p:sp>
        <p:nvSpPr>
          <p:cNvPr id="12" name="Oval 11"/>
          <p:cNvSpPr/>
          <p:nvPr/>
        </p:nvSpPr>
        <p:spPr>
          <a:xfrm>
            <a:off x="4477071" y="322646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3</a:t>
            </a:r>
          </a:p>
        </p:txBody>
      </p:sp>
      <p:sp>
        <p:nvSpPr>
          <p:cNvPr id="13" name="Oval 12"/>
          <p:cNvSpPr/>
          <p:nvPr/>
        </p:nvSpPr>
        <p:spPr>
          <a:xfrm>
            <a:off x="3983360" y="4727751"/>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4</a:t>
            </a:r>
          </a:p>
        </p:txBody>
      </p:sp>
      <p:sp>
        <p:nvSpPr>
          <p:cNvPr id="14" name="Oval 13"/>
          <p:cNvSpPr/>
          <p:nvPr/>
        </p:nvSpPr>
        <p:spPr>
          <a:xfrm>
            <a:off x="3630709" y="5453204"/>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5</a:t>
            </a:r>
          </a:p>
        </p:txBody>
      </p:sp>
      <p:sp>
        <p:nvSpPr>
          <p:cNvPr id="15" name="TextBox 14"/>
          <p:cNvSpPr txBox="1"/>
          <p:nvPr/>
        </p:nvSpPr>
        <p:spPr>
          <a:xfrm>
            <a:off x="548640" y="5779008"/>
            <a:ext cx="1964768" cy="182880"/>
          </a:xfrm>
          <a:prstGeom prst="rect">
            <a:avLst/>
          </a:prstGeom>
          <a:noFill/>
        </p:spPr>
        <p:txBody>
          <a:bodyPr wrap="square" lIns="0" rIns="0" tIns="0" bIns="0" anchor="t">
            <a:spAutoFit/>
          </a:bodyPr>
          <a:lstStyle/>
          <a:p>
            <a:pPr algn="ctr"/>
            <a:r>
              <a:rPr sz="750" b="1" i="0">
                <a:solidFill>
                  <a:srgbClr val="96A1B0"/>
                </a:solidFill>
                <a:latin typeface="Sora"/>
              </a:rPr>
              <a:t>B.TECH CSE · FOLD 1</a:t>
            </a:r>
          </a:p>
        </p:txBody>
      </p:sp>
      <p:sp>
        <p:nvSpPr>
          <p:cNvPr id="16" name="TextBox 15"/>
          <p:cNvSpPr txBox="1"/>
          <p:nvPr/>
        </p:nvSpPr>
        <p:spPr>
          <a:xfrm>
            <a:off x="2742008" y="5779008"/>
            <a:ext cx="1964768" cy="182880"/>
          </a:xfrm>
          <a:prstGeom prst="rect">
            <a:avLst/>
          </a:prstGeom>
          <a:noFill/>
        </p:spPr>
        <p:txBody>
          <a:bodyPr wrap="square" lIns="0" rIns="0" tIns="0" bIns="0" anchor="t">
            <a:spAutoFit/>
          </a:bodyPr>
          <a:lstStyle/>
          <a:p>
            <a:pPr algn="ctr"/>
            <a:r>
              <a:rPr sz="750" b="1" i="0">
                <a:solidFill>
                  <a:srgbClr val="96A1B0"/>
                </a:solidFill>
                <a:latin typeface="Sora"/>
              </a:rPr>
              <a:t>MRIIRS FEE TABLE · SCROLLED</a:t>
            </a:r>
          </a:p>
        </p:txBody>
      </p:sp>
      <p:sp>
        <p:nvSpPr>
          <p:cNvPr id="17" name="Oval 16"/>
          <p:cNvSpPr/>
          <p:nvPr/>
        </p:nvSpPr>
        <p:spPr>
          <a:xfrm>
            <a:off x="4981096" y="149961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1</a:t>
            </a:r>
          </a:p>
        </p:txBody>
      </p:sp>
      <p:sp>
        <p:nvSpPr>
          <p:cNvPr id="18" name="TextBox 17"/>
          <p:cNvSpPr txBox="1"/>
          <p:nvPr/>
        </p:nvSpPr>
        <p:spPr>
          <a:xfrm>
            <a:off x="5328568" y="1481328"/>
            <a:ext cx="5488783" cy="201168"/>
          </a:xfrm>
          <a:prstGeom prst="rect">
            <a:avLst/>
          </a:prstGeom>
          <a:noFill/>
        </p:spPr>
        <p:txBody>
          <a:bodyPr wrap="square" lIns="0" rIns="0" tIns="0" bIns="0" anchor="t">
            <a:spAutoFit/>
          </a:bodyPr>
          <a:lstStyle/>
          <a:p>
            <a:pPr algn="l"/>
            <a:r>
              <a:rPr sz="950" b="1" i="0">
                <a:solidFill>
                  <a:srgbClr val="0F2C5C"/>
                </a:solidFill>
                <a:latin typeface="Sora"/>
              </a:rPr>
              <a:t>Session-year conflict</a:t>
            </a:r>
          </a:p>
        </p:txBody>
      </p:sp>
      <p:sp>
        <p:nvSpPr>
          <p:cNvPr id="19" name="TextBox 18"/>
          <p:cNvSpPr txBox="1"/>
          <p:nvPr/>
        </p:nvSpPr>
        <p:spPr>
          <a:xfrm>
            <a:off x="5328568" y="1700784"/>
            <a:ext cx="5488783" cy="457200"/>
          </a:xfrm>
          <a:prstGeom prst="rect">
            <a:avLst/>
          </a:prstGeom>
          <a:noFill/>
        </p:spPr>
        <p:txBody>
          <a:bodyPr wrap="square" lIns="0" rIns="0" tIns="0" bIns="0" anchor="t">
            <a:spAutoFit/>
          </a:bodyPr>
          <a:lstStyle/>
          <a:p>
            <a:pPr algn="l"/>
            <a:r>
              <a:rPr sz="800" b="0" i="0">
                <a:solidFill>
                  <a:srgbClr val="5A6472"/>
                </a:solidFill>
                <a:latin typeface="Sora"/>
              </a:rPr>
              <a:t>Top bar “Applications Open For Session 2027-28” vs CSE banner “Admissions Open 2026-27” vs fee table “AY 2026-27”.</a:t>
            </a:r>
          </a:p>
        </p:txBody>
      </p:sp>
      <p:sp>
        <p:nvSpPr>
          <p:cNvPr id="20" name="TextBox 19"/>
          <p:cNvSpPr txBox="1"/>
          <p:nvPr/>
        </p:nvSpPr>
        <p:spPr>
          <a:xfrm>
            <a:off x="5328568" y="2029968"/>
            <a:ext cx="5488783" cy="182880"/>
          </a:xfrm>
          <a:prstGeom prst="rect">
            <a:avLst/>
          </a:prstGeom>
          <a:noFill/>
        </p:spPr>
        <p:txBody>
          <a:bodyPr wrap="square" lIns="0" rIns="0" tIns="0" bIns="0" anchor="t">
            <a:spAutoFit/>
          </a:bodyPr>
          <a:lstStyle/>
          <a:p>
            <a:pPr algn="l"/>
            <a:r>
              <a:rPr sz="800" b="1" i="0">
                <a:solidFill>
                  <a:srgbClr val="C8102E"/>
                </a:solidFill>
                <a:latin typeface="Sora"/>
              </a:rPr>
              <a:t>→ Credibility; which fee applies</a:t>
            </a:r>
          </a:p>
        </p:txBody>
      </p:sp>
      <p:sp>
        <p:nvSpPr>
          <p:cNvPr id="21" name="Rounded Rectangle 20"/>
          <p:cNvSpPr/>
          <p:nvPr/>
        </p:nvSpPr>
        <p:spPr>
          <a:xfrm>
            <a:off x="10954511" y="1481328"/>
            <a:ext cx="658368"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54511" y="1481328"/>
            <a:ext cx="658368" cy="201168"/>
          </a:xfrm>
          <a:prstGeom prst="rect">
            <a:avLst/>
          </a:prstGeom>
          <a:noFill/>
        </p:spPr>
        <p:txBody>
          <a:bodyPr wrap="square" lIns="0" rIns="0" tIns="0" bIns="0" anchor="ctr">
            <a:spAutoFit/>
          </a:bodyPr>
          <a:lstStyle/>
          <a:p>
            <a:pPr algn="ctr"/>
            <a:r>
              <a:rPr sz="650" b="1" i="0">
                <a:solidFill>
                  <a:srgbClr val="C8102E"/>
                </a:solidFill>
                <a:latin typeface="Sora"/>
              </a:rPr>
              <a:t>HIGH</a:t>
            </a:r>
          </a:p>
        </p:txBody>
      </p:sp>
      <p:sp>
        <p:nvSpPr>
          <p:cNvPr id="23" name="Oval 22"/>
          <p:cNvSpPr/>
          <p:nvPr/>
        </p:nvSpPr>
        <p:spPr>
          <a:xfrm>
            <a:off x="4981096" y="232257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2</a:t>
            </a:r>
          </a:p>
        </p:txBody>
      </p:sp>
      <p:sp>
        <p:nvSpPr>
          <p:cNvPr id="24" name="TextBox 23"/>
          <p:cNvSpPr txBox="1"/>
          <p:nvPr/>
        </p:nvSpPr>
        <p:spPr>
          <a:xfrm>
            <a:off x="5328568" y="2304288"/>
            <a:ext cx="5488783" cy="201168"/>
          </a:xfrm>
          <a:prstGeom prst="rect">
            <a:avLst/>
          </a:prstGeom>
          <a:noFill/>
        </p:spPr>
        <p:txBody>
          <a:bodyPr wrap="square" lIns="0" rIns="0" tIns="0" bIns="0" anchor="t">
            <a:spAutoFit/>
          </a:bodyPr>
          <a:lstStyle/>
          <a:p>
            <a:pPr algn="l"/>
            <a:r>
              <a:rPr sz="950" b="1" i="0">
                <a:solidFill>
                  <a:srgbClr val="0F2C5C"/>
                </a:solidFill>
                <a:latin typeface="Sora"/>
              </a:rPr>
              <a:t>Same-intent CTAs</a:t>
            </a:r>
          </a:p>
        </p:txBody>
      </p:sp>
      <p:sp>
        <p:nvSpPr>
          <p:cNvPr id="25" name="TextBox 24"/>
          <p:cNvSpPr txBox="1"/>
          <p:nvPr/>
        </p:nvSpPr>
        <p:spPr>
          <a:xfrm>
            <a:off x="5328568" y="2523744"/>
            <a:ext cx="5488783" cy="457200"/>
          </a:xfrm>
          <a:prstGeom prst="rect">
            <a:avLst/>
          </a:prstGeom>
          <a:noFill/>
        </p:spPr>
        <p:txBody>
          <a:bodyPr wrap="square" lIns="0" rIns="0" tIns="0" bIns="0" anchor="t">
            <a:spAutoFit/>
          </a:bodyPr>
          <a:lstStyle/>
          <a:p>
            <a:pPr algn="l"/>
            <a:r>
              <a:rPr sz="800" b="0" i="0">
                <a:solidFill>
                  <a:srgbClr val="5A6472"/>
                </a:solidFill>
                <a:latin typeface="Sora"/>
              </a:rPr>
              <a:t>3 × Apply + 1 × Enquire in CSE fold 1; the same pair on every template, whatever the page’s intent.</a:t>
            </a:r>
          </a:p>
        </p:txBody>
      </p:sp>
      <p:sp>
        <p:nvSpPr>
          <p:cNvPr id="26" name="TextBox 25"/>
          <p:cNvSpPr txBox="1"/>
          <p:nvPr/>
        </p:nvSpPr>
        <p:spPr>
          <a:xfrm>
            <a:off x="5328568" y="2852928"/>
            <a:ext cx="5488783" cy="182880"/>
          </a:xfrm>
          <a:prstGeom prst="rect">
            <a:avLst/>
          </a:prstGeom>
          <a:noFill/>
        </p:spPr>
        <p:txBody>
          <a:bodyPr wrap="square" lIns="0" rIns="0" tIns="0" bIns="0" anchor="t">
            <a:spAutoFit/>
          </a:bodyPr>
          <a:lstStyle/>
          <a:p>
            <a:pPr algn="l"/>
            <a:r>
              <a:rPr sz="800" b="1" i="0">
                <a:solidFill>
                  <a:srgbClr val="C8102E"/>
                </a:solidFill>
                <a:latin typeface="Sora"/>
              </a:rPr>
              <a:t>→ Dilutes the one next step</a:t>
            </a:r>
          </a:p>
        </p:txBody>
      </p:sp>
      <p:sp>
        <p:nvSpPr>
          <p:cNvPr id="27" name="Rounded Rectangle 26"/>
          <p:cNvSpPr/>
          <p:nvPr/>
        </p:nvSpPr>
        <p:spPr>
          <a:xfrm>
            <a:off x="10954511" y="2304288"/>
            <a:ext cx="658368" cy="201168"/>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54511" y="2304288"/>
            <a:ext cx="658368" cy="201168"/>
          </a:xfrm>
          <a:prstGeom prst="rect">
            <a:avLst/>
          </a:prstGeom>
          <a:noFill/>
        </p:spPr>
        <p:txBody>
          <a:bodyPr wrap="square" lIns="0" rIns="0" tIns="0" bIns="0" anchor="ctr">
            <a:spAutoFit/>
          </a:bodyPr>
          <a:lstStyle/>
          <a:p>
            <a:pPr algn="ctr"/>
            <a:r>
              <a:rPr sz="650" b="1" i="0">
                <a:solidFill>
                  <a:srgbClr val="B26B00"/>
                </a:solidFill>
                <a:latin typeface="Sora"/>
              </a:rPr>
              <a:t>MED</a:t>
            </a:r>
          </a:p>
        </p:txBody>
      </p:sp>
      <p:sp>
        <p:nvSpPr>
          <p:cNvPr id="29" name="Oval 28"/>
          <p:cNvSpPr/>
          <p:nvPr/>
        </p:nvSpPr>
        <p:spPr>
          <a:xfrm>
            <a:off x="4981096" y="314553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3</a:t>
            </a:r>
          </a:p>
        </p:txBody>
      </p:sp>
      <p:sp>
        <p:nvSpPr>
          <p:cNvPr id="30" name="TextBox 29"/>
          <p:cNvSpPr txBox="1"/>
          <p:nvPr/>
        </p:nvSpPr>
        <p:spPr>
          <a:xfrm>
            <a:off x="5328568" y="3127248"/>
            <a:ext cx="5488783" cy="201168"/>
          </a:xfrm>
          <a:prstGeom prst="rect">
            <a:avLst/>
          </a:prstGeom>
          <a:noFill/>
        </p:spPr>
        <p:txBody>
          <a:bodyPr wrap="square" lIns="0" rIns="0" tIns="0" bIns="0" anchor="t">
            <a:spAutoFit/>
          </a:bodyPr>
          <a:lstStyle/>
          <a:p>
            <a:pPr algn="l"/>
            <a:r>
              <a:rPr sz="950" b="1" i="0">
                <a:solidFill>
                  <a:srgbClr val="0F2C5C"/>
                </a:solidFill>
                <a:latin typeface="Sora"/>
              </a:rPr>
              <a:t>Vertical Apply / Enquire tabs over content</a:t>
            </a:r>
          </a:p>
        </p:txBody>
      </p:sp>
      <p:sp>
        <p:nvSpPr>
          <p:cNvPr id="31" name="TextBox 30"/>
          <p:cNvSpPr txBox="1"/>
          <p:nvPr/>
        </p:nvSpPr>
        <p:spPr>
          <a:xfrm>
            <a:off x="5328568" y="3346704"/>
            <a:ext cx="5488783" cy="457200"/>
          </a:xfrm>
          <a:prstGeom prst="rect">
            <a:avLst/>
          </a:prstGeom>
          <a:noFill/>
        </p:spPr>
        <p:txBody>
          <a:bodyPr wrap="square" lIns="0" rIns="0" tIns="0" bIns="0" anchor="t">
            <a:spAutoFit/>
          </a:bodyPr>
          <a:lstStyle/>
          <a:p>
            <a:pPr algn="l"/>
            <a:r>
              <a:rPr sz="800" b="0" i="0">
                <a:solidFill>
                  <a:srgbClr val="5A6472"/>
                </a:solidFill>
                <a:latin typeface="Sora"/>
              </a:rPr>
              <a:t>Clip the CSE fee heading and sit over live fee rows.</a:t>
            </a:r>
          </a:p>
        </p:txBody>
      </p:sp>
      <p:sp>
        <p:nvSpPr>
          <p:cNvPr id="32" name="TextBox 31"/>
          <p:cNvSpPr txBox="1"/>
          <p:nvPr/>
        </p:nvSpPr>
        <p:spPr>
          <a:xfrm>
            <a:off x="5328568" y="3675887"/>
            <a:ext cx="5488783" cy="182880"/>
          </a:xfrm>
          <a:prstGeom prst="rect">
            <a:avLst/>
          </a:prstGeom>
          <a:noFill/>
        </p:spPr>
        <p:txBody>
          <a:bodyPr wrap="square" lIns="0" rIns="0" tIns="0" bIns="0" anchor="t">
            <a:spAutoFit/>
          </a:bodyPr>
          <a:lstStyle/>
          <a:p>
            <a:pPr algn="l"/>
            <a:r>
              <a:rPr sz="800" b="1" i="0">
                <a:solidFill>
                  <a:srgbClr val="C8102E"/>
                </a:solidFill>
                <a:latin typeface="Sora"/>
              </a:rPr>
              <a:t>→ Comprehension on fee &amp; course pages</a:t>
            </a:r>
          </a:p>
        </p:txBody>
      </p:sp>
      <p:sp>
        <p:nvSpPr>
          <p:cNvPr id="33" name="Rounded Rectangle 32"/>
          <p:cNvSpPr/>
          <p:nvPr/>
        </p:nvSpPr>
        <p:spPr>
          <a:xfrm>
            <a:off x="10954511" y="3127248"/>
            <a:ext cx="658368" cy="201168"/>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54511" y="3127248"/>
            <a:ext cx="658368" cy="201168"/>
          </a:xfrm>
          <a:prstGeom prst="rect">
            <a:avLst/>
          </a:prstGeom>
          <a:noFill/>
        </p:spPr>
        <p:txBody>
          <a:bodyPr wrap="square" lIns="0" rIns="0" tIns="0" bIns="0" anchor="ctr">
            <a:spAutoFit/>
          </a:bodyPr>
          <a:lstStyle/>
          <a:p>
            <a:pPr algn="ctr"/>
            <a:r>
              <a:rPr sz="650" b="1" i="0">
                <a:solidFill>
                  <a:srgbClr val="B26B00"/>
                </a:solidFill>
                <a:latin typeface="Sora"/>
              </a:rPr>
              <a:t>MED</a:t>
            </a:r>
          </a:p>
        </p:txBody>
      </p:sp>
      <p:sp>
        <p:nvSpPr>
          <p:cNvPr id="35" name="Oval 34"/>
          <p:cNvSpPr/>
          <p:nvPr/>
        </p:nvSpPr>
        <p:spPr>
          <a:xfrm>
            <a:off x="4981096" y="396849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4</a:t>
            </a:r>
          </a:p>
        </p:txBody>
      </p:sp>
      <p:sp>
        <p:nvSpPr>
          <p:cNvPr id="36" name="TextBox 35"/>
          <p:cNvSpPr txBox="1"/>
          <p:nvPr/>
        </p:nvSpPr>
        <p:spPr>
          <a:xfrm>
            <a:off x="5328568" y="3950208"/>
            <a:ext cx="5488783" cy="201168"/>
          </a:xfrm>
          <a:prstGeom prst="rect">
            <a:avLst/>
          </a:prstGeom>
          <a:noFill/>
        </p:spPr>
        <p:txBody>
          <a:bodyPr wrap="square" lIns="0" rIns="0" tIns="0" bIns="0" anchor="t">
            <a:spAutoFit/>
          </a:bodyPr>
          <a:lstStyle/>
          <a:p>
            <a:pPr algn="l"/>
            <a:r>
              <a:rPr sz="950" b="1" i="0">
                <a:solidFill>
                  <a:srgbClr val="0F2C5C"/>
                </a:solidFill>
                <a:latin typeface="Sora"/>
              </a:rPr>
              <a:t>Chat teaser on every page</a:t>
            </a:r>
          </a:p>
        </p:txBody>
      </p:sp>
      <p:sp>
        <p:nvSpPr>
          <p:cNvPr id="37" name="TextBox 36"/>
          <p:cNvSpPr txBox="1"/>
          <p:nvPr/>
        </p:nvSpPr>
        <p:spPr>
          <a:xfrm>
            <a:off x="5328568" y="4169664"/>
            <a:ext cx="5488783" cy="457200"/>
          </a:xfrm>
          <a:prstGeom prst="rect">
            <a:avLst/>
          </a:prstGeom>
          <a:noFill/>
        </p:spPr>
        <p:txBody>
          <a:bodyPr wrap="square" lIns="0" rIns="0" tIns="0" bIns="0" anchor="t">
            <a:spAutoFit/>
          </a:bodyPr>
          <a:lstStyle/>
          <a:p>
            <a:pPr algn="l"/>
            <a:r>
              <a:rPr sz="800" b="0" i="0">
                <a:solidFill>
                  <a:srgbClr val="5A6472"/>
                </a:solidFill>
                <a:latin typeface="Sora"/>
              </a:rPr>
              <a:t>“Chat online · Admission Closing Soon” + bubble over forms and fee rows.</a:t>
            </a:r>
          </a:p>
        </p:txBody>
      </p:sp>
      <p:sp>
        <p:nvSpPr>
          <p:cNvPr id="38" name="TextBox 37"/>
          <p:cNvSpPr txBox="1"/>
          <p:nvPr/>
        </p:nvSpPr>
        <p:spPr>
          <a:xfrm>
            <a:off x="5328568" y="4498848"/>
            <a:ext cx="5488783" cy="182880"/>
          </a:xfrm>
          <a:prstGeom prst="rect">
            <a:avLst/>
          </a:prstGeom>
          <a:noFill/>
        </p:spPr>
        <p:txBody>
          <a:bodyPr wrap="square" lIns="0" rIns="0" tIns="0" bIns="0" anchor="t">
            <a:spAutoFit/>
          </a:bodyPr>
          <a:lstStyle/>
          <a:p>
            <a:pPr algn="l"/>
            <a:r>
              <a:rPr sz="800" b="1" i="0">
                <a:solidFill>
                  <a:srgbClr val="C8102E"/>
                </a:solidFill>
                <a:latin typeface="Sora"/>
              </a:rPr>
              <a:t>→ Covers the content users came for</a:t>
            </a:r>
          </a:p>
        </p:txBody>
      </p:sp>
      <p:sp>
        <p:nvSpPr>
          <p:cNvPr id="39" name="Rounded Rectangle 38"/>
          <p:cNvSpPr/>
          <p:nvPr/>
        </p:nvSpPr>
        <p:spPr>
          <a:xfrm>
            <a:off x="10954511" y="3950208"/>
            <a:ext cx="658368" cy="201168"/>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54511" y="3950208"/>
            <a:ext cx="658368" cy="201168"/>
          </a:xfrm>
          <a:prstGeom prst="rect">
            <a:avLst/>
          </a:prstGeom>
          <a:noFill/>
        </p:spPr>
        <p:txBody>
          <a:bodyPr wrap="square" lIns="0" rIns="0" tIns="0" bIns="0" anchor="ctr">
            <a:spAutoFit/>
          </a:bodyPr>
          <a:lstStyle/>
          <a:p>
            <a:pPr algn="ctr"/>
            <a:r>
              <a:rPr sz="650" b="1" i="0">
                <a:solidFill>
                  <a:srgbClr val="B26B00"/>
                </a:solidFill>
                <a:latin typeface="Sora"/>
              </a:rPr>
              <a:t>MED</a:t>
            </a:r>
          </a:p>
        </p:txBody>
      </p:sp>
      <p:sp>
        <p:nvSpPr>
          <p:cNvPr id="41" name="Oval 40"/>
          <p:cNvSpPr/>
          <p:nvPr/>
        </p:nvSpPr>
        <p:spPr>
          <a:xfrm>
            <a:off x="4981096" y="479145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5</a:t>
            </a:r>
          </a:p>
        </p:txBody>
      </p:sp>
      <p:sp>
        <p:nvSpPr>
          <p:cNvPr id="42" name="TextBox 41"/>
          <p:cNvSpPr txBox="1"/>
          <p:nvPr/>
        </p:nvSpPr>
        <p:spPr>
          <a:xfrm>
            <a:off x="5328568" y="4773168"/>
            <a:ext cx="5488783" cy="201168"/>
          </a:xfrm>
          <a:prstGeom prst="rect">
            <a:avLst/>
          </a:prstGeom>
          <a:noFill/>
        </p:spPr>
        <p:txBody>
          <a:bodyPr wrap="square" lIns="0" rIns="0" tIns="0" bIns="0" anchor="t">
            <a:spAutoFit/>
          </a:bodyPr>
          <a:lstStyle/>
          <a:p>
            <a:pPr algn="l"/>
            <a:r>
              <a:rPr sz="950" b="1" i="0">
                <a:solidFill>
                  <a:srgbClr val="0F2C5C"/>
                </a:solidFill>
                <a:latin typeface="Sora"/>
              </a:rPr>
              <a:t>Fixed chrome ≈ 21–24% of the screen</a:t>
            </a:r>
          </a:p>
        </p:txBody>
      </p:sp>
      <p:sp>
        <p:nvSpPr>
          <p:cNvPr id="43" name="TextBox 42"/>
          <p:cNvSpPr txBox="1"/>
          <p:nvPr/>
        </p:nvSpPr>
        <p:spPr>
          <a:xfrm>
            <a:off x="5328568" y="4992624"/>
            <a:ext cx="5488783" cy="457200"/>
          </a:xfrm>
          <a:prstGeom prst="rect">
            <a:avLst/>
          </a:prstGeom>
          <a:noFill/>
        </p:spPr>
        <p:txBody>
          <a:bodyPr wrap="square" lIns="0" rIns="0" tIns="0" bIns="0" anchor="t">
            <a:spAutoFit/>
          </a:bodyPr>
          <a:lstStyle/>
          <a:p>
            <a:pPr algn="l"/>
            <a:r>
              <a:rPr sz="800" b="0" i="0">
                <a:solidFill>
                  <a:srgbClr val="5A6472"/>
                </a:solidFill>
                <a:latin typeface="Sora"/>
              </a:rPr>
              <a:t>Header 103–130px + bottom nav 54–68px on an 844px screen, before tabs and chat.</a:t>
            </a:r>
          </a:p>
        </p:txBody>
      </p:sp>
      <p:sp>
        <p:nvSpPr>
          <p:cNvPr id="44" name="TextBox 43"/>
          <p:cNvSpPr txBox="1"/>
          <p:nvPr/>
        </p:nvSpPr>
        <p:spPr>
          <a:xfrm>
            <a:off x="5328568" y="5321808"/>
            <a:ext cx="5488783" cy="182880"/>
          </a:xfrm>
          <a:prstGeom prst="rect">
            <a:avLst/>
          </a:prstGeom>
          <a:noFill/>
        </p:spPr>
        <p:txBody>
          <a:bodyPr wrap="square" lIns="0" rIns="0" tIns="0" bIns="0" anchor="t">
            <a:spAutoFit/>
          </a:bodyPr>
          <a:lstStyle/>
          <a:p>
            <a:pPr algn="l"/>
            <a:r>
              <a:rPr sz="800" b="1" i="0">
                <a:solidFill>
                  <a:srgbClr val="C8102E"/>
                </a:solidFill>
                <a:latin typeface="Sora"/>
              </a:rPr>
              <a:t>→ Less room for the answer</a:t>
            </a:r>
          </a:p>
        </p:txBody>
      </p:sp>
      <p:sp>
        <p:nvSpPr>
          <p:cNvPr id="45" name="Rounded Rectangle 44"/>
          <p:cNvSpPr/>
          <p:nvPr/>
        </p:nvSpPr>
        <p:spPr>
          <a:xfrm>
            <a:off x="10954511" y="4773168"/>
            <a:ext cx="658368" cy="201168"/>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54511" y="4773168"/>
            <a:ext cx="658368" cy="201168"/>
          </a:xfrm>
          <a:prstGeom prst="rect">
            <a:avLst/>
          </a:prstGeom>
          <a:noFill/>
        </p:spPr>
        <p:txBody>
          <a:bodyPr wrap="square" lIns="0" rIns="0" tIns="0" bIns="0" anchor="ctr">
            <a:spAutoFit/>
          </a:bodyPr>
          <a:lstStyle/>
          <a:p>
            <a:pPr algn="ctr"/>
            <a:r>
              <a:rPr sz="650" b="1" i="0">
                <a:solidFill>
                  <a:srgbClr val="B26B00"/>
                </a:solidFill>
                <a:latin typeface="Sora"/>
              </a:rPr>
              <a:t>MED</a:t>
            </a:r>
          </a:p>
        </p:txBody>
      </p:sp>
      <p:sp>
        <p:nvSpPr>
          <p:cNvPr id="47" name="Oval 46"/>
          <p:cNvSpPr/>
          <p:nvPr/>
        </p:nvSpPr>
        <p:spPr>
          <a:xfrm>
            <a:off x="4981096" y="561441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6</a:t>
            </a:r>
          </a:p>
        </p:txBody>
      </p:sp>
      <p:sp>
        <p:nvSpPr>
          <p:cNvPr id="48" name="TextBox 47"/>
          <p:cNvSpPr txBox="1"/>
          <p:nvPr/>
        </p:nvSpPr>
        <p:spPr>
          <a:xfrm>
            <a:off x="5328568" y="5596128"/>
            <a:ext cx="5488783" cy="201168"/>
          </a:xfrm>
          <a:prstGeom prst="rect">
            <a:avLst/>
          </a:prstGeom>
          <a:noFill/>
        </p:spPr>
        <p:txBody>
          <a:bodyPr wrap="square" lIns="0" rIns="0" tIns="0" bIns="0" anchor="t">
            <a:spAutoFit/>
          </a:bodyPr>
          <a:lstStyle/>
          <a:p>
            <a:pPr algn="l"/>
            <a:r>
              <a:rPr sz="950" b="1" i="0">
                <a:solidFill>
                  <a:srgbClr val="0F2C5C"/>
                </a:solidFill>
                <a:latin typeface="Sora"/>
              </a:rPr>
              <a:t>Fee Calculator → homepage (301)</a:t>
            </a:r>
          </a:p>
        </p:txBody>
      </p:sp>
      <p:sp>
        <p:nvSpPr>
          <p:cNvPr id="49" name="TextBox 48"/>
          <p:cNvSpPr txBox="1"/>
          <p:nvPr/>
        </p:nvSpPr>
        <p:spPr>
          <a:xfrm>
            <a:off x="5328568" y="5815584"/>
            <a:ext cx="5488783" cy="457200"/>
          </a:xfrm>
          <a:prstGeom prst="rect">
            <a:avLst/>
          </a:prstGeom>
          <a:noFill/>
        </p:spPr>
        <p:txBody>
          <a:bodyPr wrap="square" lIns="0" rIns="0" tIns="0" bIns="0" anchor="t">
            <a:spAutoFit/>
          </a:bodyPr>
          <a:lstStyle/>
          <a:p>
            <a:pPr algn="l"/>
            <a:r>
              <a:rPr sz="800" b="0" i="0">
                <a:solidFill>
                  <a:srgbClr val="5A6472"/>
                </a:solidFill>
                <a:latin typeface="Sora"/>
              </a:rPr>
              <a:t>Menu, both fee pages and the CSE page link to a URL that redirects home.</a:t>
            </a:r>
          </a:p>
        </p:txBody>
      </p:sp>
      <p:sp>
        <p:nvSpPr>
          <p:cNvPr id="50" name="TextBox 49"/>
          <p:cNvSpPr txBox="1"/>
          <p:nvPr/>
        </p:nvSpPr>
        <p:spPr>
          <a:xfrm>
            <a:off x="5328568" y="6144768"/>
            <a:ext cx="5488783" cy="182880"/>
          </a:xfrm>
          <a:prstGeom prst="rect">
            <a:avLst/>
          </a:prstGeom>
          <a:noFill/>
        </p:spPr>
        <p:txBody>
          <a:bodyPr wrap="square" lIns="0" rIns="0" tIns="0" bIns="0" anchor="t">
            <a:spAutoFit/>
          </a:bodyPr>
          <a:lstStyle/>
          <a:p>
            <a:pPr algn="l"/>
            <a:r>
              <a:rPr sz="800" b="1" i="0">
                <a:solidFill>
                  <a:srgbClr val="C8102E"/>
                </a:solidFill>
                <a:latin typeface="Sora"/>
              </a:rPr>
              <a:t>→ Dead end at the cost decision</a:t>
            </a:r>
          </a:p>
        </p:txBody>
      </p:sp>
      <p:sp>
        <p:nvSpPr>
          <p:cNvPr id="51" name="Rounded Rectangle 50"/>
          <p:cNvSpPr/>
          <p:nvPr/>
        </p:nvSpPr>
        <p:spPr>
          <a:xfrm>
            <a:off x="10954511" y="5596128"/>
            <a:ext cx="658368" cy="201168"/>
          </a:xfrm>
          <a:prstGeom prst="roundRect">
            <a:avLst>
              <a:gd name="adj" fmla="val 5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954511" y="5596128"/>
            <a:ext cx="658368" cy="201168"/>
          </a:xfrm>
          <a:prstGeom prst="rect">
            <a:avLst/>
          </a:prstGeom>
          <a:noFill/>
        </p:spPr>
        <p:txBody>
          <a:bodyPr wrap="square" lIns="0" rIns="0" tIns="0" bIns="0" anchor="ctr">
            <a:spAutoFit/>
          </a:bodyPr>
          <a:lstStyle/>
          <a:p>
            <a:pPr algn="ctr"/>
            <a:r>
              <a:rPr sz="650" b="1" i="0">
                <a:solidFill>
                  <a:srgbClr val="C8102E"/>
                </a:solidFill>
                <a:latin typeface="Sora"/>
              </a:rPr>
              <a:t>HIGH</a:t>
            </a:r>
          </a:p>
        </p:txBody>
      </p:sp>
      <p:sp>
        <p:nvSpPr>
          <p:cNvPr id="53" name="TextBox 52"/>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Live site audit, 24 Sept 2026. All six reproduced on /, /mriirs, /mru, B.Tech CSE, both fee pages, awards, placements and blog templates unless stated. Issue 6 has no GA4 click event — its traffic impact is evidence not available.</a:t>
            </a:r>
          </a:p>
        </p:txBody>
      </p:sp>
      <p:sp>
        <p:nvSpPr>
          <p:cNvPr id="54" name="Rounded Rectangle 53"/>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WHAT BREAKS  ·  SITEWIDE — UI POLISH</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Polish issues — kept separate, and only where they touch conversion</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None of these is a CRO recommendation on its own; each is linked to the behaviour it could affect</a:t>
            </a:r>
          </a:p>
        </p:txBody>
      </p:sp>
      <p:pic>
        <p:nvPicPr>
          <p:cNvPr id="5" name="Picture 4" descr="fee_mriirs_d_f1.png"/>
          <p:cNvPicPr>
            <a:picLocks noChangeAspect="1"/>
          </p:cNvPicPr>
          <p:nvPr/>
        </p:nvPicPr>
        <p:blipFill>
          <a:blip r:embed="rId2"/>
          <a:stretch>
            <a:fillRect/>
          </a:stretch>
        </p:blipFill>
        <p:spPr>
          <a:xfrm>
            <a:off x="548640" y="1481328"/>
            <a:ext cx="5705856" cy="3566160"/>
          </a:xfrm>
          <a:prstGeom prst="rect">
            <a:avLst/>
          </a:prstGeom>
          <a:ln w="12700">
            <a:solidFill>
              <a:srgbClr val="D8DFE8"/>
            </a:solidFill>
          </a:ln>
        </p:spPr>
      </p:pic>
      <p:sp>
        <p:nvSpPr>
          <p:cNvPr id="6" name="Oval 5"/>
          <p:cNvSpPr/>
          <p:nvPr/>
        </p:nvSpPr>
        <p:spPr>
          <a:xfrm>
            <a:off x="3203448" y="2234184"/>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1</a:t>
            </a:r>
          </a:p>
        </p:txBody>
      </p:sp>
      <p:sp>
        <p:nvSpPr>
          <p:cNvPr id="7" name="Oval 6"/>
          <p:cNvSpPr/>
          <p:nvPr/>
        </p:nvSpPr>
        <p:spPr>
          <a:xfrm>
            <a:off x="647699" y="4524451"/>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2</a:t>
            </a:r>
          </a:p>
        </p:txBody>
      </p:sp>
      <p:sp>
        <p:nvSpPr>
          <p:cNvPr id="8" name="Oval 7"/>
          <p:cNvSpPr/>
          <p:nvPr/>
        </p:nvSpPr>
        <p:spPr>
          <a:xfrm>
            <a:off x="5957316" y="4108399"/>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3</a:t>
            </a:r>
          </a:p>
        </p:txBody>
      </p:sp>
      <p:sp>
        <p:nvSpPr>
          <p:cNvPr id="9" name="Oval 8"/>
          <p:cNvSpPr/>
          <p:nvPr/>
        </p:nvSpPr>
        <p:spPr>
          <a:xfrm>
            <a:off x="4986528" y="3125724"/>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4</a:t>
            </a:r>
          </a:p>
        </p:txBody>
      </p:sp>
      <p:sp>
        <p:nvSpPr>
          <p:cNvPr id="10" name="TextBox 9"/>
          <p:cNvSpPr txBox="1"/>
          <p:nvPr/>
        </p:nvSpPr>
        <p:spPr>
          <a:xfrm>
            <a:off x="548640" y="5102352"/>
            <a:ext cx="5705856" cy="182880"/>
          </a:xfrm>
          <a:prstGeom prst="rect">
            <a:avLst/>
          </a:prstGeom>
          <a:noFill/>
        </p:spPr>
        <p:txBody>
          <a:bodyPr wrap="square" lIns="0" rIns="0" tIns="0" bIns="0" anchor="t">
            <a:spAutoFit/>
          </a:bodyPr>
          <a:lstStyle/>
          <a:p>
            <a:pPr algn="ctr"/>
            <a:r>
              <a:rPr sz="750" b="1" i="0">
                <a:solidFill>
                  <a:srgbClr val="96A1B0"/>
                </a:solidFill>
                <a:latin typeface="Sora"/>
              </a:rPr>
              <a:t>MRIIRS FEE STRUCTURE · 1440px DESKTOP</a:t>
            </a:r>
          </a:p>
        </p:txBody>
      </p:sp>
      <p:sp>
        <p:nvSpPr>
          <p:cNvPr id="11" name="Rounded Rectangle 10"/>
          <p:cNvSpPr/>
          <p:nvPr/>
        </p:nvSpPr>
        <p:spPr>
          <a:xfrm>
            <a:off x="6620256" y="1481328"/>
            <a:ext cx="4992623" cy="694944"/>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29984" y="1591056"/>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1</a:t>
            </a:r>
          </a:p>
        </p:txBody>
      </p:sp>
      <p:sp>
        <p:nvSpPr>
          <p:cNvPr id="13" name="TextBox 12"/>
          <p:cNvSpPr txBox="1"/>
          <p:nvPr/>
        </p:nvSpPr>
        <p:spPr>
          <a:xfrm>
            <a:off x="7077456" y="1554480"/>
            <a:ext cx="2660903" cy="201168"/>
          </a:xfrm>
          <a:prstGeom prst="rect">
            <a:avLst/>
          </a:prstGeom>
          <a:noFill/>
        </p:spPr>
        <p:txBody>
          <a:bodyPr wrap="square" lIns="0" rIns="0" tIns="0" bIns="0" anchor="t">
            <a:spAutoFit/>
          </a:bodyPr>
          <a:lstStyle/>
          <a:p>
            <a:pPr algn="l"/>
            <a:r>
              <a:rPr sz="950" b="1" i="0">
                <a:solidFill>
                  <a:srgbClr val="0F2C5C"/>
                </a:solidFill>
                <a:latin typeface="Sora"/>
              </a:rPr>
              <a:t>Empty band above the breadcrumb</a:t>
            </a:r>
          </a:p>
        </p:txBody>
      </p:sp>
      <p:sp>
        <p:nvSpPr>
          <p:cNvPr id="14" name="TextBox 13"/>
          <p:cNvSpPr txBox="1"/>
          <p:nvPr/>
        </p:nvSpPr>
        <p:spPr>
          <a:xfrm>
            <a:off x="7077456" y="1783080"/>
            <a:ext cx="2660903" cy="384048"/>
          </a:xfrm>
          <a:prstGeom prst="rect">
            <a:avLst/>
          </a:prstGeom>
          <a:noFill/>
        </p:spPr>
        <p:txBody>
          <a:bodyPr wrap="square" lIns="0" rIns="0" tIns="0" bIns="0" anchor="t">
            <a:spAutoFit/>
          </a:bodyPr>
          <a:lstStyle/>
          <a:p>
            <a:pPr algn="l"/>
            <a:r>
              <a:rPr sz="800" b="0" i="0">
                <a:solidFill>
                  <a:srgbClr val="5A6472"/>
                </a:solidFill>
                <a:latin typeface="Sora"/>
              </a:rPr>
              <a:t>About 120px of blank space pushes the fee table below the fold on desktop.</a:t>
            </a:r>
          </a:p>
        </p:txBody>
      </p:sp>
      <p:sp>
        <p:nvSpPr>
          <p:cNvPr id="15" name="TextBox 14"/>
          <p:cNvSpPr txBox="1"/>
          <p:nvPr/>
        </p:nvSpPr>
        <p:spPr>
          <a:xfrm>
            <a:off x="9829800" y="1554480"/>
            <a:ext cx="1645920" cy="548640"/>
          </a:xfrm>
          <a:prstGeom prst="rect">
            <a:avLst/>
          </a:prstGeom>
          <a:noFill/>
        </p:spPr>
        <p:txBody>
          <a:bodyPr wrap="square" lIns="0" rIns="0" tIns="0" bIns="0" anchor="ctr">
            <a:spAutoFit/>
          </a:bodyPr>
          <a:lstStyle/>
          <a:p>
            <a:pPr algn="l"/>
            <a:r>
              <a:rPr sz="800" b="1" i="0">
                <a:solidFill>
                  <a:srgbClr val="C8102E"/>
                </a:solidFill>
                <a:latin typeface="Sora"/>
              </a:rPr>
              <a:t>Linked to: Fee findability (desktop)</a:t>
            </a:r>
          </a:p>
        </p:txBody>
      </p:sp>
      <p:sp>
        <p:nvSpPr>
          <p:cNvPr id="16" name="Rounded Rectangle 15"/>
          <p:cNvSpPr/>
          <p:nvPr/>
        </p:nvSpPr>
        <p:spPr>
          <a:xfrm>
            <a:off x="6620256" y="2267712"/>
            <a:ext cx="4992623" cy="694944"/>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29984" y="2377440"/>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2</a:t>
            </a:r>
          </a:p>
        </p:txBody>
      </p:sp>
      <p:sp>
        <p:nvSpPr>
          <p:cNvPr id="18" name="TextBox 17"/>
          <p:cNvSpPr txBox="1"/>
          <p:nvPr/>
        </p:nvSpPr>
        <p:spPr>
          <a:xfrm>
            <a:off x="7077456" y="2340864"/>
            <a:ext cx="2660903" cy="201168"/>
          </a:xfrm>
          <a:prstGeom prst="rect">
            <a:avLst/>
          </a:prstGeom>
          <a:noFill/>
        </p:spPr>
        <p:txBody>
          <a:bodyPr wrap="square" lIns="0" rIns="0" tIns="0" bIns="0" anchor="t">
            <a:spAutoFit/>
          </a:bodyPr>
          <a:lstStyle/>
          <a:p>
            <a:pPr algn="l"/>
            <a:r>
              <a:rPr sz="950" b="1" i="0">
                <a:solidFill>
                  <a:srgbClr val="0F2C5C"/>
                </a:solidFill>
                <a:latin typeface="Sora"/>
              </a:rPr>
              <a:t>School codes and blank group cells</a:t>
            </a:r>
          </a:p>
        </p:txBody>
      </p:sp>
      <p:sp>
        <p:nvSpPr>
          <p:cNvPr id="19" name="TextBox 18"/>
          <p:cNvSpPr txBox="1"/>
          <p:nvPr/>
        </p:nvSpPr>
        <p:spPr>
          <a:xfrm>
            <a:off x="7077456" y="2569464"/>
            <a:ext cx="2660903" cy="384048"/>
          </a:xfrm>
          <a:prstGeom prst="rect">
            <a:avLst/>
          </a:prstGeom>
          <a:noFill/>
        </p:spPr>
        <p:txBody>
          <a:bodyPr wrap="square" lIns="0" rIns="0" tIns="0" bIns="0" anchor="t">
            <a:spAutoFit/>
          </a:bodyPr>
          <a:lstStyle/>
          <a:p>
            <a:pPr algn="l"/>
            <a:r>
              <a:rPr sz="800" b="0" i="0">
                <a:solidFill>
                  <a:srgbClr val="5A6472"/>
                </a:solidFill>
                <a:latin typeface="Sora"/>
              </a:rPr>
              <a:t>“SBSS”, “SET” are unexplained; the School cell blanks after each group’s first row.</a:t>
            </a:r>
          </a:p>
        </p:txBody>
      </p:sp>
      <p:sp>
        <p:nvSpPr>
          <p:cNvPr id="20" name="TextBox 19"/>
          <p:cNvSpPr txBox="1"/>
          <p:nvPr/>
        </p:nvSpPr>
        <p:spPr>
          <a:xfrm>
            <a:off x="9829800" y="2340864"/>
            <a:ext cx="1645920" cy="548640"/>
          </a:xfrm>
          <a:prstGeom prst="rect">
            <a:avLst/>
          </a:prstGeom>
          <a:noFill/>
        </p:spPr>
        <p:txBody>
          <a:bodyPr wrap="square" lIns="0" rIns="0" tIns="0" bIns="0" anchor="ctr">
            <a:spAutoFit/>
          </a:bodyPr>
          <a:lstStyle/>
          <a:p>
            <a:pPr algn="l"/>
            <a:r>
              <a:rPr sz="800" b="1" i="0">
                <a:solidFill>
                  <a:srgbClr val="C8102E"/>
                </a:solidFill>
                <a:latin typeface="Sora"/>
              </a:rPr>
              <a:t>Linked to: Fee comprehension</a:t>
            </a:r>
          </a:p>
        </p:txBody>
      </p:sp>
      <p:sp>
        <p:nvSpPr>
          <p:cNvPr id="21" name="Rounded Rectangle 20"/>
          <p:cNvSpPr/>
          <p:nvPr/>
        </p:nvSpPr>
        <p:spPr>
          <a:xfrm>
            <a:off x="6620256" y="3054096"/>
            <a:ext cx="4992623" cy="694944"/>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29984" y="3163824"/>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3</a:t>
            </a:r>
          </a:p>
        </p:txBody>
      </p:sp>
      <p:sp>
        <p:nvSpPr>
          <p:cNvPr id="23" name="TextBox 22"/>
          <p:cNvSpPr txBox="1"/>
          <p:nvPr/>
        </p:nvSpPr>
        <p:spPr>
          <a:xfrm>
            <a:off x="7077456" y="3127248"/>
            <a:ext cx="2660903" cy="201168"/>
          </a:xfrm>
          <a:prstGeom prst="rect">
            <a:avLst/>
          </a:prstGeom>
          <a:noFill/>
        </p:spPr>
        <p:txBody>
          <a:bodyPr wrap="square" lIns="0" rIns="0" tIns="0" bIns="0" anchor="t">
            <a:spAutoFit/>
          </a:bodyPr>
          <a:lstStyle/>
          <a:p>
            <a:pPr algn="l"/>
            <a:r>
              <a:rPr sz="950" b="1" i="0">
                <a:solidFill>
                  <a:srgbClr val="0F2C5C"/>
                </a:solidFill>
                <a:latin typeface="Sora"/>
              </a:rPr>
              <a:t>Table overflows desktop too</a:t>
            </a:r>
          </a:p>
        </p:txBody>
      </p:sp>
      <p:sp>
        <p:nvSpPr>
          <p:cNvPr id="24" name="TextBox 23"/>
          <p:cNvSpPr txBox="1"/>
          <p:nvPr/>
        </p:nvSpPr>
        <p:spPr>
          <a:xfrm>
            <a:off x="7077456" y="3355848"/>
            <a:ext cx="2660903" cy="384048"/>
          </a:xfrm>
          <a:prstGeom prst="rect">
            <a:avLst/>
          </a:prstGeom>
          <a:noFill/>
        </p:spPr>
        <p:txBody>
          <a:bodyPr wrap="square" lIns="0" rIns="0" tIns="0" bIns="0" anchor="t">
            <a:spAutoFit/>
          </a:bodyPr>
          <a:lstStyle/>
          <a:p>
            <a:pPr algn="l"/>
            <a:r>
              <a:rPr sz="800" b="0" i="0">
                <a:solidFill>
                  <a:srgbClr val="5A6472"/>
                </a:solidFill>
                <a:latin typeface="Sora"/>
              </a:rPr>
              <a:t>15 columns in 1,392px — the last columns (incl. total) scroll horizontally even at 1440px.</a:t>
            </a:r>
          </a:p>
        </p:txBody>
      </p:sp>
      <p:sp>
        <p:nvSpPr>
          <p:cNvPr id="25" name="TextBox 24"/>
          <p:cNvSpPr txBox="1"/>
          <p:nvPr/>
        </p:nvSpPr>
        <p:spPr>
          <a:xfrm>
            <a:off x="9829800" y="3127248"/>
            <a:ext cx="1645920" cy="548640"/>
          </a:xfrm>
          <a:prstGeom prst="rect">
            <a:avLst/>
          </a:prstGeom>
          <a:noFill/>
        </p:spPr>
        <p:txBody>
          <a:bodyPr wrap="square" lIns="0" rIns="0" tIns="0" bIns="0" anchor="ctr">
            <a:spAutoFit/>
          </a:bodyPr>
          <a:lstStyle/>
          <a:p>
            <a:pPr algn="l"/>
            <a:r>
              <a:rPr sz="800" b="1" i="0">
                <a:solidFill>
                  <a:srgbClr val="C8102E"/>
                </a:solidFill>
                <a:latin typeface="Sora"/>
              </a:rPr>
              <a:t>Linked to: Fee findability</a:t>
            </a:r>
          </a:p>
        </p:txBody>
      </p:sp>
      <p:sp>
        <p:nvSpPr>
          <p:cNvPr id="26" name="Rounded Rectangle 25"/>
          <p:cNvSpPr/>
          <p:nvPr/>
        </p:nvSpPr>
        <p:spPr>
          <a:xfrm>
            <a:off x="6620256" y="3840480"/>
            <a:ext cx="4992623" cy="694944"/>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729984" y="3950208"/>
            <a:ext cx="237744" cy="23774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Sora"/>
              </a:rPr>
              <a:t>4</a:t>
            </a:r>
          </a:p>
        </p:txBody>
      </p:sp>
      <p:sp>
        <p:nvSpPr>
          <p:cNvPr id="28" name="TextBox 27"/>
          <p:cNvSpPr txBox="1"/>
          <p:nvPr/>
        </p:nvSpPr>
        <p:spPr>
          <a:xfrm>
            <a:off x="7077456" y="3913632"/>
            <a:ext cx="2660903" cy="201168"/>
          </a:xfrm>
          <a:prstGeom prst="rect">
            <a:avLst/>
          </a:prstGeom>
          <a:noFill/>
        </p:spPr>
        <p:txBody>
          <a:bodyPr wrap="square" lIns="0" rIns="0" tIns="0" bIns="0" anchor="t">
            <a:spAutoFit/>
          </a:bodyPr>
          <a:lstStyle/>
          <a:p>
            <a:pPr algn="l"/>
            <a:r>
              <a:rPr sz="950" b="1" i="0">
                <a:solidFill>
                  <a:srgbClr val="0F2C5C"/>
                </a:solidFill>
                <a:latin typeface="Sora"/>
              </a:rPr>
              <a:t>Search sits apart from the table</a:t>
            </a:r>
          </a:p>
        </p:txBody>
      </p:sp>
      <p:sp>
        <p:nvSpPr>
          <p:cNvPr id="29" name="TextBox 28"/>
          <p:cNvSpPr txBox="1"/>
          <p:nvPr/>
        </p:nvSpPr>
        <p:spPr>
          <a:xfrm>
            <a:off x="7077456" y="4142232"/>
            <a:ext cx="2660903" cy="384048"/>
          </a:xfrm>
          <a:prstGeom prst="rect">
            <a:avLst/>
          </a:prstGeom>
          <a:noFill/>
        </p:spPr>
        <p:txBody>
          <a:bodyPr wrap="square" lIns="0" rIns="0" tIns="0" bIns="0" anchor="t">
            <a:spAutoFit/>
          </a:bodyPr>
          <a:lstStyle/>
          <a:p>
            <a:pPr algn="l"/>
            <a:r>
              <a:rPr sz="800" b="0" i="0">
                <a:solidFill>
                  <a:srgbClr val="5A6472"/>
                </a:solidFill>
                <a:latin typeface="Sora"/>
              </a:rPr>
              <a:t>The search field is right-aligned above the heading; nothing labels it as a fee filter.</a:t>
            </a:r>
          </a:p>
        </p:txBody>
      </p:sp>
      <p:sp>
        <p:nvSpPr>
          <p:cNvPr id="30" name="TextBox 29"/>
          <p:cNvSpPr txBox="1"/>
          <p:nvPr/>
        </p:nvSpPr>
        <p:spPr>
          <a:xfrm>
            <a:off x="9829800" y="3913632"/>
            <a:ext cx="1645920" cy="548640"/>
          </a:xfrm>
          <a:prstGeom prst="rect">
            <a:avLst/>
          </a:prstGeom>
          <a:noFill/>
        </p:spPr>
        <p:txBody>
          <a:bodyPr wrap="square" lIns="0" rIns="0" tIns="0" bIns="0" anchor="ctr">
            <a:spAutoFit/>
          </a:bodyPr>
          <a:lstStyle/>
          <a:p>
            <a:pPr algn="l"/>
            <a:r>
              <a:rPr sz="800" b="1" i="0">
                <a:solidFill>
                  <a:srgbClr val="C8102E"/>
                </a:solidFill>
                <a:latin typeface="Sora"/>
              </a:rPr>
              <a:t>Linked to: Discoverability of a working tool</a:t>
            </a:r>
          </a:p>
        </p:txBody>
      </p:sp>
      <p:sp>
        <p:nvSpPr>
          <p:cNvPr id="31" name="Rounded Rectangle 30"/>
          <p:cNvSpPr/>
          <p:nvPr/>
        </p:nvSpPr>
        <p:spPr>
          <a:xfrm>
            <a:off x="6620256" y="4626864"/>
            <a:ext cx="4992623" cy="694944"/>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77456" y="4700016"/>
            <a:ext cx="2660903" cy="201168"/>
          </a:xfrm>
          <a:prstGeom prst="rect">
            <a:avLst/>
          </a:prstGeom>
          <a:noFill/>
        </p:spPr>
        <p:txBody>
          <a:bodyPr wrap="square" lIns="0" rIns="0" tIns="0" bIns="0" anchor="t">
            <a:spAutoFit/>
          </a:bodyPr>
          <a:lstStyle/>
          <a:p>
            <a:pPr algn="l"/>
            <a:r>
              <a:rPr sz="950" b="1" i="0">
                <a:solidFill>
                  <a:srgbClr val="0F2C5C"/>
                </a:solidFill>
                <a:latin typeface="Sora"/>
              </a:rPr>
              <a:t>Fold-1 icons on course pages</a:t>
            </a:r>
          </a:p>
        </p:txBody>
      </p:sp>
      <p:sp>
        <p:nvSpPr>
          <p:cNvPr id="33" name="TextBox 32"/>
          <p:cNvSpPr txBox="1"/>
          <p:nvPr/>
        </p:nvSpPr>
        <p:spPr>
          <a:xfrm>
            <a:off x="7077456" y="4928616"/>
            <a:ext cx="2660903" cy="384048"/>
          </a:xfrm>
          <a:prstGeom prst="rect">
            <a:avLst/>
          </a:prstGeom>
          <a:noFill/>
        </p:spPr>
        <p:txBody>
          <a:bodyPr wrap="square" lIns="0" rIns="0" tIns="0" bIns="0" anchor="t">
            <a:spAutoFit/>
          </a:bodyPr>
          <a:lstStyle/>
          <a:p>
            <a:pPr algn="l"/>
            <a:r>
              <a:rPr sz="800" b="0" i="0">
                <a:solidFill>
                  <a:srgbClr val="5A6472"/>
                </a:solidFill>
                <a:latin typeface="Sora"/>
              </a:rPr>
              <a:t>“Brochure (PDF)” and “Fee Details” look identical to non-link labels (“Undergraduate”, “4 Years”).</a:t>
            </a:r>
          </a:p>
        </p:txBody>
      </p:sp>
      <p:sp>
        <p:nvSpPr>
          <p:cNvPr id="34" name="TextBox 33"/>
          <p:cNvSpPr txBox="1"/>
          <p:nvPr/>
        </p:nvSpPr>
        <p:spPr>
          <a:xfrm>
            <a:off x="9829800" y="4700016"/>
            <a:ext cx="1645920" cy="548640"/>
          </a:xfrm>
          <a:prstGeom prst="rect">
            <a:avLst/>
          </a:prstGeom>
          <a:noFill/>
        </p:spPr>
        <p:txBody>
          <a:bodyPr wrap="square" lIns="0" rIns="0" tIns="0" bIns="0" anchor="ctr">
            <a:spAutoFit/>
          </a:bodyPr>
          <a:lstStyle/>
          <a:p>
            <a:pPr algn="l"/>
            <a:r>
              <a:rPr sz="800" b="1" i="0">
                <a:solidFill>
                  <a:srgbClr val="C8102E"/>
                </a:solidFill>
                <a:latin typeface="Sora"/>
              </a:rPr>
              <a:t>Linked to: Discoverability (course)</a:t>
            </a:r>
          </a:p>
        </p:txBody>
      </p:sp>
      <p:sp>
        <p:nvSpPr>
          <p:cNvPr id="35" name="Rounded Rectangle 34"/>
          <p:cNvSpPr/>
          <p:nvPr/>
        </p:nvSpPr>
        <p:spPr>
          <a:xfrm>
            <a:off x="6620256" y="5413248"/>
            <a:ext cx="4992623" cy="694944"/>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77456" y="5486400"/>
            <a:ext cx="2660903" cy="201168"/>
          </a:xfrm>
          <a:prstGeom prst="rect">
            <a:avLst/>
          </a:prstGeom>
          <a:noFill/>
        </p:spPr>
        <p:txBody>
          <a:bodyPr wrap="square" lIns="0" rIns="0" tIns="0" bIns="0" anchor="t">
            <a:spAutoFit/>
          </a:bodyPr>
          <a:lstStyle/>
          <a:p>
            <a:pPr algn="l"/>
            <a:r>
              <a:rPr sz="950" b="1" i="0">
                <a:solidFill>
                  <a:srgbClr val="0F2C5C"/>
                </a:solidFill>
                <a:latin typeface="Sora"/>
              </a:rPr>
              <a:t>Small tap targets</a:t>
            </a:r>
          </a:p>
        </p:txBody>
      </p:sp>
      <p:sp>
        <p:nvSpPr>
          <p:cNvPr id="37" name="TextBox 36"/>
          <p:cNvSpPr txBox="1"/>
          <p:nvPr/>
        </p:nvSpPr>
        <p:spPr>
          <a:xfrm>
            <a:off x="7077456" y="5715000"/>
            <a:ext cx="2660903" cy="384048"/>
          </a:xfrm>
          <a:prstGeom prst="rect">
            <a:avLst/>
          </a:prstGeom>
          <a:noFill/>
        </p:spPr>
        <p:txBody>
          <a:bodyPr wrap="square" lIns="0" rIns="0" tIns="0" bIns="0" anchor="t">
            <a:spAutoFit/>
          </a:bodyPr>
          <a:lstStyle/>
          <a:p>
            <a:pPr algn="l"/>
            <a:r>
              <a:rPr sz="800" b="0" i="0">
                <a:solidFill>
                  <a:srgbClr val="5A6472"/>
                </a:solidFill>
                <a:latin typeface="Sora"/>
              </a:rPr>
              <a:t>135 of 175 visible links/buttons on the mobile homepage are under 44px in at least one dimension.</a:t>
            </a:r>
          </a:p>
        </p:txBody>
      </p:sp>
      <p:sp>
        <p:nvSpPr>
          <p:cNvPr id="38" name="TextBox 37"/>
          <p:cNvSpPr txBox="1"/>
          <p:nvPr/>
        </p:nvSpPr>
        <p:spPr>
          <a:xfrm>
            <a:off x="9829800" y="5486400"/>
            <a:ext cx="1645920" cy="548640"/>
          </a:xfrm>
          <a:prstGeom prst="rect">
            <a:avLst/>
          </a:prstGeom>
          <a:noFill/>
        </p:spPr>
        <p:txBody>
          <a:bodyPr wrap="square" lIns="0" rIns="0" tIns="0" bIns="0" anchor="ctr">
            <a:spAutoFit/>
          </a:bodyPr>
          <a:lstStyle/>
          <a:p>
            <a:pPr algn="l"/>
            <a:r>
              <a:rPr sz="800" b="1" i="0">
                <a:solidFill>
                  <a:srgbClr val="C8102E"/>
                </a:solidFill>
                <a:latin typeface="Sora"/>
              </a:rPr>
              <a:t>Linked to: Interaction friction (see appendix benchmark)</a:t>
            </a:r>
          </a:p>
        </p:txBody>
      </p:sp>
      <p:sp>
        <p:nvSpPr>
          <p:cNvPr id="39" name="TextBox 38"/>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Live site audit, 24 Sept 2026. Tap-target count measured by script on the rendered page.</a:t>
            </a:r>
          </a:p>
        </p:txBody>
      </p:sp>
      <p:sp>
        <p:nvSpPr>
          <p:cNvPr id="40" name="Rounded Rectangle 39"/>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F2C5C"/>
        </a:solidFill>
        <a:effectLst/>
      </p:bgPr>
    </p:bg>
    <p:spTree>
      <p:nvGrpSpPr>
        <p:cNvPr id="1" name=""/>
        <p:cNvGrpSpPr/>
        <p:nvPr/>
      </p:nvGrpSpPr>
      <p:grpSpPr/>
      <p:sp>
        <p:nvSpPr>
          <p:cNvPr id="2" name="TextBox 1"/>
          <p:cNvSpPr txBox="1"/>
          <p:nvPr/>
        </p:nvSpPr>
        <p:spPr>
          <a:xfrm>
            <a:off x="822960" y="2514600"/>
            <a:ext cx="2743200" cy="457200"/>
          </a:xfrm>
          <a:prstGeom prst="rect">
            <a:avLst/>
          </a:prstGeom>
          <a:noFill/>
        </p:spPr>
        <p:txBody>
          <a:bodyPr wrap="square" lIns="0" rIns="0" tIns="0" bIns="0" anchor="t">
            <a:spAutoFit/>
          </a:bodyPr>
          <a:lstStyle/>
          <a:p>
            <a:pPr algn="l"/>
            <a:r>
              <a:rPr sz="1600" b="1" i="0">
                <a:solidFill>
                  <a:srgbClr val="C8102E"/>
                </a:solidFill>
                <a:latin typeface="Sora"/>
              </a:rPr>
              <a:t>05</a:t>
            </a:r>
          </a:p>
        </p:txBody>
      </p:sp>
      <p:sp>
        <p:nvSpPr>
          <p:cNvPr id="3" name="TextBox 2"/>
          <p:cNvSpPr txBox="1"/>
          <p:nvPr/>
        </p:nvSpPr>
        <p:spPr>
          <a:xfrm>
            <a:off x="822960" y="2926080"/>
            <a:ext cx="10058400" cy="731520"/>
          </a:xfrm>
          <a:prstGeom prst="rect">
            <a:avLst/>
          </a:prstGeom>
          <a:noFill/>
        </p:spPr>
        <p:txBody>
          <a:bodyPr wrap="square" lIns="0" rIns="0" tIns="0" bIns="0" anchor="t">
            <a:spAutoFit/>
          </a:bodyPr>
          <a:lstStyle/>
          <a:p>
            <a:pPr algn="l"/>
            <a:r>
              <a:rPr sz="3400" b="1" i="0">
                <a:solidFill>
                  <a:srgbClr val="FFFFFF"/>
                </a:solidFill>
                <a:latin typeface="Sora"/>
              </a:rPr>
              <a:t>What the site should do differently</a:t>
            </a:r>
          </a:p>
        </p:txBody>
      </p:sp>
      <p:sp>
        <p:nvSpPr>
          <p:cNvPr id="4" name="TextBox 3"/>
          <p:cNvSpPr txBox="1"/>
          <p:nvPr/>
        </p:nvSpPr>
        <p:spPr>
          <a:xfrm>
            <a:off x="822960" y="3703320"/>
            <a:ext cx="9601200" cy="548640"/>
          </a:xfrm>
          <a:prstGeom prst="rect">
            <a:avLst/>
          </a:prstGeom>
          <a:noFill/>
        </p:spPr>
        <p:txBody>
          <a:bodyPr wrap="square" lIns="0" rIns="0" tIns="0" bIns="0" anchor="t">
            <a:spAutoFit/>
          </a:bodyPr>
          <a:lstStyle/>
          <a:p>
            <a:pPr algn="l"/>
            <a:r>
              <a:rPr sz="1400" b="0" i="0">
                <a:solidFill>
                  <a:srgbClr val="CADCFC"/>
                </a:solidFill>
                <a:latin typeface="Sora"/>
              </a:rPr>
              <a:t>Every page opens the next step for the question the user arrived with.</a:t>
            </a: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1120" name="Shape 1120"/>
        <p:cNvGrpSpPr/>
        <p:nvPr/>
      </p:nvGrpSpPr>
      <p:grpSpPr>
        <a:xfrm>
          <a:off x="0" y="0"/>
          <a:ext cx="0" cy="0"/>
          <a:chOff x="0" y="0"/>
          <a:chExt cx="0" cy="0"/>
        </a:xfrm>
      </p:grpSpPr>
      <p:pic>
        <p:nvPicPr>
          <p:cNvPr descr="Stage line, dashed divider and curved links from the program page to five next steps" id="1121" name="Google Shape;1121;p62"/>
          <p:cNvPicPr preferRelativeResize="0"/>
          <p:nvPr/>
        </p:nvPicPr>
        <p:blipFill rotWithShape="1">
          <a:blip r:embed="rId3">
            <a:alphaModFix/>
          </a:blip>
          <a:srcRect b="0" l="0" r="0" t="0"/>
          <a:stretch/>
        </p:blipFill>
        <p:spPr>
          <a:xfrm>
            <a:off x="0" y="0"/>
            <a:ext cx="12192005" cy="6858003"/>
          </a:xfrm>
          <a:prstGeom prst="rect">
            <a:avLst/>
          </a:prstGeom>
          <a:noFill/>
          <a:ln>
            <a:noFill/>
          </a:ln>
        </p:spPr>
      </p:pic>
      <p:sp>
        <p:nvSpPr>
          <p:cNvPr id="1122" name="Google Shape;1122;p62"/>
          <p:cNvSpPr/>
          <p:nvPr/>
        </p:nvSpPr>
        <p:spPr>
          <a:xfrm>
            <a:off x="812780" y="558760"/>
            <a:ext cx="7848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300"/>
              <a:buFont typeface="Sora"/>
              <a:buNone/>
            </a:pPr>
            <a:r>
              <a:rPr b="1" i="0" lang="en-US" sz="1300" u="none" cap="none" strike="noStrike">
                <a:solidFill>
                  <a:srgbClr val="3A6BB0"/>
                </a:solidFill>
                <a:latin typeface="Sora"/>
                <a:ea typeface="Sora"/>
                <a:cs typeface="Sora"/>
                <a:sym typeface="Sora"/>
              </a:rPr>
              <a:t>THE SOLUTION</a:t>
            </a:r>
            <a:endParaRPr b="0" i="0" sz="1300" u="none" cap="none" strike="noStrike">
              <a:solidFill>
                <a:schemeClr val="dk1"/>
              </a:solidFill>
              <a:latin typeface="Calibri"/>
              <a:ea typeface="Calibri"/>
              <a:cs typeface="Calibri"/>
              <a:sym typeface="Calibri"/>
            </a:endParaRPr>
          </a:p>
        </p:txBody>
      </p:sp>
      <p:sp>
        <p:nvSpPr>
          <p:cNvPr id="1123" name="Google Shape;1123;p62"/>
          <p:cNvSpPr/>
          <p:nvPr/>
        </p:nvSpPr>
        <p:spPr>
          <a:xfrm>
            <a:off x="812780" y="863560"/>
            <a:ext cx="108831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3254A"/>
              </a:buClr>
              <a:buSzPts val="3200"/>
              <a:buFont typeface="Sora"/>
              <a:buNone/>
            </a:pPr>
            <a:r>
              <a:rPr b="1" i="0" lang="en-US" sz="3200" u="none" cap="none" strike="noStrike">
                <a:solidFill>
                  <a:srgbClr val="13254A"/>
                </a:solidFill>
                <a:latin typeface="Sora"/>
                <a:ea typeface="Sora"/>
                <a:cs typeface="Sora"/>
                <a:sym typeface="Sora"/>
              </a:rPr>
              <a:t>Turn the site into a connected journey.</a:t>
            </a:r>
            <a:endParaRPr b="0" i="0" sz="3200" u="none" cap="none" strike="noStrike">
              <a:solidFill>
                <a:schemeClr val="dk1"/>
              </a:solidFill>
              <a:latin typeface="Calibri"/>
              <a:ea typeface="Calibri"/>
              <a:cs typeface="Calibri"/>
              <a:sym typeface="Calibri"/>
            </a:endParaRPr>
          </a:p>
        </p:txBody>
      </p:sp>
      <p:sp>
        <p:nvSpPr>
          <p:cNvPr id="1124" name="Google Shape;1124;p62"/>
          <p:cNvSpPr/>
          <p:nvPr/>
        </p:nvSpPr>
        <p:spPr>
          <a:xfrm>
            <a:off x="812780" y="1473160"/>
            <a:ext cx="108831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300"/>
              <a:buFont typeface="Sora"/>
              <a:buNone/>
            </a:pPr>
            <a:r>
              <a:rPr b="0" i="0" lang="en-US" sz="1300" u="none" cap="none" strike="noStrike">
                <a:solidFill>
                  <a:srgbClr val="7A8494"/>
                </a:solidFill>
                <a:latin typeface="Sora"/>
                <a:ea typeface="Sora"/>
                <a:cs typeface="Sora"/>
                <a:sym typeface="Sora"/>
              </a:rPr>
              <a:t>Today, no apply or enquiry page makes the top next steps in any of the 9 path explorations.</a:t>
            </a:r>
            <a:endParaRPr b="0" i="0" sz="1300" u="none" cap="none" strike="noStrike">
              <a:solidFill>
                <a:schemeClr val="dk1"/>
              </a:solidFill>
              <a:latin typeface="Calibri"/>
              <a:ea typeface="Calibri"/>
              <a:cs typeface="Calibri"/>
              <a:sym typeface="Calibri"/>
            </a:endParaRPr>
          </a:p>
        </p:txBody>
      </p:sp>
      <p:sp>
        <p:nvSpPr>
          <p:cNvPr id="1125" name="Google Shape;1125;p62"/>
          <p:cNvSpPr/>
          <p:nvPr/>
        </p:nvSpPr>
        <p:spPr>
          <a:xfrm>
            <a:off x="812780" y="2031980"/>
            <a:ext cx="1269900" cy="533700"/>
          </a:xfrm>
          <a:prstGeom prst="roundRect">
            <a:avLst>
              <a:gd fmla="val 5000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62"/>
          <p:cNvSpPr/>
          <p:nvPr/>
        </p:nvSpPr>
        <p:spPr>
          <a:xfrm>
            <a:off x="787380" y="2151043"/>
            <a:ext cx="1320900" cy="558900"/>
          </a:xfrm>
          <a:prstGeom prst="rect">
            <a:avLst/>
          </a:prstGeom>
          <a:noFill/>
          <a:ln>
            <a:noFill/>
          </a:ln>
        </p:spPr>
        <p:txBody>
          <a:bodyPr anchorCtr="0" anchor="t" bIns="0" lIns="0" spcFirstLastPara="1" rIns="0" wrap="square" tIns="0">
            <a:noAutofit/>
          </a:bodyPr>
          <a:lstStyle/>
          <a:p>
            <a:pPr indent="0" lvl="0" marL="0" marR="0" rtl="0" algn="ctr">
              <a:lnSpc>
                <a:spcPct val="30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Land</a:t>
            </a:r>
            <a:endParaRPr b="0" i="0" sz="1500" u="none" cap="none" strike="noStrike">
              <a:solidFill>
                <a:schemeClr val="dk1"/>
              </a:solidFill>
              <a:latin typeface="Calibri"/>
              <a:ea typeface="Calibri"/>
              <a:cs typeface="Calibri"/>
              <a:sym typeface="Calibri"/>
            </a:endParaRPr>
          </a:p>
        </p:txBody>
      </p:sp>
      <p:sp>
        <p:nvSpPr>
          <p:cNvPr id="1127" name="Google Shape;1127;p62"/>
          <p:cNvSpPr/>
          <p:nvPr/>
        </p:nvSpPr>
        <p:spPr>
          <a:xfrm>
            <a:off x="2673310" y="2031980"/>
            <a:ext cx="1269900" cy="533700"/>
          </a:xfrm>
          <a:prstGeom prst="roundRect">
            <a:avLst>
              <a:gd fmla="val 5000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62"/>
          <p:cNvSpPr/>
          <p:nvPr/>
        </p:nvSpPr>
        <p:spPr>
          <a:xfrm>
            <a:off x="2647910" y="2151043"/>
            <a:ext cx="1320900" cy="558900"/>
          </a:xfrm>
          <a:prstGeom prst="rect">
            <a:avLst/>
          </a:prstGeom>
          <a:noFill/>
          <a:ln>
            <a:noFill/>
          </a:ln>
        </p:spPr>
        <p:txBody>
          <a:bodyPr anchorCtr="0" anchor="t" bIns="0" lIns="0" spcFirstLastPara="1" rIns="0" wrap="square" tIns="0">
            <a:noAutofit/>
          </a:bodyPr>
          <a:lstStyle/>
          <a:p>
            <a:pPr indent="0" lvl="0" marL="0" marR="0" rtl="0" algn="ctr">
              <a:lnSpc>
                <a:spcPct val="30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Explore</a:t>
            </a:r>
            <a:endParaRPr b="0" i="0" sz="1500" u="none" cap="none" strike="noStrike">
              <a:solidFill>
                <a:schemeClr val="dk1"/>
              </a:solidFill>
              <a:latin typeface="Calibri"/>
              <a:ea typeface="Calibri"/>
              <a:cs typeface="Calibri"/>
              <a:sym typeface="Calibri"/>
            </a:endParaRPr>
          </a:p>
        </p:txBody>
      </p:sp>
      <p:sp>
        <p:nvSpPr>
          <p:cNvPr id="1129" name="Google Shape;1129;p62"/>
          <p:cNvSpPr/>
          <p:nvPr/>
        </p:nvSpPr>
        <p:spPr>
          <a:xfrm>
            <a:off x="4533900" y="2031980"/>
            <a:ext cx="1269900" cy="533700"/>
          </a:xfrm>
          <a:prstGeom prst="roundRect">
            <a:avLst>
              <a:gd fmla="val 5000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62"/>
          <p:cNvSpPr/>
          <p:nvPr/>
        </p:nvSpPr>
        <p:spPr>
          <a:xfrm>
            <a:off x="4508500" y="2151043"/>
            <a:ext cx="1320900" cy="558900"/>
          </a:xfrm>
          <a:prstGeom prst="rect">
            <a:avLst/>
          </a:prstGeom>
          <a:noFill/>
          <a:ln>
            <a:noFill/>
          </a:ln>
        </p:spPr>
        <p:txBody>
          <a:bodyPr anchorCtr="0" anchor="t" bIns="0" lIns="0" spcFirstLastPara="1" rIns="0" wrap="square" tIns="0">
            <a:noAutofit/>
          </a:bodyPr>
          <a:lstStyle/>
          <a:p>
            <a:pPr indent="0" lvl="0" marL="0" marR="0" rtl="0" algn="ctr">
              <a:lnSpc>
                <a:spcPct val="30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Check</a:t>
            </a:r>
            <a:endParaRPr b="0" i="0" sz="1500" u="none" cap="none" strike="noStrike">
              <a:solidFill>
                <a:schemeClr val="dk1"/>
              </a:solidFill>
              <a:latin typeface="Calibri"/>
              <a:ea typeface="Calibri"/>
              <a:cs typeface="Calibri"/>
              <a:sym typeface="Calibri"/>
            </a:endParaRPr>
          </a:p>
        </p:txBody>
      </p:sp>
      <p:sp>
        <p:nvSpPr>
          <p:cNvPr id="1131" name="Google Shape;1131;p62"/>
          <p:cNvSpPr/>
          <p:nvPr/>
        </p:nvSpPr>
        <p:spPr>
          <a:xfrm>
            <a:off x="6388060" y="2031980"/>
            <a:ext cx="1269900" cy="533700"/>
          </a:xfrm>
          <a:prstGeom prst="roundRect">
            <a:avLst>
              <a:gd fmla="val 5000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62"/>
          <p:cNvSpPr/>
          <p:nvPr/>
        </p:nvSpPr>
        <p:spPr>
          <a:xfrm>
            <a:off x="6362660" y="2151043"/>
            <a:ext cx="1320900" cy="558900"/>
          </a:xfrm>
          <a:prstGeom prst="rect">
            <a:avLst/>
          </a:prstGeom>
          <a:noFill/>
          <a:ln>
            <a:noFill/>
          </a:ln>
        </p:spPr>
        <p:txBody>
          <a:bodyPr anchorCtr="0" anchor="t" bIns="0" lIns="0" spcFirstLastPara="1" rIns="0" wrap="square" tIns="0">
            <a:noAutofit/>
          </a:bodyPr>
          <a:lstStyle/>
          <a:p>
            <a:pPr indent="0" lvl="0" marL="0" marR="0" rtl="0" algn="ctr">
              <a:lnSpc>
                <a:spcPct val="30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Compare</a:t>
            </a:r>
            <a:endParaRPr b="0" i="0" sz="1500" u="none" cap="none" strike="noStrike">
              <a:solidFill>
                <a:schemeClr val="dk1"/>
              </a:solidFill>
              <a:latin typeface="Calibri"/>
              <a:ea typeface="Calibri"/>
              <a:cs typeface="Calibri"/>
              <a:sym typeface="Calibri"/>
            </a:endParaRPr>
          </a:p>
        </p:txBody>
      </p:sp>
      <p:sp>
        <p:nvSpPr>
          <p:cNvPr id="1133" name="Google Shape;1133;p62"/>
          <p:cNvSpPr/>
          <p:nvPr/>
        </p:nvSpPr>
        <p:spPr>
          <a:xfrm>
            <a:off x="8248650" y="2031980"/>
            <a:ext cx="1269900" cy="533700"/>
          </a:xfrm>
          <a:prstGeom prst="roundRect">
            <a:avLst>
              <a:gd fmla="val 5000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62"/>
          <p:cNvSpPr/>
          <p:nvPr/>
        </p:nvSpPr>
        <p:spPr>
          <a:xfrm>
            <a:off x="8223250" y="2151043"/>
            <a:ext cx="1320900" cy="558900"/>
          </a:xfrm>
          <a:prstGeom prst="rect">
            <a:avLst/>
          </a:prstGeom>
          <a:noFill/>
          <a:ln>
            <a:noFill/>
          </a:ln>
        </p:spPr>
        <p:txBody>
          <a:bodyPr anchorCtr="0" anchor="t" bIns="0" lIns="0" spcFirstLastPara="1" rIns="0" wrap="square" tIns="0">
            <a:noAutofit/>
          </a:bodyPr>
          <a:lstStyle/>
          <a:p>
            <a:pPr indent="0" lvl="0" marL="0" marR="0" rtl="0" algn="ctr">
              <a:lnSpc>
                <a:spcPct val="30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Apply</a:t>
            </a:r>
            <a:endParaRPr b="0" i="0" sz="1500" u="none" cap="none" strike="noStrike">
              <a:solidFill>
                <a:schemeClr val="dk1"/>
              </a:solidFill>
              <a:latin typeface="Calibri"/>
              <a:ea typeface="Calibri"/>
              <a:cs typeface="Calibri"/>
              <a:sym typeface="Calibri"/>
            </a:endParaRPr>
          </a:p>
        </p:txBody>
      </p:sp>
      <p:sp>
        <p:nvSpPr>
          <p:cNvPr id="1135" name="Google Shape;1135;p62"/>
          <p:cNvSpPr/>
          <p:nvPr/>
        </p:nvSpPr>
        <p:spPr>
          <a:xfrm>
            <a:off x="10109181" y="2031980"/>
            <a:ext cx="1269900" cy="533700"/>
          </a:xfrm>
          <a:prstGeom prst="roundRect">
            <a:avLst>
              <a:gd fmla="val 50000" name="adj"/>
            </a:avLst>
          </a:prstGeom>
          <a:solidFill>
            <a:srgbClr val="7EA6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62"/>
          <p:cNvSpPr/>
          <p:nvPr/>
        </p:nvSpPr>
        <p:spPr>
          <a:xfrm>
            <a:off x="10083781" y="2151043"/>
            <a:ext cx="1320900" cy="558900"/>
          </a:xfrm>
          <a:prstGeom prst="rect">
            <a:avLst/>
          </a:prstGeom>
          <a:noFill/>
          <a:ln>
            <a:noFill/>
          </a:ln>
        </p:spPr>
        <p:txBody>
          <a:bodyPr anchorCtr="0" anchor="t" bIns="0" lIns="0" spcFirstLastPara="1" rIns="0" wrap="square" tIns="0">
            <a:noAutofit/>
          </a:bodyPr>
          <a:lstStyle/>
          <a:p>
            <a:pPr indent="0" lvl="0" marL="0" marR="0" rtl="0" algn="ctr">
              <a:lnSpc>
                <a:spcPct val="300000"/>
              </a:lnSpc>
              <a:spcBef>
                <a:spcPts val="0"/>
              </a:spcBef>
              <a:spcAft>
                <a:spcPts val="0"/>
              </a:spcAft>
              <a:buClr>
                <a:srgbClr val="13254A"/>
              </a:buClr>
              <a:buSzPts val="1500"/>
              <a:buFont typeface="Sora"/>
              <a:buNone/>
            </a:pPr>
            <a:r>
              <a:rPr b="1" i="0" lang="en-US" sz="1500" u="none" cap="none" strike="noStrike">
                <a:solidFill>
                  <a:srgbClr val="13254A"/>
                </a:solidFill>
                <a:latin typeface="Sora"/>
                <a:ea typeface="Sora"/>
                <a:cs typeface="Sora"/>
                <a:sym typeface="Sora"/>
              </a:rPr>
              <a:t>Continue</a:t>
            </a:r>
            <a:endParaRPr b="0" i="0" sz="1500" u="none" cap="none" strike="noStrike">
              <a:solidFill>
                <a:schemeClr val="dk1"/>
              </a:solidFill>
              <a:latin typeface="Calibri"/>
              <a:ea typeface="Calibri"/>
              <a:cs typeface="Calibri"/>
              <a:sym typeface="Calibri"/>
            </a:endParaRPr>
          </a:p>
        </p:txBody>
      </p:sp>
      <p:sp>
        <p:nvSpPr>
          <p:cNvPr id="1137" name="Google Shape;1137;p62"/>
          <p:cNvSpPr/>
          <p:nvPr/>
        </p:nvSpPr>
        <p:spPr>
          <a:xfrm>
            <a:off x="1269980" y="3035260"/>
            <a:ext cx="45783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300"/>
              <a:buFont typeface="Sora"/>
              <a:buNone/>
            </a:pPr>
            <a:r>
              <a:rPr b="0" i="1" lang="en-US" sz="1300" u="none" cap="none" strike="noStrike">
                <a:solidFill>
                  <a:srgbClr val="7A8494"/>
                </a:solidFill>
                <a:latin typeface="Sora"/>
                <a:ea typeface="Sora"/>
                <a:cs typeface="Sora"/>
                <a:sym typeface="Sora"/>
              </a:rPr>
              <a:t>every page opens the next step</a:t>
            </a:r>
            <a:endParaRPr b="0" i="0" sz="1300" u="none" cap="none" strike="noStrike">
              <a:solidFill>
                <a:schemeClr val="dk1"/>
              </a:solidFill>
              <a:latin typeface="Calibri"/>
              <a:ea typeface="Calibri"/>
              <a:cs typeface="Calibri"/>
              <a:sym typeface="Calibri"/>
            </a:endParaRPr>
          </a:p>
        </p:txBody>
      </p:sp>
      <p:pic>
        <p:nvPicPr>
          <p:cNvPr descr="ellipse" id="1138" name="Google Shape;1138;p62"/>
          <p:cNvPicPr preferRelativeResize="0"/>
          <p:nvPr/>
        </p:nvPicPr>
        <p:blipFill rotWithShape="1">
          <a:blip r:embed="rId4">
            <a:alphaModFix/>
          </a:blip>
          <a:srcRect b="0" l="0" r="0" t="0"/>
          <a:stretch/>
        </p:blipFill>
        <p:spPr>
          <a:xfrm>
            <a:off x="1269980" y="3429000"/>
            <a:ext cx="2286000" cy="2286000"/>
          </a:xfrm>
          <a:prstGeom prst="rect">
            <a:avLst/>
          </a:prstGeom>
          <a:noFill/>
          <a:ln>
            <a:noFill/>
          </a:ln>
        </p:spPr>
      </p:pic>
      <p:pic>
        <p:nvPicPr>
          <p:cNvPr descr="ellipse" id="1139" name="Google Shape;1139;p62"/>
          <p:cNvPicPr preferRelativeResize="0"/>
          <p:nvPr/>
        </p:nvPicPr>
        <p:blipFill rotWithShape="1">
          <a:blip r:embed="rId5">
            <a:alphaModFix/>
          </a:blip>
          <a:srcRect b="0" l="0" r="0" t="0"/>
          <a:stretch/>
        </p:blipFill>
        <p:spPr>
          <a:xfrm>
            <a:off x="1587460" y="3746480"/>
            <a:ext cx="1650979" cy="1650979"/>
          </a:xfrm>
          <a:prstGeom prst="rect">
            <a:avLst/>
          </a:prstGeom>
          <a:noFill/>
          <a:ln>
            <a:noFill/>
          </a:ln>
        </p:spPr>
      </p:pic>
      <p:sp>
        <p:nvSpPr>
          <p:cNvPr id="1140" name="Google Shape;1140;p62"/>
          <p:cNvSpPr/>
          <p:nvPr/>
        </p:nvSpPr>
        <p:spPr>
          <a:xfrm>
            <a:off x="1562060" y="4216360"/>
            <a:ext cx="1701600" cy="4164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6F4EF"/>
              </a:buClr>
              <a:buSzPts val="2300"/>
              <a:buFont typeface="Sora"/>
              <a:buNone/>
            </a:pPr>
            <a:r>
              <a:rPr b="1" i="0" lang="en-US" sz="2300" u="none" cap="none" strike="noStrike">
                <a:solidFill>
                  <a:srgbClr val="F6F4EF"/>
                </a:solidFill>
                <a:latin typeface="Sora"/>
                <a:ea typeface="Sora"/>
                <a:cs typeface="Sora"/>
                <a:sym typeface="Sora"/>
              </a:rPr>
              <a:t>Program</a:t>
            </a:r>
            <a:endParaRPr b="0" i="0" sz="2300" u="none" cap="none" strike="noStrike">
              <a:solidFill>
                <a:schemeClr val="dk1"/>
              </a:solidFill>
              <a:latin typeface="Calibri"/>
              <a:ea typeface="Calibri"/>
              <a:cs typeface="Calibri"/>
              <a:sym typeface="Calibri"/>
            </a:endParaRPr>
          </a:p>
        </p:txBody>
      </p:sp>
      <p:sp>
        <p:nvSpPr>
          <p:cNvPr id="1141" name="Google Shape;1141;p62"/>
          <p:cNvSpPr/>
          <p:nvPr/>
        </p:nvSpPr>
        <p:spPr>
          <a:xfrm>
            <a:off x="1562060" y="4610100"/>
            <a:ext cx="1701600" cy="256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9DBCE6"/>
              </a:buClr>
              <a:buSzPts val="1300"/>
              <a:buFont typeface="Sora"/>
              <a:buNone/>
            </a:pPr>
            <a:r>
              <a:rPr b="0" i="1" lang="en-US" sz="1300" u="none" cap="none" strike="noStrike">
                <a:solidFill>
                  <a:srgbClr val="9DBCE6"/>
                </a:solidFill>
                <a:latin typeface="Sora"/>
                <a:ea typeface="Sora"/>
                <a:cs typeface="Sora"/>
                <a:sym typeface="Sora"/>
              </a:rPr>
              <a:t>or fee page</a:t>
            </a:r>
            <a:endParaRPr b="0" i="0" sz="1300" u="none" cap="none" strike="noStrike">
              <a:solidFill>
                <a:schemeClr val="dk1"/>
              </a:solidFill>
              <a:latin typeface="Calibri"/>
              <a:ea typeface="Calibri"/>
              <a:cs typeface="Calibri"/>
              <a:sym typeface="Calibri"/>
            </a:endParaRPr>
          </a:p>
        </p:txBody>
      </p:sp>
      <p:sp>
        <p:nvSpPr>
          <p:cNvPr id="1142" name="Google Shape;1142;p62"/>
          <p:cNvSpPr/>
          <p:nvPr/>
        </p:nvSpPr>
        <p:spPr>
          <a:xfrm>
            <a:off x="6096000" y="3111460"/>
            <a:ext cx="3302100" cy="507900"/>
          </a:xfrm>
          <a:prstGeom prst="roundRect">
            <a:avLst>
              <a:gd fmla="val 15001" name="adj"/>
            </a:avLst>
          </a:prstGeom>
          <a:solidFill>
            <a:srgbClr val="2D4B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62"/>
          <p:cNvSpPr/>
          <p:nvPr/>
        </p:nvSpPr>
        <p:spPr>
          <a:xfrm>
            <a:off x="6046471" y="3250366"/>
            <a:ext cx="3401100" cy="533100"/>
          </a:xfrm>
          <a:prstGeom prst="rect">
            <a:avLst/>
          </a:prstGeom>
          <a:noFill/>
          <a:ln>
            <a:noFill/>
          </a:ln>
        </p:spPr>
        <p:txBody>
          <a:bodyPr anchorCtr="0" anchor="t" bIns="0" lIns="0" spcFirstLastPara="1" rIns="0" wrap="square" tIns="0">
            <a:noAutofit/>
          </a:bodyPr>
          <a:lstStyle/>
          <a:p>
            <a:pPr indent="0" lvl="0" marL="0" marR="0" rtl="0" algn="ctr">
              <a:lnSpc>
                <a:spcPct val="286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Fees for this program</a:t>
            </a:r>
            <a:endParaRPr b="0" i="0" sz="1500" u="none" cap="none" strike="noStrike">
              <a:solidFill>
                <a:schemeClr val="dk1"/>
              </a:solidFill>
              <a:latin typeface="Calibri"/>
              <a:ea typeface="Calibri"/>
              <a:cs typeface="Calibri"/>
              <a:sym typeface="Calibri"/>
            </a:endParaRPr>
          </a:p>
        </p:txBody>
      </p:sp>
      <p:sp>
        <p:nvSpPr>
          <p:cNvPr id="1144" name="Google Shape;1144;p62"/>
          <p:cNvSpPr/>
          <p:nvPr/>
        </p:nvSpPr>
        <p:spPr>
          <a:xfrm>
            <a:off x="6096000" y="3714750"/>
            <a:ext cx="3302100" cy="507900"/>
          </a:xfrm>
          <a:prstGeom prst="roundRect">
            <a:avLst>
              <a:gd fmla="val 15001" name="adj"/>
            </a:avLst>
          </a:prstGeom>
          <a:solidFill>
            <a:srgbClr val="2D4B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62"/>
          <p:cNvSpPr/>
          <p:nvPr/>
        </p:nvSpPr>
        <p:spPr>
          <a:xfrm>
            <a:off x="6046471" y="3853656"/>
            <a:ext cx="3401100" cy="533100"/>
          </a:xfrm>
          <a:prstGeom prst="rect">
            <a:avLst/>
          </a:prstGeom>
          <a:noFill/>
          <a:ln>
            <a:noFill/>
          </a:ln>
        </p:spPr>
        <p:txBody>
          <a:bodyPr anchorCtr="0" anchor="t" bIns="0" lIns="0" spcFirstLastPara="1" rIns="0" wrap="square" tIns="0">
            <a:noAutofit/>
          </a:bodyPr>
          <a:lstStyle/>
          <a:p>
            <a:pPr indent="0" lvl="0" marL="0" marR="0" rtl="0" algn="ctr">
              <a:lnSpc>
                <a:spcPct val="286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Eligibility &amp; process</a:t>
            </a:r>
            <a:endParaRPr b="0" i="0" sz="1500" u="none" cap="none" strike="noStrike">
              <a:solidFill>
                <a:schemeClr val="dk1"/>
              </a:solidFill>
              <a:latin typeface="Calibri"/>
              <a:ea typeface="Calibri"/>
              <a:cs typeface="Calibri"/>
              <a:sym typeface="Calibri"/>
            </a:endParaRPr>
          </a:p>
        </p:txBody>
      </p:sp>
      <p:sp>
        <p:nvSpPr>
          <p:cNvPr id="1146" name="Google Shape;1146;p62"/>
          <p:cNvSpPr/>
          <p:nvPr/>
        </p:nvSpPr>
        <p:spPr>
          <a:xfrm>
            <a:off x="6096000" y="4317980"/>
            <a:ext cx="3302100" cy="507900"/>
          </a:xfrm>
          <a:prstGeom prst="roundRect">
            <a:avLst>
              <a:gd fmla="val 15001" name="adj"/>
            </a:avLst>
          </a:prstGeom>
          <a:solidFill>
            <a:srgbClr val="2D4B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62"/>
          <p:cNvSpPr/>
          <p:nvPr/>
        </p:nvSpPr>
        <p:spPr>
          <a:xfrm>
            <a:off x="6046471" y="4456886"/>
            <a:ext cx="3401100" cy="533100"/>
          </a:xfrm>
          <a:prstGeom prst="rect">
            <a:avLst/>
          </a:prstGeom>
          <a:noFill/>
          <a:ln>
            <a:noFill/>
          </a:ln>
        </p:spPr>
        <p:txBody>
          <a:bodyPr anchorCtr="0" anchor="t" bIns="0" lIns="0" spcFirstLastPara="1" rIns="0" wrap="square" tIns="0">
            <a:noAutofit/>
          </a:bodyPr>
          <a:lstStyle/>
          <a:p>
            <a:pPr indent="0" lvl="0" marL="0" marR="0" rtl="0" algn="ctr">
              <a:lnSpc>
                <a:spcPct val="286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Scholarships &amp; aid</a:t>
            </a:r>
            <a:endParaRPr b="0" i="0" sz="1500" u="none" cap="none" strike="noStrike">
              <a:solidFill>
                <a:schemeClr val="dk1"/>
              </a:solidFill>
              <a:latin typeface="Calibri"/>
              <a:ea typeface="Calibri"/>
              <a:cs typeface="Calibri"/>
              <a:sym typeface="Calibri"/>
            </a:endParaRPr>
          </a:p>
        </p:txBody>
      </p:sp>
      <p:sp>
        <p:nvSpPr>
          <p:cNvPr id="1148" name="Google Shape;1148;p62"/>
          <p:cNvSpPr/>
          <p:nvPr/>
        </p:nvSpPr>
        <p:spPr>
          <a:xfrm>
            <a:off x="6096000" y="4921210"/>
            <a:ext cx="3302100" cy="507900"/>
          </a:xfrm>
          <a:prstGeom prst="roundRect">
            <a:avLst>
              <a:gd fmla="val 15001" name="adj"/>
            </a:avLst>
          </a:prstGeom>
          <a:solidFill>
            <a:srgbClr val="2D4B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62"/>
          <p:cNvSpPr/>
          <p:nvPr/>
        </p:nvSpPr>
        <p:spPr>
          <a:xfrm>
            <a:off x="6046471" y="5060116"/>
            <a:ext cx="3401100" cy="533100"/>
          </a:xfrm>
          <a:prstGeom prst="rect">
            <a:avLst/>
          </a:prstGeom>
          <a:noFill/>
          <a:ln>
            <a:noFill/>
          </a:ln>
        </p:spPr>
        <p:txBody>
          <a:bodyPr anchorCtr="0" anchor="t" bIns="0" lIns="0" spcFirstLastPara="1" rIns="0" wrap="square" tIns="0">
            <a:noAutofit/>
          </a:bodyPr>
          <a:lstStyle/>
          <a:p>
            <a:pPr indent="0" lvl="0" marL="0" marR="0" rtl="0" algn="ctr">
              <a:lnSpc>
                <a:spcPct val="286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Download brochure</a:t>
            </a:r>
            <a:endParaRPr b="0" i="0" sz="1500" u="none" cap="none" strike="noStrike">
              <a:solidFill>
                <a:schemeClr val="dk1"/>
              </a:solidFill>
              <a:latin typeface="Calibri"/>
              <a:ea typeface="Calibri"/>
              <a:cs typeface="Calibri"/>
              <a:sym typeface="Calibri"/>
            </a:endParaRPr>
          </a:p>
        </p:txBody>
      </p:sp>
      <p:sp>
        <p:nvSpPr>
          <p:cNvPr id="1150" name="Google Shape;1150;p62"/>
          <p:cNvSpPr/>
          <p:nvPr/>
        </p:nvSpPr>
        <p:spPr>
          <a:xfrm>
            <a:off x="6096000" y="5524500"/>
            <a:ext cx="3302100" cy="507900"/>
          </a:xfrm>
          <a:prstGeom prst="roundRect">
            <a:avLst>
              <a:gd fmla="val 15001" name="adj"/>
            </a:avLst>
          </a:prstGeom>
          <a:solidFill>
            <a:srgbClr val="C6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62"/>
          <p:cNvSpPr/>
          <p:nvPr/>
        </p:nvSpPr>
        <p:spPr>
          <a:xfrm>
            <a:off x="6046471" y="5663406"/>
            <a:ext cx="3401100" cy="533100"/>
          </a:xfrm>
          <a:prstGeom prst="rect">
            <a:avLst/>
          </a:prstGeom>
          <a:noFill/>
          <a:ln>
            <a:noFill/>
          </a:ln>
        </p:spPr>
        <p:txBody>
          <a:bodyPr anchorCtr="0" anchor="t" bIns="0" lIns="0" spcFirstLastPara="1" rIns="0" wrap="square" tIns="0">
            <a:noAutofit/>
          </a:bodyPr>
          <a:lstStyle/>
          <a:p>
            <a:pPr indent="0" lvl="0" marL="0" marR="0" rtl="0" algn="ctr">
              <a:lnSpc>
                <a:spcPct val="286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Apply or enquire</a:t>
            </a:r>
            <a:endParaRPr b="0" i="0" sz="1500" u="none" cap="none" strike="noStrike">
              <a:solidFill>
                <a:schemeClr val="dk1"/>
              </a:solidFill>
              <a:latin typeface="Calibri"/>
              <a:ea typeface="Calibri"/>
              <a:cs typeface="Calibri"/>
              <a:sym typeface="Calibri"/>
            </a:endParaRPr>
          </a:p>
        </p:txBody>
      </p:sp>
      <p:sp>
        <p:nvSpPr>
          <p:cNvPr id="1152" name="Google Shape;1152;p62"/>
          <p:cNvSpPr/>
          <p:nvPr/>
        </p:nvSpPr>
        <p:spPr>
          <a:xfrm>
            <a:off x="10261581" y="4457700"/>
            <a:ext cx="1168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1" lang="en-US" sz="1200" u="none" cap="none" strike="noStrike">
                <a:solidFill>
                  <a:srgbClr val="7A8494"/>
                </a:solidFill>
                <a:latin typeface="Sora"/>
                <a:ea typeface="Sora"/>
                <a:cs typeface="Sora"/>
                <a:sym typeface="Sora"/>
              </a:rPr>
              <a:t>…and onward</a:t>
            </a:r>
            <a:endParaRPr b="0" i="0" sz="1200" u="none" cap="none" strike="noStrike">
              <a:solidFill>
                <a:schemeClr val="dk1"/>
              </a:solidFill>
              <a:latin typeface="Calibri"/>
              <a:ea typeface="Calibri"/>
              <a:cs typeface="Calibri"/>
              <a:sym typeface="Calibri"/>
            </a:endParaRPr>
          </a:p>
        </p:txBody>
      </p:sp>
      <p:sp>
        <p:nvSpPr>
          <p:cNvPr id="1153" name="Google Shape;1153;p62"/>
          <p:cNvSpPr/>
          <p:nvPr/>
        </p:nvSpPr>
        <p:spPr>
          <a:xfrm>
            <a:off x="812780" y="6248400"/>
            <a:ext cx="78489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3254A"/>
              </a:buClr>
              <a:buSzPts val="1500"/>
              <a:buFont typeface="Sora"/>
              <a:buNone/>
            </a:pPr>
            <a:r>
              <a:rPr b="1" i="0" lang="en-US" sz="1500" u="none" cap="none" strike="noStrike">
                <a:solidFill>
                  <a:srgbClr val="13254A"/>
                </a:solidFill>
                <a:latin typeface="Sora"/>
                <a:ea typeface="Sora"/>
                <a:cs typeface="Sora"/>
                <a:sym typeface="Sora"/>
              </a:rPr>
              <a:t>No dead ends.</a:t>
            </a:r>
            <a:r>
              <a:rPr b="0" i="0" lang="en-US" sz="1500" u="none" cap="none" strike="noStrike">
                <a:solidFill>
                  <a:srgbClr val="13254A"/>
                </a:solidFill>
                <a:latin typeface="Sora"/>
                <a:ea typeface="Sora"/>
                <a:cs typeface="Sora"/>
                <a:sym typeface="Sora"/>
              </a:rPr>
              <a:t> No trips back to the homepage.</a:t>
            </a:r>
            <a:endParaRPr b="0" i="0" sz="1500" u="none" cap="none" strike="noStrike">
              <a:solidFill>
                <a:schemeClr val="dk1"/>
              </a:solidFill>
              <a:latin typeface="Calibri"/>
              <a:ea typeface="Calibri"/>
              <a:cs typeface="Calibri"/>
              <a:sym typeface="Calibri"/>
            </a:endParaRPr>
          </a:p>
        </p:txBody>
      </p:sp>
      <p:sp>
        <p:nvSpPr>
          <p:cNvPr id="1154" name="Rounded Rectangle 1153"/>
          <p:cNvSpPr/>
          <p:nvPr/>
        </p:nvSpPr>
        <p:spPr>
          <a:xfrm>
            <a:off x="10771632" y="109728"/>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54A"/>
        </a:solidFill>
      </p:bgPr>
    </p:bg>
    <p:spTree>
      <p:nvGrpSpPr>
        <p:cNvPr id="1158" name="Shape 1158"/>
        <p:cNvGrpSpPr/>
        <p:nvPr/>
      </p:nvGrpSpPr>
      <p:grpSpPr>
        <a:xfrm>
          <a:off x="0" y="0"/>
          <a:ext cx="0" cy="0"/>
          <a:chOff x="0" y="0"/>
          <a:chExt cx="0" cy="0"/>
        </a:xfrm>
      </p:grpSpPr>
      <p:pic>
        <p:nvPicPr>
          <p:cNvPr descr="Line connecting the three principles" id="1159" name="Google Shape;1159;p63"/>
          <p:cNvPicPr preferRelativeResize="0"/>
          <p:nvPr/>
        </p:nvPicPr>
        <p:blipFill rotWithShape="1">
          <a:blip r:embed="rId3">
            <a:alphaModFix/>
          </a:blip>
          <a:srcRect b="0" l="0" r="0" t="0"/>
          <a:stretch/>
        </p:blipFill>
        <p:spPr>
          <a:xfrm>
            <a:off x="0" y="0"/>
            <a:ext cx="12192005" cy="6858003"/>
          </a:xfrm>
          <a:prstGeom prst="rect">
            <a:avLst/>
          </a:prstGeom>
          <a:noFill/>
          <a:ln>
            <a:noFill/>
          </a:ln>
        </p:spPr>
      </p:pic>
      <p:sp>
        <p:nvSpPr>
          <p:cNvPr id="1160" name="Google Shape;1160;p63"/>
          <p:cNvSpPr/>
          <p:nvPr/>
        </p:nvSpPr>
        <p:spPr>
          <a:xfrm>
            <a:off x="812780" y="558760"/>
            <a:ext cx="7848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3E3"/>
              </a:buClr>
              <a:buSzPts val="1300"/>
              <a:buFont typeface="Sora"/>
              <a:buNone/>
            </a:pPr>
            <a:r>
              <a:rPr b="1" i="0" lang="en-US" sz="1300" u="none" cap="none" strike="noStrike">
                <a:solidFill>
                  <a:srgbClr val="8FB3E3"/>
                </a:solidFill>
                <a:latin typeface="Sora"/>
                <a:ea typeface="Sora"/>
                <a:cs typeface="Sora"/>
                <a:sym typeface="Sora"/>
              </a:rPr>
              <a:t>THE GUIDING PRINCIPLE</a:t>
            </a:r>
            <a:endParaRPr b="0" i="0" sz="1300" u="none" cap="none" strike="noStrike">
              <a:solidFill>
                <a:schemeClr val="dk1"/>
              </a:solidFill>
              <a:latin typeface="Calibri"/>
              <a:ea typeface="Calibri"/>
              <a:cs typeface="Calibri"/>
              <a:sym typeface="Calibri"/>
            </a:endParaRPr>
          </a:p>
        </p:txBody>
      </p:sp>
      <p:sp>
        <p:nvSpPr>
          <p:cNvPr id="1161" name="Google Shape;1161;p63"/>
          <p:cNvSpPr/>
          <p:nvPr/>
        </p:nvSpPr>
        <p:spPr>
          <a:xfrm>
            <a:off x="812780" y="863560"/>
            <a:ext cx="108831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3200"/>
              <a:buFont typeface="Sora"/>
              <a:buNone/>
            </a:pPr>
            <a:r>
              <a:rPr b="1" i="0" lang="en-US" sz="3200" u="none" cap="none" strike="noStrike">
                <a:solidFill>
                  <a:srgbClr val="F6F4EF"/>
                </a:solidFill>
                <a:latin typeface="Sora"/>
                <a:ea typeface="Sora"/>
                <a:cs typeface="Sora"/>
                <a:sym typeface="Sora"/>
              </a:rPr>
              <a:t>Every visitor leaves with a next step.</a:t>
            </a:r>
            <a:endParaRPr b="0" i="0" sz="3200" u="none" cap="none" strike="noStrike">
              <a:solidFill>
                <a:schemeClr val="dk1"/>
              </a:solidFill>
              <a:latin typeface="Calibri"/>
              <a:ea typeface="Calibri"/>
              <a:cs typeface="Calibri"/>
              <a:sym typeface="Calibri"/>
            </a:endParaRPr>
          </a:p>
        </p:txBody>
      </p:sp>
      <p:sp>
        <p:nvSpPr>
          <p:cNvPr id="1162" name="Google Shape;1162;p63"/>
          <p:cNvSpPr/>
          <p:nvPr/>
        </p:nvSpPr>
        <p:spPr>
          <a:xfrm>
            <a:off x="1097280" y="2412981"/>
            <a:ext cx="3139500" cy="2919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8FB3E3"/>
              </a:buClr>
              <a:buSzPts val="1500"/>
              <a:buFont typeface="Sora"/>
              <a:buNone/>
            </a:pPr>
            <a:r>
              <a:rPr b="1" i="0" lang="en-US" sz="1500" u="none" cap="none" strike="noStrike">
                <a:solidFill>
                  <a:srgbClr val="8FB3E3"/>
                </a:solidFill>
                <a:latin typeface="Sora"/>
                <a:ea typeface="Sora"/>
                <a:cs typeface="Sora"/>
                <a:sym typeface="Sora"/>
              </a:rPr>
              <a:t>ACT</a:t>
            </a:r>
            <a:endParaRPr b="0" i="0" sz="1500" u="none" cap="none" strike="noStrike">
              <a:solidFill>
                <a:schemeClr val="dk1"/>
              </a:solidFill>
              <a:latin typeface="Calibri"/>
              <a:ea typeface="Calibri"/>
              <a:cs typeface="Calibri"/>
              <a:sym typeface="Calibri"/>
            </a:endParaRPr>
          </a:p>
        </p:txBody>
      </p:sp>
      <p:sp>
        <p:nvSpPr>
          <p:cNvPr id="1163" name="Google Shape;1163;p63"/>
          <p:cNvSpPr/>
          <p:nvPr/>
        </p:nvSpPr>
        <p:spPr>
          <a:xfrm>
            <a:off x="4526280" y="2412981"/>
            <a:ext cx="3139500" cy="2919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8FB3E3"/>
              </a:buClr>
              <a:buSzPts val="1500"/>
              <a:buFont typeface="Sora"/>
              <a:buNone/>
            </a:pPr>
            <a:r>
              <a:rPr b="1" i="0" lang="en-US" sz="1500" u="none" cap="none" strike="noStrike">
                <a:solidFill>
                  <a:srgbClr val="8FB3E3"/>
                </a:solidFill>
                <a:latin typeface="Sora"/>
                <a:ea typeface="Sora"/>
                <a:cs typeface="Sora"/>
                <a:sym typeface="Sora"/>
              </a:rPr>
              <a:t>DISCOVER</a:t>
            </a:r>
            <a:endParaRPr b="0" i="0" sz="1500" u="none" cap="none" strike="noStrike">
              <a:solidFill>
                <a:schemeClr val="dk1"/>
              </a:solidFill>
              <a:latin typeface="Calibri"/>
              <a:ea typeface="Calibri"/>
              <a:cs typeface="Calibri"/>
              <a:sym typeface="Calibri"/>
            </a:endParaRPr>
          </a:p>
        </p:txBody>
      </p:sp>
      <p:sp>
        <p:nvSpPr>
          <p:cNvPr id="1164" name="Google Shape;1164;p63"/>
          <p:cNvSpPr/>
          <p:nvPr/>
        </p:nvSpPr>
        <p:spPr>
          <a:xfrm>
            <a:off x="7955280" y="2412981"/>
            <a:ext cx="3139500" cy="2919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8FB3E3"/>
              </a:buClr>
              <a:buSzPts val="1500"/>
              <a:buFont typeface="Sora"/>
              <a:buNone/>
            </a:pPr>
            <a:r>
              <a:rPr b="1" i="0" lang="en-US" sz="1500" u="none" cap="none" strike="noStrike">
                <a:solidFill>
                  <a:srgbClr val="8FB3E3"/>
                </a:solidFill>
                <a:latin typeface="Sora"/>
                <a:ea typeface="Sora"/>
                <a:cs typeface="Sora"/>
                <a:sym typeface="Sora"/>
              </a:rPr>
              <a:t>DECIDE</a:t>
            </a:r>
            <a:endParaRPr b="0" i="0" sz="1500" u="none" cap="none" strike="noStrike">
              <a:solidFill>
                <a:schemeClr val="dk1"/>
              </a:solidFill>
              <a:latin typeface="Calibri"/>
              <a:ea typeface="Calibri"/>
              <a:cs typeface="Calibri"/>
              <a:sym typeface="Calibri"/>
            </a:endParaRPr>
          </a:p>
        </p:txBody>
      </p:sp>
      <p:pic>
        <p:nvPicPr>
          <p:cNvPr descr="ellipse" id="1165" name="Google Shape;1165;p63"/>
          <p:cNvPicPr preferRelativeResize="0"/>
          <p:nvPr/>
        </p:nvPicPr>
        <p:blipFill rotWithShape="1">
          <a:blip r:embed="rId4">
            <a:alphaModFix/>
          </a:blip>
          <a:srcRect b="0" l="0" r="0" t="0"/>
          <a:stretch/>
        </p:blipFill>
        <p:spPr>
          <a:xfrm>
            <a:off x="2254210" y="2889231"/>
            <a:ext cx="825460" cy="825460"/>
          </a:xfrm>
          <a:prstGeom prst="rect">
            <a:avLst/>
          </a:prstGeom>
          <a:noFill/>
          <a:ln>
            <a:noFill/>
          </a:ln>
        </p:spPr>
      </p:pic>
      <p:pic>
        <p:nvPicPr>
          <p:cNvPr descr="ellipse" id="1166" name="Google Shape;1166;p63"/>
          <p:cNvPicPr preferRelativeResize="0"/>
          <p:nvPr/>
        </p:nvPicPr>
        <p:blipFill rotWithShape="1">
          <a:blip r:embed="rId4">
            <a:alphaModFix/>
          </a:blip>
          <a:srcRect b="0" l="0" r="0" t="0"/>
          <a:stretch/>
        </p:blipFill>
        <p:spPr>
          <a:xfrm>
            <a:off x="5683210" y="2889231"/>
            <a:ext cx="825460" cy="825460"/>
          </a:xfrm>
          <a:prstGeom prst="rect">
            <a:avLst/>
          </a:prstGeom>
          <a:noFill/>
          <a:ln>
            <a:noFill/>
          </a:ln>
        </p:spPr>
      </p:pic>
      <p:pic>
        <p:nvPicPr>
          <p:cNvPr descr="ellipse" id="1167" name="Google Shape;1167;p63"/>
          <p:cNvPicPr preferRelativeResize="0"/>
          <p:nvPr/>
        </p:nvPicPr>
        <p:blipFill rotWithShape="1">
          <a:blip r:embed="rId4">
            <a:alphaModFix/>
          </a:blip>
          <a:srcRect b="0" l="0" r="0" t="0"/>
          <a:stretch/>
        </p:blipFill>
        <p:spPr>
          <a:xfrm>
            <a:off x="9112210" y="2889231"/>
            <a:ext cx="825460" cy="825460"/>
          </a:xfrm>
          <a:prstGeom prst="rect">
            <a:avLst/>
          </a:prstGeom>
          <a:noFill/>
          <a:ln>
            <a:noFill/>
          </a:ln>
        </p:spPr>
      </p:pic>
      <p:sp>
        <p:nvSpPr>
          <p:cNvPr id="1168" name="Google Shape;1168;p63"/>
          <p:cNvSpPr/>
          <p:nvPr/>
        </p:nvSpPr>
        <p:spPr>
          <a:xfrm>
            <a:off x="2228810" y="3067825"/>
            <a:ext cx="876300" cy="850500"/>
          </a:xfrm>
          <a:prstGeom prst="rect">
            <a:avLst/>
          </a:prstGeom>
          <a:noFill/>
          <a:ln>
            <a:noFill/>
          </a:ln>
        </p:spPr>
        <p:txBody>
          <a:bodyPr anchorCtr="0" anchor="t" bIns="0" lIns="0" spcFirstLastPara="1" rIns="0" wrap="square" tIns="0">
            <a:noAutofit/>
          </a:bodyPr>
          <a:lstStyle/>
          <a:p>
            <a:pPr indent="0" lvl="0" marL="0" marR="0" rtl="0" algn="ctr">
              <a:lnSpc>
                <a:spcPct val="232000"/>
              </a:lnSpc>
              <a:spcBef>
                <a:spcPts val="0"/>
              </a:spcBef>
              <a:spcAft>
                <a:spcPts val="0"/>
              </a:spcAft>
              <a:buClr>
                <a:srgbClr val="13254A"/>
              </a:buClr>
              <a:buSzPts val="2800"/>
              <a:buFont typeface="Sora"/>
              <a:buNone/>
            </a:pPr>
            <a:r>
              <a:rPr b="1" i="0" lang="en-US" sz="2800" u="none" cap="none" strike="noStrike">
                <a:solidFill>
                  <a:srgbClr val="13254A"/>
                </a:solidFill>
                <a:latin typeface="Sora"/>
                <a:ea typeface="Sora"/>
                <a:cs typeface="Sora"/>
                <a:sym typeface="Sora"/>
              </a:rPr>
              <a:t>1</a:t>
            </a:r>
            <a:endParaRPr b="0" i="0" sz="2800" u="none" cap="none" strike="noStrike">
              <a:solidFill>
                <a:schemeClr val="dk1"/>
              </a:solidFill>
              <a:latin typeface="Calibri"/>
              <a:ea typeface="Calibri"/>
              <a:cs typeface="Calibri"/>
              <a:sym typeface="Calibri"/>
            </a:endParaRPr>
          </a:p>
        </p:txBody>
      </p:sp>
      <p:sp>
        <p:nvSpPr>
          <p:cNvPr id="1169" name="Google Shape;1169;p63"/>
          <p:cNvSpPr/>
          <p:nvPr/>
        </p:nvSpPr>
        <p:spPr>
          <a:xfrm>
            <a:off x="5657810" y="3067825"/>
            <a:ext cx="876300" cy="850500"/>
          </a:xfrm>
          <a:prstGeom prst="rect">
            <a:avLst/>
          </a:prstGeom>
          <a:noFill/>
          <a:ln>
            <a:noFill/>
          </a:ln>
        </p:spPr>
        <p:txBody>
          <a:bodyPr anchorCtr="0" anchor="t" bIns="0" lIns="0" spcFirstLastPara="1" rIns="0" wrap="square" tIns="0">
            <a:noAutofit/>
          </a:bodyPr>
          <a:lstStyle/>
          <a:p>
            <a:pPr indent="0" lvl="0" marL="0" marR="0" rtl="0" algn="ctr">
              <a:lnSpc>
                <a:spcPct val="232000"/>
              </a:lnSpc>
              <a:spcBef>
                <a:spcPts val="0"/>
              </a:spcBef>
              <a:spcAft>
                <a:spcPts val="0"/>
              </a:spcAft>
              <a:buClr>
                <a:srgbClr val="13254A"/>
              </a:buClr>
              <a:buSzPts val="2800"/>
              <a:buFont typeface="Sora"/>
              <a:buNone/>
            </a:pPr>
            <a:r>
              <a:rPr b="1" i="0" lang="en-US" sz="2800" u="none" cap="none" strike="noStrike">
                <a:solidFill>
                  <a:srgbClr val="13254A"/>
                </a:solidFill>
                <a:latin typeface="Sora"/>
                <a:ea typeface="Sora"/>
                <a:cs typeface="Sora"/>
                <a:sym typeface="Sora"/>
              </a:rPr>
              <a:t>2</a:t>
            </a:r>
            <a:endParaRPr b="0" i="0" sz="2800" u="none" cap="none" strike="noStrike">
              <a:solidFill>
                <a:schemeClr val="dk1"/>
              </a:solidFill>
              <a:latin typeface="Calibri"/>
              <a:ea typeface="Calibri"/>
              <a:cs typeface="Calibri"/>
              <a:sym typeface="Calibri"/>
            </a:endParaRPr>
          </a:p>
        </p:txBody>
      </p:sp>
      <p:sp>
        <p:nvSpPr>
          <p:cNvPr id="1170" name="Google Shape;1170;p63"/>
          <p:cNvSpPr/>
          <p:nvPr/>
        </p:nvSpPr>
        <p:spPr>
          <a:xfrm>
            <a:off x="9086810" y="3067825"/>
            <a:ext cx="876300" cy="850500"/>
          </a:xfrm>
          <a:prstGeom prst="rect">
            <a:avLst/>
          </a:prstGeom>
          <a:noFill/>
          <a:ln>
            <a:noFill/>
          </a:ln>
        </p:spPr>
        <p:txBody>
          <a:bodyPr anchorCtr="0" anchor="t" bIns="0" lIns="0" spcFirstLastPara="1" rIns="0" wrap="square" tIns="0">
            <a:noAutofit/>
          </a:bodyPr>
          <a:lstStyle/>
          <a:p>
            <a:pPr indent="0" lvl="0" marL="0" marR="0" rtl="0" algn="ctr">
              <a:lnSpc>
                <a:spcPct val="232000"/>
              </a:lnSpc>
              <a:spcBef>
                <a:spcPts val="0"/>
              </a:spcBef>
              <a:spcAft>
                <a:spcPts val="0"/>
              </a:spcAft>
              <a:buClr>
                <a:srgbClr val="13254A"/>
              </a:buClr>
              <a:buSzPts val="2800"/>
              <a:buFont typeface="Sora"/>
              <a:buNone/>
            </a:pPr>
            <a:r>
              <a:rPr b="1" i="0" lang="en-US" sz="2800" u="none" cap="none" strike="noStrike">
                <a:solidFill>
                  <a:srgbClr val="13254A"/>
                </a:solidFill>
                <a:latin typeface="Sora"/>
                <a:ea typeface="Sora"/>
                <a:cs typeface="Sora"/>
                <a:sym typeface="Sora"/>
              </a:rPr>
              <a:t>3</a:t>
            </a:r>
            <a:endParaRPr b="0" i="0" sz="2800" u="none" cap="none" strike="noStrike">
              <a:solidFill>
                <a:schemeClr val="dk1"/>
              </a:solidFill>
              <a:latin typeface="Calibri"/>
              <a:ea typeface="Calibri"/>
              <a:cs typeface="Calibri"/>
              <a:sym typeface="Calibri"/>
            </a:endParaRPr>
          </a:p>
        </p:txBody>
      </p:sp>
      <p:sp>
        <p:nvSpPr>
          <p:cNvPr id="1171" name="Google Shape;1171;p63"/>
          <p:cNvSpPr/>
          <p:nvPr/>
        </p:nvSpPr>
        <p:spPr>
          <a:xfrm>
            <a:off x="1031856" y="3936981"/>
            <a:ext cx="3270300" cy="3276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6F4EF"/>
              </a:buClr>
              <a:buSzPts val="1700"/>
              <a:buFont typeface="Sora"/>
              <a:buNone/>
            </a:pPr>
            <a:r>
              <a:rPr b="1" i="1" lang="en-US" sz="1700" u="none" cap="none" strike="noStrike">
                <a:solidFill>
                  <a:srgbClr val="F6F4EF"/>
                </a:solidFill>
                <a:latin typeface="Sora"/>
                <a:ea typeface="Sora"/>
                <a:cs typeface="Sora"/>
                <a:sym typeface="Sora"/>
              </a:rPr>
              <a:t>I took a step.</a:t>
            </a:r>
            <a:endParaRPr b="0" i="0" sz="1700" u="none" cap="none" strike="noStrike">
              <a:solidFill>
                <a:schemeClr val="dk1"/>
              </a:solidFill>
              <a:latin typeface="Calibri"/>
              <a:ea typeface="Calibri"/>
              <a:cs typeface="Calibri"/>
              <a:sym typeface="Calibri"/>
            </a:endParaRPr>
          </a:p>
        </p:txBody>
      </p:sp>
      <p:sp>
        <p:nvSpPr>
          <p:cNvPr id="1172" name="Google Shape;1172;p63"/>
          <p:cNvSpPr/>
          <p:nvPr/>
        </p:nvSpPr>
        <p:spPr>
          <a:xfrm>
            <a:off x="4460856" y="3936981"/>
            <a:ext cx="3270300" cy="3276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6F4EF"/>
              </a:buClr>
              <a:buSzPts val="1700"/>
              <a:buFont typeface="Sora"/>
              <a:buNone/>
            </a:pPr>
            <a:r>
              <a:rPr b="1" i="1" lang="en-US" sz="1700" u="none" cap="none" strike="noStrike">
                <a:solidFill>
                  <a:srgbClr val="F6F4EF"/>
                </a:solidFill>
                <a:latin typeface="Sora"/>
                <a:ea typeface="Sora"/>
                <a:cs typeface="Sora"/>
                <a:sym typeface="Sora"/>
              </a:rPr>
              <a:t>I found my answer.</a:t>
            </a:r>
            <a:endParaRPr b="0" i="0" sz="1700" u="none" cap="none" strike="noStrike">
              <a:solidFill>
                <a:schemeClr val="dk1"/>
              </a:solidFill>
              <a:latin typeface="Calibri"/>
              <a:ea typeface="Calibri"/>
              <a:cs typeface="Calibri"/>
              <a:sym typeface="Calibri"/>
            </a:endParaRPr>
          </a:p>
        </p:txBody>
      </p:sp>
      <p:sp>
        <p:nvSpPr>
          <p:cNvPr id="1173" name="Google Shape;1173;p63"/>
          <p:cNvSpPr/>
          <p:nvPr/>
        </p:nvSpPr>
        <p:spPr>
          <a:xfrm>
            <a:off x="7889856" y="3936981"/>
            <a:ext cx="3270300" cy="6300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6F4EF"/>
              </a:buClr>
              <a:buSzPts val="1700"/>
              <a:buFont typeface="Sora"/>
              <a:buNone/>
            </a:pPr>
            <a:r>
              <a:rPr b="1" i="1" lang="en-US" sz="1700" u="none" cap="none" strike="noStrike">
                <a:solidFill>
                  <a:srgbClr val="F6F4EF"/>
                </a:solidFill>
                <a:latin typeface="Sora"/>
                <a:ea typeface="Sora"/>
                <a:cs typeface="Sora"/>
                <a:sym typeface="Sora"/>
              </a:rPr>
              <a:t>I know which campus fits me.</a:t>
            </a:r>
            <a:endParaRPr b="0" i="0" sz="1700" u="none" cap="none" strike="noStrike">
              <a:solidFill>
                <a:schemeClr val="dk1"/>
              </a:solidFill>
              <a:latin typeface="Calibri"/>
              <a:ea typeface="Calibri"/>
              <a:cs typeface="Calibri"/>
              <a:sym typeface="Calibri"/>
            </a:endParaRPr>
          </a:p>
        </p:txBody>
      </p:sp>
      <p:sp>
        <p:nvSpPr>
          <p:cNvPr id="1174" name="Google Shape;1174;p63"/>
          <p:cNvSpPr/>
          <p:nvPr/>
        </p:nvSpPr>
        <p:spPr>
          <a:xfrm>
            <a:off x="1031856" y="4635460"/>
            <a:ext cx="32703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C9D5E6"/>
              </a:buClr>
              <a:buSzPts val="1200"/>
              <a:buFont typeface="Sora"/>
              <a:buNone/>
            </a:pPr>
            <a:r>
              <a:rPr b="0" i="0" lang="en-US" sz="1200" u="none" cap="none" strike="noStrike">
                <a:solidFill>
                  <a:srgbClr val="C9D5E6"/>
                </a:solidFill>
                <a:latin typeface="Sora"/>
                <a:ea typeface="Sora"/>
                <a:cs typeface="Sora"/>
                <a:sym typeface="Sora"/>
              </a:rPr>
              <a:t>Download · Enquire · Apply</a:t>
            </a:r>
            <a:endParaRPr b="0" i="0" sz="1200" u="none" cap="none" strike="noStrike">
              <a:solidFill>
                <a:schemeClr val="dk1"/>
              </a:solidFill>
              <a:latin typeface="Calibri"/>
              <a:ea typeface="Calibri"/>
              <a:cs typeface="Calibri"/>
              <a:sym typeface="Calibri"/>
            </a:endParaRPr>
          </a:p>
        </p:txBody>
      </p:sp>
      <p:sp>
        <p:nvSpPr>
          <p:cNvPr id="1175" name="Google Shape;1175;p63"/>
          <p:cNvSpPr/>
          <p:nvPr/>
        </p:nvSpPr>
        <p:spPr>
          <a:xfrm>
            <a:off x="4460856" y="4635460"/>
            <a:ext cx="32703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C9D5E6"/>
              </a:buClr>
              <a:buSzPts val="1200"/>
              <a:buFont typeface="Sora"/>
              <a:buNone/>
            </a:pPr>
            <a:r>
              <a:rPr b="0" i="0" lang="en-US" sz="1200" u="none" cap="none" strike="noStrike">
                <a:solidFill>
                  <a:srgbClr val="C9D5E6"/>
                </a:solidFill>
                <a:latin typeface="Sora"/>
                <a:ea typeface="Sora"/>
                <a:cs typeface="Sora"/>
                <a:sym typeface="Sora"/>
              </a:rPr>
              <a:t>Fees · Eligibility · Scholarships</a:t>
            </a:r>
            <a:endParaRPr b="0" i="0" sz="1200" u="none" cap="none" strike="noStrike">
              <a:solidFill>
                <a:schemeClr val="dk1"/>
              </a:solidFill>
              <a:latin typeface="Calibri"/>
              <a:ea typeface="Calibri"/>
              <a:cs typeface="Calibri"/>
              <a:sym typeface="Calibri"/>
            </a:endParaRPr>
          </a:p>
        </p:txBody>
      </p:sp>
      <p:sp>
        <p:nvSpPr>
          <p:cNvPr id="1176" name="Google Shape;1176;p63"/>
          <p:cNvSpPr/>
          <p:nvPr/>
        </p:nvSpPr>
        <p:spPr>
          <a:xfrm>
            <a:off x="7889856" y="4635460"/>
            <a:ext cx="32703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C9D5E6"/>
              </a:buClr>
              <a:buSzPts val="1200"/>
              <a:buFont typeface="Sora"/>
              <a:buNone/>
            </a:pPr>
            <a:r>
              <a:rPr b="0" i="0" lang="en-US" sz="1200" u="none" cap="none" strike="noStrike">
                <a:solidFill>
                  <a:srgbClr val="C9D5E6"/>
                </a:solidFill>
                <a:latin typeface="Sora"/>
                <a:ea typeface="Sora"/>
                <a:cs typeface="Sora"/>
                <a:sym typeface="Sora"/>
              </a:rPr>
              <a:t>MRIIRS · MRU · Rankings · Awards</a:t>
            </a:r>
            <a:endParaRPr b="0" i="0" sz="1200" u="none" cap="none" strike="noStrike">
              <a:solidFill>
                <a:schemeClr val="dk1"/>
              </a:solidFill>
              <a:latin typeface="Calibri"/>
              <a:ea typeface="Calibri"/>
              <a:cs typeface="Calibri"/>
              <a:sym typeface="Calibri"/>
            </a:endParaRPr>
          </a:p>
        </p:txBody>
      </p:sp>
      <p:sp>
        <p:nvSpPr>
          <p:cNvPr id="1177" name="Google Shape;1177;p63"/>
          <p:cNvSpPr/>
          <p:nvPr/>
        </p:nvSpPr>
        <p:spPr>
          <a:xfrm>
            <a:off x="1517631" y="5651481"/>
            <a:ext cx="9156900" cy="523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9DBCE6"/>
              </a:buClr>
              <a:buSzPts val="1500"/>
              <a:buFont typeface="Sora"/>
              <a:buNone/>
            </a:pPr>
            <a:r>
              <a:rPr b="0" i="1" lang="en-US" sz="1500" u="none" cap="none" strike="noStrike">
                <a:solidFill>
                  <a:srgbClr val="9DBCE6"/>
                </a:solidFill>
                <a:latin typeface="Sora"/>
                <a:ea typeface="Sora"/>
                <a:cs typeface="Sora"/>
                <a:sym typeface="Sora"/>
              </a:rPr>
              <a:t>No student should leave without taking a step, finding an answer, or knowing which Manav Rachna is right for them.</a:t>
            </a:r>
            <a:endParaRPr b="0" i="0" sz="1500" u="none" cap="none" strike="noStrike">
              <a:solidFill>
                <a:schemeClr val="dk1"/>
              </a:solidFill>
              <a:latin typeface="Calibri"/>
              <a:ea typeface="Calibri"/>
              <a:cs typeface="Calibri"/>
              <a:sym typeface="Calibri"/>
            </a:endParaRPr>
          </a:p>
        </p:txBody>
      </p:sp>
      <p:sp>
        <p:nvSpPr>
          <p:cNvPr id="1178" name="Rounded Rectangle 1177"/>
          <p:cNvSpPr/>
          <p:nvPr/>
        </p:nvSpPr>
        <p:spPr>
          <a:xfrm>
            <a:off x="10771632" y="109728"/>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1182" name="Shape 1182"/>
        <p:cNvGrpSpPr/>
        <p:nvPr/>
      </p:nvGrpSpPr>
      <p:grpSpPr>
        <a:xfrm>
          <a:off x="0" y="0"/>
          <a:ext cx="0" cy="0"/>
          <a:chOff x="0" y="0"/>
          <a:chExt cx="0" cy="0"/>
        </a:xfrm>
      </p:grpSpPr>
      <p:pic>
        <p:nvPicPr>
          <p:cNvPr descr="Student to decision point, branching into three journeys" id="1183" name="Google Shape;1183;p64"/>
          <p:cNvPicPr preferRelativeResize="0"/>
          <p:nvPr/>
        </p:nvPicPr>
        <p:blipFill rotWithShape="1">
          <a:blip r:embed="rId3">
            <a:alphaModFix/>
          </a:blip>
          <a:srcRect b="0" l="0" r="0" t="0"/>
          <a:stretch/>
        </p:blipFill>
        <p:spPr>
          <a:xfrm>
            <a:off x="0" y="0"/>
            <a:ext cx="12192005" cy="6858003"/>
          </a:xfrm>
          <a:prstGeom prst="rect">
            <a:avLst/>
          </a:prstGeom>
          <a:noFill/>
          <a:ln>
            <a:noFill/>
          </a:ln>
        </p:spPr>
      </p:pic>
      <p:sp>
        <p:nvSpPr>
          <p:cNvPr id="1184" name="Google Shape;1184;p64"/>
          <p:cNvSpPr/>
          <p:nvPr/>
        </p:nvSpPr>
        <p:spPr>
          <a:xfrm>
            <a:off x="812780" y="558761"/>
            <a:ext cx="7848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300"/>
              <a:buFont typeface="Sora"/>
              <a:buNone/>
            </a:pPr>
            <a:r>
              <a:rPr b="1" i="0" lang="en-US" sz="1300" u="none" cap="none" strike="noStrike">
                <a:solidFill>
                  <a:srgbClr val="3A6BB0"/>
                </a:solidFill>
                <a:latin typeface="Sora"/>
                <a:ea typeface="Sora"/>
                <a:cs typeface="Sora"/>
                <a:sym typeface="Sora"/>
              </a:rPr>
              <a:t>THE FRAMEWORK</a:t>
            </a:r>
            <a:endParaRPr b="0" i="0" sz="1300" u="none" cap="none" strike="noStrike">
              <a:solidFill>
                <a:schemeClr val="dk1"/>
              </a:solidFill>
              <a:latin typeface="Calibri"/>
              <a:ea typeface="Calibri"/>
              <a:cs typeface="Calibri"/>
              <a:sym typeface="Calibri"/>
            </a:endParaRPr>
          </a:p>
        </p:txBody>
      </p:sp>
      <p:sp>
        <p:nvSpPr>
          <p:cNvPr id="1185" name="Google Shape;1185;p64"/>
          <p:cNvSpPr/>
          <p:nvPr/>
        </p:nvSpPr>
        <p:spPr>
          <a:xfrm>
            <a:off x="812780" y="863561"/>
            <a:ext cx="108831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3254A"/>
              </a:buClr>
              <a:buSzPts val="3200"/>
              <a:buFont typeface="Sora"/>
              <a:buNone/>
            </a:pPr>
            <a:r>
              <a:rPr b="1" i="0" lang="en-US" sz="3200" u="none" cap="none" strike="noStrike">
                <a:solidFill>
                  <a:srgbClr val="13254A"/>
                </a:solidFill>
                <a:latin typeface="Sora"/>
                <a:ea typeface="Sora"/>
                <a:cs typeface="Sora"/>
                <a:sym typeface="Sora"/>
              </a:rPr>
              <a:t>One question. Three journeys.</a:t>
            </a:r>
            <a:endParaRPr b="0" i="0" sz="3200" u="none" cap="none" strike="noStrike">
              <a:solidFill>
                <a:schemeClr val="dk1"/>
              </a:solidFill>
              <a:latin typeface="Calibri"/>
              <a:ea typeface="Calibri"/>
              <a:cs typeface="Calibri"/>
              <a:sym typeface="Calibri"/>
            </a:endParaRPr>
          </a:p>
        </p:txBody>
      </p:sp>
      <p:pic>
        <p:nvPicPr>
          <p:cNvPr descr="ellipse" id="1186" name="Google Shape;1186;p64"/>
          <p:cNvPicPr preferRelativeResize="0"/>
          <p:nvPr/>
        </p:nvPicPr>
        <p:blipFill rotWithShape="1">
          <a:blip r:embed="rId4">
            <a:alphaModFix/>
          </a:blip>
          <a:srcRect b="0" l="0" r="0" t="0"/>
          <a:stretch/>
        </p:blipFill>
        <p:spPr>
          <a:xfrm>
            <a:off x="952500" y="3174981"/>
            <a:ext cx="1143000" cy="1143000"/>
          </a:xfrm>
          <a:prstGeom prst="rect">
            <a:avLst/>
          </a:prstGeom>
          <a:noFill/>
          <a:ln>
            <a:noFill/>
          </a:ln>
        </p:spPr>
      </p:pic>
      <p:sp>
        <p:nvSpPr>
          <p:cNvPr id="1187" name="Google Shape;1187;p64"/>
          <p:cNvSpPr/>
          <p:nvPr/>
        </p:nvSpPr>
        <p:spPr>
          <a:xfrm>
            <a:off x="927100" y="3591700"/>
            <a:ext cx="1194000" cy="3099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6F4EF"/>
              </a:buClr>
              <a:buSzPts val="1600"/>
              <a:buFont typeface="Sora"/>
              <a:buNone/>
            </a:pPr>
            <a:r>
              <a:rPr b="1" i="0" lang="en-US" sz="1600" u="none" cap="none" strike="noStrike">
                <a:solidFill>
                  <a:srgbClr val="F6F4EF"/>
                </a:solidFill>
                <a:latin typeface="Sora"/>
                <a:ea typeface="Sora"/>
                <a:cs typeface="Sora"/>
                <a:sym typeface="Sora"/>
              </a:rPr>
              <a:t>Student</a:t>
            </a:r>
            <a:endParaRPr b="0" i="0" sz="1600" u="none" cap="none" strike="noStrike">
              <a:solidFill>
                <a:schemeClr val="dk1"/>
              </a:solidFill>
              <a:latin typeface="Calibri"/>
              <a:ea typeface="Calibri"/>
              <a:cs typeface="Calibri"/>
              <a:sym typeface="Calibri"/>
            </a:endParaRPr>
          </a:p>
        </p:txBody>
      </p:sp>
      <p:pic>
        <p:nvPicPr>
          <p:cNvPr descr="diamond" id="1188" name="Google Shape;1188;p64"/>
          <p:cNvPicPr preferRelativeResize="0"/>
          <p:nvPr/>
        </p:nvPicPr>
        <p:blipFill rotWithShape="1">
          <a:blip r:embed="rId5">
            <a:alphaModFix/>
          </a:blip>
          <a:srcRect b="0" l="0" r="0" t="0"/>
          <a:stretch/>
        </p:blipFill>
        <p:spPr>
          <a:xfrm>
            <a:off x="3174980" y="2984481"/>
            <a:ext cx="1524000" cy="1524000"/>
          </a:xfrm>
          <a:prstGeom prst="rect">
            <a:avLst/>
          </a:prstGeom>
          <a:noFill/>
          <a:ln>
            <a:noFill/>
          </a:ln>
        </p:spPr>
      </p:pic>
      <p:sp>
        <p:nvSpPr>
          <p:cNvPr id="1189" name="Google Shape;1189;p64"/>
          <p:cNvSpPr/>
          <p:nvPr/>
        </p:nvSpPr>
        <p:spPr>
          <a:xfrm>
            <a:off x="3435330" y="3460731"/>
            <a:ext cx="1003200" cy="5739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6F4EF"/>
              </a:buClr>
              <a:buSzPts val="1200"/>
              <a:buFont typeface="Sora"/>
              <a:buNone/>
            </a:pPr>
            <a:r>
              <a:rPr b="1" i="0" lang="en-US" sz="1200" u="none" cap="none" strike="noStrike">
                <a:solidFill>
                  <a:srgbClr val="F6F4EF"/>
                </a:solidFill>
                <a:latin typeface="Sora"/>
                <a:ea typeface="Sora"/>
                <a:cs typeface="Sora"/>
                <a:sym typeface="Sora"/>
              </a:rPr>
              <a:t>What are you looking for?</a:t>
            </a:r>
            <a:endParaRPr b="0" i="0" sz="1200" u="none" cap="none" strike="noStrike">
              <a:solidFill>
                <a:schemeClr val="dk1"/>
              </a:solidFill>
              <a:latin typeface="Calibri"/>
              <a:ea typeface="Calibri"/>
              <a:cs typeface="Calibri"/>
              <a:sym typeface="Calibri"/>
            </a:endParaRPr>
          </a:p>
        </p:txBody>
      </p:sp>
      <p:pic>
        <p:nvPicPr>
          <p:cNvPr descr="ellipse" id="1190" name="Google Shape;1190;p64"/>
          <p:cNvPicPr preferRelativeResize="0"/>
          <p:nvPr/>
        </p:nvPicPr>
        <p:blipFill rotWithShape="1">
          <a:blip r:embed="rId6">
            <a:alphaModFix/>
          </a:blip>
          <a:srcRect b="0" l="0" r="0" t="0"/>
          <a:stretch/>
        </p:blipFill>
        <p:spPr>
          <a:xfrm>
            <a:off x="5683210" y="1746231"/>
            <a:ext cx="825460" cy="825460"/>
          </a:xfrm>
          <a:prstGeom prst="rect">
            <a:avLst/>
          </a:prstGeom>
          <a:noFill/>
          <a:ln>
            <a:noFill/>
          </a:ln>
        </p:spPr>
      </p:pic>
      <p:pic>
        <p:nvPicPr>
          <p:cNvPr descr="ellipse" id="1191" name="Google Shape;1191;p64"/>
          <p:cNvPicPr preferRelativeResize="0"/>
          <p:nvPr/>
        </p:nvPicPr>
        <p:blipFill rotWithShape="1">
          <a:blip r:embed="rId6">
            <a:alphaModFix/>
          </a:blip>
          <a:srcRect b="0" l="0" r="0" t="0"/>
          <a:stretch/>
        </p:blipFill>
        <p:spPr>
          <a:xfrm>
            <a:off x="5683210" y="3333750"/>
            <a:ext cx="825460" cy="825460"/>
          </a:xfrm>
          <a:prstGeom prst="rect">
            <a:avLst/>
          </a:prstGeom>
          <a:noFill/>
          <a:ln>
            <a:noFill/>
          </a:ln>
        </p:spPr>
      </p:pic>
      <p:pic>
        <p:nvPicPr>
          <p:cNvPr descr="ellipse" id="1192" name="Google Shape;1192;p64"/>
          <p:cNvPicPr preferRelativeResize="0"/>
          <p:nvPr/>
        </p:nvPicPr>
        <p:blipFill rotWithShape="1">
          <a:blip r:embed="rId7">
            <a:alphaModFix/>
          </a:blip>
          <a:srcRect b="0" l="0" r="0" t="0"/>
          <a:stretch/>
        </p:blipFill>
        <p:spPr>
          <a:xfrm>
            <a:off x="5683210" y="4921211"/>
            <a:ext cx="825460" cy="825460"/>
          </a:xfrm>
          <a:prstGeom prst="rect">
            <a:avLst/>
          </a:prstGeom>
          <a:noFill/>
          <a:ln>
            <a:noFill/>
          </a:ln>
        </p:spPr>
      </p:pic>
      <p:sp>
        <p:nvSpPr>
          <p:cNvPr id="1193" name="Google Shape;1193;p64"/>
          <p:cNvSpPr/>
          <p:nvPr/>
        </p:nvSpPr>
        <p:spPr>
          <a:xfrm>
            <a:off x="5657810" y="1964512"/>
            <a:ext cx="876300" cy="849600"/>
          </a:xfrm>
          <a:prstGeom prst="rect">
            <a:avLst/>
          </a:prstGeom>
          <a:noFill/>
          <a:ln>
            <a:noFill/>
          </a:ln>
        </p:spPr>
        <p:txBody>
          <a:bodyPr anchorCtr="0" anchor="t" bIns="0" lIns="0" spcFirstLastPara="1" rIns="0" wrap="square" tIns="0">
            <a:noAutofit/>
          </a:bodyPr>
          <a:lstStyle/>
          <a:p>
            <a:pPr indent="0" lvl="0" marL="0" marR="0" rtl="0" algn="ctr">
              <a:lnSpc>
                <a:spcPct val="295000"/>
              </a:lnSpc>
              <a:spcBef>
                <a:spcPts val="0"/>
              </a:spcBef>
              <a:spcAft>
                <a:spcPts val="0"/>
              </a:spcAft>
              <a:buClr>
                <a:srgbClr val="F6F4EF"/>
              </a:buClr>
              <a:buSzPts val="2300"/>
              <a:buFont typeface="Sora"/>
              <a:buNone/>
            </a:pPr>
            <a:r>
              <a:rPr b="1" i="0" lang="en-US" sz="2300" u="none" cap="none" strike="noStrike">
                <a:solidFill>
                  <a:srgbClr val="F6F4EF"/>
                </a:solidFill>
                <a:latin typeface="Sora"/>
                <a:ea typeface="Sora"/>
                <a:cs typeface="Sora"/>
                <a:sym typeface="Sora"/>
              </a:rPr>
              <a:t>01</a:t>
            </a:r>
            <a:endParaRPr b="0" i="0" sz="2300" u="none" cap="none" strike="noStrike">
              <a:solidFill>
                <a:schemeClr val="dk1"/>
              </a:solidFill>
              <a:latin typeface="Calibri"/>
              <a:ea typeface="Calibri"/>
              <a:cs typeface="Calibri"/>
              <a:sym typeface="Calibri"/>
            </a:endParaRPr>
          </a:p>
        </p:txBody>
      </p:sp>
      <p:sp>
        <p:nvSpPr>
          <p:cNvPr id="1194" name="Google Shape;1194;p64"/>
          <p:cNvSpPr/>
          <p:nvPr/>
        </p:nvSpPr>
        <p:spPr>
          <a:xfrm>
            <a:off x="5657810" y="3552031"/>
            <a:ext cx="876300" cy="849600"/>
          </a:xfrm>
          <a:prstGeom prst="rect">
            <a:avLst/>
          </a:prstGeom>
          <a:noFill/>
          <a:ln>
            <a:noFill/>
          </a:ln>
        </p:spPr>
        <p:txBody>
          <a:bodyPr anchorCtr="0" anchor="t" bIns="0" lIns="0" spcFirstLastPara="1" rIns="0" wrap="square" tIns="0">
            <a:noAutofit/>
          </a:bodyPr>
          <a:lstStyle/>
          <a:p>
            <a:pPr indent="0" lvl="0" marL="0" marR="0" rtl="0" algn="ctr">
              <a:lnSpc>
                <a:spcPct val="295000"/>
              </a:lnSpc>
              <a:spcBef>
                <a:spcPts val="0"/>
              </a:spcBef>
              <a:spcAft>
                <a:spcPts val="0"/>
              </a:spcAft>
              <a:buClr>
                <a:srgbClr val="F6F4EF"/>
              </a:buClr>
              <a:buSzPts val="2300"/>
              <a:buFont typeface="Sora"/>
              <a:buNone/>
            </a:pPr>
            <a:r>
              <a:rPr b="1" i="0" lang="en-US" sz="2300" u="none" cap="none" strike="noStrike">
                <a:solidFill>
                  <a:srgbClr val="F6F4EF"/>
                </a:solidFill>
                <a:latin typeface="Sora"/>
                <a:ea typeface="Sora"/>
                <a:cs typeface="Sora"/>
                <a:sym typeface="Sora"/>
              </a:rPr>
              <a:t>02</a:t>
            </a:r>
            <a:endParaRPr b="0" i="0" sz="2300" u="none" cap="none" strike="noStrike">
              <a:solidFill>
                <a:schemeClr val="dk1"/>
              </a:solidFill>
              <a:latin typeface="Calibri"/>
              <a:ea typeface="Calibri"/>
              <a:cs typeface="Calibri"/>
              <a:sym typeface="Calibri"/>
            </a:endParaRPr>
          </a:p>
        </p:txBody>
      </p:sp>
      <p:sp>
        <p:nvSpPr>
          <p:cNvPr id="1195" name="Google Shape;1195;p64"/>
          <p:cNvSpPr/>
          <p:nvPr/>
        </p:nvSpPr>
        <p:spPr>
          <a:xfrm>
            <a:off x="5657810" y="5139492"/>
            <a:ext cx="876300" cy="849600"/>
          </a:xfrm>
          <a:prstGeom prst="rect">
            <a:avLst/>
          </a:prstGeom>
          <a:noFill/>
          <a:ln>
            <a:noFill/>
          </a:ln>
        </p:spPr>
        <p:txBody>
          <a:bodyPr anchorCtr="0" anchor="t" bIns="0" lIns="0" spcFirstLastPara="1" rIns="0" wrap="square" tIns="0">
            <a:noAutofit/>
          </a:bodyPr>
          <a:lstStyle/>
          <a:p>
            <a:pPr indent="0" lvl="0" marL="0" marR="0" rtl="0" algn="ctr">
              <a:lnSpc>
                <a:spcPct val="295000"/>
              </a:lnSpc>
              <a:spcBef>
                <a:spcPts val="0"/>
              </a:spcBef>
              <a:spcAft>
                <a:spcPts val="0"/>
              </a:spcAft>
              <a:buClr>
                <a:srgbClr val="F6F4EF"/>
              </a:buClr>
              <a:buSzPts val="2300"/>
              <a:buFont typeface="Sora"/>
              <a:buNone/>
            </a:pPr>
            <a:r>
              <a:rPr b="1" i="0" lang="en-US" sz="2300" u="none" cap="none" strike="noStrike">
                <a:solidFill>
                  <a:srgbClr val="F6F4EF"/>
                </a:solidFill>
                <a:latin typeface="Sora"/>
                <a:ea typeface="Sora"/>
                <a:cs typeface="Sora"/>
                <a:sym typeface="Sora"/>
              </a:rPr>
              <a:t>03</a:t>
            </a:r>
            <a:endParaRPr b="0" i="0" sz="2300" u="none" cap="none" strike="noStrike">
              <a:solidFill>
                <a:schemeClr val="dk1"/>
              </a:solidFill>
              <a:latin typeface="Calibri"/>
              <a:ea typeface="Calibri"/>
              <a:cs typeface="Calibri"/>
              <a:sym typeface="Calibri"/>
            </a:endParaRPr>
          </a:p>
        </p:txBody>
      </p:sp>
      <p:sp>
        <p:nvSpPr>
          <p:cNvPr id="1196" name="Google Shape;1196;p64"/>
          <p:cNvSpPr/>
          <p:nvPr/>
        </p:nvSpPr>
        <p:spPr>
          <a:xfrm>
            <a:off x="6730960" y="1663661"/>
            <a:ext cx="4648500" cy="972900"/>
          </a:xfrm>
          <a:prstGeom prst="roundRect">
            <a:avLst>
              <a:gd fmla="val 10445" name="adj"/>
            </a:avLst>
          </a:prstGeom>
          <a:solidFill>
            <a:srgbClr val="EDF0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64"/>
          <p:cNvSpPr/>
          <p:nvPr/>
        </p:nvSpPr>
        <p:spPr>
          <a:xfrm>
            <a:off x="6984921" y="1866841"/>
            <a:ext cx="42645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700"/>
              <a:buFont typeface="Sora"/>
              <a:buNone/>
            </a:pPr>
            <a:r>
              <a:rPr b="1" i="0" lang="en-US" sz="1700" u="none" cap="none" strike="noStrike">
                <a:solidFill>
                  <a:srgbClr val="13254A"/>
                </a:solidFill>
                <a:latin typeface="Sora"/>
                <a:ea typeface="Sora"/>
                <a:cs typeface="Sora"/>
                <a:sym typeface="Sora"/>
              </a:rPr>
              <a:t>I know the course I want</a:t>
            </a:r>
            <a:endParaRPr b="0" i="0" sz="1700" u="none" cap="none" strike="noStrike">
              <a:solidFill>
                <a:schemeClr val="dk1"/>
              </a:solidFill>
              <a:latin typeface="Calibri"/>
              <a:ea typeface="Calibri"/>
              <a:cs typeface="Calibri"/>
              <a:sym typeface="Calibri"/>
            </a:endParaRPr>
          </a:p>
        </p:txBody>
      </p:sp>
      <p:sp>
        <p:nvSpPr>
          <p:cNvPr id="1198" name="Google Shape;1198;p64"/>
          <p:cNvSpPr/>
          <p:nvPr/>
        </p:nvSpPr>
        <p:spPr>
          <a:xfrm>
            <a:off x="6984921" y="2202121"/>
            <a:ext cx="42645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300"/>
              <a:buFont typeface="Sora"/>
              <a:buNone/>
            </a:pPr>
            <a:r>
              <a:rPr b="0" i="1" lang="en-US" sz="1300" u="none" cap="none" strike="noStrike">
                <a:solidFill>
                  <a:srgbClr val="7A8494"/>
                </a:solidFill>
                <a:latin typeface="Sora"/>
                <a:ea typeface="Sora"/>
                <a:cs typeface="Sora"/>
                <a:sym typeface="Sora"/>
              </a:rPr>
              <a:t>Course → Fees → Eligibility → Apply</a:t>
            </a:r>
            <a:endParaRPr b="0" i="0" sz="1300" u="none" cap="none" strike="noStrike">
              <a:solidFill>
                <a:schemeClr val="dk1"/>
              </a:solidFill>
              <a:latin typeface="Calibri"/>
              <a:ea typeface="Calibri"/>
              <a:cs typeface="Calibri"/>
              <a:sym typeface="Calibri"/>
            </a:endParaRPr>
          </a:p>
        </p:txBody>
      </p:sp>
      <p:sp>
        <p:nvSpPr>
          <p:cNvPr id="1199" name="Google Shape;1199;p64"/>
          <p:cNvSpPr/>
          <p:nvPr/>
        </p:nvSpPr>
        <p:spPr>
          <a:xfrm>
            <a:off x="6730960" y="3251181"/>
            <a:ext cx="4648500" cy="972900"/>
          </a:xfrm>
          <a:prstGeom prst="roundRect">
            <a:avLst>
              <a:gd fmla="val 10445" name="adj"/>
            </a:avLst>
          </a:prstGeom>
          <a:solidFill>
            <a:srgbClr val="EDF0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64"/>
          <p:cNvSpPr/>
          <p:nvPr/>
        </p:nvSpPr>
        <p:spPr>
          <a:xfrm>
            <a:off x="6984921" y="3454361"/>
            <a:ext cx="42645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700"/>
              <a:buFont typeface="Sora"/>
              <a:buNone/>
            </a:pPr>
            <a:r>
              <a:rPr b="1" i="0" lang="en-US" sz="1700" u="none" cap="none" strike="noStrike">
                <a:solidFill>
                  <a:srgbClr val="13254A"/>
                </a:solidFill>
                <a:latin typeface="Sora"/>
                <a:ea typeface="Sora"/>
                <a:cs typeface="Sora"/>
                <a:sym typeface="Sora"/>
              </a:rPr>
              <a:t>I want to know what it costs</a:t>
            </a:r>
            <a:endParaRPr b="0" i="0" sz="1700" u="none" cap="none" strike="noStrike">
              <a:solidFill>
                <a:schemeClr val="dk1"/>
              </a:solidFill>
              <a:latin typeface="Calibri"/>
              <a:ea typeface="Calibri"/>
              <a:cs typeface="Calibri"/>
              <a:sym typeface="Calibri"/>
            </a:endParaRPr>
          </a:p>
        </p:txBody>
      </p:sp>
      <p:sp>
        <p:nvSpPr>
          <p:cNvPr id="1201" name="Google Shape;1201;p64"/>
          <p:cNvSpPr/>
          <p:nvPr/>
        </p:nvSpPr>
        <p:spPr>
          <a:xfrm>
            <a:off x="6984921" y="3789642"/>
            <a:ext cx="42645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300"/>
              <a:buFont typeface="Sora"/>
              <a:buNone/>
            </a:pPr>
            <a:r>
              <a:rPr b="0" i="1" lang="en-US" sz="1300" u="none" cap="none" strike="noStrike">
                <a:solidFill>
                  <a:srgbClr val="7A8494"/>
                </a:solidFill>
                <a:latin typeface="Sora"/>
                <a:ea typeface="Sora"/>
                <a:cs typeface="Sora"/>
                <a:sym typeface="Sora"/>
              </a:rPr>
              <a:t>Fees → Scholarships → Eligibility</a:t>
            </a:r>
            <a:endParaRPr b="0" i="0" sz="1300" u="none" cap="none" strike="noStrike">
              <a:solidFill>
                <a:schemeClr val="dk1"/>
              </a:solidFill>
              <a:latin typeface="Calibri"/>
              <a:ea typeface="Calibri"/>
              <a:cs typeface="Calibri"/>
              <a:sym typeface="Calibri"/>
            </a:endParaRPr>
          </a:p>
        </p:txBody>
      </p:sp>
      <p:sp>
        <p:nvSpPr>
          <p:cNvPr id="1202" name="Google Shape;1202;p64"/>
          <p:cNvSpPr/>
          <p:nvPr/>
        </p:nvSpPr>
        <p:spPr>
          <a:xfrm>
            <a:off x="6730960" y="4838700"/>
            <a:ext cx="4648500" cy="972900"/>
          </a:xfrm>
          <a:prstGeom prst="roundRect">
            <a:avLst>
              <a:gd fmla="val 10445" name="adj"/>
            </a:avLst>
          </a:prstGeom>
          <a:solidFill>
            <a:srgbClr val="EDF0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64"/>
          <p:cNvSpPr/>
          <p:nvPr/>
        </p:nvSpPr>
        <p:spPr>
          <a:xfrm>
            <a:off x="6984921" y="5041881"/>
            <a:ext cx="42645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700"/>
              <a:buFont typeface="Sora"/>
              <a:buNone/>
            </a:pPr>
            <a:r>
              <a:rPr b="1" i="0" lang="en-US" sz="1700" u="none" cap="none" strike="noStrike">
                <a:solidFill>
                  <a:srgbClr val="13254A"/>
                </a:solidFill>
                <a:latin typeface="Sora"/>
                <a:ea typeface="Sora"/>
                <a:cs typeface="Sora"/>
                <a:sym typeface="Sora"/>
              </a:rPr>
              <a:t>I'm comparing MRIIRS and MRU</a:t>
            </a:r>
            <a:endParaRPr b="0" i="0" sz="1700" u="none" cap="none" strike="noStrike">
              <a:solidFill>
                <a:schemeClr val="dk1"/>
              </a:solidFill>
              <a:latin typeface="Calibri"/>
              <a:ea typeface="Calibri"/>
              <a:cs typeface="Calibri"/>
              <a:sym typeface="Calibri"/>
            </a:endParaRPr>
          </a:p>
        </p:txBody>
      </p:sp>
      <p:sp>
        <p:nvSpPr>
          <p:cNvPr id="1204" name="Google Shape;1204;p64"/>
          <p:cNvSpPr/>
          <p:nvPr/>
        </p:nvSpPr>
        <p:spPr>
          <a:xfrm>
            <a:off x="6984921" y="5377160"/>
            <a:ext cx="42645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62D3A"/>
              </a:buClr>
              <a:buSzPts val="1300"/>
              <a:buFont typeface="Sora"/>
              <a:buNone/>
            </a:pPr>
            <a:r>
              <a:rPr b="0" i="1" lang="en-US" sz="1300" u="none" cap="none" strike="noStrike">
                <a:solidFill>
                  <a:srgbClr val="C62D3A"/>
                </a:solidFill>
                <a:latin typeface="Sora"/>
                <a:ea typeface="Sora"/>
                <a:cs typeface="Sora"/>
                <a:sym typeface="Sora"/>
              </a:rPr>
              <a:t>Profile → Shortlist → Counsellor</a:t>
            </a:r>
            <a:endParaRPr b="0" i="0" sz="1300" u="none" cap="none" strike="noStrike">
              <a:solidFill>
                <a:schemeClr val="dk1"/>
              </a:solidFill>
              <a:latin typeface="Calibri"/>
              <a:ea typeface="Calibri"/>
              <a:cs typeface="Calibri"/>
              <a:sym typeface="Calibri"/>
            </a:endParaRPr>
          </a:p>
        </p:txBody>
      </p:sp>
      <p:sp>
        <p:nvSpPr>
          <p:cNvPr id="1205" name="Google Shape;1205;p64"/>
          <p:cNvSpPr/>
          <p:nvPr/>
        </p:nvSpPr>
        <p:spPr>
          <a:xfrm>
            <a:off x="812780" y="6253165"/>
            <a:ext cx="9156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300"/>
              <a:buFont typeface="Sora"/>
              <a:buNone/>
            </a:pPr>
            <a:r>
              <a:rPr b="0" i="1" lang="en-US" sz="1300" u="none" cap="none" strike="noStrike">
                <a:solidFill>
                  <a:srgbClr val="7A8494"/>
                </a:solidFill>
                <a:latin typeface="Sora"/>
                <a:ea typeface="Sora"/>
                <a:cs typeface="Sora"/>
                <a:sym typeface="Sora"/>
              </a:rPr>
              <a:t>Instead of listings with no route onward, let the student self-select their intent.</a:t>
            </a:r>
            <a:endParaRPr b="0" i="0" sz="1300" u="none" cap="none" strike="noStrike">
              <a:solidFill>
                <a:schemeClr val="dk1"/>
              </a:solidFill>
              <a:latin typeface="Calibri"/>
              <a:ea typeface="Calibri"/>
              <a:cs typeface="Calibri"/>
              <a:sym typeface="Calibri"/>
            </a:endParaRPr>
          </a:p>
        </p:txBody>
      </p:sp>
      <p:sp>
        <p:nvSpPr>
          <p:cNvPr id="1206" name="Rounded Rectangle 1205"/>
          <p:cNvSpPr/>
          <p:nvPr/>
        </p:nvSpPr>
        <p:spPr>
          <a:xfrm>
            <a:off x="10771632" y="109728"/>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1210" name="Shape 1210"/>
        <p:cNvGrpSpPr/>
        <p:nvPr/>
      </p:nvGrpSpPr>
      <p:grpSpPr>
        <a:xfrm>
          <a:off x="0" y="0"/>
          <a:ext cx="0" cy="0"/>
          <a:chOff x="0" y="0"/>
          <a:chExt cx="0" cy="0"/>
        </a:xfrm>
      </p:grpSpPr>
      <p:pic>
        <p:nvPicPr>
          <p:cNvPr descr="Vertical line joining five journey steps" id="1211" name="Google Shape;1211;p65"/>
          <p:cNvPicPr preferRelativeResize="0"/>
          <p:nvPr/>
        </p:nvPicPr>
        <p:blipFill rotWithShape="1">
          <a:blip r:embed="rId3">
            <a:alphaModFix/>
          </a:blip>
          <a:srcRect b="0" l="0" r="0" t="0"/>
          <a:stretch/>
        </p:blipFill>
        <p:spPr>
          <a:xfrm>
            <a:off x="0" y="0"/>
            <a:ext cx="12192005" cy="6858003"/>
          </a:xfrm>
          <a:prstGeom prst="rect">
            <a:avLst/>
          </a:prstGeom>
          <a:noFill/>
          <a:ln>
            <a:noFill/>
          </a:ln>
        </p:spPr>
      </p:pic>
      <p:sp>
        <p:nvSpPr>
          <p:cNvPr id="1212" name="Google Shape;1212;p65"/>
          <p:cNvSpPr/>
          <p:nvPr/>
        </p:nvSpPr>
        <p:spPr>
          <a:xfrm>
            <a:off x="812780" y="558760"/>
            <a:ext cx="7848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300"/>
              <a:buFont typeface="Sora"/>
              <a:buNone/>
            </a:pPr>
            <a:r>
              <a:rPr b="1" i="0" lang="en-US" sz="1300" u="none" cap="none" strike="noStrike">
                <a:solidFill>
                  <a:srgbClr val="3A6BB0"/>
                </a:solidFill>
                <a:latin typeface="Sora"/>
                <a:ea typeface="Sora"/>
                <a:cs typeface="Sora"/>
                <a:sym typeface="Sora"/>
              </a:rPr>
              <a:t>JOURNEY 01 · THE COURSE RESEARCHER</a:t>
            </a:r>
            <a:endParaRPr b="0" i="0" sz="1300" u="none" cap="none" strike="noStrike">
              <a:solidFill>
                <a:schemeClr val="dk1"/>
              </a:solidFill>
              <a:latin typeface="Calibri"/>
              <a:ea typeface="Calibri"/>
              <a:cs typeface="Calibri"/>
              <a:sym typeface="Calibri"/>
            </a:endParaRPr>
          </a:p>
        </p:txBody>
      </p:sp>
      <p:sp>
        <p:nvSpPr>
          <p:cNvPr id="1213" name="Google Shape;1213;p65"/>
          <p:cNvSpPr/>
          <p:nvPr/>
        </p:nvSpPr>
        <p:spPr>
          <a:xfrm>
            <a:off x="10413981" y="482560"/>
            <a:ext cx="965100" cy="406500"/>
          </a:xfrm>
          <a:prstGeom prst="roundRect">
            <a:avLst>
              <a:gd fmla="val 5000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65"/>
          <p:cNvSpPr/>
          <p:nvPr/>
        </p:nvSpPr>
        <p:spPr>
          <a:xfrm>
            <a:off x="10388581" y="542091"/>
            <a:ext cx="1016100" cy="431700"/>
          </a:xfrm>
          <a:prstGeom prst="rect">
            <a:avLst/>
          </a:prstGeom>
          <a:noFill/>
          <a:ln>
            <a:noFill/>
          </a:ln>
        </p:spPr>
        <p:txBody>
          <a:bodyPr anchorCtr="0" anchor="t" bIns="0" lIns="0" spcFirstLastPara="1" rIns="0" wrap="square" tIns="0">
            <a:noAutofit/>
          </a:bodyPr>
          <a:lstStyle/>
          <a:p>
            <a:pPr indent="0" lvl="0" marL="0" marR="0" rtl="0" algn="ctr">
              <a:lnSpc>
                <a:spcPct val="229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01</a:t>
            </a:r>
            <a:endParaRPr b="0" i="0" sz="1500" u="none" cap="none" strike="noStrike">
              <a:solidFill>
                <a:schemeClr val="dk1"/>
              </a:solidFill>
              <a:latin typeface="Calibri"/>
              <a:ea typeface="Calibri"/>
              <a:cs typeface="Calibri"/>
              <a:sym typeface="Calibri"/>
            </a:endParaRPr>
          </a:p>
        </p:txBody>
      </p:sp>
      <p:sp>
        <p:nvSpPr>
          <p:cNvPr id="1215" name="Google Shape;1215;p65"/>
          <p:cNvSpPr/>
          <p:nvPr/>
        </p:nvSpPr>
        <p:spPr>
          <a:xfrm>
            <a:off x="812780" y="863560"/>
            <a:ext cx="108831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3254A"/>
              </a:buClr>
              <a:buSzPts val="3200"/>
              <a:buFont typeface="Sora"/>
              <a:buNone/>
            </a:pPr>
            <a:r>
              <a:rPr b="1" i="0" lang="en-US" sz="3200" u="none" cap="none" strike="noStrike">
                <a:solidFill>
                  <a:srgbClr val="13254A"/>
                </a:solidFill>
                <a:latin typeface="Sora"/>
                <a:ea typeface="Sora"/>
                <a:cs typeface="Sora"/>
                <a:sym typeface="Sora"/>
              </a:rPr>
              <a:t>Found a course — check, qualify, apply.</a:t>
            </a:r>
            <a:endParaRPr b="0" i="0" sz="3200" u="none" cap="none" strike="noStrike">
              <a:solidFill>
                <a:schemeClr val="dk1"/>
              </a:solidFill>
              <a:latin typeface="Calibri"/>
              <a:ea typeface="Calibri"/>
              <a:cs typeface="Calibri"/>
              <a:sym typeface="Calibri"/>
            </a:endParaRPr>
          </a:p>
        </p:txBody>
      </p:sp>
      <p:pic>
        <p:nvPicPr>
          <p:cNvPr descr="ellipse" id="1216" name="Google Shape;1216;p65"/>
          <p:cNvPicPr preferRelativeResize="0"/>
          <p:nvPr/>
        </p:nvPicPr>
        <p:blipFill rotWithShape="1">
          <a:blip r:embed="rId4">
            <a:alphaModFix/>
          </a:blip>
          <a:srcRect b="0" l="0" r="0" t="0"/>
          <a:stretch/>
        </p:blipFill>
        <p:spPr>
          <a:xfrm>
            <a:off x="812780" y="1905000"/>
            <a:ext cx="457200" cy="457200"/>
          </a:xfrm>
          <a:prstGeom prst="rect">
            <a:avLst/>
          </a:prstGeom>
          <a:noFill/>
          <a:ln>
            <a:noFill/>
          </a:ln>
        </p:spPr>
      </p:pic>
      <p:pic>
        <p:nvPicPr>
          <p:cNvPr descr="ellipse" id="1217" name="Google Shape;1217;p65"/>
          <p:cNvPicPr preferRelativeResize="0"/>
          <p:nvPr/>
        </p:nvPicPr>
        <p:blipFill rotWithShape="1">
          <a:blip r:embed="rId4">
            <a:alphaModFix/>
          </a:blip>
          <a:srcRect b="0" l="0" r="0" t="0"/>
          <a:stretch/>
        </p:blipFill>
        <p:spPr>
          <a:xfrm>
            <a:off x="812780" y="2667000"/>
            <a:ext cx="457200" cy="457200"/>
          </a:xfrm>
          <a:prstGeom prst="rect">
            <a:avLst/>
          </a:prstGeom>
          <a:noFill/>
          <a:ln>
            <a:noFill/>
          </a:ln>
        </p:spPr>
      </p:pic>
      <p:pic>
        <p:nvPicPr>
          <p:cNvPr descr="ellipse" id="1218" name="Google Shape;1218;p65"/>
          <p:cNvPicPr preferRelativeResize="0"/>
          <p:nvPr/>
        </p:nvPicPr>
        <p:blipFill rotWithShape="1">
          <a:blip r:embed="rId4">
            <a:alphaModFix/>
          </a:blip>
          <a:srcRect b="0" l="0" r="0" t="0"/>
          <a:stretch/>
        </p:blipFill>
        <p:spPr>
          <a:xfrm>
            <a:off x="812780" y="3429000"/>
            <a:ext cx="457200" cy="457200"/>
          </a:xfrm>
          <a:prstGeom prst="rect">
            <a:avLst/>
          </a:prstGeom>
          <a:noFill/>
          <a:ln>
            <a:noFill/>
          </a:ln>
        </p:spPr>
      </p:pic>
      <p:pic>
        <p:nvPicPr>
          <p:cNvPr descr="ellipse" id="1219" name="Google Shape;1219;p65"/>
          <p:cNvPicPr preferRelativeResize="0"/>
          <p:nvPr/>
        </p:nvPicPr>
        <p:blipFill rotWithShape="1">
          <a:blip r:embed="rId4">
            <a:alphaModFix/>
          </a:blip>
          <a:srcRect b="0" l="0" r="0" t="0"/>
          <a:stretch/>
        </p:blipFill>
        <p:spPr>
          <a:xfrm>
            <a:off x="812780" y="4191000"/>
            <a:ext cx="457200" cy="457200"/>
          </a:xfrm>
          <a:prstGeom prst="rect">
            <a:avLst/>
          </a:prstGeom>
          <a:noFill/>
          <a:ln>
            <a:noFill/>
          </a:ln>
        </p:spPr>
      </p:pic>
      <p:pic>
        <p:nvPicPr>
          <p:cNvPr descr="ellipse" id="1220" name="Google Shape;1220;p65"/>
          <p:cNvPicPr preferRelativeResize="0"/>
          <p:nvPr/>
        </p:nvPicPr>
        <p:blipFill rotWithShape="1">
          <a:blip r:embed="rId5">
            <a:alphaModFix/>
          </a:blip>
          <a:srcRect b="0" l="0" r="0" t="0"/>
          <a:stretch/>
        </p:blipFill>
        <p:spPr>
          <a:xfrm>
            <a:off x="812780" y="4953000"/>
            <a:ext cx="457200" cy="457200"/>
          </a:xfrm>
          <a:prstGeom prst="rect">
            <a:avLst/>
          </a:prstGeom>
          <a:noFill/>
          <a:ln>
            <a:noFill/>
          </a:ln>
        </p:spPr>
      </p:pic>
      <p:sp>
        <p:nvSpPr>
          <p:cNvPr id="1221" name="Google Shape;1221;p65"/>
          <p:cNvSpPr/>
          <p:nvPr/>
        </p:nvSpPr>
        <p:spPr>
          <a:xfrm>
            <a:off x="787380" y="2024063"/>
            <a:ext cx="507900" cy="482700"/>
          </a:xfrm>
          <a:prstGeom prst="rect">
            <a:avLst/>
          </a:prstGeom>
          <a:noFill/>
          <a:ln>
            <a:noFill/>
          </a:ln>
        </p:spPr>
        <p:txBody>
          <a:bodyPr anchorCtr="0" anchor="t" bIns="0" lIns="0" spcFirstLastPara="1" rIns="0" wrap="square" tIns="0">
            <a:noAutofit/>
          </a:bodyPr>
          <a:lstStyle/>
          <a:p>
            <a:pPr indent="0" lvl="0" marL="0" marR="0" rtl="0" algn="ctr">
              <a:lnSpc>
                <a:spcPct val="24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1</a:t>
            </a:r>
            <a:endParaRPr b="0" i="0" sz="1500" u="none" cap="none" strike="noStrike">
              <a:solidFill>
                <a:schemeClr val="dk1"/>
              </a:solidFill>
              <a:latin typeface="Calibri"/>
              <a:ea typeface="Calibri"/>
              <a:cs typeface="Calibri"/>
              <a:sym typeface="Calibri"/>
            </a:endParaRPr>
          </a:p>
        </p:txBody>
      </p:sp>
      <p:sp>
        <p:nvSpPr>
          <p:cNvPr id="1222" name="Google Shape;1222;p65"/>
          <p:cNvSpPr/>
          <p:nvPr/>
        </p:nvSpPr>
        <p:spPr>
          <a:xfrm>
            <a:off x="787380" y="2786063"/>
            <a:ext cx="507900" cy="482700"/>
          </a:xfrm>
          <a:prstGeom prst="rect">
            <a:avLst/>
          </a:prstGeom>
          <a:noFill/>
          <a:ln>
            <a:noFill/>
          </a:ln>
        </p:spPr>
        <p:txBody>
          <a:bodyPr anchorCtr="0" anchor="t" bIns="0" lIns="0" spcFirstLastPara="1" rIns="0" wrap="square" tIns="0">
            <a:noAutofit/>
          </a:bodyPr>
          <a:lstStyle/>
          <a:p>
            <a:pPr indent="0" lvl="0" marL="0" marR="0" rtl="0" algn="ctr">
              <a:lnSpc>
                <a:spcPct val="24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2</a:t>
            </a:r>
            <a:endParaRPr b="0" i="0" sz="1500" u="none" cap="none" strike="noStrike">
              <a:solidFill>
                <a:schemeClr val="dk1"/>
              </a:solidFill>
              <a:latin typeface="Calibri"/>
              <a:ea typeface="Calibri"/>
              <a:cs typeface="Calibri"/>
              <a:sym typeface="Calibri"/>
            </a:endParaRPr>
          </a:p>
        </p:txBody>
      </p:sp>
      <p:sp>
        <p:nvSpPr>
          <p:cNvPr id="1223" name="Google Shape;1223;p65"/>
          <p:cNvSpPr/>
          <p:nvPr/>
        </p:nvSpPr>
        <p:spPr>
          <a:xfrm>
            <a:off x="787380" y="3548063"/>
            <a:ext cx="507900" cy="482700"/>
          </a:xfrm>
          <a:prstGeom prst="rect">
            <a:avLst/>
          </a:prstGeom>
          <a:noFill/>
          <a:ln>
            <a:noFill/>
          </a:ln>
        </p:spPr>
        <p:txBody>
          <a:bodyPr anchorCtr="0" anchor="t" bIns="0" lIns="0" spcFirstLastPara="1" rIns="0" wrap="square" tIns="0">
            <a:noAutofit/>
          </a:bodyPr>
          <a:lstStyle/>
          <a:p>
            <a:pPr indent="0" lvl="0" marL="0" marR="0" rtl="0" algn="ctr">
              <a:lnSpc>
                <a:spcPct val="24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3</a:t>
            </a:r>
            <a:endParaRPr b="0" i="0" sz="1500" u="none" cap="none" strike="noStrike">
              <a:solidFill>
                <a:schemeClr val="dk1"/>
              </a:solidFill>
              <a:latin typeface="Calibri"/>
              <a:ea typeface="Calibri"/>
              <a:cs typeface="Calibri"/>
              <a:sym typeface="Calibri"/>
            </a:endParaRPr>
          </a:p>
        </p:txBody>
      </p:sp>
      <p:sp>
        <p:nvSpPr>
          <p:cNvPr id="1224" name="Google Shape;1224;p65"/>
          <p:cNvSpPr/>
          <p:nvPr/>
        </p:nvSpPr>
        <p:spPr>
          <a:xfrm>
            <a:off x="787380" y="4310063"/>
            <a:ext cx="507900" cy="482700"/>
          </a:xfrm>
          <a:prstGeom prst="rect">
            <a:avLst/>
          </a:prstGeom>
          <a:noFill/>
          <a:ln>
            <a:noFill/>
          </a:ln>
        </p:spPr>
        <p:txBody>
          <a:bodyPr anchorCtr="0" anchor="t" bIns="0" lIns="0" spcFirstLastPara="1" rIns="0" wrap="square" tIns="0">
            <a:noAutofit/>
          </a:bodyPr>
          <a:lstStyle/>
          <a:p>
            <a:pPr indent="0" lvl="0" marL="0" marR="0" rtl="0" algn="ctr">
              <a:lnSpc>
                <a:spcPct val="24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4</a:t>
            </a:r>
            <a:endParaRPr b="0" i="0" sz="1500" u="none" cap="none" strike="noStrike">
              <a:solidFill>
                <a:schemeClr val="dk1"/>
              </a:solidFill>
              <a:latin typeface="Calibri"/>
              <a:ea typeface="Calibri"/>
              <a:cs typeface="Calibri"/>
              <a:sym typeface="Calibri"/>
            </a:endParaRPr>
          </a:p>
        </p:txBody>
      </p:sp>
      <p:sp>
        <p:nvSpPr>
          <p:cNvPr id="1225" name="Google Shape;1225;p65"/>
          <p:cNvSpPr/>
          <p:nvPr/>
        </p:nvSpPr>
        <p:spPr>
          <a:xfrm>
            <a:off x="787380" y="5072063"/>
            <a:ext cx="507900" cy="482700"/>
          </a:xfrm>
          <a:prstGeom prst="rect">
            <a:avLst/>
          </a:prstGeom>
          <a:noFill/>
          <a:ln>
            <a:noFill/>
          </a:ln>
        </p:spPr>
        <p:txBody>
          <a:bodyPr anchorCtr="0" anchor="t" bIns="0" lIns="0" spcFirstLastPara="1" rIns="0" wrap="square" tIns="0">
            <a:noAutofit/>
          </a:bodyPr>
          <a:lstStyle/>
          <a:p>
            <a:pPr indent="0" lvl="0" marL="0" marR="0" rtl="0" algn="ctr">
              <a:lnSpc>
                <a:spcPct val="240000"/>
              </a:lnSpc>
              <a:spcBef>
                <a:spcPts val="0"/>
              </a:spcBef>
              <a:spcAft>
                <a:spcPts val="0"/>
              </a:spcAft>
              <a:buClr>
                <a:srgbClr val="13254A"/>
              </a:buClr>
              <a:buSzPts val="1500"/>
              <a:buFont typeface="Sora"/>
              <a:buNone/>
            </a:pPr>
            <a:r>
              <a:rPr b="1" i="0" lang="en-US" sz="1500" u="none" cap="none" strike="noStrike">
                <a:solidFill>
                  <a:srgbClr val="13254A"/>
                </a:solidFill>
                <a:latin typeface="Sora"/>
                <a:ea typeface="Sora"/>
                <a:cs typeface="Sora"/>
                <a:sym typeface="Sora"/>
              </a:rPr>
              <a:t>5</a:t>
            </a:r>
            <a:endParaRPr b="0" i="0" sz="1500" u="none" cap="none" strike="noStrike">
              <a:solidFill>
                <a:schemeClr val="dk1"/>
              </a:solidFill>
              <a:latin typeface="Calibri"/>
              <a:ea typeface="Calibri"/>
              <a:cs typeface="Calibri"/>
              <a:sym typeface="Calibri"/>
            </a:endParaRPr>
          </a:p>
        </p:txBody>
      </p:sp>
      <p:sp>
        <p:nvSpPr>
          <p:cNvPr id="1226" name="Google Shape;1226;p65"/>
          <p:cNvSpPr/>
          <p:nvPr/>
        </p:nvSpPr>
        <p:spPr>
          <a:xfrm>
            <a:off x="1524000" y="1866900"/>
            <a:ext cx="4185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700"/>
              <a:buFont typeface="Sora"/>
              <a:buNone/>
            </a:pPr>
            <a:r>
              <a:rPr b="1" i="0" lang="en-US" sz="1700" u="none" cap="none" strike="noStrike">
                <a:solidFill>
                  <a:srgbClr val="13254A"/>
                </a:solidFill>
                <a:latin typeface="Sora"/>
                <a:ea typeface="Sora"/>
                <a:cs typeface="Sora"/>
                <a:sym typeface="Sora"/>
              </a:rPr>
              <a:t>Course</a:t>
            </a:r>
            <a:endParaRPr b="0" i="0" sz="1700" u="none" cap="none" strike="noStrike">
              <a:solidFill>
                <a:schemeClr val="dk1"/>
              </a:solidFill>
              <a:latin typeface="Calibri"/>
              <a:ea typeface="Calibri"/>
              <a:cs typeface="Calibri"/>
              <a:sym typeface="Calibri"/>
            </a:endParaRPr>
          </a:p>
        </p:txBody>
      </p:sp>
      <p:sp>
        <p:nvSpPr>
          <p:cNvPr id="1227" name="Google Shape;1227;p65"/>
          <p:cNvSpPr/>
          <p:nvPr/>
        </p:nvSpPr>
        <p:spPr>
          <a:xfrm>
            <a:off x="1524000" y="2171700"/>
            <a:ext cx="41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Program detail, specialisations, outcomes</a:t>
            </a:r>
            <a:endParaRPr b="0" i="0" sz="1200" u="none" cap="none" strike="noStrike">
              <a:solidFill>
                <a:schemeClr val="dk1"/>
              </a:solidFill>
              <a:latin typeface="Calibri"/>
              <a:ea typeface="Calibri"/>
              <a:cs typeface="Calibri"/>
              <a:sym typeface="Calibri"/>
            </a:endParaRPr>
          </a:p>
        </p:txBody>
      </p:sp>
      <p:sp>
        <p:nvSpPr>
          <p:cNvPr id="1228" name="Google Shape;1228;p65"/>
          <p:cNvSpPr/>
          <p:nvPr/>
        </p:nvSpPr>
        <p:spPr>
          <a:xfrm>
            <a:off x="1524000" y="2628900"/>
            <a:ext cx="4185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700"/>
              <a:buFont typeface="Sora"/>
              <a:buNone/>
            </a:pPr>
            <a:r>
              <a:rPr b="1" i="0" lang="en-US" sz="1700" u="none" cap="none" strike="noStrike">
                <a:solidFill>
                  <a:srgbClr val="13254A"/>
                </a:solidFill>
                <a:latin typeface="Sora"/>
                <a:ea typeface="Sora"/>
                <a:cs typeface="Sora"/>
                <a:sym typeface="Sora"/>
              </a:rPr>
              <a:t>Fees</a:t>
            </a:r>
            <a:endParaRPr b="0" i="0" sz="1700" u="none" cap="none" strike="noStrike">
              <a:solidFill>
                <a:schemeClr val="dk1"/>
              </a:solidFill>
              <a:latin typeface="Calibri"/>
              <a:ea typeface="Calibri"/>
              <a:cs typeface="Calibri"/>
              <a:sym typeface="Calibri"/>
            </a:endParaRPr>
          </a:p>
        </p:txBody>
      </p:sp>
      <p:sp>
        <p:nvSpPr>
          <p:cNvPr id="1229" name="Google Shape;1229;p65"/>
          <p:cNvSpPr/>
          <p:nvPr/>
        </p:nvSpPr>
        <p:spPr>
          <a:xfrm>
            <a:off x="1524000" y="2933700"/>
            <a:ext cx="41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This program's fee, right on the page</a:t>
            </a:r>
            <a:endParaRPr b="0" i="0" sz="1200" u="none" cap="none" strike="noStrike">
              <a:solidFill>
                <a:schemeClr val="dk1"/>
              </a:solidFill>
              <a:latin typeface="Calibri"/>
              <a:ea typeface="Calibri"/>
              <a:cs typeface="Calibri"/>
              <a:sym typeface="Calibri"/>
            </a:endParaRPr>
          </a:p>
        </p:txBody>
      </p:sp>
      <p:sp>
        <p:nvSpPr>
          <p:cNvPr id="1230" name="Google Shape;1230;p65"/>
          <p:cNvSpPr/>
          <p:nvPr/>
        </p:nvSpPr>
        <p:spPr>
          <a:xfrm>
            <a:off x="1524000" y="3390900"/>
            <a:ext cx="4185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700"/>
              <a:buFont typeface="Sora"/>
              <a:buNone/>
            </a:pPr>
            <a:r>
              <a:rPr b="1" i="0" lang="en-US" sz="1700" u="none" cap="none" strike="noStrike">
                <a:solidFill>
                  <a:srgbClr val="13254A"/>
                </a:solidFill>
                <a:latin typeface="Sora"/>
                <a:ea typeface="Sora"/>
                <a:cs typeface="Sora"/>
                <a:sym typeface="Sora"/>
              </a:rPr>
              <a:t>Eligibility</a:t>
            </a:r>
            <a:endParaRPr b="0" i="0" sz="1700" u="none" cap="none" strike="noStrike">
              <a:solidFill>
                <a:schemeClr val="dk1"/>
              </a:solidFill>
              <a:latin typeface="Calibri"/>
              <a:ea typeface="Calibri"/>
              <a:cs typeface="Calibri"/>
              <a:sym typeface="Calibri"/>
            </a:endParaRPr>
          </a:p>
        </p:txBody>
      </p:sp>
      <p:sp>
        <p:nvSpPr>
          <p:cNvPr id="1231" name="Google Shape;1231;p65"/>
          <p:cNvSpPr/>
          <p:nvPr/>
        </p:nvSpPr>
        <p:spPr>
          <a:xfrm>
            <a:off x="1524000" y="3695700"/>
            <a:ext cx="41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Criteria and entrance exams for this course</a:t>
            </a:r>
            <a:endParaRPr b="0" i="0" sz="1200" u="none" cap="none" strike="noStrike">
              <a:solidFill>
                <a:schemeClr val="dk1"/>
              </a:solidFill>
              <a:latin typeface="Calibri"/>
              <a:ea typeface="Calibri"/>
              <a:cs typeface="Calibri"/>
              <a:sym typeface="Calibri"/>
            </a:endParaRPr>
          </a:p>
        </p:txBody>
      </p:sp>
      <p:sp>
        <p:nvSpPr>
          <p:cNvPr id="1232" name="Google Shape;1232;p65"/>
          <p:cNvSpPr/>
          <p:nvPr/>
        </p:nvSpPr>
        <p:spPr>
          <a:xfrm>
            <a:off x="1524000" y="4152900"/>
            <a:ext cx="4185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700"/>
              <a:buFont typeface="Sora"/>
              <a:buNone/>
            </a:pPr>
            <a:r>
              <a:rPr b="1" i="0" lang="en-US" sz="1700" u="none" cap="none" strike="noStrike">
                <a:solidFill>
                  <a:srgbClr val="13254A"/>
                </a:solidFill>
                <a:latin typeface="Sora"/>
                <a:ea typeface="Sora"/>
                <a:cs typeface="Sora"/>
                <a:sym typeface="Sora"/>
              </a:rPr>
              <a:t>Scholarships</a:t>
            </a:r>
            <a:endParaRPr b="0" i="0" sz="1700" u="none" cap="none" strike="noStrike">
              <a:solidFill>
                <a:schemeClr val="dk1"/>
              </a:solidFill>
              <a:latin typeface="Calibri"/>
              <a:ea typeface="Calibri"/>
              <a:cs typeface="Calibri"/>
              <a:sym typeface="Calibri"/>
            </a:endParaRPr>
          </a:p>
        </p:txBody>
      </p:sp>
      <p:sp>
        <p:nvSpPr>
          <p:cNvPr id="1233" name="Google Shape;1233;p65"/>
          <p:cNvSpPr/>
          <p:nvPr/>
        </p:nvSpPr>
        <p:spPr>
          <a:xfrm>
            <a:off x="1524000" y="4457700"/>
            <a:ext cx="41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What I'd actually pay, not the sticker fee</a:t>
            </a:r>
            <a:endParaRPr b="0" i="0" sz="1200" u="none" cap="none" strike="noStrike">
              <a:solidFill>
                <a:schemeClr val="dk1"/>
              </a:solidFill>
              <a:latin typeface="Calibri"/>
              <a:ea typeface="Calibri"/>
              <a:cs typeface="Calibri"/>
              <a:sym typeface="Calibri"/>
            </a:endParaRPr>
          </a:p>
        </p:txBody>
      </p:sp>
      <p:sp>
        <p:nvSpPr>
          <p:cNvPr id="1234" name="Google Shape;1234;p65"/>
          <p:cNvSpPr/>
          <p:nvPr/>
        </p:nvSpPr>
        <p:spPr>
          <a:xfrm>
            <a:off x="1524000" y="4914900"/>
            <a:ext cx="4185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700"/>
              <a:buFont typeface="Sora"/>
              <a:buNone/>
            </a:pPr>
            <a:r>
              <a:rPr b="1" i="0" lang="en-US" sz="1700" u="none" cap="none" strike="noStrike">
                <a:solidFill>
                  <a:srgbClr val="13254A"/>
                </a:solidFill>
                <a:latin typeface="Sora"/>
                <a:ea typeface="Sora"/>
                <a:cs typeface="Sora"/>
                <a:sym typeface="Sora"/>
              </a:rPr>
              <a:t>Apply</a:t>
            </a:r>
            <a:endParaRPr b="0" i="0" sz="1700" u="none" cap="none" strike="noStrike">
              <a:solidFill>
                <a:schemeClr val="dk1"/>
              </a:solidFill>
              <a:latin typeface="Calibri"/>
              <a:ea typeface="Calibri"/>
              <a:cs typeface="Calibri"/>
              <a:sym typeface="Calibri"/>
            </a:endParaRPr>
          </a:p>
        </p:txBody>
      </p:sp>
      <p:sp>
        <p:nvSpPr>
          <p:cNvPr id="1235" name="Google Shape;1235;p65"/>
          <p:cNvSpPr/>
          <p:nvPr/>
        </p:nvSpPr>
        <p:spPr>
          <a:xfrm>
            <a:off x="1524000" y="5219700"/>
            <a:ext cx="41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Start the application or book a counsellor</a:t>
            </a:r>
            <a:endParaRPr b="0" i="0" sz="1200" u="none" cap="none" strike="noStrike">
              <a:solidFill>
                <a:schemeClr val="dk1"/>
              </a:solidFill>
              <a:latin typeface="Calibri"/>
              <a:ea typeface="Calibri"/>
              <a:cs typeface="Calibri"/>
              <a:sym typeface="Calibri"/>
            </a:endParaRPr>
          </a:p>
        </p:txBody>
      </p:sp>
      <p:sp>
        <p:nvSpPr>
          <p:cNvPr id="1236" name="Google Shape;1236;p65"/>
          <p:cNvSpPr/>
          <p:nvPr/>
        </p:nvSpPr>
        <p:spPr>
          <a:xfrm>
            <a:off x="6096000" y="1841480"/>
            <a:ext cx="5283300" cy="1432500"/>
          </a:xfrm>
          <a:prstGeom prst="roundRect">
            <a:avLst>
              <a:gd fmla="val 7093"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65"/>
          <p:cNvSpPr/>
          <p:nvPr/>
        </p:nvSpPr>
        <p:spPr>
          <a:xfrm>
            <a:off x="6400800" y="2176641"/>
            <a:ext cx="14121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EA6DA"/>
              </a:buClr>
              <a:buSzPts val="6000"/>
              <a:buFont typeface="Sora"/>
              <a:buNone/>
            </a:pPr>
            <a:r>
              <a:rPr b="1" i="0" lang="en-US" sz="6000" u="none" cap="none" strike="noStrike">
                <a:solidFill>
                  <a:srgbClr val="7EA6DA"/>
                </a:solidFill>
                <a:latin typeface="Sora"/>
                <a:ea typeface="Sora"/>
                <a:cs typeface="Sora"/>
                <a:sym typeface="Sora"/>
              </a:rPr>
              <a:t>491</a:t>
            </a:r>
            <a:endParaRPr b="0" i="0" sz="6000" u="none" cap="none" strike="noStrike">
              <a:solidFill>
                <a:schemeClr val="dk1"/>
              </a:solidFill>
              <a:latin typeface="Calibri"/>
              <a:ea typeface="Calibri"/>
              <a:cs typeface="Calibri"/>
              <a:sym typeface="Calibri"/>
            </a:endParaRPr>
          </a:p>
        </p:txBody>
      </p:sp>
      <p:sp>
        <p:nvSpPr>
          <p:cNvPr id="1238" name="Google Shape;1238;p65"/>
          <p:cNvSpPr/>
          <p:nvPr/>
        </p:nvSpPr>
        <p:spPr>
          <a:xfrm>
            <a:off x="8015883" y="2095440"/>
            <a:ext cx="3150300" cy="95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300"/>
              <a:buFont typeface="Sora"/>
              <a:buNone/>
            </a:pPr>
            <a:r>
              <a:rPr b="0" i="0" lang="en-US" sz="1300" u="none" cap="none" strike="noStrike">
                <a:solidFill>
                  <a:srgbClr val="F6F4EF"/>
                </a:solidFill>
                <a:latin typeface="Sora"/>
                <a:ea typeface="Sora"/>
                <a:cs typeface="Sora"/>
                <a:sym typeface="Sora"/>
              </a:rPr>
              <a:t>next-step moves from B.Tech CSE climb back up — to UG listings, /mriirs or the homepage — instead of forward.</a:t>
            </a:r>
            <a:endParaRPr b="0" i="0" sz="1300" u="none" cap="none" strike="noStrike">
              <a:solidFill>
                <a:schemeClr val="dk1"/>
              </a:solidFill>
              <a:latin typeface="Calibri"/>
              <a:ea typeface="Calibri"/>
              <a:cs typeface="Calibri"/>
              <a:sym typeface="Calibri"/>
            </a:endParaRPr>
          </a:p>
        </p:txBody>
      </p:sp>
      <p:sp>
        <p:nvSpPr>
          <p:cNvPr id="1239" name="Google Shape;1239;p65"/>
          <p:cNvSpPr/>
          <p:nvPr/>
        </p:nvSpPr>
        <p:spPr>
          <a:xfrm>
            <a:off x="6105525" y="3565505"/>
            <a:ext cx="5264100" cy="2520900"/>
          </a:xfrm>
          <a:prstGeom prst="roundRect">
            <a:avLst>
              <a:gd fmla="val 3653" name="adj"/>
            </a:avLst>
          </a:prstGeom>
          <a:solidFill>
            <a:srgbClr val="EDF0F5"/>
          </a:solidFill>
          <a:ln cap="flat" cmpd="sng" w="25400">
            <a:solidFill>
              <a:srgbClr val="7EA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65"/>
          <p:cNvSpPr/>
          <p:nvPr/>
        </p:nvSpPr>
        <p:spPr>
          <a:xfrm>
            <a:off x="6419850" y="3828990"/>
            <a:ext cx="47745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600"/>
              <a:buFont typeface="Sora"/>
              <a:buNone/>
            </a:pPr>
            <a:r>
              <a:rPr b="1" i="0" lang="en-US" sz="1600" u="none" cap="none" strike="noStrike">
                <a:solidFill>
                  <a:srgbClr val="13254A"/>
                </a:solidFill>
                <a:latin typeface="Sora"/>
                <a:ea typeface="Sora"/>
                <a:cs typeface="Sora"/>
                <a:sym typeface="Sora"/>
              </a:rPr>
              <a:t>Your next step for B.Tech CSE</a:t>
            </a:r>
            <a:endParaRPr b="0" i="0" sz="1600" u="none" cap="none" strike="noStrike">
              <a:solidFill>
                <a:schemeClr val="dk1"/>
              </a:solidFill>
              <a:latin typeface="Calibri"/>
              <a:ea typeface="Calibri"/>
              <a:cs typeface="Calibri"/>
              <a:sym typeface="Calibri"/>
            </a:endParaRPr>
          </a:p>
        </p:txBody>
      </p:sp>
      <p:sp>
        <p:nvSpPr>
          <p:cNvPr id="1241" name="Google Shape;1241;p65"/>
          <p:cNvSpPr/>
          <p:nvPr/>
        </p:nvSpPr>
        <p:spPr>
          <a:xfrm>
            <a:off x="6426200" y="4231520"/>
            <a:ext cx="1257300" cy="375900"/>
          </a:xfrm>
          <a:prstGeom prst="roundRect">
            <a:avLst>
              <a:gd fmla="val 45608" name="adj"/>
            </a:avLst>
          </a:prstGeom>
          <a:solidFill>
            <a:srgbClr val="F6F4EF"/>
          </a:solidFill>
          <a:ln cap="flat" cmpd="sng" w="16925">
            <a:solidFill>
              <a:srgbClr val="C9D3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65"/>
          <p:cNvSpPr/>
          <p:nvPr/>
        </p:nvSpPr>
        <p:spPr>
          <a:xfrm>
            <a:off x="6583680" y="4312800"/>
            <a:ext cx="992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4B7C"/>
              </a:buClr>
              <a:buSzPts val="1200"/>
              <a:buFont typeface="Sora"/>
              <a:buNone/>
            </a:pPr>
            <a:r>
              <a:rPr b="0" i="0" lang="en-US" sz="1200" u="none" cap="none" strike="noStrike">
                <a:solidFill>
                  <a:srgbClr val="2D4B7C"/>
                </a:solidFill>
                <a:latin typeface="Sora"/>
                <a:ea typeface="Sora"/>
                <a:cs typeface="Sora"/>
                <a:sym typeface="Sora"/>
              </a:rPr>
              <a:t>See the fees</a:t>
            </a:r>
            <a:endParaRPr b="0" i="0" sz="1200" u="none" cap="none" strike="noStrike">
              <a:solidFill>
                <a:schemeClr val="dk1"/>
              </a:solidFill>
              <a:latin typeface="Calibri"/>
              <a:ea typeface="Calibri"/>
              <a:cs typeface="Calibri"/>
              <a:sym typeface="Calibri"/>
            </a:endParaRPr>
          </a:p>
        </p:txBody>
      </p:sp>
      <p:sp>
        <p:nvSpPr>
          <p:cNvPr id="1243" name="Google Shape;1243;p65"/>
          <p:cNvSpPr/>
          <p:nvPr/>
        </p:nvSpPr>
        <p:spPr>
          <a:xfrm>
            <a:off x="7797562" y="4231520"/>
            <a:ext cx="1352400" cy="375900"/>
          </a:xfrm>
          <a:prstGeom prst="roundRect">
            <a:avLst>
              <a:gd fmla="val 45608" name="adj"/>
            </a:avLst>
          </a:prstGeom>
          <a:solidFill>
            <a:srgbClr val="F6F4EF"/>
          </a:solidFill>
          <a:ln cap="flat" cmpd="sng" w="16925">
            <a:solidFill>
              <a:srgbClr val="C9D3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65"/>
          <p:cNvSpPr/>
          <p:nvPr/>
        </p:nvSpPr>
        <p:spPr>
          <a:xfrm>
            <a:off x="7955042" y="4312800"/>
            <a:ext cx="1088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4B7C"/>
              </a:buClr>
              <a:buSzPts val="1200"/>
              <a:buFont typeface="Sora"/>
              <a:buNone/>
            </a:pPr>
            <a:r>
              <a:rPr b="0" i="0" lang="en-US" sz="1200" u="none" cap="none" strike="noStrike">
                <a:solidFill>
                  <a:srgbClr val="2D4B7C"/>
                </a:solidFill>
                <a:latin typeface="Sora"/>
                <a:ea typeface="Sora"/>
                <a:cs typeface="Sora"/>
                <a:sym typeface="Sora"/>
              </a:rPr>
              <a:t>Am I eligible?</a:t>
            </a:r>
            <a:endParaRPr b="0" i="0" sz="1200" u="none" cap="none" strike="noStrike">
              <a:solidFill>
                <a:schemeClr val="dk1"/>
              </a:solidFill>
              <a:latin typeface="Calibri"/>
              <a:ea typeface="Calibri"/>
              <a:cs typeface="Calibri"/>
              <a:sym typeface="Calibri"/>
            </a:endParaRPr>
          </a:p>
        </p:txBody>
      </p:sp>
      <p:sp>
        <p:nvSpPr>
          <p:cNvPr id="1245" name="Google Shape;1245;p65"/>
          <p:cNvSpPr/>
          <p:nvPr/>
        </p:nvSpPr>
        <p:spPr>
          <a:xfrm>
            <a:off x="9264352" y="4231520"/>
            <a:ext cx="1319700" cy="375900"/>
          </a:xfrm>
          <a:prstGeom prst="roundRect">
            <a:avLst>
              <a:gd fmla="val 45608" name="adj"/>
            </a:avLst>
          </a:prstGeom>
          <a:solidFill>
            <a:srgbClr val="F6F4EF"/>
          </a:solidFill>
          <a:ln cap="flat" cmpd="sng" w="16925">
            <a:solidFill>
              <a:srgbClr val="C9D3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65"/>
          <p:cNvSpPr/>
          <p:nvPr/>
        </p:nvSpPr>
        <p:spPr>
          <a:xfrm>
            <a:off x="9421832" y="4312800"/>
            <a:ext cx="1055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4B7C"/>
              </a:buClr>
              <a:buSzPts val="1200"/>
              <a:buFont typeface="Sora"/>
              <a:buNone/>
            </a:pPr>
            <a:r>
              <a:rPr b="0" i="0" lang="en-US" sz="1200" u="none" cap="none" strike="noStrike">
                <a:solidFill>
                  <a:srgbClr val="2D4B7C"/>
                </a:solidFill>
                <a:latin typeface="Sora"/>
                <a:ea typeface="Sora"/>
                <a:cs typeface="Sora"/>
                <a:sym typeface="Sora"/>
              </a:rPr>
              <a:t>Scholarships</a:t>
            </a:r>
            <a:endParaRPr b="0" i="0" sz="1200" u="none" cap="none" strike="noStrike">
              <a:solidFill>
                <a:schemeClr val="dk1"/>
              </a:solidFill>
              <a:latin typeface="Calibri"/>
              <a:ea typeface="Calibri"/>
              <a:cs typeface="Calibri"/>
              <a:sym typeface="Calibri"/>
            </a:endParaRPr>
          </a:p>
        </p:txBody>
      </p:sp>
      <p:sp>
        <p:nvSpPr>
          <p:cNvPr id="1247" name="Google Shape;1247;p65"/>
          <p:cNvSpPr/>
          <p:nvPr/>
        </p:nvSpPr>
        <p:spPr>
          <a:xfrm>
            <a:off x="6419850" y="4766190"/>
            <a:ext cx="1540800" cy="477600"/>
          </a:xfrm>
          <a:prstGeom prst="roundRect">
            <a:avLst>
              <a:gd fmla="val 15958" name="adj"/>
            </a:avLst>
          </a:prstGeom>
          <a:solidFill>
            <a:srgbClr val="C6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65"/>
          <p:cNvSpPr/>
          <p:nvPr/>
        </p:nvSpPr>
        <p:spPr>
          <a:xfrm>
            <a:off x="6699250" y="4880490"/>
            <a:ext cx="10329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Apply now</a:t>
            </a:r>
            <a:endParaRPr b="0" i="0" sz="1500" u="none" cap="none" strike="noStrike">
              <a:solidFill>
                <a:schemeClr val="dk1"/>
              </a:solidFill>
              <a:latin typeface="Calibri"/>
              <a:ea typeface="Calibri"/>
              <a:cs typeface="Calibri"/>
              <a:sym typeface="Calibri"/>
            </a:endParaRPr>
          </a:p>
        </p:txBody>
      </p:sp>
      <p:sp>
        <p:nvSpPr>
          <p:cNvPr id="1249" name="Google Shape;1249;p65"/>
          <p:cNvSpPr/>
          <p:nvPr/>
        </p:nvSpPr>
        <p:spPr>
          <a:xfrm>
            <a:off x="6419850" y="5396091"/>
            <a:ext cx="47745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1" lang="en-US" sz="1200" u="none" cap="none" strike="noStrike">
                <a:solidFill>
                  <a:srgbClr val="7A8494"/>
                </a:solidFill>
                <a:latin typeface="Sora"/>
                <a:ea typeface="Sora"/>
                <a:cs typeface="Sora"/>
                <a:sym typeface="Sora"/>
              </a:rPr>
              <a:t>The page answers the next question before the student goes looking for it.</a:t>
            </a:r>
            <a:endParaRPr b="0" i="0" sz="1200" u="none" cap="none" strike="noStrike">
              <a:solidFill>
                <a:schemeClr val="dk1"/>
              </a:solidFill>
              <a:latin typeface="Calibri"/>
              <a:ea typeface="Calibri"/>
              <a:cs typeface="Calibri"/>
              <a:sym typeface="Calibri"/>
            </a:endParaRPr>
          </a:p>
        </p:txBody>
      </p:sp>
      <p:sp>
        <p:nvSpPr>
          <p:cNvPr id="1250" name="Google Shape;1250;p65"/>
          <p:cNvSpPr/>
          <p:nvPr/>
        </p:nvSpPr>
        <p:spPr>
          <a:xfrm>
            <a:off x="812780" y="6197561"/>
            <a:ext cx="108831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500"/>
              <a:buFont typeface="Sora"/>
              <a:buNone/>
            </a:pPr>
            <a:r>
              <a:rPr b="0" i="0" lang="en-US" sz="1500" u="none" cap="none" strike="noStrike">
                <a:solidFill>
                  <a:srgbClr val="7A8494"/>
                </a:solidFill>
                <a:latin typeface="Sora"/>
                <a:ea typeface="Sora"/>
                <a:cs typeface="Sora"/>
                <a:sym typeface="Sora"/>
              </a:rPr>
              <a:t>Course page →</a:t>
            </a:r>
            <a:r>
              <a:rPr b="0" i="0" lang="en-US" sz="1500" u="none" cap="none" strike="noStrike">
                <a:solidFill>
                  <a:srgbClr val="13254A"/>
                </a:solidFill>
                <a:latin typeface="Sora"/>
                <a:ea typeface="Sora"/>
                <a:cs typeface="Sora"/>
                <a:sym typeface="Sora"/>
              </a:rPr>
              <a:t> </a:t>
            </a:r>
            <a:r>
              <a:rPr b="1" i="0" lang="en-US" sz="1500" u="none" cap="none" strike="noStrike">
                <a:solidFill>
                  <a:srgbClr val="13254A"/>
                </a:solidFill>
                <a:latin typeface="Sora"/>
                <a:ea typeface="Sora"/>
                <a:cs typeface="Sora"/>
                <a:sym typeface="Sora"/>
              </a:rPr>
              <a:t>see the fee → check eligibility → apply</a:t>
            </a:r>
            <a:endParaRPr b="0" i="0" sz="1500" u="none" cap="none" strike="noStrike">
              <a:solidFill>
                <a:schemeClr val="dk1"/>
              </a:solidFill>
              <a:latin typeface="Calibri"/>
              <a:ea typeface="Calibri"/>
              <a:cs typeface="Calibri"/>
              <a:sym typeface="Calibri"/>
            </a:endParaRPr>
          </a:p>
        </p:txBody>
      </p:sp>
      <p:sp>
        <p:nvSpPr>
          <p:cNvPr id="1251" name="Rounded Rectangle 1250"/>
          <p:cNvSpPr/>
          <p:nvPr/>
        </p:nvSpPr>
        <p:spPr>
          <a:xfrm>
            <a:off x="9052560" y="54864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1255" name="Shape 1255"/>
        <p:cNvGrpSpPr/>
        <p:nvPr/>
      </p:nvGrpSpPr>
      <p:grpSpPr>
        <a:xfrm>
          <a:off x="0" y="0"/>
          <a:ext cx="0" cy="0"/>
          <a:chOff x="0" y="0"/>
          <a:chExt cx="0" cy="0"/>
        </a:xfrm>
      </p:grpSpPr>
      <p:pic>
        <p:nvPicPr>
          <p:cNvPr descr="Line joining four confidence stages" id="1256" name="Google Shape;1256;p66"/>
          <p:cNvPicPr preferRelativeResize="0"/>
          <p:nvPr/>
        </p:nvPicPr>
        <p:blipFill rotWithShape="1">
          <a:blip r:embed="rId3">
            <a:alphaModFix/>
          </a:blip>
          <a:srcRect b="0" l="0" r="0" t="0"/>
          <a:stretch/>
        </p:blipFill>
        <p:spPr>
          <a:xfrm>
            <a:off x="0" y="0"/>
            <a:ext cx="12192005" cy="6858003"/>
          </a:xfrm>
          <a:prstGeom prst="rect">
            <a:avLst/>
          </a:prstGeom>
          <a:noFill/>
          <a:ln>
            <a:noFill/>
          </a:ln>
        </p:spPr>
      </p:pic>
      <p:sp>
        <p:nvSpPr>
          <p:cNvPr id="1257" name="Google Shape;1257;p66"/>
          <p:cNvSpPr/>
          <p:nvPr/>
        </p:nvSpPr>
        <p:spPr>
          <a:xfrm>
            <a:off x="812780" y="558763"/>
            <a:ext cx="7848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300"/>
              <a:buFont typeface="Sora"/>
              <a:buNone/>
            </a:pPr>
            <a:r>
              <a:rPr b="1" i="0" lang="en-US" sz="1300" u="none" cap="none" strike="noStrike">
                <a:solidFill>
                  <a:srgbClr val="3A6BB0"/>
                </a:solidFill>
                <a:latin typeface="Sora"/>
                <a:ea typeface="Sora"/>
                <a:cs typeface="Sora"/>
                <a:sym typeface="Sora"/>
              </a:rPr>
              <a:t>JOURNEY 02 · THE COST CHECKER</a:t>
            </a:r>
            <a:endParaRPr b="0" i="0" sz="1300" u="none" cap="none" strike="noStrike">
              <a:solidFill>
                <a:schemeClr val="dk1"/>
              </a:solidFill>
              <a:latin typeface="Calibri"/>
              <a:ea typeface="Calibri"/>
              <a:cs typeface="Calibri"/>
              <a:sym typeface="Calibri"/>
            </a:endParaRPr>
          </a:p>
        </p:txBody>
      </p:sp>
      <p:sp>
        <p:nvSpPr>
          <p:cNvPr id="1258" name="Google Shape;1258;p66"/>
          <p:cNvSpPr/>
          <p:nvPr/>
        </p:nvSpPr>
        <p:spPr>
          <a:xfrm>
            <a:off x="10413981" y="482563"/>
            <a:ext cx="965100" cy="406500"/>
          </a:xfrm>
          <a:prstGeom prst="roundRect">
            <a:avLst>
              <a:gd fmla="val 5000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66"/>
          <p:cNvSpPr/>
          <p:nvPr/>
        </p:nvSpPr>
        <p:spPr>
          <a:xfrm>
            <a:off x="10388581" y="482563"/>
            <a:ext cx="1016100" cy="431700"/>
          </a:xfrm>
          <a:prstGeom prst="rect">
            <a:avLst/>
          </a:prstGeom>
          <a:noFill/>
          <a:ln>
            <a:noFill/>
          </a:ln>
        </p:spPr>
        <p:txBody>
          <a:bodyPr anchorCtr="0" anchor="t" bIns="0" lIns="0" spcFirstLastPara="1" rIns="0" wrap="square" tIns="0">
            <a:noAutofit/>
          </a:bodyPr>
          <a:lstStyle/>
          <a:p>
            <a:pPr indent="0" lvl="0" marL="0" marR="0" rtl="0" algn="ctr">
              <a:lnSpc>
                <a:spcPct val="229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02</a:t>
            </a:r>
            <a:endParaRPr b="0" i="0" sz="1500" u="none" cap="none" strike="noStrike">
              <a:solidFill>
                <a:schemeClr val="dk1"/>
              </a:solidFill>
              <a:latin typeface="Calibri"/>
              <a:ea typeface="Calibri"/>
              <a:cs typeface="Calibri"/>
              <a:sym typeface="Calibri"/>
            </a:endParaRPr>
          </a:p>
        </p:txBody>
      </p:sp>
      <p:sp>
        <p:nvSpPr>
          <p:cNvPr id="1260" name="Google Shape;1260;p66"/>
          <p:cNvSpPr/>
          <p:nvPr/>
        </p:nvSpPr>
        <p:spPr>
          <a:xfrm>
            <a:off x="812780" y="863563"/>
            <a:ext cx="108831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3254A"/>
              </a:buClr>
              <a:buSzPts val="3200"/>
              <a:buFont typeface="Sora"/>
              <a:buNone/>
            </a:pPr>
            <a:r>
              <a:rPr b="1" i="0" lang="en-US" sz="3200" u="none" cap="none" strike="noStrike">
                <a:solidFill>
                  <a:srgbClr val="13254A"/>
                </a:solidFill>
                <a:latin typeface="Sora"/>
                <a:ea typeface="Sora"/>
                <a:cs typeface="Sora"/>
                <a:sym typeface="Sora"/>
              </a:rPr>
              <a:t>Saw the fee? Answer what comes next.</a:t>
            </a:r>
            <a:endParaRPr b="0" i="0" sz="3200" u="none" cap="none" strike="noStrike">
              <a:solidFill>
                <a:schemeClr val="dk1"/>
              </a:solidFill>
              <a:latin typeface="Calibri"/>
              <a:ea typeface="Calibri"/>
              <a:cs typeface="Calibri"/>
              <a:sym typeface="Calibri"/>
            </a:endParaRPr>
          </a:p>
        </p:txBody>
      </p:sp>
      <p:sp>
        <p:nvSpPr>
          <p:cNvPr id="1261" name="Google Shape;1261;p66"/>
          <p:cNvSpPr/>
          <p:nvPr/>
        </p:nvSpPr>
        <p:spPr>
          <a:xfrm>
            <a:off x="812780" y="1714500"/>
            <a:ext cx="2286000" cy="444000"/>
          </a:xfrm>
          <a:prstGeom prst="roundRect">
            <a:avLst>
              <a:gd fmla="val 50000" name="adj"/>
            </a:avLst>
          </a:prstGeom>
          <a:solidFill>
            <a:srgbClr val="E4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66"/>
          <p:cNvSpPr/>
          <p:nvPr/>
        </p:nvSpPr>
        <p:spPr>
          <a:xfrm>
            <a:off x="778490" y="1813719"/>
            <a:ext cx="2354400" cy="469500"/>
          </a:xfrm>
          <a:prstGeom prst="rect">
            <a:avLst/>
          </a:prstGeom>
          <a:noFill/>
          <a:ln>
            <a:noFill/>
          </a:ln>
        </p:spPr>
        <p:txBody>
          <a:bodyPr anchorCtr="0" anchor="t" bIns="0" lIns="0" spcFirstLastPara="1" rIns="0" wrap="square" tIns="0">
            <a:noAutofit/>
          </a:bodyPr>
          <a:lstStyle/>
          <a:p>
            <a:pPr indent="0" lvl="0" marL="0" marR="0" rtl="0" algn="ctr">
              <a:lnSpc>
                <a:spcPct val="269000"/>
              </a:lnSpc>
              <a:spcBef>
                <a:spcPts val="0"/>
              </a:spcBef>
              <a:spcAft>
                <a:spcPts val="0"/>
              </a:spcAft>
              <a:buClr>
                <a:srgbClr val="2D4B7C"/>
              </a:buClr>
              <a:buSzPts val="1300"/>
              <a:buFont typeface="Sora"/>
              <a:buNone/>
            </a:pPr>
            <a:r>
              <a:rPr b="0" i="0" lang="en-US" sz="1300" u="none" cap="none" strike="noStrike">
                <a:solidFill>
                  <a:srgbClr val="2D4B7C"/>
                </a:solidFill>
                <a:latin typeface="Sora"/>
                <a:ea typeface="Sora"/>
                <a:cs typeface="Sora"/>
                <a:sym typeface="Sora"/>
              </a:rPr>
              <a:t>I know the fee</a:t>
            </a:r>
            <a:endParaRPr b="0" i="0" sz="1300" u="none" cap="none" strike="noStrike">
              <a:solidFill>
                <a:schemeClr val="dk1"/>
              </a:solidFill>
              <a:latin typeface="Calibri"/>
              <a:ea typeface="Calibri"/>
              <a:cs typeface="Calibri"/>
              <a:sym typeface="Calibri"/>
            </a:endParaRPr>
          </a:p>
        </p:txBody>
      </p:sp>
      <p:sp>
        <p:nvSpPr>
          <p:cNvPr id="1263" name="Google Shape;1263;p66"/>
          <p:cNvSpPr/>
          <p:nvPr/>
        </p:nvSpPr>
        <p:spPr>
          <a:xfrm>
            <a:off x="3575030" y="1714500"/>
            <a:ext cx="2286000" cy="444000"/>
          </a:xfrm>
          <a:prstGeom prst="roundRect">
            <a:avLst>
              <a:gd fmla="val 50000" name="adj"/>
            </a:avLst>
          </a:prstGeom>
          <a:solidFill>
            <a:srgbClr val="E4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66"/>
          <p:cNvSpPr/>
          <p:nvPr/>
        </p:nvSpPr>
        <p:spPr>
          <a:xfrm>
            <a:off x="3540740" y="1813719"/>
            <a:ext cx="2354400" cy="469500"/>
          </a:xfrm>
          <a:prstGeom prst="rect">
            <a:avLst/>
          </a:prstGeom>
          <a:noFill/>
          <a:ln>
            <a:noFill/>
          </a:ln>
        </p:spPr>
        <p:txBody>
          <a:bodyPr anchorCtr="0" anchor="t" bIns="0" lIns="0" spcFirstLastPara="1" rIns="0" wrap="square" tIns="0">
            <a:noAutofit/>
          </a:bodyPr>
          <a:lstStyle/>
          <a:p>
            <a:pPr indent="0" lvl="0" marL="0" marR="0" rtl="0" algn="ctr">
              <a:lnSpc>
                <a:spcPct val="269000"/>
              </a:lnSpc>
              <a:spcBef>
                <a:spcPts val="0"/>
              </a:spcBef>
              <a:spcAft>
                <a:spcPts val="0"/>
              </a:spcAft>
              <a:buClr>
                <a:srgbClr val="2D4B7C"/>
              </a:buClr>
              <a:buSzPts val="1300"/>
              <a:buFont typeface="Sora"/>
              <a:buNone/>
            </a:pPr>
            <a:r>
              <a:rPr b="0" i="0" lang="en-US" sz="1300" u="none" cap="none" strike="noStrike">
                <a:solidFill>
                  <a:srgbClr val="2D4B7C"/>
                </a:solidFill>
                <a:latin typeface="Sora"/>
                <a:ea typeface="Sora"/>
                <a:cs typeface="Sora"/>
                <a:sym typeface="Sora"/>
              </a:rPr>
              <a:t>I know what I'd pay</a:t>
            </a:r>
            <a:endParaRPr b="0" i="0" sz="1300" u="none" cap="none" strike="noStrike">
              <a:solidFill>
                <a:schemeClr val="dk1"/>
              </a:solidFill>
              <a:latin typeface="Calibri"/>
              <a:ea typeface="Calibri"/>
              <a:cs typeface="Calibri"/>
              <a:sym typeface="Calibri"/>
            </a:endParaRPr>
          </a:p>
        </p:txBody>
      </p:sp>
      <p:sp>
        <p:nvSpPr>
          <p:cNvPr id="1265" name="Google Shape;1265;p66"/>
          <p:cNvSpPr/>
          <p:nvPr/>
        </p:nvSpPr>
        <p:spPr>
          <a:xfrm>
            <a:off x="6330910" y="1714500"/>
            <a:ext cx="2286000" cy="444000"/>
          </a:xfrm>
          <a:prstGeom prst="roundRect">
            <a:avLst>
              <a:gd fmla="val 50000" name="adj"/>
            </a:avLst>
          </a:prstGeom>
          <a:solidFill>
            <a:srgbClr val="E4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66"/>
          <p:cNvSpPr/>
          <p:nvPr/>
        </p:nvSpPr>
        <p:spPr>
          <a:xfrm>
            <a:off x="6296620" y="1813719"/>
            <a:ext cx="2354400" cy="469500"/>
          </a:xfrm>
          <a:prstGeom prst="rect">
            <a:avLst/>
          </a:prstGeom>
          <a:noFill/>
          <a:ln>
            <a:noFill/>
          </a:ln>
        </p:spPr>
        <p:txBody>
          <a:bodyPr anchorCtr="0" anchor="t" bIns="0" lIns="0" spcFirstLastPara="1" rIns="0" wrap="square" tIns="0">
            <a:noAutofit/>
          </a:bodyPr>
          <a:lstStyle/>
          <a:p>
            <a:pPr indent="0" lvl="0" marL="0" marR="0" rtl="0" algn="ctr">
              <a:lnSpc>
                <a:spcPct val="269000"/>
              </a:lnSpc>
              <a:spcBef>
                <a:spcPts val="0"/>
              </a:spcBef>
              <a:spcAft>
                <a:spcPts val="0"/>
              </a:spcAft>
              <a:buClr>
                <a:srgbClr val="2D4B7C"/>
              </a:buClr>
              <a:buSzPts val="1300"/>
              <a:buFont typeface="Sora"/>
              <a:buNone/>
            </a:pPr>
            <a:r>
              <a:rPr b="0" i="0" lang="en-US" sz="1300" u="none" cap="none" strike="noStrike">
                <a:solidFill>
                  <a:srgbClr val="2D4B7C"/>
                </a:solidFill>
                <a:latin typeface="Sora"/>
                <a:ea typeface="Sora"/>
                <a:cs typeface="Sora"/>
                <a:sym typeface="Sora"/>
              </a:rPr>
              <a:t>I know I qualify</a:t>
            </a:r>
            <a:endParaRPr b="0" i="0" sz="1300" u="none" cap="none" strike="noStrike">
              <a:solidFill>
                <a:schemeClr val="dk1"/>
              </a:solidFill>
              <a:latin typeface="Calibri"/>
              <a:ea typeface="Calibri"/>
              <a:cs typeface="Calibri"/>
              <a:sym typeface="Calibri"/>
            </a:endParaRPr>
          </a:p>
        </p:txBody>
      </p:sp>
      <p:sp>
        <p:nvSpPr>
          <p:cNvPr id="1267" name="Google Shape;1267;p66"/>
          <p:cNvSpPr/>
          <p:nvPr/>
        </p:nvSpPr>
        <p:spPr>
          <a:xfrm>
            <a:off x="9093160" y="1714500"/>
            <a:ext cx="2286000" cy="444000"/>
          </a:xfrm>
          <a:prstGeom prst="roundRect">
            <a:avLst>
              <a:gd fmla="val 50000" name="adj"/>
            </a:avLst>
          </a:prstGeom>
          <a:solidFill>
            <a:srgbClr val="7EA6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66"/>
          <p:cNvSpPr/>
          <p:nvPr/>
        </p:nvSpPr>
        <p:spPr>
          <a:xfrm>
            <a:off x="9058870" y="1813719"/>
            <a:ext cx="2354400" cy="469500"/>
          </a:xfrm>
          <a:prstGeom prst="rect">
            <a:avLst/>
          </a:prstGeom>
          <a:noFill/>
          <a:ln>
            <a:noFill/>
          </a:ln>
        </p:spPr>
        <p:txBody>
          <a:bodyPr anchorCtr="0" anchor="t" bIns="0" lIns="0" spcFirstLastPara="1" rIns="0" wrap="square" tIns="0">
            <a:noAutofit/>
          </a:bodyPr>
          <a:lstStyle/>
          <a:p>
            <a:pPr indent="0" lvl="0" marL="0" marR="0" rtl="0" algn="ctr">
              <a:lnSpc>
                <a:spcPct val="269000"/>
              </a:lnSpc>
              <a:spcBef>
                <a:spcPts val="0"/>
              </a:spcBef>
              <a:spcAft>
                <a:spcPts val="0"/>
              </a:spcAft>
              <a:buClr>
                <a:srgbClr val="13254A"/>
              </a:buClr>
              <a:buSzPts val="1300"/>
              <a:buFont typeface="Sora"/>
              <a:buNone/>
            </a:pPr>
            <a:r>
              <a:rPr b="1" i="0" lang="en-US" sz="1300" u="none" cap="none" strike="noStrike">
                <a:solidFill>
                  <a:srgbClr val="13254A"/>
                </a:solidFill>
                <a:latin typeface="Sora"/>
                <a:ea typeface="Sora"/>
                <a:cs typeface="Sora"/>
                <a:sym typeface="Sora"/>
              </a:rPr>
              <a:t>I'm ready to apply</a:t>
            </a:r>
            <a:endParaRPr b="0" i="0" sz="1300" u="none" cap="none" strike="noStrike">
              <a:solidFill>
                <a:schemeClr val="dk1"/>
              </a:solidFill>
              <a:latin typeface="Calibri"/>
              <a:ea typeface="Calibri"/>
              <a:cs typeface="Calibri"/>
              <a:sym typeface="Calibri"/>
            </a:endParaRPr>
          </a:p>
        </p:txBody>
      </p:sp>
      <p:sp>
        <p:nvSpPr>
          <p:cNvPr id="1269" name="Google Shape;1269;p66"/>
          <p:cNvSpPr/>
          <p:nvPr/>
        </p:nvSpPr>
        <p:spPr>
          <a:xfrm>
            <a:off x="812780" y="2412981"/>
            <a:ext cx="5079900" cy="1112400"/>
          </a:xfrm>
          <a:prstGeom prst="roundRect">
            <a:avLst>
              <a:gd fmla="val 685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66"/>
          <p:cNvSpPr/>
          <p:nvPr/>
        </p:nvSpPr>
        <p:spPr>
          <a:xfrm>
            <a:off x="1041380" y="2590741"/>
            <a:ext cx="31956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What is the fee for my program?</a:t>
            </a:r>
            <a:endParaRPr b="0" i="0" sz="1500" u="none" cap="none" strike="noStrike">
              <a:solidFill>
                <a:schemeClr val="dk1"/>
              </a:solidFill>
              <a:latin typeface="Calibri"/>
              <a:ea typeface="Calibri"/>
              <a:cs typeface="Calibri"/>
              <a:sym typeface="Calibri"/>
            </a:endParaRPr>
          </a:p>
        </p:txBody>
      </p:sp>
      <p:sp>
        <p:nvSpPr>
          <p:cNvPr id="1271" name="Google Shape;1271;p66"/>
          <p:cNvSpPr/>
          <p:nvPr/>
        </p:nvSpPr>
        <p:spPr>
          <a:xfrm>
            <a:off x="5550575" y="2590741"/>
            <a:ext cx="1644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EA6DA"/>
              </a:buClr>
              <a:buSzPts val="1500"/>
              <a:buFont typeface="Sora"/>
              <a:buNone/>
            </a:pPr>
            <a:r>
              <a:rPr b="1" i="0" lang="en-US" sz="1500" u="none" cap="none" strike="noStrike">
                <a:solidFill>
                  <a:srgbClr val="7EA6DA"/>
                </a:solidFill>
                <a:latin typeface="Sora"/>
                <a:ea typeface="Sora"/>
                <a:cs typeface="Sora"/>
                <a:sym typeface="Sora"/>
              </a:rPr>
              <a:t>−</a:t>
            </a:r>
            <a:endParaRPr b="0" i="0" sz="1500" u="none" cap="none" strike="noStrike">
              <a:solidFill>
                <a:schemeClr val="dk1"/>
              </a:solidFill>
              <a:latin typeface="Calibri"/>
              <a:ea typeface="Calibri"/>
              <a:cs typeface="Calibri"/>
              <a:sym typeface="Calibri"/>
            </a:endParaRPr>
          </a:p>
        </p:txBody>
      </p:sp>
      <p:sp>
        <p:nvSpPr>
          <p:cNvPr id="1272" name="Google Shape;1272;p66"/>
          <p:cNvSpPr/>
          <p:nvPr/>
        </p:nvSpPr>
        <p:spPr>
          <a:xfrm>
            <a:off x="1041380" y="2920901"/>
            <a:ext cx="47616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5DEEA"/>
              </a:buClr>
              <a:buSzPts val="1200"/>
              <a:buFont typeface="Sora"/>
              <a:buNone/>
            </a:pPr>
            <a:r>
              <a:rPr b="0" i="0" lang="en-US" sz="1200" u="none" cap="none" strike="noStrike">
                <a:solidFill>
                  <a:srgbClr val="D5DEEA"/>
                </a:solidFill>
                <a:latin typeface="Sora"/>
                <a:ea typeface="Sora"/>
                <a:cs typeface="Sora"/>
                <a:sym typeface="Sora"/>
              </a:rPr>
              <a:t>The fee for this program, year by year, beside the course — no detour to a group-wide fee table.</a:t>
            </a:r>
            <a:endParaRPr b="0" i="0" sz="1200" u="none" cap="none" strike="noStrike">
              <a:solidFill>
                <a:schemeClr val="dk1"/>
              </a:solidFill>
              <a:latin typeface="Calibri"/>
              <a:ea typeface="Calibri"/>
              <a:cs typeface="Calibri"/>
              <a:sym typeface="Calibri"/>
            </a:endParaRPr>
          </a:p>
        </p:txBody>
      </p:sp>
      <p:sp>
        <p:nvSpPr>
          <p:cNvPr id="1273" name="Google Shape;1273;p66"/>
          <p:cNvSpPr/>
          <p:nvPr/>
        </p:nvSpPr>
        <p:spPr>
          <a:xfrm>
            <a:off x="819130" y="3657581"/>
            <a:ext cx="5067300" cy="431700"/>
          </a:xfrm>
          <a:prstGeom prst="roundRect">
            <a:avLst>
              <a:gd fmla="val 13237" name="adj"/>
            </a:avLst>
          </a:prstGeom>
          <a:solidFill>
            <a:srgbClr val="EDF0F5"/>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66"/>
          <p:cNvSpPr/>
          <p:nvPr/>
        </p:nvSpPr>
        <p:spPr>
          <a:xfrm>
            <a:off x="1052810" y="3757910"/>
            <a:ext cx="26181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4B7C"/>
              </a:buClr>
              <a:buSzPts val="1300"/>
              <a:buFont typeface="Sora"/>
              <a:buNone/>
            </a:pPr>
            <a:r>
              <a:rPr b="0" i="0" lang="en-US" sz="1300" u="none" cap="none" strike="noStrike">
                <a:solidFill>
                  <a:srgbClr val="2D4B7C"/>
                </a:solidFill>
                <a:latin typeface="Sora"/>
                <a:ea typeface="Sora"/>
                <a:cs typeface="Sora"/>
                <a:sym typeface="Sora"/>
              </a:rPr>
              <a:t>Are there scholarships for me?</a:t>
            </a:r>
            <a:endParaRPr b="0" i="0" sz="1300" u="none" cap="none" strike="noStrike">
              <a:solidFill>
                <a:schemeClr val="dk1"/>
              </a:solidFill>
              <a:latin typeface="Calibri"/>
              <a:ea typeface="Calibri"/>
              <a:cs typeface="Calibri"/>
              <a:sym typeface="Calibri"/>
            </a:endParaRPr>
          </a:p>
        </p:txBody>
      </p:sp>
      <p:sp>
        <p:nvSpPr>
          <p:cNvPr id="1275" name="Google Shape;1275;p66"/>
          <p:cNvSpPr/>
          <p:nvPr/>
        </p:nvSpPr>
        <p:spPr>
          <a:xfrm>
            <a:off x="5539145" y="3740113"/>
            <a:ext cx="1644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500"/>
              <a:buFont typeface="Sora"/>
              <a:buNone/>
            </a:pPr>
            <a:r>
              <a:rPr b="1" i="0" lang="en-US" sz="1500" u="none" cap="none" strike="noStrike">
                <a:solidFill>
                  <a:srgbClr val="3A6BB0"/>
                </a:solidFill>
                <a:latin typeface="Sora"/>
                <a:ea typeface="Sora"/>
                <a:cs typeface="Sora"/>
                <a:sym typeface="Sora"/>
              </a:rPr>
              <a:t>+</a:t>
            </a:r>
            <a:endParaRPr b="0" i="0" sz="1500" u="none" cap="none" strike="noStrike">
              <a:solidFill>
                <a:schemeClr val="dk1"/>
              </a:solidFill>
              <a:latin typeface="Calibri"/>
              <a:ea typeface="Calibri"/>
              <a:cs typeface="Calibri"/>
              <a:sym typeface="Calibri"/>
            </a:endParaRPr>
          </a:p>
        </p:txBody>
      </p:sp>
      <p:sp>
        <p:nvSpPr>
          <p:cNvPr id="1276" name="Google Shape;1276;p66"/>
          <p:cNvSpPr/>
          <p:nvPr/>
        </p:nvSpPr>
        <p:spPr>
          <a:xfrm>
            <a:off x="819130" y="4178300"/>
            <a:ext cx="5067300" cy="431700"/>
          </a:xfrm>
          <a:prstGeom prst="roundRect">
            <a:avLst>
              <a:gd fmla="val 13237" name="adj"/>
            </a:avLst>
          </a:prstGeom>
          <a:solidFill>
            <a:srgbClr val="EDF0F5"/>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66"/>
          <p:cNvSpPr/>
          <p:nvPr/>
        </p:nvSpPr>
        <p:spPr>
          <a:xfrm>
            <a:off x="1052810" y="4278632"/>
            <a:ext cx="23952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4B7C"/>
              </a:buClr>
              <a:buSzPts val="1300"/>
              <a:buFont typeface="Sora"/>
              <a:buNone/>
            </a:pPr>
            <a:r>
              <a:rPr b="0" i="0" lang="en-US" sz="1300" u="none" cap="none" strike="noStrike">
                <a:solidFill>
                  <a:srgbClr val="2D4B7C"/>
                </a:solidFill>
                <a:latin typeface="Sora"/>
                <a:ea typeface="Sora"/>
                <a:cs typeface="Sora"/>
                <a:sym typeface="Sora"/>
              </a:rPr>
              <a:t>What financial aid can I get?</a:t>
            </a:r>
            <a:endParaRPr b="0" i="0" sz="1300" u="none" cap="none" strike="noStrike">
              <a:solidFill>
                <a:schemeClr val="dk1"/>
              </a:solidFill>
              <a:latin typeface="Calibri"/>
              <a:ea typeface="Calibri"/>
              <a:cs typeface="Calibri"/>
              <a:sym typeface="Calibri"/>
            </a:endParaRPr>
          </a:p>
        </p:txBody>
      </p:sp>
      <p:sp>
        <p:nvSpPr>
          <p:cNvPr id="1278" name="Google Shape;1278;p66"/>
          <p:cNvSpPr/>
          <p:nvPr/>
        </p:nvSpPr>
        <p:spPr>
          <a:xfrm>
            <a:off x="5539145" y="4260831"/>
            <a:ext cx="1644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500"/>
              <a:buFont typeface="Sora"/>
              <a:buNone/>
            </a:pPr>
            <a:r>
              <a:rPr b="1" i="0" lang="en-US" sz="1500" u="none" cap="none" strike="noStrike">
                <a:solidFill>
                  <a:srgbClr val="3A6BB0"/>
                </a:solidFill>
                <a:latin typeface="Sora"/>
                <a:ea typeface="Sora"/>
                <a:cs typeface="Sora"/>
                <a:sym typeface="Sora"/>
              </a:rPr>
              <a:t>+</a:t>
            </a:r>
            <a:endParaRPr b="0" i="0" sz="1500" u="none" cap="none" strike="noStrike">
              <a:solidFill>
                <a:schemeClr val="dk1"/>
              </a:solidFill>
              <a:latin typeface="Calibri"/>
              <a:ea typeface="Calibri"/>
              <a:cs typeface="Calibri"/>
              <a:sym typeface="Calibri"/>
            </a:endParaRPr>
          </a:p>
        </p:txBody>
      </p:sp>
      <p:sp>
        <p:nvSpPr>
          <p:cNvPr id="1279" name="Google Shape;1279;p66"/>
          <p:cNvSpPr/>
          <p:nvPr/>
        </p:nvSpPr>
        <p:spPr>
          <a:xfrm>
            <a:off x="819130" y="4698963"/>
            <a:ext cx="5067300" cy="431700"/>
          </a:xfrm>
          <a:prstGeom prst="roundRect">
            <a:avLst>
              <a:gd fmla="val 13237" name="adj"/>
            </a:avLst>
          </a:prstGeom>
          <a:solidFill>
            <a:srgbClr val="EDF0F5"/>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66"/>
          <p:cNvSpPr/>
          <p:nvPr/>
        </p:nvSpPr>
        <p:spPr>
          <a:xfrm>
            <a:off x="1052810" y="4799292"/>
            <a:ext cx="2436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4B7C"/>
              </a:buClr>
              <a:buSzPts val="1300"/>
              <a:buFont typeface="Sora"/>
              <a:buNone/>
            </a:pPr>
            <a:r>
              <a:rPr b="0" i="0" lang="en-US" sz="1300" u="none" cap="none" strike="noStrike">
                <a:solidFill>
                  <a:srgbClr val="2D4B7C"/>
                </a:solidFill>
                <a:latin typeface="Sora"/>
                <a:ea typeface="Sora"/>
                <a:cs typeface="Sora"/>
                <a:sym typeface="Sora"/>
              </a:rPr>
              <a:t>Am I eligible for this course?</a:t>
            </a:r>
            <a:endParaRPr b="0" i="0" sz="1300" u="none" cap="none" strike="noStrike">
              <a:solidFill>
                <a:schemeClr val="dk1"/>
              </a:solidFill>
              <a:latin typeface="Calibri"/>
              <a:ea typeface="Calibri"/>
              <a:cs typeface="Calibri"/>
              <a:sym typeface="Calibri"/>
            </a:endParaRPr>
          </a:p>
        </p:txBody>
      </p:sp>
      <p:sp>
        <p:nvSpPr>
          <p:cNvPr id="1281" name="Google Shape;1281;p66"/>
          <p:cNvSpPr/>
          <p:nvPr/>
        </p:nvSpPr>
        <p:spPr>
          <a:xfrm>
            <a:off x="5539145" y="4781491"/>
            <a:ext cx="1644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500"/>
              <a:buFont typeface="Sora"/>
              <a:buNone/>
            </a:pPr>
            <a:r>
              <a:rPr b="1" i="0" lang="en-US" sz="1500" u="none" cap="none" strike="noStrike">
                <a:solidFill>
                  <a:srgbClr val="3A6BB0"/>
                </a:solidFill>
                <a:latin typeface="Sora"/>
                <a:ea typeface="Sora"/>
                <a:cs typeface="Sora"/>
                <a:sym typeface="Sora"/>
              </a:rPr>
              <a:t>+</a:t>
            </a:r>
            <a:endParaRPr b="0" i="0" sz="1500" u="none" cap="none" strike="noStrike">
              <a:solidFill>
                <a:schemeClr val="dk1"/>
              </a:solidFill>
              <a:latin typeface="Calibri"/>
              <a:ea typeface="Calibri"/>
              <a:cs typeface="Calibri"/>
              <a:sym typeface="Calibri"/>
            </a:endParaRPr>
          </a:p>
        </p:txBody>
      </p:sp>
      <p:sp>
        <p:nvSpPr>
          <p:cNvPr id="1282" name="Google Shape;1282;p66"/>
          <p:cNvSpPr/>
          <p:nvPr/>
        </p:nvSpPr>
        <p:spPr>
          <a:xfrm>
            <a:off x="819130" y="5219681"/>
            <a:ext cx="5067300" cy="431700"/>
          </a:xfrm>
          <a:prstGeom prst="roundRect">
            <a:avLst>
              <a:gd fmla="val 13237" name="adj"/>
            </a:avLst>
          </a:prstGeom>
          <a:solidFill>
            <a:srgbClr val="EDF0F5"/>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66"/>
          <p:cNvSpPr/>
          <p:nvPr/>
        </p:nvSpPr>
        <p:spPr>
          <a:xfrm>
            <a:off x="1052810" y="5320010"/>
            <a:ext cx="27108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4B7C"/>
              </a:buClr>
              <a:buSzPts val="1300"/>
              <a:buFont typeface="Sora"/>
              <a:buNone/>
            </a:pPr>
            <a:r>
              <a:rPr b="0" i="0" lang="en-US" sz="1300" u="none" cap="none" strike="noStrike">
                <a:solidFill>
                  <a:srgbClr val="2D4B7C"/>
                </a:solidFill>
                <a:latin typeface="Sora"/>
                <a:ea typeface="Sora"/>
                <a:cs typeface="Sora"/>
                <a:sym typeface="Sora"/>
              </a:rPr>
              <a:t>What is the admission process?</a:t>
            </a:r>
            <a:endParaRPr b="0" i="0" sz="1300" u="none" cap="none" strike="noStrike">
              <a:solidFill>
                <a:schemeClr val="dk1"/>
              </a:solidFill>
              <a:latin typeface="Calibri"/>
              <a:ea typeface="Calibri"/>
              <a:cs typeface="Calibri"/>
              <a:sym typeface="Calibri"/>
            </a:endParaRPr>
          </a:p>
        </p:txBody>
      </p:sp>
      <p:sp>
        <p:nvSpPr>
          <p:cNvPr id="1284" name="Google Shape;1284;p66"/>
          <p:cNvSpPr/>
          <p:nvPr/>
        </p:nvSpPr>
        <p:spPr>
          <a:xfrm>
            <a:off x="5539145" y="5302213"/>
            <a:ext cx="1644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500"/>
              <a:buFont typeface="Sora"/>
              <a:buNone/>
            </a:pPr>
            <a:r>
              <a:rPr b="1" i="0" lang="en-US" sz="1500" u="none" cap="none" strike="noStrike">
                <a:solidFill>
                  <a:srgbClr val="3A6BB0"/>
                </a:solidFill>
                <a:latin typeface="Sora"/>
                <a:ea typeface="Sora"/>
                <a:cs typeface="Sora"/>
                <a:sym typeface="Sora"/>
              </a:rPr>
              <a:t>+</a:t>
            </a:r>
            <a:endParaRPr b="0" i="0" sz="1500" u="none" cap="none" strike="noStrike">
              <a:solidFill>
                <a:schemeClr val="dk1"/>
              </a:solidFill>
              <a:latin typeface="Calibri"/>
              <a:ea typeface="Calibri"/>
              <a:cs typeface="Calibri"/>
              <a:sym typeface="Calibri"/>
            </a:endParaRPr>
          </a:p>
        </p:txBody>
      </p:sp>
      <p:sp>
        <p:nvSpPr>
          <p:cNvPr id="1285" name="Google Shape;1285;p66"/>
          <p:cNvSpPr/>
          <p:nvPr/>
        </p:nvSpPr>
        <p:spPr>
          <a:xfrm>
            <a:off x="6349960" y="2412981"/>
            <a:ext cx="5029200" cy="3239700"/>
          </a:xfrm>
          <a:prstGeom prst="roundRect">
            <a:avLst>
              <a:gd fmla="val 3136" name="adj"/>
            </a:avLst>
          </a:prstGeom>
          <a:solidFill>
            <a:srgbClr val="EDF0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66"/>
          <p:cNvSpPr/>
          <p:nvPr/>
        </p:nvSpPr>
        <p:spPr>
          <a:xfrm>
            <a:off x="6654760" y="2717781"/>
            <a:ext cx="45519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2000"/>
              <a:buFont typeface="Sora"/>
              <a:buNone/>
            </a:pPr>
            <a:r>
              <a:rPr b="1" i="1" lang="en-US" sz="2000" u="none" cap="none" strike="noStrike">
                <a:solidFill>
                  <a:srgbClr val="13254A"/>
                </a:solidFill>
                <a:latin typeface="Sora"/>
                <a:ea typeface="Sora"/>
                <a:cs typeface="Sora"/>
                <a:sym typeface="Sora"/>
              </a:rPr>
              <a:t>Every answer leads forward.</a:t>
            </a:r>
            <a:endParaRPr b="0" i="0" sz="2000" u="none" cap="none" strike="noStrike">
              <a:solidFill>
                <a:schemeClr val="dk1"/>
              </a:solidFill>
              <a:latin typeface="Calibri"/>
              <a:ea typeface="Calibri"/>
              <a:cs typeface="Calibri"/>
              <a:sym typeface="Calibri"/>
            </a:endParaRPr>
          </a:p>
        </p:txBody>
      </p:sp>
      <p:sp>
        <p:nvSpPr>
          <p:cNvPr id="1287" name="Google Shape;1287;p66"/>
          <p:cNvSpPr/>
          <p:nvPr/>
        </p:nvSpPr>
        <p:spPr>
          <a:xfrm>
            <a:off x="6654760" y="3200341"/>
            <a:ext cx="4551900" cy="7989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3254A"/>
              </a:buClr>
              <a:buSzPts val="1500"/>
              <a:buFont typeface="Sora"/>
              <a:buNone/>
            </a:pPr>
            <a:r>
              <a:rPr b="0" i="0" lang="en-US" sz="1500" u="none" cap="none" strike="noStrike">
                <a:solidFill>
                  <a:srgbClr val="13254A"/>
                </a:solidFill>
                <a:latin typeface="Sora"/>
                <a:ea typeface="Sora"/>
                <a:cs typeface="Sora"/>
                <a:sym typeface="Sora"/>
              </a:rPr>
              <a:t>Today the fee page's #2 next step is the homepage (1,236), and 494 users jump across to a second, MRU fee page.</a:t>
            </a:r>
            <a:endParaRPr b="0" i="0" sz="1500" u="none" cap="none" strike="noStrike">
              <a:solidFill>
                <a:schemeClr val="dk1"/>
              </a:solidFill>
              <a:latin typeface="Calibri"/>
              <a:ea typeface="Calibri"/>
              <a:cs typeface="Calibri"/>
              <a:sym typeface="Calibri"/>
            </a:endParaRPr>
          </a:p>
        </p:txBody>
      </p:sp>
      <p:sp>
        <p:nvSpPr>
          <p:cNvPr id="1288" name="Google Shape;1288;p66"/>
          <p:cNvSpPr/>
          <p:nvPr/>
        </p:nvSpPr>
        <p:spPr>
          <a:xfrm>
            <a:off x="6654760" y="4151592"/>
            <a:ext cx="4551900" cy="5412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3254A"/>
              </a:buClr>
              <a:buSzPts val="1500"/>
              <a:buFont typeface="Sora"/>
              <a:buNone/>
            </a:pPr>
            <a:r>
              <a:rPr b="0" i="0" lang="en-US" sz="1500" u="none" cap="none" strike="noStrike">
                <a:solidFill>
                  <a:srgbClr val="13254A"/>
                </a:solidFill>
                <a:latin typeface="Sora"/>
                <a:ea typeface="Sora"/>
                <a:cs typeface="Sora"/>
                <a:sym typeface="Sora"/>
              </a:rPr>
              <a:t>Here, each question opens the next one — a route to applying, not a dead end.</a:t>
            </a:r>
            <a:endParaRPr b="0" i="0" sz="1500" u="none" cap="none" strike="noStrike">
              <a:solidFill>
                <a:schemeClr val="dk1"/>
              </a:solidFill>
              <a:latin typeface="Calibri"/>
              <a:ea typeface="Calibri"/>
              <a:cs typeface="Calibri"/>
              <a:sym typeface="Calibri"/>
            </a:endParaRPr>
          </a:p>
        </p:txBody>
      </p:sp>
      <p:sp>
        <p:nvSpPr>
          <p:cNvPr id="1289" name="Google Shape;1289;p66"/>
          <p:cNvSpPr/>
          <p:nvPr/>
        </p:nvSpPr>
        <p:spPr>
          <a:xfrm>
            <a:off x="6654768" y="4845000"/>
            <a:ext cx="2929500" cy="502800"/>
          </a:xfrm>
          <a:prstGeom prst="roundRect">
            <a:avLst>
              <a:gd fmla="val 50000"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66"/>
          <p:cNvSpPr/>
          <p:nvPr/>
        </p:nvSpPr>
        <p:spPr>
          <a:xfrm>
            <a:off x="6934169" y="4972000"/>
            <a:ext cx="26109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Check scholarships</a:t>
            </a:r>
            <a:endParaRPr b="0" i="0" sz="1500" u="none" cap="none" strike="noStrike">
              <a:solidFill>
                <a:schemeClr val="dk1"/>
              </a:solidFill>
              <a:latin typeface="Calibri"/>
              <a:ea typeface="Calibri"/>
              <a:cs typeface="Calibri"/>
              <a:sym typeface="Calibri"/>
            </a:endParaRPr>
          </a:p>
        </p:txBody>
      </p:sp>
      <p:sp>
        <p:nvSpPr>
          <p:cNvPr id="1291" name="Google Shape;1291;p66"/>
          <p:cNvSpPr/>
          <p:nvPr/>
        </p:nvSpPr>
        <p:spPr>
          <a:xfrm>
            <a:off x="812780" y="6197563"/>
            <a:ext cx="108831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500"/>
              <a:buFont typeface="Sora"/>
              <a:buNone/>
            </a:pPr>
            <a:r>
              <a:rPr b="0" i="0" lang="en-US" sz="1500" u="none" cap="none" strike="noStrike">
                <a:solidFill>
                  <a:srgbClr val="7A8494"/>
                </a:solidFill>
                <a:latin typeface="Sora"/>
                <a:ea typeface="Sora"/>
                <a:cs typeface="Sora"/>
                <a:sym typeface="Sora"/>
              </a:rPr>
              <a:t>I know the fee → I know what I'd pay → I qualify → </a:t>
            </a:r>
            <a:r>
              <a:rPr b="1" i="0" lang="en-US" sz="1500" u="none" cap="none" strike="noStrike">
                <a:solidFill>
                  <a:srgbClr val="13254A"/>
                </a:solidFill>
                <a:latin typeface="Sora"/>
                <a:ea typeface="Sora"/>
                <a:cs typeface="Sora"/>
                <a:sym typeface="Sora"/>
              </a:rPr>
              <a:t>I'm ready to apply</a:t>
            </a:r>
            <a:endParaRPr b="0" i="0" sz="1500" u="none" cap="none" strike="noStrike">
              <a:solidFill>
                <a:schemeClr val="dk1"/>
              </a:solidFill>
              <a:latin typeface="Calibri"/>
              <a:ea typeface="Calibri"/>
              <a:cs typeface="Calibri"/>
              <a:sym typeface="Calibri"/>
            </a:endParaRPr>
          </a:p>
        </p:txBody>
      </p:sp>
      <p:sp>
        <p:nvSpPr>
          <p:cNvPr id="1292" name="Rounded Rectangle 1291"/>
          <p:cNvSpPr/>
          <p:nvPr/>
        </p:nvSpPr>
        <p:spPr>
          <a:xfrm>
            <a:off x="9052560" y="54864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1296" name="Shape 1296"/>
        <p:cNvGrpSpPr/>
        <p:nvPr/>
      </p:nvGrpSpPr>
      <p:grpSpPr>
        <a:xfrm>
          <a:off x="0" y="0"/>
          <a:ext cx="0" cy="0"/>
          <a:chOff x="0" y="0"/>
          <a:chExt cx="0" cy="0"/>
        </a:xfrm>
      </p:grpSpPr>
      <p:pic>
        <p:nvPicPr>
          <p:cNvPr descr="Profile steps joined to the form and the shortlist card" id="1297" name="Google Shape;1297;p67"/>
          <p:cNvPicPr preferRelativeResize="0"/>
          <p:nvPr/>
        </p:nvPicPr>
        <p:blipFill rotWithShape="1">
          <a:blip r:embed="rId3">
            <a:alphaModFix/>
          </a:blip>
          <a:srcRect b="0" l="0" r="0" t="0"/>
          <a:stretch/>
        </p:blipFill>
        <p:spPr>
          <a:xfrm>
            <a:off x="0" y="0"/>
            <a:ext cx="12192005" cy="6858003"/>
          </a:xfrm>
          <a:prstGeom prst="rect">
            <a:avLst/>
          </a:prstGeom>
          <a:noFill/>
          <a:ln>
            <a:noFill/>
          </a:ln>
        </p:spPr>
      </p:pic>
      <p:sp>
        <p:nvSpPr>
          <p:cNvPr id="1298" name="Google Shape;1298;p67"/>
          <p:cNvSpPr/>
          <p:nvPr/>
        </p:nvSpPr>
        <p:spPr>
          <a:xfrm>
            <a:off x="812780" y="558763"/>
            <a:ext cx="9156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6BB0"/>
              </a:buClr>
              <a:buSzPts val="1300"/>
              <a:buFont typeface="Sora"/>
              <a:buNone/>
            </a:pPr>
            <a:r>
              <a:rPr b="1" i="0" lang="en-US" sz="1300" u="none" cap="none" strike="noStrike">
                <a:solidFill>
                  <a:srgbClr val="3A6BB0"/>
                </a:solidFill>
                <a:latin typeface="Sora"/>
                <a:ea typeface="Sora"/>
                <a:cs typeface="Sora"/>
                <a:sym typeface="Sora"/>
              </a:rPr>
              <a:t>JOURNEY 03 · THE SHORTLISTER · DATA + CAPTURE</a:t>
            </a:r>
            <a:endParaRPr b="0" i="0" sz="1300" u="none" cap="none" strike="noStrike">
              <a:solidFill>
                <a:schemeClr val="dk1"/>
              </a:solidFill>
              <a:latin typeface="Calibri"/>
              <a:ea typeface="Calibri"/>
              <a:cs typeface="Calibri"/>
              <a:sym typeface="Calibri"/>
            </a:endParaRPr>
          </a:p>
        </p:txBody>
      </p:sp>
      <p:sp>
        <p:nvSpPr>
          <p:cNvPr id="1299" name="Google Shape;1299;p67"/>
          <p:cNvSpPr/>
          <p:nvPr/>
        </p:nvSpPr>
        <p:spPr>
          <a:xfrm>
            <a:off x="10413981" y="482563"/>
            <a:ext cx="965100" cy="406500"/>
          </a:xfrm>
          <a:prstGeom prst="roundRect">
            <a:avLst>
              <a:gd fmla="val 50000" name="adj"/>
            </a:avLst>
          </a:prstGeom>
          <a:solidFill>
            <a:srgbClr val="C6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67"/>
          <p:cNvSpPr/>
          <p:nvPr/>
        </p:nvSpPr>
        <p:spPr>
          <a:xfrm>
            <a:off x="10388581" y="561938"/>
            <a:ext cx="1016100" cy="431700"/>
          </a:xfrm>
          <a:prstGeom prst="rect">
            <a:avLst/>
          </a:prstGeom>
          <a:noFill/>
          <a:ln>
            <a:noFill/>
          </a:ln>
        </p:spPr>
        <p:txBody>
          <a:bodyPr anchorCtr="0" anchor="t" bIns="0" lIns="0" spcFirstLastPara="1" rIns="0" wrap="square" tIns="0">
            <a:noAutofit/>
          </a:bodyPr>
          <a:lstStyle/>
          <a:p>
            <a:pPr indent="0" lvl="0" marL="0" marR="0" rtl="0" algn="ctr">
              <a:lnSpc>
                <a:spcPct val="229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03</a:t>
            </a:r>
            <a:endParaRPr b="0" i="0" sz="1500" u="none" cap="none" strike="noStrike">
              <a:solidFill>
                <a:schemeClr val="dk1"/>
              </a:solidFill>
              <a:latin typeface="Calibri"/>
              <a:ea typeface="Calibri"/>
              <a:cs typeface="Calibri"/>
              <a:sym typeface="Calibri"/>
            </a:endParaRPr>
          </a:p>
        </p:txBody>
      </p:sp>
      <p:sp>
        <p:nvSpPr>
          <p:cNvPr id="1301" name="Google Shape;1301;p67"/>
          <p:cNvSpPr/>
          <p:nvPr/>
        </p:nvSpPr>
        <p:spPr>
          <a:xfrm>
            <a:off x="812780" y="863563"/>
            <a:ext cx="108831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3254A"/>
              </a:buClr>
              <a:buSzPts val="3200"/>
              <a:buFont typeface="Sora"/>
              <a:buNone/>
            </a:pPr>
            <a:r>
              <a:rPr b="1" i="0" lang="en-US" sz="3200" u="none" cap="none" strike="noStrike">
                <a:solidFill>
                  <a:srgbClr val="13254A"/>
                </a:solidFill>
                <a:latin typeface="Sora"/>
                <a:ea typeface="Sora"/>
                <a:cs typeface="Sora"/>
                <a:sym typeface="Sora"/>
              </a:rPr>
              <a:t>Turn a browser into a known applicant.</a:t>
            </a:r>
            <a:endParaRPr b="0" i="0" sz="3200" u="none" cap="none" strike="noStrike">
              <a:solidFill>
                <a:schemeClr val="dk1"/>
              </a:solidFill>
              <a:latin typeface="Calibri"/>
              <a:ea typeface="Calibri"/>
              <a:cs typeface="Calibri"/>
              <a:sym typeface="Calibri"/>
            </a:endParaRPr>
          </a:p>
        </p:txBody>
      </p:sp>
      <p:pic>
        <p:nvPicPr>
          <p:cNvPr descr="ellipse" id="1302" name="Google Shape;1302;p67"/>
          <p:cNvPicPr preferRelativeResize="0"/>
          <p:nvPr/>
        </p:nvPicPr>
        <p:blipFill rotWithShape="1">
          <a:blip r:embed="rId4">
            <a:alphaModFix/>
          </a:blip>
          <a:srcRect b="0" l="0" r="0" t="0"/>
          <a:stretch/>
        </p:blipFill>
        <p:spPr>
          <a:xfrm>
            <a:off x="812780" y="1968463"/>
            <a:ext cx="381000" cy="381000"/>
          </a:xfrm>
          <a:prstGeom prst="rect">
            <a:avLst/>
          </a:prstGeom>
          <a:noFill/>
          <a:ln>
            <a:noFill/>
          </a:ln>
        </p:spPr>
      </p:pic>
      <p:sp>
        <p:nvSpPr>
          <p:cNvPr id="1303" name="Google Shape;1303;p67"/>
          <p:cNvSpPr/>
          <p:nvPr/>
        </p:nvSpPr>
        <p:spPr>
          <a:xfrm>
            <a:off x="787380" y="2027994"/>
            <a:ext cx="432000" cy="405900"/>
          </a:xfrm>
          <a:prstGeom prst="rect">
            <a:avLst/>
          </a:prstGeom>
          <a:noFill/>
          <a:ln>
            <a:noFill/>
          </a:ln>
        </p:spPr>
        <p:txBody>
          <a:bodyPr anchorCtr="0" anchor="t" bIns="0" lIns="0" spcFirstLastPara="1" rIns="0" wrap="square" tIns="0">
            <a:noAutofit/>
          </a:bodyPr>
          <a:lstStyle/>
          <a:p>
            <a:pPr indent="0" lvl="0" marL="0" marR="0" rtl="0" algn="ctr">
              <a:lnSpc>
                <a:spcPct val="214000"/>
              </a:lnSpc>
              <a:spcBef>
                <a:spcPts val="0"/>
              </a:spcBef>
              <a:spcAft>
                <a:spcPts val="0"/>
              </a:spcAft>
              <a:buClr>
                <a:srgbClr val="8A7F72"/>
              </a:buClr>
              <a:buSzPts val="1500"/>
              <a:buFont typeface="Sora"/>
              <a:buNone/>
            </a:pPr>
            <a:r>
              <a:rPr b="1" i="0" lang="en-US" sz="1500" u="none" cap="none" strike="noStrike">
                <a:solidFill>
                  <a:srgbClr val="8A7F72"/>
                </a:solidFill>
                <a:latin typeface="Sora"/>
                <a:ea typeface="Sora"/>
                <a:cs typeface="Sora"/>
                <a:sym typeface="Sora"/>
              </a:rPr>
              <a:t>?</a:t>
            </a:r>
            <a:endParaRPr b="0" i="0" sz="1500" u="none" cap="none" strike="noStrike">
              <a:solidFill>
                <a:schemeClr val="dk1"/>
              </a:solidFill>
              <a:latin typeface="Calibri"/>
              <a:ea typeface="Calibri"/>
              <a:cs typeface="Calibri"/>
              <a:sym typeface="Calibri"/>
            </a:endParaRPr>
          </a:p>
        </p:txBody>
      </p:sp>
      <p:pic>
        <p:nvPicPr>
          <p:cNvPr descr="ellipse" id="1304" name="Google Shape;1304;p67"/>
          <p:cNvPicPr preferRelativeResize="0"/>
          <p:nvPr/>
        </p:nvPicPr>
        <p:blipFill rotWithShape="1">
          <a:blip r:embed="rId5">
            <a:alphaModFix/>
          </a:blip>
          <a:srcRect b="0" l="0" r="0" t="0"/>
          <a:stretch/>
        </p:blipFill>
        <p:spPr>
          <a:xfrm>
            <a:off x="812780" y="2762250"/>
            <a:ext cx="381000" cy="381000"/>
          </a:xfrm>
          <a:prstGeom prst="rect">
            <a:avLst/>
          </a:prstGeom>
          <a:noFill/>
          <a:ln>
            <a:noFill/>
          </a:ln>
        </p:spPr>
      </p:pic>
      <p:pic>
        <p:nvPicPr>
          <p:cNvPr descr="ellipse" id="1305" name="Google Shape;1305;p67"/>
          <p:cNvPicPr preferRelativeResize="0"/>
          <p:nvPr/>
        </p:nvPicPr>
        <p:blipFill rotWithShape="1">
          <a:blip r:embed="rId5">
            <a:alphaModFix/>
          </a:blip>
          <a:srcRect b="0" l="0" r="0" t="0"/>
          <a:stretch/>
        </p:blipFill>
        <p:spPr>
          <a:xfrm>
            <a:off x="812780" y="3555981"/>
            <a:ext cx="381000" cy="381000"/>
          </a:xfrm>
          <a:prstGeom prst="rect">
            <a:avLst/>
          </a:prstGeom>
          <a:noFill/>
          <a:ln>
            <a:noFill/>
          </a:ln>
        </p:spPr>
      </p:pic>
      <p:pic>
        <p:nvPicPr>
          <p:cNvPr descr="ellipse" id="1306" name="Google Shape;1306;p67"/>
          <p:cNvPicPr preferRelativeResize="0"/>
          <p:nvPr/>
        </p:nvPicPr>
        <p:blipFill rotWithShape="1">
          <a:blip r:embed="rId5">
            <a:alphaModFix/>
          </a:blip>
          <a:srcRect b="0" l="0" r="0" t="0"/>
          <a:stretch/>
        </p:blipFill>
        <p:spPr>
          <a:xfrm>
            <a:off x="812780" y="4349713"/>
            <a:ext cx="381000" cy="381000"/>
          </a:xfrm>
          <a:prstGeom prst="rect">
            <a:avLst/>
          </a:prstGeom>
          <a:noFill/>
          <a:ln>
            <a:noFill/>
          </a:ln>
        </p:spPr>
      </p:pic>
      <p:pic>
        <p:nvPicPr>
          <p:cNvPr descr="ellipse" id="1307" name="Google Shape;1307;p67"/>
          <p:cNvPicPr preferRelativeResize="0"/>
          <p:nvPr/>
        </p:nvPicPr>
        <p:blipFill rotWithShape="1">
          <a:blip r:embed="rId5">
            <a:alphaModFix/>
          </a:blip>
          <a:srcRect b="0" l="0" r="0" t="0"/>
          <a:stretch/>
        </p:blipFill>
        <p:spPr>
          <a:xfrm>
            <a:off x="812780" y="5143503"/>
            <a:ext cx="381000" cy="381000"/>
          </a:xfrm>
          <a:prstGeom prst="rect">
            <a:avLst/>
          </a:prstGeom>
          <a:noFill/>
          <a:ln>
            <a:noFill/>
          </a:ln>
        </p:spPr>
      </p:pic>
      <p:pic>
        <p:nvPicPr>
          <p:cNvPr descr="ellipse" id="1308" name="Google Shape;1308;p67"/>
          <p:cNvPicPr preferRelativeResize="0"/>
          <p:nvPr/>
        </p:nvPicPr>
        <p:blipFill rotWithShape="1">
          <a:blip r:embed="rId6">
            <a:alphaModFix/>
          </a:blip>
          <a:srcRect b="0" l="0" r="0" t="0"/>
          <a:stretch/>
        </p:blipFill>
        <p:spPr>
          <a:xfrm>
            <a:off x="939760" y="2889231"/>
            <a:ext cx="126980" cy="126980"/>
          </a:xfrm>
          <a:prstGeom prst="rect">
            <a:avLst/>
          </a:prstGeom>
          <a:noFill/>
          <a:ln>
            <a:noFill/>
          </a:ln>
        </p:spPr>
      </p:pic>
      <p:pic>
        <p:nvPicPr>
          <p:cNvPr descr="ellipse" id="1309" name="Google Shape;1309;p67"/>
          <p:cNvPicPr preferRelativeResize="0"/>
          <p:nvPr/>
        </p:nvPicPr>
        <p:blipFill rotWithShape="1">
          <a:blip r:embed="rId6">
            <a:alphaModFix/>
          </a:blip>
          <a:srcRect b="0" l="0" r="0" t="0"/>
          <a:stretch/>
        </p:blipFill>
        <p:spPr>
          <a:xfrm>
            <a:off x="939760" y="3682963"/>
            <a:ext cx="126980" cy="126980"/>
          </a:xfrm>
          <a:prstGeom prst="rect">
            <a:avLst/>
          </a:prstGeom>
          <a:noFill/>
          <a:ln>
            <a:noFill/>
          </a:ln>
        </p:spPr>
      </p:pic>
      <p:pic>
        <p:nvPicPr>
          <p:cNvPr descr="ellipse" id="1310" name="Google Shape;1310;p67"/>
          <p:cNvPicPr preferRelativeResize="0"/>
          <p:nvPr/>
        </p:nvPicPr>
        <p:blipFill rotWithShape="1">
          <a:blip r:embed="rId6">
            <a:alphaModFix/>
          </a:blip>
          <a:srcRect b="0" l="0" r="0" t="0"/>
          <a:stretch/>
        </p:blipFill>
        <p:spPr>
          <a:xfrm>
            <a:off x="939760" y="4476750"/>
            <a:ext cx="126980" cy="126980"/>
          </a:xfrm>
          <a:prstGeom prst="rect">
            <a:avLst/>
          </a:prstGeom>
          <a:noFill/>
          <a:ln>
            <a:noFill/>
          </a:ln>
        </p:spPr>
      </p:pic>
      <p:pic>
        <p:nvPicPr>
          <p:cNvPr descr="ellipse" id="1311" name="Google Shape;1311;p67"/>
          <p:cNvPicPr preferRelativeResize="0"/>
          <p:nvPr/>
        </p:nvPicPr>
        <p:blipFill rotWithShape="1">
          <a:blip r:embed="rId6">
            <a:alphaModFix/>
          </a:blip>
          <a:srcRect b="0" l="0" r="0" t="0"/>
          <a:stretch/>
        </p:blipFill>
        <p:spPr>
          <a:xfrm>
            <a:off x="939760" y="5270481"/>
            <a:ext cx="126980" cy="126980"/>
          </a:xfrm>
          <a:prstGeom prst="rect">
            <a:avLst/>
          </a:prstGeom>
          <a:noFill/>
          <a:ln>
            <a:noFill/>
          </a:ln>
        </p:spPr>
      </p:pic>
      <p:sp>
        <p:nvSpPr>
          <p:cNvPr id="1312" name="Google Shape;1312;p67"/>
          <p:cNvSpPr/>
          <p:nvPr/>
        </p:nvSpPr>
        <p:spPr>
          <a:xfrm>
            <a:off x="1396960" y="2031981"/>
            <a:ext cx="19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A2AE"/>
              </a:buClr>
              <a:buSzPts val="1600"/>
              <a:buFont typeface="Sora"/>
              <a:buNone/>
            </a:pPr>
            <a:r>
              <a:rPr b="0" i="0" lang="en-US" sz="1600" u="none" cap="none" strike="noStrike">
                <a:solidFill>
                  <a:srgbClr val="9AA2AE"/>
                </a:solidFill>
                <a:latin typeface="Sora"/>
                <a:ea typeface="Sora"/>
                <a:cs typeface="Sora"/>
                <a:sym typeface="Sora"/>
              </a:rPr>
              <a:t>Anonymous</a:t>
            </a:r>
            <a:endParaRPr b="0" i="0" sz="1600" u="none" cap="none" strike="noStrike">
              <a:solidFill>
                <a:schemeClr val="dk1"/>
              </a:solidFill>
              <a:latin typeface="Calibri"/>
              <a:ea typeface="Calibri"/>
              <a:cs typeface="Calibri"/>
              <a:sym typeface="Calibri"/>
            </a:endParaRPr>
          </a:p>
        </p:txBody>
      </p:sp>
      <p:sp>
        <p:nvSpPr>
          <p:cNvPr id="1313" name="Google Shape;1313;p67"/>
          <p:cNvSpPr/>
          <p:nvPr/>
        </p:nvSpPr>
        <p:spPr>
          <a:xfrm>
            <a:off x="1396960" y="2825713"/>
            <a:ext cx="19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3254A"/>
              </a:buClr>
              <a:buSzPts val="1600"/>
              <a:buFont typeface="Sora"/>
              <a:buNone/>
            </a:pPr>
            <a:r>
              <a:rPr b="1" i="0" lang="en-US" sz="1600" u="none" cap="none" strike="noStrike">
                <a:solidFill>
                  <a:srgbClr val="13254A"/>
                </a:solidFill>
                <a:latin typeface="Sora"/>
                <a:ea typeface="Sora"/>
                <a:cs typeface="Sora"/>
                <a:sym typeface="Sora"/>
              </a:rPr>
              <a:t>Course</a:t>
            </a:r>
            <a:endParaRPr b="0" i="0" sz="1600" u="none" cap="none" strike="noStrike">
              <a:solidFill>
                <a:schemeClr val="dk1"/>
              </a:solidFill>
              <a:latin typeface="Calibri"/>
              <a:ea typeface="Calibri"/>
              <a:cs typeface="Calibri"/>
              <a:sym typeface="Calibri"/>
            </a:endParaRPr>
          </a:p>
        </p:txBody>
      </p:sp>
      <p:sp>
        <p:nvSpPr>
          <p:cNvPr id="1314" name="Google Shape;1314;p67"/>
          <p:cNvSpPr/>
          <p:nvPr/>
        </p:nvSpPr>
        <p:spPr>
          <a:xfrm>
            <a:off x="1396960" y="3619500"/>
            <a:ext cx="16383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3254A"/>
              </a:buClr>
              <a:buSzPts val="1600"/>
              <a:buFont typeface="Sora"/>
              <a:buNone/>
            </a:pPr>
            <a:r>
              <a:rPr b="1" i="0" lang="en-US" sz="1600" u="none" cap="none" strike="noStrike">
                <a:solidFill>
                  <a:srgbClr val="13254A"/>
                </a:solidFill>
                <a:latin typeface="Sora"/>
                <a:ea typeface="Sora"/>
                <a:cs typeface="Sora"/>
                <a:sym typeface="Sora"/>
              </a:rPr>
              <a:t>Institution</a:t>
            </a:r>
            <a:endParaRPr b="0" i="0" sz="1600" u="none" cap="none" strike="noStrike">
              <a:solidFill>
                <a:schemeClr val="dk1"/>
              </a:solidFill>
              <a:latin typeface="Calibri"/>
              <a:ea typeface="Calibri"/>
              <a:cs typeface="Calibri"/>
              <a:sym typeface="Calibri"/>
            </a:endParaRPr>
          </a:p>
        </p:txBody>
      </p:sp>
      <p:sp>
        <p:nvSpPr>
          <p:cNvPr id="1315" name="Google Shape;1315;p67"/>
          <p:cNvSpPr/>
          <p:nvPr/>
        </p:nvSpPr>
        <p:spPr>
          <a:xfrm>
            <a:off x="1396960" y="4413231"/>
            <a:ext cx="19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3254A"/>
              </a:buClr>
              <a:buSzPts val="1600"/>
              <a:buFont typeface="Sora"/>
              <a:buNone/>
            </a:pPr>
            <a:r>
              <a:rPr b="1" i="0" lang="en-US" sz="1600" u="none" cap="none" strike="noStrike">
                <a:solidFill>
                  <a:srgbClr val="13254A"/>
                </a:solidFill>
                <a:latin typeface="Sora"/>
                <a:ea typeface="Sora"/>
                <a:cs typeface="Sora"/>
                <a:sym typeface="Sora"/>
              </a:rPr>
              <a:t>Name</a:t>
            </a:r>
            <a:endParaRPr b="0" i="0" sz="1600" u="none" cap="none" strike="noStrike">
              <a:solidFill>
                <a:schemeClr val="dk1"/>
              </a:solidFill>
              <a:latin typeface="Calibri"/>
              <a:ea typeface="Calibri"/>
              <a:cs typeface="Calibri"/>
              <a:sym typeface="Calibri"/>
            </a:endParaRPr>
          </a:p>
        </p:txBody>
      </p:sp>
      <p:sp>
        <p:nvSpPr>
          <p:cNvPr id="1316" name="Google Shape;1316;p67"/>
          <p:cNvSpPr/>
          <p:nvPr/>
        </p:nvSpPr>
        <p:spPr>
          <a:xfrm>
            <a:off x="1396960" y="5206963"/>
            <a:ext cx="19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3254A"/>
              </a:buClr>
              <a:buSzPts val="1600"/>
              <a:buFont typeface="Sora"/>
              <a:buNone/>
            </a:pPr>
            <a:r>
              <a:rPr b="1" i="0" lang="en-US" sz="1600" u="none" cap="none" strike="noStrike">
                <a:solidFill>
                  <a:srgbClr val="13254A"/>
                </a:solidFill>
                <a:latin typeface="Sora"/>
                <a:ea typeface="Sora"/>
                <a:cs typeface="Sora"/>
                <a:sym typeface="Sora"/>
              </a:rPr>
              <a:t>Mobile</a:t>
            </a:r>
            <a:endParaRPr b="0" i="0" sz="1600" u="none" cap="none" strike="noStrike">
              <a:solidFill>
                <a:schemeClr val="dk1"/>
              </a:solidFill>
              <a:latin typeface="Calibri"/>
              <a:ea typeface="Calibri"/>
              <a:cs typeface="Calibri"/>
              <a:sym typeface="Calibri"/>
            </a:endParaRPr>
          </a:p>
        </p:txBody>
      </p:sp>
      <p:sp>
        <p:nvSpPr>
          <p:cNvPr id="1317" name="Google Shape;1317;p67"/>
          <p:cNvSpPr/>
          <p:nvPr/>
        </p:nvSpPr>
        <p:spPr>
          <a:xfrm>
            <a:off x="2984480" y="3263863"/>
            <a:ext cx="1384500" cy="39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62D3A"/>
              </a:buClr>
              <a:buSzPts val="1200"/>
              <a:buFont typeface="Sora"/>
              <a:buNone/>
            </a:pPr>
            <a:r>
              <a:rPr b="0" i="1" lang="en-US" sz="1200" u="none" cap="none" strike="noStrike">
                <a:solidFill>
                  <a:srgbClr val="C62D3A"/>
                </a:solidFill>
                <a:latin typeface="Sora"/>
                <a:ea typeface="Sora"/>
                <a:cs typeface="Sora"/>
                <a:sym typeface="Sora"/>
              </a:rPr>
              <a:t>known applicant profile</a:t>
            </a:r>
            <a:endParaRPr b="0" i="0" sz="1200" u="none" cap="none" strike="noStrike">
              <a:solidFill>
                <a:schemeClr val="dk1"/>
              </a:solidFill>
              <a:latin typeface="Calibri"/>
              <a:ea typeface="Calibri"/>
              <a:cs typeface="Calibri"/>
              <a:sym typeface="Calibri"/>
            </a:endParaRPr>
          </a:p>
        </p:txBody>
      </p:sp>
      <p:sp>
        <p:nvSpPr>
          <p:cNvPr id="1318" name="Google Shape;1318;p67"/>
          <p:cNvSpPr/>
          <p:nvPr/>
        </p:nvSpPr>
        <p:spPr>
          <a:xfrm>
            <a:off x="4324330" y="1847831"/>
            <a:ext cx="3162300" cy="3773700"/>
          </a:xfrm>
          <a:prstGeom prst="roundRect">
            <a:avLst>
              <a:gd fmla="val 3815" name="adj"/>
            </a:avLst>
          </a:prstGeom>
          <a:solidFill>
            <a:srgbClr val="FBFAF8"/>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67"/>
          <p:cNvSpPr/>
          <p:nvPr/>
        </p:nvSpPr>
        <p:spPr>
          <a:xfrm>
            <a:off x="4583371" y="2106873"/>
            <a:ext cx="2723700" cy="512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3254A"/>
              </a:buClr>
              <a:buSzPts val="1600"/>
              <a:buFont typeface="Sora"/>
              <a:buNone/>
            </a:pPr>
            <a:r>
              <a:rPr b="1" i="0" lang="en-US" sz="1600" u="none" cap="none" strike="noStrike">
                <a:solidFill>
                  <a:srgbClr val="13254A"/>
                </a:solidFill>
                <a:latin typeface="Sora"/>
                <a:ea typeface="Sora"/>
                <a:cs typeface="Sora"/>
                <a:sym typeface="Sora"/>
              </a:rPr>
              <a:t>Find your Manav Rachna fit</a:t>
            </a:r>
            <a:endParaRPr b="0" i="0" sz="1600" u="none" cap="none" strike="noStrike">
              <a:solidFill>
                <a:schemeClr val="dk1"/>
              </a:solidFill>
              <a:latin typeface="Calibri"/>
              <a:ea typeface="Calibri"/>
              <a:cs typeface="Calibri"/>
              <a:sym typeface="Calibri"/>
            </a:endParaRPr>
          </a:p>
        </p:txBody>
      </p:sp>
      <p:sp>
        <p:nvSpPr>
          <p:cNvPr id="1320" name="Google Shape;1320;p67"/>
          <p:cNvSpPr/>
          <p:nvPr/>
        </p:nvSpPr>
        <p:spPr>
          <a:xfrm>
            <a:off x="4589721" y="2702344"/>
            <a:ext cx="2631600" cy="426900"/>
          </a:xfrm>
          <a:prstGeom prst="roundRect">
            <a:avLst>
              <a:gd fmla="val 13395" name="adj"/>
            </a:avLst>
          </a:prstGeom>
          <a:solidFill>
            <a:srgbClr val="EDF0F5"/>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67"/>
          <p:cNvSpPr/>
          <p:nvPr/>
        </p:nvSpPr>
        <p:spPr>
          <a:xfrm>
            <a:off x="4747201" y="2809024"/>
            <a:ext cx="23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Course you're interested in</a:t>
            </a:r>
            <a:endParaRPr b="0" i="0" sz="1200" u="none" cap="none" strike="noStrike">
              <a:solidFill>
                <a:schemeClr val="dk1"/>
              </a:solidFill>
              <a:latin typeface="Calibri"/>
              <a:ea typeface="Calibri"/>
              <a:cs typeface="Calibri"/>
              <a:sym typeface="Calibri"/>
            </a:endParaRPr>
          </a:p>
        </p:txBody>
      </p:sp>
      <p:sp>
        <p:nvSpPr>
          <p:cNvPr id="1322" name="Google Shape;1322;p67"/>
          <p:cNvSpPr/>
          <p:nvPr/>
        </p:nvSpPr>
        <p:spPr>
          <a:xfrm>
            <a:off x="4589721" y="3243244"/>
            <a:ext cx="2631600" cy="426900"/>
          </a:xfrm>
          <a:prstGeom prst="roundRect">
            <a:avLst>
              <a:gd fmla="val 13395" name="adj"/>
            </a:avLst>
          </a:prstGeom>
          <a:solidFill>
            <a:srgbClr val="EDF0F5"/>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67"/>
          <p:cNvSpPr/>
          <p:nvPr/>
        </p:nvSpPr>
        <p:spPr>
          <a:xfrm>
            <a:off x="4747201" y="3349924"/>
            <a:ext cx="23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MRIIRS · MRU · Not sure yet</a:t>
            </a:r>
            <a:endParaRPr b="0" i="0" sz="1200" u="none" cap="none" strike="noStrike">
              <a:solidFill>
                <a:schemeClr val="dk1"/>
              </a:solidFill>
              <a:latin typeface="Calibri"/>
              <a:ea typeface="Calibri"/>
              <a:cs typeface="Calibri"/>
              <a:sym typeface="Calibri"/>
            </a:endParaRPr>
          </a:p>
        </p:txBody>
      </p:sp>
      <p:sp>
        <p:nvSpPr>
          <p:cNvPr id="1324" name="Google Shape;1324;p67"/>
          <p:cNvSpPr/>
          <p:nvPr/>
        </p:nvSpPr>
        <p:spPr>
          <a:xfrm>
            <a:off x="4589721" y="3784144"/>
            <a:ext cx="2631600" cy="426900"/>
          </a:xfrm>
          <a:prstGeom prst="roundRect">
            <a:avLst>
              <a:gd fmla="val 13395" name="adj"/>
            </a:avLst>
          </a:prstGeom>
          <a:solidFill>
            <a:srgbClr val="EDF0F5"/>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67"/>
          <p:cNvSpPr/>
          <p:nvPr/>
        </p:nvSpPr>
        <p:spPr>
          <a:xfrm>
            <a:off x="4747201" y="3890824"/>
            <a:ext cx="23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Name</a:t>
            </a:r>
            <a:endParaRPr b="0" i="0" sz="1200" u="none" cap="none" strike="noStrike">
              <a:solidFill>
                <a:schemeClr val="dk1"/>
              </a:solidFill>
              <a:latin typeface="Calibri"/>
              <a:ea typeface="Calibri"/>
              <a:cs typeface="Calibri"/>
              <a:sym typeface="Calibri"/>
            </a:endParaRPr>
          </a:p>
        </p:txBody>
      </p:sp>
      <p:sp>
        <p:nvSpPr>
          <p:cNvPr id="1326" name="Google Shape;1326;p67"/>
          <p:cNvSpPr/>
          <p:nvPr/>
        </p:nvSpPr>
        <p:spPr>
          <a:xfrm>
            <a:off x="4589721" y="4325045"/>
            <a:ext cx="2631600" cy="426900"/>
          </a:xfrm>
          <a:prstGeom prst="roundRect">
            <a:avLst>
              <a:gd fmla="val 13395" name="adj"/>
            </a:avLst>
          </a:prstGeom>
          <a:solidFill>
            <a:srgbClr val="EDF0F5"/>
          </a:solidFill>
          <a:ln cap="flat" cmpd="sng" w="16925">
            <a:solidFill>
              <a:srgbClr val="DCE2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67"/>
          <p:cNvSpPr/>
          <p:nvPr/>
        </p:nvSpPr>
        <p:spPr>
          <a:xfrm>
            <a:off x="4747201" y="4431725"/>
            <a:ext cx="2385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200"/>
              <a:buFont typeface="Sora"/>
              <a:buNone/>
            </a:pPr>
            <a:r>
              <a:rPr b="0" i="0" lang="en-US" sz="1200" u="none" cap="none" strike="noStrike">
                <a:solidFill>
                  <a:srgbClr val="7A8494"/>
                </a:solidFill>
                <a:latin typeface="Sora"/>
                <a:ea typeface="Sora"/>
                <a:cs typeface="Sora"/>
                <a:sym typeface="Sora"/>
              </a:rPr>
              <a:t>Mobile number</a:t>
            </a:r>
            <a:endParaRPr b="0" i="0" sz="1200" u="none" cap="none" strike="noStrike">
              <a:solidFill>
                <a:schemeClr val="dk1"/>
              </a:solidFill>
              <a:latin typeface="Calibri"/>
              <a:ea typeface="Calibri"/>
              <a:cs typeface="Calibri"/>
              <a:sym typeface="Calibri"/>
            </a:endParaRPr>
          </a:p>
        </p:txBody>
      </p:sp>
      <p:sp>
        <p:nvSpPr>
          <p:cNvPr id="1328" name="Google Shape;1328;p67"/>
          <p:cNvSpPr/>
          <p:nvPr/>
        </p:nvSpPr>
        <p:spPr>
          <a:xfrm>
            <a:off x="4583371" y="4859598"/>
            <a:ext cx="2643900" cy="502800"/>
          </a:xfrm>
          <a:prstGeom prst="roundRect">
            <a:avLst>
              <a:gd fmla="val 12628" name="adj"/>
            </a:avLst>
          </a:prstGeom>
          <a:solidFill>
            <a:srgbClr val="C6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67"/>
          <p:cNvSpPr/>
          <p:nvPr/>
        </p:nvSpPr>
        <p:spPr>
          <a:xfrm>
            <a:off x="4700680" y="4986598"/>
            <a:ext cx="2409600" cy="274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6F4EF"/>
              </a:buClr>
              <a:buSzPts val="1500"/>
              <a:buFont typeface="Sora"/>
              <a:buNone/>
            </a:pPr>
            <a:r>
              <a:rPr b="1" i="0" lang="en-US" sz="1500" u="none" cap="none" strike="noStrike">
                <a:solidFill>
                  <a:srgbClr val="F6F4EF"/>
                </a:solidFill>
                <a:latin typeface="Sora"/>
                <a:ea typeface="Sora"/>
                <a:cs typeface="Sora"/>
                <a:sym typeface="Sora"/>
              </a:rPr>
              <a:t>Compare my options</a:t>
            </a:r>
            <a:endParaRPr b="0" i="0" sz="1500" u="none" cap="none" strike="noStrike">
              <a:solidFill>
                <a:schemeClr val="dk1"/>
              </a:solidFill>
              <a:latin typeface="Calibri"/>
              <a:ea typeface="Calibri"/>
              <a:cs typeface="Calibri"/>
              <a:sym typeface="Calibri"/>
            </a:endParaRPr>
          </a:p>
        </p:txBody>
      </p:sp>
      <p:sp>
        <p:nvSpPr>
          <p:cNvPr id="1330" name="Google Shape;1330;p67"/>
          <p:cNvSpPr/>
          <p:nvPr/>
        </p:nvSpPr>
        <p:spPr>
          <a:xfrm>
            <a:off x="7873967" y="2106867"/>
            <a:ext cx="3822000" cy="3290400"/>
          </a:xfrm>
          <a:prstGeom prst="roundRect">
            <a:avLst>
              <a:gd fmla="val 3387" name="adj"/>
            </a:avLst>
          </a:prstGeom>
          <a:solidFill>
            <a:srgbClr val="13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67"/>
          <p:cNvSpPr/>
          <p:nvPr/>
        </p:nvSpPr>
        <p:spPr>
          <a:xfrm>
            <a:off x="8178614" y="2413386"/>
            <a:ext cx="3309300" cy="295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EA6DA"/>
              </a:buClr>
              <a:buSzPts val="1600"/>
              <a:buFont typeface="Sora"/>
              <a:buNone/>
            </a:pPr>
            <a:r>
              <a:rPr b="1" i="0" lang="en-US" sz="1600" u="none" cap="none" strike="noStrike">
                <a:solidFill>
                  <a:srgbClr val="7EA6DA"/>
                </a:solidFill>
                <a:latin typeface="Sora"/>
                <a:ea typeface="Sora"/>
                <a:cs typeface="Sora"/>
                <a:sym typeface="Sora"/>
              </a:rPr>
              <a:t>Then — a relevant shortlist</a:t>
            </a:r>
            <a:endParaRPr b="0" i="0" sz="1600" u="none" cap="none" strike="noStrike">
              <a:solidFill>
                <a:schemeClr val="dk1"/>
              </a:solidFill>
              <a:latin typeface="Calibri"/>
              <a:ea typeface="Calibri"/>
              <a:cs typeface="Calibri"/>
              <a:sym typeface="Calibri"/>
            </a:endParaRPr>
          </a:p>
        </p:txBody>
      </p:sp>
      <p:sp>
        <p:nvSpPr>
          <p:cNvPr id="1332" name="Google Shape;1332;p67"/>
          <p:cNvSpPr/>
          <p:nvPr/>
        </p:nvSpPr>
        <p:spPr>
          <a:xfrm>
            <a:off x="8178614" y="2834074"/>
            <a:ext cx="3309300" cy="788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300"/>
              <a:buFont typeface="Sora"/>
              <a:buNone/>
            </a:pPr>
            <a:r>
              <a:rPr b="0" i="0" lang="en-US" sz="1300" u="none" cap="none" strike="noStrike">
                <a:solidFill>
                  <a:srgbClr val="F6F4EF"/>
                </a:solidFill>
                <a:latin typeface="Sora"/>
                <a:ea typeface="Sora"/>
                <a:cs typeface="Sora"/>
                <a:sym typeface="Sora"/>
              </a:rPr>
              <a:t>The right program at the right campus, with fees and eligibility attached.</a:t>
            </a:r>
            <a:endParaRPr b="0" i="0" sz="1300" u="none" cap="none" strike="noStrike">
              <a:solidFill>
                <a:schemeClr val="dk1"/>
              </a:solidFill>
              <a:latin typeface="Calibri"/>
              <a:ea typeface="Calibri"/>
              <a:cs typeface="Calibri"/>
              <a:sym typeface="Calibri"/>
            </a:endParaRPr>
          </a:p>
        </p:txBody>
      </p:sp>
      <p:sp>
        <p:nvSpPr>
          <p:cNvPr id="1333" name="Google Shape;1333;p67"/>
          <p:cNvSpPr/>
          <p:nvPr/>
        </p:nvSpPr>
        <p:spPr>
          <a:xfrm>
            <a:off x="8178614" y="3747949"/>
            <a:ext cx="3309300" cy="963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5E6"/>
              </a:buClr>
              <a:buSzPts val="1200"/>
              <a:buFont typeface="Sora"/>
              <a:buNone/>
            </a:pPr>
            <a:r>
              <a:rPr b="0" i="0" lang="en-US" sz="1200" u="none" cap="none" strike="noStrike">
                <a:solidFill>
                  <a:srgbClr val="C9D5E6"/>
                </a:solidFill>
                <a:latin typeface="Sora"/>
                <a:ea typeface="Sora"/>
                <a:cs typeface="Sora"/>
                <a:sym typeface="Sora"/>
              </a:rPr>
              <a:t>Today users bounce between three copies of the same section — MRU → /mriirs 166, B.Tech → /academics/undergraduate 167.</a:t>
            </a:r>
            <a:endParaRPr b="0" i="0" sz="1200" u="none" cap="none" strike="noStrike">
              <a:solidFill>
                <a:schemeClr val="dk1"/>
              </a:solidFill>
              <a:latin typeface="Calibri"/>
              <a:ea typeface="Calibri"/>
              <a:cs typeface="Calibri"/>
              <a:sym typeface="Calibri"/>
            </a:endParaRPr>
          </a:p>
        </p:txBody>
      </p:sp>
      <p:sp>
        <p:nvSpPr>
          <p:cNvPr id="1334" name="Google Shape;1334;p67"/>
          <p:cNvSpPr/>
          <p:nvPr/>
        </p:nvSpPr>
        <p:spPr>
          <a:xfrm>
            <a:off x="8178614" y="4924600"/>
            <a:ext cx="3309300" cy="281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300"/>
              <a:buFont typeface="Sora"/>
              <a:buNone/>
            </a:pPr>
            <a:r>
              <a:rPr b="1" i="0" lang="en-US" sz="1300" u="none" cap="none" strike="noStrike">
                <a:solidFill>
                  <a:srgbClr val="F6F4EF"/>
                </a:solidFill>
                <a:latin typeface="Sora"/>
                <a:ea typeface="Sora"/>
                <a:cs typeface="Sora"/>
                <a:sym typeface="Sora"/>
              </a:rPr>
              <a:t>Ask once. Show one answer.</a:t>
            </a:r>
            <a:endParaRPr b="0" i="0" sz="1300" u="none" cap="none" strike="noStrike">
              <a:solidFill>
                <a:schemeClr val="dk1"/>
              </a:solidFill>
              <a:latin typeface="Calibri"/>
              <a:ea typeface="Calibri"/>
              <a:cs typeface="Calibri"/>
              <a:sym typeface="Calibri"/>
            </a:endParaRPr>
          </a:p>
        </p:txBody>
      </p:sp>
      <p:sp>
        <p:nvSpPr>
          <p:cNvPr id="1335" name="Google Shape;1335;p67"/>
          <p:cNvSpPr/>
          <p:nvPr/>
        </p:nvSpPr>
        <p:spPr>
          <a:xfrm>
            <a:off x="812780" y="6197563"/>
            <a:ext cx="108831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494"/>
              </a:buClr>
              <a:buSzPts val="1300"/>
              <a:buFont typeface="Sora"/>
              <a:buNone/>
            </a:pPr>
            <a:r>
              <a:rPr b="0" i="1" lang="en-US" sz="1300" u="none" cap="none" strike="noStrike">
                <a:solidFill>
                  <a:srgbClr val="7A8494"/>
                </a:solidFill>
                <a:latin typeface="Sora"/>
                <a:ea typeface="Sora"/>
                <a:cs typeface="Sora"/>
                <a:sym typeface="Sora"/>
              </a:rPr>
              <a:t>Course → Institution → Contact · one short, mobile-first step.</a:t>
            </a:r>
            <a:endParaRPr b="0" i="0" sz="1300" u="none" cap="none" strike="noStrike">
              <a:solidFill>
                <a:schemeClr val="dk1"/>
              </a:solidFill>
              <a:latin typeface="Calibri"/>
              <a:ea typeface="Calibri"/>
              <a:cs typeface="Calibri"/>
              <a:sym typeface="Calibri"/>
            </a:endParaRPr>
          </a:p>
        </p:txBody>
      </p:sp>
      <p:sp>
        <p:nvSpPr>
          <p:cNvPr id="1336" name="Rounded Rectangle 1335"/>
          <p:cNvSpPr/>
          <p:nvPr/>
        </p:nvSpPr>
        <p:spPr>
          <a:xfrm>
            <a:off x="9052560" y="54864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F2C5C"/>
        </a:solidFill>
        <a:effectLst/>
      </p:bgPr>
    </p:bg>
    <p:spTree>
      <p:nvGrpSpPr>
        <p:cNvPr id="1" name=""/>
        <p:cNvGrpSpPr/>
        <p:nvPr/>
      </p:nvGrpSpPr>
      <p:grpSpPr/>
      <p:sp>
        <p:nvSpPr>
          <p:cNvPr id="2" name="TextBox 1"/>
          <p:cNvSpPr txBox="1"/>
          <p:nvPr/>
        </p:nvSpPr>
        <p:spPr>
          <a:xfrm>
            <a:off x="822960" y="2514600"/>
            <a:ext cx="2743200" cy="457200"/>
          </a:xfrm>
          <a:prstGeom prst="rect">
            <a:avLst/>
          </a:prstGeom>
          <a:noFill/>
        </p:spPr>
        <p:txBody>
          <a:bodyPr wrap="square" lIns="0" rIns="0" tIns="0" bIns="0" anchor="t">
            <a:spAutoFit/>
          </a:bodyPr>
          <a:lstStyle/>
          <a:p>
            <a:pPr algn="l"/>
            <a:r>
              <a:rPr sz="1600" b="1" i="0">
                <a:solidFill>
                  <a:srgbClr val="C8102E"/>
                </a:solidFill>
                <a:latin typeface="Sora"/>
              </a:rPr>
              <a:t>06</a:t>
            </a:r>
          </a:p>
        </p:txBody>
      </p:sp>
      <p:sp>
        <p:nvSpPr>
          <p:cNvPr id="3" name="TextBox 2"/>
          <p:cNvSpPr txBox="1"/>
          <p:nvPr/>
        </p:nvSpPr>
        <p:spPr>
          <a:xfrm>
            <a:off x="822960" y="2926080"/>
            <a:ext cx="10058400" cy="731520"/>
          </a:xfrm>
          <a:prstGeom prst="rect">
            <a:avLst/>
          </a:prstGeom>
          <a:noFill/>
        </p:spPr>
        <p:txBody>
          <a:bodyPr wrap="square" lIns="0" rIns="0" tIns="0" bIns="0" anchor="t">
            <a:spAutoFit/>
          </a:bodyPr>
          <a:lstStyle/>
          <a:p>
            <a:pPr algn="l"/>
            <a:r>
              <a:rPr sz="3400" b="1" i="0">
                <a:solidFill>
                  <a:srgbClr val="FFFFFF"/>
                </a:solidFill>
                <a:latin typeface="Sora"/>
              </a:rPr>
              <a:t>Page &amp; template opportunities</a:t>
            </a:r>
          </a:p>
        </p:txBody>
      </p:sp>
      <p:sp>
        <p:nvSpPr>
          <p:cNvPr id="4" name="TextBox 3"/>
          <p:cNvSpPr txBox="1"/>
          <p:nvPr/>
        </p:nvSpPr>
        <p:spPr>
          <a:xfrm>
            <a:off x="822960" y="3703320"/>
            <a:ext cx="9601200" cy="548640"/>
          </a:xfrm>
          <a:prstGeom prst="rect">
            <a:avLst/>
          </a:prstGeom>
          <a:noFill/>
        </p:spPr>
        <p:txBody>
          <a:bodyPr wrap="square" lIns="0" rIns="0" tIns="0" bIns="0" anchor="t">
            <a:spAutoFit/>
          </a:bodyPr>
          <a:lstStyle/>
          <a:p>
            <a:pPr algn="l"/>
            <a:r>
              <a:rPr sz="1400" b="0" i="0">
                <a:solidFill>
                  <a:srgbClr val="CADCFC"/>
                </a:solidFill>
                <a:latin typeface="Sora"/>
              </a:rPr>
              <a:t>Problem → evidence → recommendation → expected behaviour → KPI.</a:t>
            </a: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nvSpPr>
        <p:spPr>
          <a:xfrm>
            <a:off x="548640" y="411480"/>
            <a:ext cx="110643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3200"/>
              <a:buFont typeface="Sora"/>
              <a:buNone/>
            </a:pPr>
            <a:r>
              <a:rPr b="1" i="0" lang="en-US" sz="3200" u="none" cap="none" strike="noStrike">
                <a:solidFill>
                  <a:srgbClr val="0F2C5C"/>
                </a:solidFill>
                <a:latin typeface="Sora"/>
                <a:ea typeface="Sora"/>
                <a:cs typeface="Sora"/>
                <a:sym typeface="Sora"/>
              </a:rPr>
              <a:t>What CRO will do about it</a:t>
            </a:r>
            <a:endParaRPr b="0" i="0" sz="3200" u="none" cap="none" strike="noStrike">
              <a:solidFill>
                <a:schemeClr val="dk1"/>
              </a:solidFill>
              <a:latin typeface="Calibri"/>
              <a:ea typeface="Calibri"/>
              <a:cs typeface="Calibri"/>
              <a:sym typeface="Calibri"/>
            </a:endParaRPr>
          </a:p>
        </p:txBody>
      </p:sp>
      <p:sp>
        <p:nvSpPr>
          <p:cNvPr id="198" name="Google Shape;198;p20"/>
          <p:cNvSpPr txBox="1"/>
          <p:nvPr/>
        </p:nvSpPr>
        <p:spPr>
          <a:xfrm>
            <a:off x="548640" y="1005840"/>
            <a:ext cx="11064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500"/>
              <a:buFont typeface="Sora"/>
              <a:buNone/>
            </a:pPr>
            <a:r>
              <a:rPr b="0" i="0" lang="en-US" sz="1500" u="none" cap="none" strike="noStrike">
                <a:solidFill>
                  <a:srgbClr val="5A6472"/>
                </a:solidFill>
                <a:latin typeface="Sora"/>
                <a:ea typeface="Sora"/>
                <a:cs typeface="Sora"/>
                <a:sym typeface="Sora"/>
              </a:rPr>
              <a:t>One onward path and one capture point for every journey</a:t>
            </a:r>
            <a:endParaRPr b="0" i="0" sz="1500" u="none" cap="none" strike="noStrike">
              <a:solidFill>
                <a:schemeClr val="dk1"/>
              </a:solidFill>
              <a:latin typeface="Calibri"/>
              <a:ea typeface="Calibri"/>
              <a:cs typeface="Calibri"/>
              <a:sym typeface="Calibri"/>
            </a:endParaRPr>
          </a:p>
        </p:txBody>
      </p:sp>
      <p:sp>
        <p:nvSpPr>
          <p:cNvPr id="199" name="Google Shape;199;p20"/>
          <p:cNvSpPr txBox="1"/>
          <p:nvPr/>
        </p:nvSpPr>
        <p:spPr>
          <a:xfrm>
            <a:off x="731520" y="1481328"/>
            <a:ext cx="2102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1" i="0" lang="en-US" sz="900" u="none" cap="none" strike="noStrike">
                <a:solidFill>
                  <a:srgbClr val="96A1B0"/>
                </a:solidFill>
                <a:latin typeface="Sora"/>
                <a:ea typeface="Sora"/>
                <a:cs typeface="Sora"/>
                <a:sym typeface="Sora"/>
              </a:rPr>
              <a:t>PERSONA</a:t>
            </a:r>
            <a:endParaRPr b="0" i="0" sz="900" u="none" cap="none" strike="noStrike">
              <a:solidFill>
                <a:schemeClr val="dk1"/>
              </a:solidFill>
              <a:latin typeface="Calibri"/>
              <a:ea typeface="Calibri"/>
              <a:cs typeface="Calibri"/>
              <a:sym typeface="Calibri"/>
            </a:endParaRPr>
          </a:p>
        </p:txBody>
      </p:sp>
      <p:sp>
        <p:nvSpPr>
          <p:cNvPr id="200" name="Google Shape;200;p20"/>
          <p:cNvSpPr txBox="1"/>
          <p:nvPr/>
        </p:nvSpPr>
        <p:spPr>
          <a:xfrm>
            <a:off x="3108960" y="1481328"/>
            <a:ext cx="4206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1" i="0" lang="en-US" sz="900" u="none" cap="none" strike="noStrike">
                <a:solidFill>
                  <a:srgbClr val="96A1B0"/>
                </a:solidFill>
                <a:latin typeface="Sora"/>
                <a:ea typeface="Sora"/>
                <a:cs typeface="Sora"/>
                <a:sym typeface="Sora"/>
              </a:rPr>
              <a:t>JOURNEY FIX</a:t>
            </a:r>
            <a:endParaRPr b="0" i="0" sz="900" u="none" cap="none" strike="noStrike">
              <a:solidFill>
                <a:schemeClr val="dk1"/>
              </a:solidFill>
              <a:latin typeface="Calibri"/>
              <a:ea typeface="Calibri"/>
              <a:cs typeface="Calibri"/>
              <a:sym typeface="Calibri"/>
            </a:endParaRPr>
          </a:p>
        </p:txBody>
      </p:sp>
      <p:sp>
        <p:nvSpPr>
          <p:cNvPr id="201" name="Google Shape;201;p20"/>
          <p:cNvSpPr txBox="1"/>
          <p:nvPr/>
        </p:nvSpPr>
        <p:spPr>
          <a:xfrm>
            <a:off x="7452360" y="1481328"/>
            <a:ext cx="2102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1" i="0" lang="en-US" sz="900" u="none" cap="none" strike="noStrike">
                <a:solidFill>
                  <a:srgbClr val="96A1B0"/>
                </a:solidFill>
                <a:latin typeface="Sora"/>
                <a:ea typeface="Sora"/>
                <a:cs typeface="Sora"/>
                <a:sym typeface="Sora"/>
              </a:rPr>
              <a:t>MICRO-CONVERSION</a:t>
            </a:r>
            <a:endParaRPr b="0" i="0" sz="900" u="none" cap="none" strike="noStrike">
              <a:solidFill>
                <a:schemeClr val="dk1"/>
              </a:solidFill>
              <a:latin typeface="Calibri"/>
              <a:ea typeface="Calibri"/>
              <a:cs typeface="Calibri"/>
              <a:sym typeface="Calibri"/>
            </a:endParaRPr>
          </a:p>
        </p:txBody>
      </p:sp>
      <p:sp>
        <p:nvSpPr>
          <p:cNvPr id="202" name="Google Shape;202;p20"/>
          <p:cNvSpPr txBox="1"/>
          <p:nvPr/>
        </p:nvSpPr>
        <p:spPr>
          <a:xfrm>
            <a:off x="9646920" y="1481328"/>
            <a:ext cx="1646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1" i="0" lang="en-US" sz="900" u="none" cap="none" strike="noStrike">
                <a:solidFill>
                  <a:srgbClr val="96A1B0"/>
                </a:solidFill>
                <a:latin typeface="Sora"/>
                <a:ea typeface="Sora"/>
                <a:cs typeface="Sora"/>
                <a:sym typeface="Sora"/>
              </a:rPr>
              <a:t>MEASURED BY</a:t>
            </a:r>
            <a:endParaRPr b="0" i="0" sz="900" u="none" cap="none" strike="noStrike">
              <a:solidFill>
                <a:schemeClr val="dk1"/>
              </a:solidFill>
              <a:latin typeface="Calibri"/>
              <a:ea typeface="Calibri"/>
              <a:cs typeface="Calibri"/>
              <a:sym typeface="Calibri"/>
            </a:endParaRPr>
          </a:p>
        </p:txBody>
      </p:sp>
      <p:sp>
        <p:nvSpPr>
          <p:cNvPr id="203" name="Google Shape;203;p20"/>
          <p:cNvSpPr/>
          <p:nvPr/>
        </p:nvSpPr>
        <p:spPr>
          <a:xfrm>
            <a:off x="548640" y="1783080"/>
            <a:ext cx="10881300" cy="768000"/>
          </a:xfrm>
          <a:prstGeom prst="roundRect">
            <a:avLst>
              <a:gd fmla="val 952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0"/>
          <p:cNvSpPr txBox="1"/>
          <p:nvPr/>
        </p:nvSpPr>
        <p:spPr>
          <a:xfrm>
            <a:off x="731520" y="1892808"/>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1" i="0" lang="en-US" sz="1300" u="none" cap="none" strike="noStrike">
                <a:solidFill>
                  <a:srgbClr val="0F2C5C"/>
                </a:solidFill>
                <a:latin typeface="Sora"/>
                <a:ea typeface="Sora"/>
                <a:cs typeface="Sora"/>
                <a:sym typeface="Sora"/>
              </a:rPr>
              <a:t>Course Researcher</a:t>
            </a:r>
            <a:endParaRPr b="0" i="0" sz="1300" u="none" cap="none" strike="noStrike">
              <a:solidFill>
                <a:schemeClr val="dk1"/>
              </a:solidFill>
              <a:latin typeface="Calibri"/>
              <a:ea typeface="Calibri"/>
              <a:cs typeface="Calibri"/>
              <a:sym typeface="Calibri"/>
            </a:endParaRPr>
          </a:p>
        </p:txBody>
      </p:sp>
      <p:sp>
        <p:nvSpPr>
          <p:cNvPr id="205" name="Google Shape;205;p20"/>
          <p:cNvSpPr txBox="1"/>
          <p:nvPr/>
        </p:nvSpPr>
        <p:spPr>
          <a:xfrm>
            <a:off x="731520" y="2203704"/>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53,812 sessions</a:t>
            </a:r>
            <a:endParaRPr b="0" i="0" sz="1100" u="none" cap="none" strike="noStrike">
              <a:solidFill>
                <a:schemeClr val="dk1"/>
              </a:solidFill>
              <a:latin typeface="Calibri"/>
              <a:ea typeface="Calibri"/>
              <a:cs typeface="Calibri"/>
              <a:sym typeface="Calibri"/>
            </a:endParaRPr>
          </a:p>
        </p:txBody>
      </p:sp>
      <p:sp>
        <p:nvSpPr>
          <p:cNvPr id="206" name="Google Shape;206;p20"/>
          <p:cNvSpPr txBox="1"/>
          <p:nvPr/>
        </p:nvSpPr>
        <p:spPr>
          <a:xfrm>
            <a:off x="3108960" y="1929384"/>
            <a:ext cx="416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Bring course-specific fees, eligibility and outcomes onto the course page itself</a:t>
            </a:r>
            <a:endParaRPr b="0" i="0" sz="1200" u="none" cap="none" strike="noStrike">
              <a:solidFill>
                <a:schemeClr val="dk1"/>
              </a:solidFill>
              <a:latin typeface="Calibri"/>
              <a:ea typeface="Calibri"/>
              <a:cs typeface="Calibri"/>
              <a:sym typeface="Calibri"/>
            </a:endParaRPr>
          </a:p>
        </p:txBody>
      </p:sp>
      <p:sp>
        <p:nvSpPr>
          <p:cNvPr id="207" name="Google Shape;207;p20"/>
          <p:cNvSpPr txBox="1"/>
          <p:nvPr/>
        </p:nvSpPr>
        <p:spPr>
          <a:xfrm>
            <a:off x="7452360" y="2020824"/>
            <a:ext cx="2102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200"/>
              <a:buFont typeface="Sora"/>
              <a:buNone/>
            </a:pPr>
            <a:r>
              <a:rPr b="1" i="0" lang="en-US" sz="1200" u="none" cap="none" strike="noStrike">
                <a:solidFill>
                  <a:srgbClr val="C8102E"/>
                </a:solidFill>
                <a:latin typeface="Sora"/>
                <a:ea typeface="Sora"/>
                <a:cs typeface="Sora"/>
                <a:sym typeface="Sora"/>
              </a:rPr>
              <a:t>Download the course brochure</a:t>
            </a:r>
            <a:endParaRPr b="0" i="0" sz="1200" u="none" cap="none" strike="noStrike">
              <a:solidFill>
                <a:schemeClr val="dk1"/>
              </a:solidFill>
              <a:latin typeface="Calibri"/>
              <a:ea typeface="Calibri"/>
              <a:cs typeface="Calibri"/>
              <a:sym typeface="Calibri"/>
            </a:endParaRPr>
          </a:p>
        </p:txBody>
      </p:sp>
      <p:sp>
        <p:nvSpPr>
          <p:cNvPr id="208" name="Google Shape;208;p20"/>
          <p:cNvSpPr txBox="1"/>
          <p:nvPr/>
        </p:nvSpPr>
        <p:spPr>
          <a:xfrm>
            <a:off x="9646920" y="1965960"/>
            <a:ext cx="160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Course page → capture rate</a:t>
            </a:r>
            <a:endParaRPr b="0" i="0" sz="1100" u="none" cap="none" strike="noStrike">
              <a:solidFill>
                <a:schemeClr val="dk1"/>
              </a:solidFill>
              <a:latin typeface="Calibri"/>
              <a:ea typeface="Calibri"/>
              <a:cs typeface="Calibri"/>
              <a:sym typeface="Calibri"/>
            </a:endParaRPr>
          </a:p>
        </p:txBody>
      </p:sp>
      <p:sp>
        <p:nvSpPr>
          <p:cNvPr id="209" name="Google Shape;209;p20"/>
          <p:cNvSpPr/>
          <p:nvPr/>
        </p:nvSpPr>
        <p:spPr>
          <a:xfrm>
            <a:off x="548640" y="2642616"/>
            <a:ext cx="10881300" cy="768000"/>
          </a:xfrm>
          <a:prstGeom prst="roundRect">
            <a:avLst>
              <a:gd fmla="val 9524" name="adj"/>
            </a:avLst>
          </a:prstGeom>
          <a:solidFill>
            <a:srgbClr val="F7F8FA"/>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0"/>
          <p:cNvSpPr txBox="1"/>
          <p:nvPr/>
        </p:nvSpPr>
        <p:spPr>
          <a:xfrm>
            <a:off x="731520" y="2752344"/>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1" i="0" lang="en-US" sz="1300" u="none" cap="none" strike="noStrike">
                <a:solidFill>
                  <a:srgbClr val="0F2C5C"/>
                </a:solidFill>
                <a:latin typeface="Sora"/>
                <a:ea typeface="Sora"/>
                <a:cs typeface="Sora"/>
                <a:sym typeface="Sora"/>
              </a:rPr>
              <a:t>Cost Checker</a:t>
            </a:r>
            <a:endParaRPr b="0" i="0" sz="1300" u="none" cap="none" strike="noStrike">
              <a:solidFill>
                <a:schemeClr val="dk1"/>
              </a:solidFill>
              <a:latin typeface="Calibri"/>
              <a:ea typeface="Calibri"/>
              <a:cs typeface="Calibri"/>
              <a:sym typeface="Calibri"/>
            </a:endParaRPr>
          </a:p>
        </p:txBody>
      </p:sp>
      <p:sp>
        <p:nvSpPr>
          <p:cNvPr id="211" name="Google Shape;211;p20"/>
          <p:cNvSpPr txBox="1"/>
          <p:nvPr/>
        </p:nvSpPr>
        <p:spPr>
          <a:xfrm>
            <a:off x="731520" y="3063240"/>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23,219 sessions</a:t>
            </a:r>
            <a:endParaRPr b="0" i="0" sz="1100" u="none" cap="none" strike="noStrike">
              <a:solidFill>
                <a:schemeClr val="dk1"/>
              </a:solidFill>
              <a:latin typeface="Calibri"/>
              <a:ea typeface="Calibri"/>
              <a:cs typeface="Calibri"/>
              <a:sym typeface="Calibri"/>
            </a:endParaRPr>
          </a:p>
        </p:txBody>
      </p:sp>
      <p:sp>
        <p:nvSpPr>
          <p:cNvPr id="212" name="Google Shape;212;p20"/>
          <p:cNvSpPr txBox="1"/>
          <p:nvPr/>
        </p:nvSpPr>
        <p:spPr>
          <a:xfrm>
            <a:off x="3108960" y="2788920"/>
            <a:ext cx="416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Make the fee page answer one course at a time — filtered, anchored, comparable</a:t>
            </a:r>
            <a:endParaRPr b="0" i="0" sz="1200" u="none" cap="none" strike="noStrike">
              <a:solidFill>
                <a:schemeClr val="dk1"/>
              </a:solidFill>
              <a:latin typeface="Calibri"/>
              <a:ea typeface="Calibri"/>
              <a:cs typeface="Calibri"/>
              <a:sym typeface="Calibri"/>
            </a:endParaRPr>
          </a:p>
        </p:txBody>
      </p:sp>
      <p:sp>
        <p:nvSpPr>
          <p:cNvPr id="213" name="Google Shape;213;p20"/>
          <p:cNvSpPr txBox="1"/>
          <p:nvPr/>
        </p:nvSpPr>
        <p:spPr>
          <a:xfrm>
            <a:off x="7452360" y="2880360"/>
            <a:ext cx="2102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200"/>
              <a:buFont typeface="Sora"/>
              <a:buNone/>
            </a:pPr>
            <a:r>
              <a:rPr b="1" i="0" lang="en-US" sz="1200" u="none" cap="none" strike="noStrike">
                <a:solidFill>
                  <a:srgbClr val="C8102E"/>
                </a:solidFill>
                <a:latin typeface="Sora"/>
                <a:ea typeface="Sora"/>
                <a:cs typeface="Sora"/>
                <a:sym typeface="Sora"/>
              </a:rPr>
              <a:t>Check my eligibility</a:t>
            </a:r>
            <a:endParaRPr b="0" i="0" sz="1200" u="none" cap="none" strike="noStrike">
              <a:solidFill>
                <a:schemeClr val="dk1"/>
              </a:solidFill>
              <a:latin typeface="Calibri"/>
              <a:ea typeface="Calibri"/>
              <a:cs typeface="Calibri"/>
              <a:sym typeface="Calibri"/>
            </a:endParaRPr>
          </a:p>
        </p:txBody>
      </p:sp>
      <p:sp>
        <p:nvSpPr>
          <p:cNvPr id="214" name="Google Shape;214;p20"/>
          <p:cNvSpPr txBox="1"/>
          <p:nvPr/>
        </p:nvSpPr>
        <p:spPr>
          <a:xfrm>
            <a:off x="9646920" y="2825496"/>
            <a:ext cx="160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Fee page → forward exit rate</a:t>
            </a:r>
            <a:endParaRPr b="0" i="0" sz="1100" u="none" cap="none" strike="noStrike">
              <a:solidFill>
                <a:schemeClr val="dk1"/>
              </a:solidFill>
              <a:latin typeface="Calibri"/>
              <a:ea typeface="Calibri"/>
              <a:cs typeface="Calibri"/>
              <a:sym typeface="Calibri"/>
            </a:endParaRPr>
          </a:p>
        </p:txBody>
      </p:sp>
      <p:sp>
        <p:nvSpPr>
          <p:cNvPr id="215" name="Google Shape;215;p20"/>
          <p:cNvSpPr/>
          <p:nvPr/>
        </p:nvSpPr>
        <p:spPr>
          <a:xfrm>
            <a:off x="548640" y="3502152"/>
            <a:ext cx="10881300" cy="768000"/>
          </a:xfrm>
          <a:prstGeom prst="roundRect">
            <a:avLst>
              <a:gd fmla="val 952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
          <p:cNvSpPr txBox="1"/>
          <p:nvPr/>
        </p:nvSpPr>
        <p:spPr>
          <a:xfrm>
            <a:off x="731520" y="3611880"/>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1" i="0" lang="en-US" sz="1300" u="none" cap="none" strike="noStrike">
                <a:solidFill>
                  <a:srgbClr val="0F2C5C"/>
                </a:solidFill>
                <a:latin typeface="Sora"/>
                <a:ea typeface="Sora"/>
                <a:cs typeface="Sora"/>
                <a:sym typeface="Sora"/>
              </a:rPr>
              <a:t>Early Explorer</a:t>
            </a:r>
            <a:endParaRPr b="0" i="0" sz="1300" u="none" cap="none" strike="noStrike">
              <a:solidFill>
                <a:schemeClr val="dk1"/>
              </a:solidFill>
              <a:latin typeface="Calibri"/>
              <a:ea typeface="Calibri"/>
              <a:cs typeface="Calibri"/>
              <a:sym typeface="Calibri"/>
            </a:endParaRPr>
          </a:p>
        </p:txBody>
      </p:sp>
      <p:sp>
        <p:nvSpPr>
          <p:cNvPr id="217" name="Google Shape;217;p20"/>
          <p:cNvSpPr txBox="1"/>
          <p:nvPr/>
        </p:nvSpPr>
        <p:spPr>
          <a:xfrm>
            <a:off x="731520" y="3922776"/>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22,813 sessions</a:t>
            </a:r>
            <a:endParaRPr b="0" i="0" sz="1100" u="none" cap="none" strike="noStrike">
              <a:solidFill>
                <a:schemeClr val="dk1"/>
              </a:solidFill>
              <a:latin typeface="Calibri"/>
              <a:ea typeface="Calibri"/>
              <a:cs typeface="Calibri"/>
              <a:sym typeface="Calibri"/>
            </a:endParaRPr>
          </a:p>
        </p:txBody>
      </p:sp>
      <p:sp>
        <p:nvSpPr>
          <p:cNvPr id="218" name="Google Shape;218;p20"/>
          <p:cNvSpPr txBox="1"/>
          <p:nvPr/>
        </p:nvSpPr>
        <p:spPr>
          <a:xfrm>
            <a:off x="3108960" y="3648456"/>
            <a:ext cx="416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Link every article to the course it describes, in context and mid-article</a:t>
            </a:r>
            <a:endParaRPr b="0" i="0" sz="1200" u="none" cap="none" strike="noStrike">
              <a:solidFill>
                <a:schemeClr val="dk1"/>
              </a:solidFill>
              <a:latin typeface="Calibri"/>
              <a:ea typeface="Calibri"/>
              <a:cs typeface="Calibri"/>
              <a:sym typeface="Calibri"/>
            </a:endParaRPr>
          </a:p>
        </p:txBody>
      </p:sp>
      <p:sp>
        <p:nvSpPr>
          <p:cNvPr id="219" name="Google Shape;219;p20"/>
          <p:cNvSpPr txBox="1"/>
          <p:nvPr/>
        </p:nvSpPr>
        <p:spPr>
          <a:xfrm>
            <a:off x="7452360" y="3739896"/>
            <a:ext cx="2102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200"/>
              <a:buFont typeface="Sora"/>
              <a:buNone/>
            </a:pPr>
            <a:r>
              <a:rPr b="1" i="0" lang="en-US" sz="1200" u="none" cap="none" strike="noStrike">
                <a:solidFill>
                  <a:srgbClr val="C8102E"/>
                </a:solidFill>
                <a:latin typeface="Sora"/>
                <a:ea typeface="Sora"/>
                <a:cs typeface="Sora"/>
                <a:sym typeface="Sora"/>
              </a:rPr>
              <a:t>Get the career guide</a:t>
            </a:r>
            <a:endParaRPr b="0" i="0" sz="1200" u="none" cap="none" strike="noStrike">
              <a:solidFill>
                <a:schemeClr val="dk1"/>
              </a:solidFill>
              <a:latin typeface="Calibri"/>
              <a:ea typeface="Calibri"/>
              <a:cs typeface="Calibri"/>
              <a:sym typeface="Calibri"/>
            </a:endParaRPr>
          </a:p>
        </p:txBody>
      </p:sp>
      <p:sp>
        <p:nvSpPr>
          <p:cNvPr id="220" name="Google Shape;220;p20"/>
          <p:cNvSpPr txBox="1"/>
          <p:nvPr/>
        </p:nvSpPr>
        <p:spPr>
          <a:xfrm>
            <a:off x="9646920" y="3685032"/>
            <a:ext cx="160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Article → course page rate</a:t>
            </a:r>
            <a:endParaRPr b="0" i="0" sz="1100" u="none" cap="none" strike="noStrike">
              <a:solidFill>
                <a:schemeClr val="dk1"/>
              </a:solidFill>
              <a:latin typeface="Calibri"/>
              <a:ea typeface="Calibri"/>
              <a:cs typeface="Calibri"/>
              <a:sym typeface="Calibri"/>
            </a:endParaRPr>
          </a:p>
        </p:txBody>
      </p:sp>
      <p:sp>
        <p:nvSpPr>
          <p:cNvPr id="221" name="Google Shape;221;p20"/>
          <p:cNvSpPr/>
          <p:nvPr/>
        </p:nvSpPr>
        <p:spPr>
          <a:xfrm>
            <a:off x="548640" y="4361688"/>
            <a:ext cx="10881300" cy="768000"/>
          </a:xfrm>
          <a:prstGeom prst="roundRect">
            <a:avLst>
              <a:gd fmla="val 9524" name="adj"/>
            </a:avLst>
          </a:prstGeom>
          <a:solidFill>
            <a:srgbClr val="F7F8FA"/>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0"/>
          <p:cNvSpPr txBox="1"/>
          <p:nvPr/>
        </p:nvSpPr>
        <p:spPr>
          <a:xfrm>
            <a:off x="731520" y="4471416"/>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1" i="0" lang="en-US" sz="1300" u="none" cap="none" strike="noStrike">
                <a:solidFill>
                  <a:srgbClr val="0F2C5C"/>
                </a:solidFill>
                <a:latin typeface="Sora"/>
                <a:ea typeface="Sora"/>
                <a:cs typeface="Sora"/>
                <a:sym typeface="Sora"/>
              </a:rPr>
              <a:t>Proof Seeker</a:t>
            </a:r>
            <a:endParaRPr b="0" i="0" sz="1300" u="none" cap="none" strike="noStrike">
              <a:solidFill>
                <a:schemeClr val="dk1"/>
              </a:solidFill>
              <a:latin typeface="Calibri"/>
              <a:ea typeface="Calibri"/>
              <a:cs typeface="Calibri"/>
              <a:sym typeface="Calibri"/>
            </a:endParaRPr>
          </a:p>
        </p:txBody>
      </p:sp>
      <p:sp>
        <p:nvSpPr>
          <p:cNvPr id="223" name="Google Shape;223;p20"/>
          <p:cNvSpPr txBox="1"/>
          <p:nvPr/>
        </p:nvSpPr>
        <p:spPr>
          <a:xfrm>
            <a:off x="731520" y="4782312"/>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27,579 sessions</a:t>
            </a:r>
            <a:endParaRPr b="0" i="0" sz="1100" u="none" cap="none" strike="noStrike">
              <a:solidFill>
                <a:schemeClr val="dk1"/>
              </a:solidFill>
              <a:latin typeface="Calibri"/>
              <a:ea typeface="Calibri"/>
              <a:cs typeface="Calibri"/>
              <a:sym typeface="Calibri"/>
            </a:endParaRPr>
          </a:p>
        </p:txBody>
      </p:sp>
      <p:sp>
        <p:nvSpPr>
          <p:cNvPr id="224" name="Google Shape;224;p20"/>
          <p:cNvSpPr txBox="1"/>
          <p:nvPr/>
        </p:nvSpPr>
        <p:spPr>
          <a:xfrm>
            <a:off x="3108960" y="4507992"/>
            <a:ext cx="416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Surface placements and faculty proof inside the course journey, not five levels down</a:t>
            </a:r>
            <a:endParaRPr b="0" i="0" sz="1200" u="none" cap="none" strike="noStrike">
              <a:solidFill>
                <a:schemeClr val="dk1"/>
              </a:solidFill>
              <a:latin typeface="Calibri"/>
              <a:ea typeface="Calibri"/>
              <a:cs typeface="Calibri"/>
              <a:sym typeface="Calibri"/>
            </a:endParaRPr>
          </a:p>
        </p:txBody>
      </p:sp>
      <p:sp>
        <p:nvSpPr>
          <p:cNvPr id="225" name="Google Shape;225;p20"/>
          <p:cNvSpPr txBox="1"/>
          <p:nvPr/>
        </p:nvSpPr>
        <p:spPr>
          <a:xfrm>
            <a:off x="7452360" y="4599432"/>
            <a:ext cx="2102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200"/>
              <a:buFont typeface="Sora"/>
              <a:buNone/>
            </a:pPr>
            <a:r>
              <a:rPr b="1" i="0" lang="en-US" sz="1200" u="none" cap="none" strike="noStrike">
                <a:solidFill>
                  <a:srgbClr val="C8102E"/>
                </a:solidFill>
                <a:latin typeface="Sora"/>
                <a:ea typeface="Sora"/>
                <a:cs typeface="Sora"/>
                <a:sym typeface="Sora"/>
              </a:rPr>
              <a:t>Book a campus visit</a:t>
            </a:r>
            <a:endParaRPr b="0" i="0" sz="1200" u="none" cap="none" strike="noStrike">
              <a:solidFill>
                <a:schemeClr val="dk1"/>
              </a:solidFill>
              <a:latin typeface="Calibri"/>
              <a:ea typeface="Calibri"/>
              <a:cs typeface="Calibri"/>
              <a:sym typeface="Calibri"/>
            </a:endParaRPr>
          </a:p>
        </p:txBody>
      </p:sp>
      <p:sp>
        <p:nvSpPr>
          <p:cNvPr id="226" name="Google Shape;226;p20"/>
          <p:cNvSpPr txBox="1"/>
          <p:nvPr/>
        </p:nvSpPr>
        <p:spPr>
          <a:xfrm>
            <a:off x="9646920" y="4544568"/>
            <a:ext cx="160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Proof page → course page rate</a:t>
            </a:r>
            <a:endParaRPr b="0" i="0" sz="1100" u="none" cap="none" strike="noStrike">
              <a:solidFill>
                <a:schemeClr val="dk1"/>
              </a:solidFill>
              <a:latin typeface="Calibri"/>
              <a:ea typeface="Calibri"/>
              <a:cs typeface="Calibri"/>
              <a:sym typeface="Calibri"/>
            </a:endParaRPr>
          </a:p>
        </p:txBody>
      </p:sp>
      <p:sp>
        <p:nvSpPr>
          <p:cNvPr id="227" name="Google Shape;227;p20"/>
          <p:cNvSpPr/>
          <p:nvPr/>
        </p:nvSpPr>
        <p:spPr>
          <a:xfrm>
            <a:off x="548640" y="5221224"/>
            <a:ext cx="10881300" cy="768000"/>
          </a:xfrm>
          <a:prstGeom prst="roundRect">
            <a:avLst>
              <a:gd fmla="val 9524"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txBox="1"/>
          <p:nvPr/>
        </p:nvSpPr>
        <p:spPr>
          <a:xfrm>
            <a:off x="731520" y="5330952"/>
            <a:ext cx="2194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300"/>
              <a:buFont typeface="Sora"/>
              <a:buNone/>
            </a:pPr>
            <a:r>
              <a:rPr b="1" i="0" lang="en-US" sz="1300" u="none" cap="none" strike="noStrike">
                <a:solidFill>
                  <a:srgbClr val="0F2C5C"/>
                </a:solidFill>
                <a:latin typeface="Sora"/>
                <a:ea typeface="Sora"/>
                <a:cs typeface="Sora"/>
                <a:sym typeface="Sora"/>
              </a:rPr>
              <a:t>University Shortlister</a:t>
            </a:r>
            <a:endParaRPr b="0" i="0" sz="1300" u="none" cap="none" strike="noStrike">
              <a:solidFill>
                <a:schemeClr val="dk1"/>
              </a:solidFill>
              <a:latin typeface="Calibri"/>
              <a:ea typeface="Calibri"/>
              <a:cs typeface="Calibri"/>
              <a:sym typeface="Calibri"/>
            </a:endParaRPr>
          </a:p>
        </p:txBody>
      </p:sp>
      <p:sp>
        <p:nvSpPr>
          <p:cNvPr id="229" name="Google Shape;229;p20"/>
          <p:cNvSpPr txBox="1"/>
          <p:nvPr/>
        </p:nvSpPr>
        <p:spPr>
          <a:xfrm>
            <a:off x="731520" y="5641848"/>
            <a:ext cx="219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Sora"/>
              <a:buNone/>
            </a:pPr>
            <a:r>
              <a:rPr b="1" i="0" lang="en-US" sz="1100" u="none" cap="none" strike="noStrike">
                <a:solidFill>
                  <a:srgbClr val="C8102E"/>
                </a:solidFill>
                <a:latin typeface="Sora"/>
                <a:ea typeface="Sora"/>
                <a:cs typeface="Sora"/>
                <a:sym typeface="Sora"/>
              </a:rPr>
              <a:t>18,752 sessions</a:t>
            </a:r>
            <a:endParaRPr b="0" i="0" sz="1100" u="none" cap="none" strike="noStrike">
              <a:solidFill>
                <a:schemeClr val="dk1"/>
              </a:solidFill>
              <a:latin typeface="Calibri"/>
              <a:ea typeface="Calibri"/>
              <a:cs typeface="Calibri"/>
              <a:sym typeface="Calibri"/>
            </a:endParaRPr>
          </a:p>
        </p:txBody>
      </p:sp>
      <p:sp>
        <p:nvSpPr>
          <p:cNvPr id="230" name="Google Shape;230;p20"/>
          <p:cNvSpPr txBox="1"/>
          <p:nvPr/>
        </p:nvSpPr>
        <p:spPr>
          <a:xfrm>
            <a:off x="3108960" y="5367528"/>
            <a:ext cx="416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C5C"/>
              </a:buClr>
              <a:buSzPts val="1200"/>
              <a:buFont typeface="Sora"/>
              <a:buNone/>
            </a:pPr>
            <a:r>
              <a:rPr b="0" i="0" lang="en-US" sz="1200" u="none" cap="none" strike="noStrike">
                <a:solidFill>
                  <a:srgbClr val="0F2C5C"/>
                </a:solidFill>
                <a:latin typeface="Sora"/>
                <a:ea typeface="Sora"/>
                <a:cs typeface="Sora"/>
                <a:sym typeface="Sora"/>
              </a:rPr>
              <a:t>Already works — replicate its navigation pattern across institution and school pages</a:t>
            </a:r>
            <a:endParaRPr b="0" i="0" sz="1200" u="none" cap="none" strike="noStrike">
              <a:solidFill>
                <a:schemeClr val="dk1"/>
              </a:solidFill>
              <a:latin typeface="Calibri"/>
              <a:ea typeface="Calibri"/>
              <a:cs typeface="Calibri"/>
              <a:sym typeface="Calibri"/>
            </a:endParaRPr>
          </a:p>
        </p:txBody>
      </p:sp>
      <p:sp>
        <p:nvSpPr>
          <p:cNvPr id="231" name="Google Shape;231;p20"/>
          <p:cNvSpPr txBox="1"/>
          <p:nvPr/>
        </p:nvSpPr>
        <p:spPr>
          <a:xfrm>
            <a:off x="7452360" y="5458968"/>
            <a:ext cx="2102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200"/>
              <a:buFont typeface="Sora"/>
              <a:buNone/>
            </a:pPr>
            <a:r>
              <a:rPr b="1" i="0" lang="en-US" sz="1200" u="none" cap="none" strike="noStrike">
                <a:solidFill>
                  <a:srgbClr val="C8102E"/>
                </a:solidFill>
                <a:latin typeface="Sora"/>
                <a:ea typeface="Sora"/>
                <a:cs typeface="Sora"/>
                <a:sym typeface="Sora"/>
              </a:rPr>
              <a:t>Talk to a counsellor</a:t>
            </a:r>
            <a:endParaRPr b="0" i="0" sz="1200" u="none" cap="none" strike="noStrike">
              <a:solidFill>
                <a:schemeClr val="dk1"/>
              </a:solidFill>
              <a:latin typeface="Calibri"/>
              <a:ea typeface="Calibri"/>
              <a:cs typeface="Calibri"/>
              <a:sym typeface="Calibri"/>
            </a:endParaRPr>
          </a:p>
        </p:txBody>
      </p:sp>
      <p:sp>
        <p:nvSpPr>
          <p:cNvPr id="232" name="Google Shape;232;p20"/>
          <p:cNvSpPr txBox="1"/>
          <p:nvPr/>
        </p:nvSpPr>
        <p:spPr>
          <a:xfrm>
            <a:off x="9646920" y="5404104"/>
            <a:ext cx="1600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Sora"/>
              <a:buNone/>
            </a:pPr>
            <a:r>
              <a:rPr b="0" i="0" lang="en-US" sz="1100" u="none" cap="none" strike="noStrike">
                <a:solidFill>
                  <a:srgbClr val="5A6472"/>
                </a:solidFill>
                <a:latin typeface="Sora"/>
                <a:ea typeface="Sora"/>
                <a:cs typeface="Sora"/>
                <a:sym typeface="Sora"/>
              </a:rPr>
              <a:t>Hub → course page rate</a:t>
            </a:r>
            <a:endParaRPr b="0" i="0" sz="1100" u="none" cap="none" strike="noStrike">
              <a:solidFill>
                <a:schemeClr val="dk1"/>
              </a:solidFill>
              <a:latin typeface="Calibri"/>
              <a:ea typeface="Calibri"/>
              <a:cs typeface="Calibri"/>
              <a:sym typeface="Calibri"/>
            </a:endParaRPr>
          </a:p>
        </p:txBody>
      </p:sp>
      <p:sp>
        <p:nvSpPr>
          <p:cNvPr id="233" name="Google Shape;233;p20"/>
          <p:cNvSpPr txBox="1"/>
          <p:nvPr/>
        </p:nvSpPr>
        <p:spPr>
          <a:xfrm>
            <a:off x="548640" y="6355080"/>
            <a:ext cx="110643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A1B0"/>
              </a:buClr>
              <a:buSzPts val="900"/>
              <a:buFont typeface="Sora"/>
              <a:buNone/>
            </a:pPr>
            <a:r>
              <a:rPr b="0" i="0" lang="en-US" sz="900" u="none" cap="none" strike="noStrike">
                <a:solidFill>
                  <a:srgbClr val="96A1B0"/>
                </a:solidFill>
                <a:latin typeface="Sora"/>
                <a:ea typeface="Sora"/>
                <a:cs typeface="Sora"/>
                <a:sym typeface="Sora"/>
              </a:rPr>
              <a:t>Micro-conversions are lead-generating events placed at the point research completes, not at the top of the page. Session volumes from GA4, 13 Jun – 10 Sept 2026.</a:t>
            </a:r>
            <a:endParaRPr b="0" i="0" sz="900" u="none" cap="none" strike="noStrike">
              <a:solidFill>
                <a:schemeClr val="dk1"/>
              </a:solidFill>
              <a:latin typeface="Calibri"/>
              <a:ea typeface="Calibri"/>
              <a:cs typeface="Calibri"/>
              <a:sym typeface="Calibri"/>
            </a:endParaRPr>
          </a:p>
        </p:txBody>
      </p:sp>
      <p:sp>
        <p:nvSpPr>
          <p:cNvPr id="234" name="Rounded Rectangle 233"/>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PAGE OPPORTUNITIES  ·  COURSE TEMPLATE</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Course pages: finish the decision on the page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Applies to every programme page — B.Tech CSE first</a:t>
            </a:r>
          </a:p>
        </p:txBody>
      </p:sp>
      <p:sp>
        <p:nvSpPr>
          <p:cNvPr id="5" name="Rounded Rectangle 4"/>
          <p:cNvSpPr/>
          <p:nvPr/>
        </p:nvSpPr>
        <p:spPr>
          <a:xfrm>
            <a:off x="548640" y="1600200"/>
            <a:ext cx="2051913" cy="3977639"/>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PROBLEM</a:t>
            </a:r>
          </a:p>
        </p:txBody>
      </p:sp>
      <p:sp>
        <p:nvSpPr>
          <p:cNvPr id="7" name="TextBox 6"/>
          <p:cNvSpPr txBox="1"/>
          <p:nvPr/>
        </p:nvSpPr>
        <p:spPr>
          <a:xfrm>
            <a:off x="685800"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Users leave the course page to fetch the fee, then stop. The fee answer on the page is buried and incomplete.</a:t>
            </a:r>
          </a:p>
        </p:txBody>
      </p:sp>
      <p:sp>
        <p:nvSpPr>
          <p:cNvPr id="8" name="Right Arrow 7"/>
          <p:cNvSpPr/>
          <p:nvPr/>
        </p:nvSpPr>
        <p:spPr>
          <a:xfrm>
            <a:off x="2618841"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01721" y="1600200"/>
            <a:ext cx="2051913" cy="3977639"/>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8881"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EVIDENCE</a:t>
            </a:r>
          </a:p>
        </p:txBody>
      </p:sp>
      <p:sp>
        <p:nvSpPr>
          <p:cNvPr id="11" name="TextBox 10"/>
          <p:cNvSpPr txBox="1"/>
          <p:nvPr/>
        </p:nvSpPr>
        <p:spPr>
          <a:xfrm>
            <a:off x="2938881"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84.3% of onward movement goes to fees; 99.3% return; 6 continue [GA4]. Fee block at ~13 screens down [audit]. 516 file downloads vs 50 Apply clicks on course pages [CSV].</a:t>
            </a:r>
          </a:p>
        </p:txBody>
      </p:sp>
      <p:sp>
        <p:nvSpPr>
          <p:cNvPr id="12" name="Right Arrow 11"/>
          <p:cNvSpPr/>
          <p:nvPr/>
        </p:nvSpPr>
        <p:spPr>
          <a:xfrm>
            <a:off x="4871923"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54803" y="1600200"/>
            <a:ext cx="2051913" cy="3977639"/>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91963" y="1737360"/>
            <a:ext cx="1777593" cy="320040"/>
          </a:xfrm>
          <a:prstGeom prst="rect">
            <a:avLst/>
          </a:prstGeom>
          <a:noFill/>
        </p:spPr>
        <p:txBody>
          <a:bodyPr wrap="square" lIns="0" rIns="0" tIns="0" bIns="0" anchor="t">
            <a:spAutoFit/>
          </a:bodyPr>
          <a:lstStyle/>
          <a:p>
            <a:pPr algn="l"/>
            <a:r>
              <a:rPr sz="850" b="1" i="0">
                <a:solidFill>
                  <a:srgbClr val="CADCFC"/>
                </a:solidFill>
                <a:latin typeface="Sora"/>
              </a:rPr>
              <a:t>RECOMMENDATION</a:t>
            </a:r>
          </a:p>
        </p:txBody>
      </p:sp>
      <p:sp>
        <p:nvSpPr>
          <p:cNvPr id="15" name="TextBox 14"/>
          <p:cNvSpPr txBox="1"/>
          <p:nvPr/>
        </p:nvSpPr>
        <p:spPr>
          <a:xfrm>
            <a:off x="5191963" y="2148840"/>
            <a:ext cx="1777593" cy="3337559"/>
          </a:xfrm>
          <a:prstGeom prst="rect">
            <a:avLst/>
          </a:prstGeom>
          <a:noFill/>
        </p:spPr>
        <p:txBody>
          <a:bodyPr wrap="square" lIns="0" rIns="0" tIns="0" bIns="0" anchor="t">
            <a:spAutoFit/>
          </a:bodyPr>
          <a:lstStyle/>
          <a:p>
            <a:pPr algn="l">
              <a:spcAft>
                <a:spcPts val="500"/>
              </a:spcAft>
            </a:pPr>
            <a:r>
              <a:rPr sz="1150" b="0" i="0">
                <a:solidFill>
                  <a:srgbClr val="FFFFFF"/>
                </a:solidFill>
                <a:latin typeface="Sora"/>
              </a:rPr>
              <a:t>Fee summary at decision height: year 1, total, installments, specialisation variants — “Fee Details” expands in place. Pre-filtered link to the fee table. Brochure with an optional “send to WhatsApp”.</a:t>
            </a:r>
          </a:p>
        </p:txBody>
      </p:sp>
      <p:sp>
        <p:nvSpPr>
          <p:cNvPr id="16" name="Right Arrow 15"/>
          <p:cNvSpPr/>
          <p:nvPr/>
        </p:nvSpPr>
        <p:spPr>
          <a:xfrm>
            <a:off x="7125004"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07884" y="1600200"/>
            <a:ext cx="2051913" cy="3977639"/>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5044"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EXPECTED BEHAVIOUR CHANGE</a:t>
            </a:r>
          </a:p>
        </p:txBody>
      </p:sp>
      <p:sp>
        <p:nvSpPr>
          <p:cNvPr id="19" name="TextBox 18"/>
          <p:cNvSpPr txBox="1"/>
          <p:nvPr/>
        </p:nvSpPr>
        <p:spPr>
          <a:xfrm>
            <a:off x="7445044"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Fewer CSE → fee round-trips; more actions taken on the course page itself (brochure request, form start).</a:t>
            </a:r>
          </a:p>
        </p:txBody>
      </p:sp>
      <p:sp>
        <p:nvSpPr>
          <p:cNvPr id="20" name="Right Arrow 19"/>
          <p:cNvSpPr/>
          <p:nvPr/>
        </p:nvSpPr>
        <p:spPr>
          <a:xfrm>
            <a:off x="9378086"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60966" y="1600200"/>
            <a:ext cx="2051913" cy="3977639"/>
          </a:xfrm>
          <a:prstGeom prst="roundRect">
            <a:avLst>
              <a:gd name="adj" fmla="val 6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8126"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KPI</a:t>
            </a:r>
          </a:p>
        </p:txBody>
      </p:sp>
      <p:sp>
        <p:nvSpPr>
          <p:cNvPr id="23" name="TextBox 22"/>
          <p:cNvSpPr txBox="1"/>
          <p:nvPr/>
        </p:nvSpPr>
        <p:spPr>
          <a:xfrm>
            <a:off x="9698126"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Primary: leads on course pages. Secondary: fee-page exit share, brochure requests, form_start. Guardrail: engagement. Tests T4, T5, T6.</a:t>
            </a:r>
          </a:p>
        </p:txBody>
      </p:sp>
      <p:sp>
        <p:nvSpPr>
          <p:cNvPr id="24" name="TextBox 23"/>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GA4 event export by page type (event counts; separate pull, not directly comparable) · Live site audit, 24 Sept 2026.</a:t>
            </a:r>
          </a:p>
        </p:txBody>
      </p:sp>
      <p:sp>
        <p:nvSpPr>
          <p:cNvPr id="25" name="Rounded Rectangle 24"/>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8"/>
          <p:cNvSpPr txBox="1"/>
          <p:nvPr/>
        </p:nvSpPr>
        <p:spPr>
          <a:xfrm>
            <a:off x="548640" y="411480"/>
            <a:ext cx="10515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COURSE RESEARCHER — JOURNEY ORCHESTRATION</a:t>
            </a:r>
            <a:endParaRPr sz="1500"/>
          </a:p>
        </p:txBody>
      </p:sp>
      <p:sp>
        <p:nvSpPr>
          <p:cNvPr id="457" name="Google Shape;457;p28"/>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The next step is a choice, not a forced page</a:t>
            </a:r>
            <a:endParaRPr sz="1500"/>
          </a:p>
        </p:txBody>
      </p:sp>
      <p:sp>
        <p:nvSpPr>
          <p:cNvPr id="458" name="Google Shape;458;p28"/>
          <p:cNvSpPr txBox="1"/>
          <p:nvPr/>
        </p:nvSpPr>
        <p:spPr>
          <a:xfrm>
            <a:off x="548640" y="1207008"/>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Applied to the B.Tech CSE course page</a:t>
            </a:r>
            <a:endParaRPr sz="1500"/>
          </a:p>
        </p:txBody>
      </p:sp>
      <p:sp>
        <p:nvSpPr>
          <p:cNvPr id="459" name="Google Shape;459;p28"/>
          <p:cNvSpPr/>
          <p:nvPr/>
        </p:nvSpPr>
        <p:spPr>
          <a:xfrm>
            <a:off x="548640" y="2994660"/>
            <a:ext cx="2102700" cy="1554900"/>
          </a:xfrm>
          <a:prstGeom prst="roundRect">
            <a:avLst>
              <a:gd fmla="val 9000" name="adj"/>
            </a:avLst>
          </a:prstGeom>
          <a:solidFill>
            <a:srgbClr val="0F2C5C"/>
          </a:solidFill>
          <a:ln>
            <a:noFill/>
          </a:ln>
          <a:effectLst>
            <a:outerShdw blurRad="101600" rotWithShape="0" algn="t" dir="5400000" dist="25400">
              <a:srgbClr val="0F2C5C">
                <a:alpha val="12160"/>
              </a:srgbClr>
            </a:outerShdw>
          </a:effectLst>
        </p:spPr>
        <p:txBody>
          <a:bodyPr anchorCtr="0" anchor="ctr" bIns="137175" lIns="182875" spcFirstLastPara="1" rIns="182875"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A9BBDD"/>
                </a:solidFill>
                <a:latin typeface="Sora"/>
                <a:ea typeface="Sora"/>
                <a:cs typeface="Sora"/>
                <a:sym typeface="Sora"/>
              </a:rPr>
              <a:t>VISITOR LANDS ON</a:t>
            </a:r>
            <a:endParaRPr sz="1500"/>
          </a:p>
          <a:p>
            <a:pPr indent="0" lvl="0" marL="0" marR="0" rtl="0" algn="l">
              <a:lnSpc>
                <a:spcPct val="95000"/>
              </a:lnSpc>
              <a:spcBef>
                <a:spcPts val="500"/>
              </a:spcBef>
              <a:spcAft>
                <a:spcPts val="0"/>
              </a:spcAft>
              <a:buNone/>
            </a:pPr>
            <a:r>
              <a:rPr b="1" i="0" lang="en-US" sz="1500" u="none" cap="none" strike="noStrike">
                <a:solidFill>
                  <a:srgbClr val="FFFFFF"/>
                </a:solidFill>
                <a:latin typeface="Sora"/>
                <a:ea typeface="Sora"/>
                <a:cs typeface="Sora"/>
                <a:sym typeface="Sora"/>
              </a:rPr>
              <a:t>Course Page (e.g. B.Tech CSE)</a:t>
            </a:r>
            <a:endParaRPr sz="1500"/>
          </a:p>
        </p:txBody>
      </p:sp>
      <p:sp>
        <p:nvSpPr>
          <p:cNvPr id="460" name="Google Shape;460;p28"/>
          <p:cNvSpPr/>
          <p:nvPr/>
        </p:nvSpPr>
        <p:spPr>
          <a:xfrm>
            <a:off x="3035808" y="2903220"/>
            <a:ext cx="1737300" cy="1737300"/>
          </a:xfrm>
          <a:prstGeom prst="ellipse">
            <a:avLst/>
          </a:prstGeom>
          <a:solidFill>
            <a:srgbClr val="C8102E"/>
          </a:solidFill>
          <a:ln>
            <a:noFill/>
          </a:ln>
          <a:effectLst>
            <a:outerShdw blurRad="101600" rotWithShape="0" algn="t" dir="5400000" dist="25400">
              <a:srgbClr val="0F2C5C">
                <a:alpha val="12160"/>
              </a:srgbClr>
            </a:outerShdw>
          </a:effectLst>
        </p:spPr>
        <p:txBody>
          <a:bodyPr anchorCtr="0" anchor="ctr" bIns="45700" lIns="109725" spcFirstLastPara="1" rIns="109725" wrap="square" tIns="45700">
            <a:noAutofit/>
          </a:bodyPr>
          <a:lstStyle/>
          <a:p>
            <a:pPr indent="0" lvl="0" marL="0" marR="0" rtl="0" algn="ctr">
              <a:lnSpc>
                <a:spcPct val="95000"/>
              </a:lnSpc>
              <a:spcBef>
                <a:spcPts val="0"/>
              </a:spcBef>
              <a:spcAft>
                <a:spcPts val="0"/>
              </a:spcAft>
              <a:buNone/>
            </a:pPr>
            <a:r>
              <a:rPr b="1" i="0" lang="en-US" sz="1100" u="none" cap="none" strike="noStrike">
                <a:solidFill>
                  <a:srgbClr val="FFFFFF"/>
                </a:solidFill>
                <a:latin typeface="Sora"/>
                <a:ea typeface="Sora"/>
                <a:cs typeface="Sora"/>
                <a:sym typeface="Sora"/>
              </a:rPr>
              <a:t>What does the visitor need right now?</a:t>
            </a:r>
            <a:endParaRPr sz="1500"/>
          </a:p>
        </p:txBody>
      </p:sp>
      <p:cxnSp>
        <p:nvCxnSpPr>
          <p:cNvPr id="461" name="Google Shape;461;p28"/>
          <p:cNvCxnSpPr>
            <a:stCxn id="459" idx="3"/>
          </p:cNvCxnSpPr>
          <p:nvPr/>
        </p:nvCxnSpPr>
        <p:spPr>
          <a:xfrm>
            <a:off x="2651340" y="3772110"/>
            <a:ext cx="384000" cy="0"/>
          </a:xfrm>
          <a:prstGeom prst="straightConnector1">
            <a:avLst/>
          </a:prstGeom>
          <a:noFill/>
          <a:ln cap="flat" cmpd="sng" w="19075">
            <a:solidFill>
              <a:srgbClr val="9AA5B5"/>
            </a:solidFill>
            <a:prstDash val="solid"/>
            <a:round/>
            <a:headEnd len="sm" w="sm" type="none"/>
            <a:tailEnd len="med" w="med" type="triangle"/>
          </a:ln>
        </p:spPr>
      </p:cxnSp>
      <p:sp>
        <p:nvSpPr>
          <p:cNvPr id="462" name="Google Shape;462;p28"/>
          <p:cNvSpPr/>
          <p:nvPr/>
        </p:nvSpPr>
        <p:spPr>
          <a:xfrm>
            <a:off x="5138928" y="1627632"/>
            <a:ext cx="6501300" cy="2007300"/>
          </a:xfrm>
          <a:prstGeom prst="roundRect">
            <a:avLst>
              <a:gd fmla="val 6000" name="adj"/>
            </a:avLst>
          </a:prstGeom>
          <a:solidFill>
            <a:srgbClr val="EAF4ED"/>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463" name="Google Shape;463;p28"/>
          <p:cNvCxnSpPr>
            <a:stCxn id="460" idx="6"/>
            <a:endCxn id="462" idx="1"/>
          </p:cNvCxnSpPr>
          <p:nvPr/>
        </p:nvCxnSpPr>
        <p:spPr>
          <a:xfrm flipH="1" rot="10800000">
            <a:off x="4773108" y="2631270"/>
            <a:ext cx="365700" cy="1140600"/>
          </a:xfrm>
          <a:prstGeom prst="bentConnector3">
            <a:avLst>
              <a:gd fmla="val 49989" name="adj1"/>
            </a:avLst>
          </a:prstGeom>
          <a:noFill/>
          <a:ln cap="flat" cmpd="sng" w="19075">
            <a:solidFill>
              <a:srgbClr val="9AA5B5"/>
            </a:solidFill>
            <a:prstDash val="solid"/>
            <a:round/>
            <a:headEnd len="sm" w="sm" type="none"/>
            <a:tailEnd len="med" w="med" type="triangle"/>
          </a:ln>
        </p:spPr>
      </p:cxnSp>
      <p:sp>
        <p:nvSpPr>
          <p:cNvPr id="464" name="Google Shape;464;p28"/>
          <p:cNvSpPr/>
          <p:nvPr/>
        </p:nvSpPr>
        <p:spPr>
          <a:xfrm>
            <a:off x="5367528" y="1901952"/>
            <a:ext cx="731100" cy="274500"/>
          </a:xfrm>
          <a:prstGeom prst="roundRect">
            <a:avLst>
              <a:gd fmla="val 50000" name="adj"/>
            </a:avLst>
          </a:prstGeom>
          <a:solidFill>
            <a:srgbClr val="1E7B3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STAY</a:t>
            </a:r>
            <a:endParaRPr sz="1500"/>
          </a:p>
        </p:txBody>
      </p:sp>
      <p:sp>
        <p:nvSpPr>
          <p:cNvPr id="465" name="Google Shape;465;p28"/>
          <p:cNvSpPr/>
          <p:nvPr/>
        </p:nvSpPr>
        <p:spPr>
          <a:xfrm>
            <a:off x="5367528" y="2286000"/>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Answer stays on the page</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still has a question</a:t>
            </a:r>
            <a:endParaRPr sz="1500"/>
          </a:p>
        </p:txBody>
      </p:sp>
      <p:sp>
        <p:nvSpPr>
          <p:cNvPr id="466" name="Google Shape;466;p28"/>
          <p:cNvSpPr/>
          <p:nvPr/>
        </p:nvSpPr>
        <p:spPr>
          <a:xfrm>
            <a:off x="7424928" y="1856232"/>
            <a:ext cx="39867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ctr" bIns="137175" lIns="228600" spcFirstLastPara="1" rIns="228600"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1E7B34"/>
                </a:solidFill>
                <a:latin typeface="Sora"/>
                <a:ea typeface="Sora"/>
                <a:cs typeface="Sora"/>
                <a:sym typeface="Sora"/>
              </a:rPr>
              <a:t>ON THE PAGE</a:t>
            </a:r>
            <a:endParaRPr sz="1500"/>
          </a:p>
          <a:p>
            <a:pPr indent="0" lvl="0" marL="0" marR="0" rtl="0" algn="l">
              <a:lnSpc>
                <a:spcPct val="105000"/>
              </a:lnSpc>
              <a:spcBef>
                <a:spcPts val="500"/>
              </a:spcBef>
              <a:spcAft>
                <a:spcPts val="0"/>
              </a:spcAft>
              <a:buNone/>
            </a:pPr>
            <a:r>
              <a:rPr b="0" i="0" lang="en-US" sz="1200" u="none" cap="none" strike="noStrike">
                <a:solidFill>
                  <a:srgbClr val="0F2C5C"/>
                </a:solidFill>
                <a:latin typeface="Sora"/>
                <a:ea typeface="Sora"/>
                <a:cs typeface="Sora"/>
                <a:sym typeface="Sora"/>
              </a:rPr>
              <a:t>Fee, eligibility and placement snippets expand inline — the 84.3% round-trip to the fee page has nowhere left to go.</a:t>
            </a:r>
            <a:endParaRPr sz="1500"/>
          </a:p>
        </p:txBody>
      </p:sp>
      <p:sp>
        <p:nvSpPr>
          <p:cNvPr id="467" name="Google Shape;467;p28"/>
          <p:cNvSpPr/>
          <p:nvPr/>
        </p:nvSpPr>
        <p:spPr>
          <a:xfrm>
            <a:off x="5138928" y="3909060"/>
            <a:ext cx="6501300" cy="2007300"/>
          </a:xfrm>
          <a:prstGeom prst="roundRect">
            <a:avLst>
              <a:gd fmla="val 6000" name="adj"/>
            </a:avLst>
          </a:prstGeom>
          <a:solidFill>
            <a:srgbClr val="E8EEF7"/>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468" name="Google Shape;468;p28"/>
          <p:cNvCxnSpPr>
            <a:stCxn id="460" idx="6"/>
            <a:endCxn id="467" idx="1"/>
          </p:cNvCxnSpPr>
          <p:nvPr/>
        </p:nvCxnSpPr>
        <p:spPr>
          <a:xfrm>
            <a:off x="4773108" y="3771870"/>
            <a:ext cx="365700" cy="1140900"/>
          </a:xfrm>
          <a:prstGeom prst="bentConnector3">
            <a:avLst>
              <a:gd fmla="val 49989" name="adj1"/>
            </a:avLst>
          </a:prstGeom>
          <a:noFill/>
          <a:ln cap="flat" cmpd="sng" w="19075">
            <a:solidFill>
              <a:srgbClr val="9AA5B5"/>
            </a:solidFill>
            <a:prstDash val="solid"/>
            <a:round/>
            <a:headEnd len="sm" w="sm" type="none"/>
            <a:tailEnd len="med" w="med" type="triangle"/>
          </a:ln>
        </p:spPr>
      </p:cxnSp>
      <p:sp>
        <p:nvSpPr>
          <p:cNvPr id="469" name="Google Shape;469;p28"/>
          <p:cNvSpPr/>
          <p:nvPr/>
        </p:nvSpPr>
        <p:spPr>
          <a:xfrm>
            <a:off x="5367528" y="4183380"/>
            <a:ext cx="731100" cy="274500"/>
          </a:xfrm>
          <a:prstGeom prst="roundRect">
            <a:avLst>
              <a:gd fmla="val 50000" name="adj"/>
            </a:avLst>
          </a:prstGeom>
          <a:solidFill>
            <a:srgbClr val="0F2C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ACT</a:t>
            </a:r>
            <a:endParaRPr sz="1500"/>
          </a:p>
        </p:txBody>
      </p:sp>
      <p:sp>
        <p:nvSpPr>
          <p:cNvPr id="470" name="Google Shape;470;p28"/>
          <p:cNvSpPr/>
          <p:nvPr/>
        </p:nvSpPr>
        <p:spPr>
          <a:xfrm>
            <a:off x="5367528" y="4567428"/>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Pick one clear next step</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is ready to move</a:t>
            </a:r>
            <a:endParaRPr sz="1500"/>
          </a:p>
        </p:txBody>
      </p:sp>
      <p:sp>
        <p:nvSpPr>
          <p:cNvPr id="471" name="Google Shape;471;p28"/>
          <p:cNvSpPr/>
          <p:nvPr/>
        </p:nvSpPr>
        <p:spPr>
          <a:xfrm>
            <a:off x="7424928"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1</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Apply Now</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Opens a short lead form — name, phone, course pre-filled</a:t>
            </a:r>
            <a:endParaRPr sz="1500"/>
          </a:p>
        </p:txBody>
      </p:sp>
      <p:sp>
        <p:nvSpPr>
          <p:cNvPr id="472" name="Google Shape;472;p28"/>
          <p:cNvSpPr/>
          <p:nvPr/>
        </p:nvSpPr>
        <p:spPr>
          <a:xfrm>
            <a:off x="9509760"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2</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Download Brochure</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Direct PDF, no gate — optional “send to WhatsApp” captures the number</a:t>
            </a:r>
            <a:endParaRPr sz="1500"/>
          </a:p>
        </p:txBody>
      </p:sp>
      <p:sp>
        <p:nvSpPr>
          <p:cNvPr id="473" name="Google Shape;473;p28"/>
          <p:cNvSpPr/>
          <p:nvPr/>
        </p:nvSpPr>
        <p:spPr>
          <a:xfrm>
            <a:off x="548640" y="6172200"/>
            <a:ext cx="11091600" cy="502800"/>
          </a:xfrm>
          <a:prstGeom prst="roundRect">
            <a:avLst>
              <a:gd fmla="val 10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474" name="Google Shape;474;p28"/>
          <p:cNvSpPr txBox="1"/>
          <p:nvPr/>
        </p:nvSpPr>
        <p:spPr>
          <a:xfrm>
            <a:off x="777240" y="6172200"/>
            <a:ext cx="10607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1" lang="en-US" sz="1200" u="none" cap="none" strike="noStrike">
                <a:solidFill>
                  <a:srgbClr val="C8102E"/>
                </a:solidFill>
                <a:latin typeface="Sora"/>
                <a:ea typeface="Sora"/>
                <a:cs typeface="Sora"/>
                <a:sym typeface="Sora"/>
              </a:rPr>
              <a:t>The course page doesn't need to send readers to the fee page — it needs one clear place to act.</a:t>
            </a:r>
            <a:endParaRPr sz="1500"/>
          </a:p>
        </p:txBody>
      </p:sp>
      <p:sp>
        <p:nvSpPr>
          <p:cNvPr id="475" name="Rounded Rectangle 474"/>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sp>
        <p:nvSpPr>
          <p:cNvPr id="491" name="Google Shape;491;p30"/>
          <p:cNvSpPr txBox="1"/>
          <p:nvPr/>
        </p:nvSpPr>
        <p:spPr>
          <a:xfrm>
            <a:off x="457200" y="21830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C8102E"/>
                </a:solidFill>
                <a:latin typeface="Sora"/>
                <a:ea typeface="Calibri"/>
                <a:cs typeface="Calibri"/>
                <a:sym typeface="Calibri"/>
              </a:rPr>
              <a:t>COURSE TEMPLATE  ·  FIXES</a:t>
            </a:r>
            <a:r>
              <a:rPr b="1" lang="en-US" sz="1300" u="none">
                <a:solidFill>
                  <a:srgbClr val="C8102E"/>
                </a:solidFill>
                <a:latin typeface="Sora"/>
                <a:ea typeface="Calibri"/>
                <a:cs typeface="Calibri"/>
                <a:sym typeface="Calibri"/>
              </a:rPr>
              <a:t/>
            </a:r>
            <a:r>
              <a:rPr b="1" i="0" lang="en-US" sz="1300" u="none" cap="none" strike="noStrike">
                <a:solidFill>
                  <a:srgbClr val="C8102E"/>
                </a:solidFill>
                <a:latin typeface="Sora"/>
                <a:ea typeface="Calibri"/>
                <a:cs typeface="Calibri"/>
                <a:sym typeface="Calibri"/>
              </a:rPr>
              <a:t/>
            </a:r>
            <a:endParaRPr b="0" i="0" sz="1300" u="none" cap="none" strike="noStrike">
              <a:solidFill>
                <a:schemeClr val="dk1"/>
              </a:solidFill>
              <a:latin typeface="Calibri"/>
              <a:ea typeface="Calibri"/>
              <a:cs typeface="Calibri"/>
              <a:sym typeface="Calibri"/>
            </a:endParaRPr>
          </a:p>
        </p:txBody>
      </p:sp>
      <p:sp>
        <p:nvSpPr>
          <p:cNvPr id="492" name="Google Shape;492;p30"/>
          <p:cNvSpPr txBox="1"/>
          <p:nvPr/>
        </p:nvSpPr>
        <p:spPr>
          <a:xfrm>
            <a:off x="457200" y="556625"/>
            <a:ext cx="7946400" cy="68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320"/>
              </a:buClr>
              <a:buSzPts val="2700"/>
              <a:buFont typeface="Cambria"/>
              <a:buNone/>
            </a:pPr>
            <a:r>
              <a:rPr b="1" i="0" lang="en-US" sz="2700" u="none" cap="none" strike="noStrike">
                <a:solidFill>
                  <a:srgbClr val="0F2C5C"/>
                </a:solidFill>
                <a:latin typeface="Sora"/>
                <a:ea typeface="Cambria"/>
                <a:cs typeface="Cambria"/>
                <a:sym typeface="Cambria"/>
              </a:rPr>
              <a:t>Six fixes, ranked by effort vs. what breaks today</a:t>
            </a:r>
            <a:endParaRPr b="0" i="0" sz="2700" u="none" cap="none" strike="noStrike">
              <a:solidFill>
                <a:schemeClr val="dk1"/>
              </a:solidFill>
              <a:latin typeface="Calibri"/>
              <a:ea typeface="Calibri"/>
              <a:cs typeface="Calibri"/>
              <a:sym typeface="Calibri"/>
            </a:endParaRPr>
          </a:p>
        </p:txBody>
      </p:sp>
      <p:graphicFrame>
        <p:nvGraphicFramePr>
          <p:cNvPr id="493" name="Google Shape;493;p30"/>
          <p:cNvGraphicFramePr/>
          <p:nvPr/>
        </p:nvGraphicFramePr>
        <p:xfrm>
          <a:off x="457200" y="1554480"/>
          <a:ext cx="3000000" cy="3000000"/>
        </p:xfrm>
        <a:graphic>
          <a:graphicData uri="http://schemas.openxmlformats.org/drawingml/2006/table">
            <a:tbl>
              <a:tblPr>
                <a:noFill/>
                <a:tableStyleId>{AF987E92-83FC-4B9D-A84D-E1139F2F7CFC}</a:tableStyleId>
              </a:tblPr>
              <a:tblGrid>
                <a:gridCol w="512075"/>
                <a:gridCol w="3333525"/>
                <a:gridCol w="3350700"/>
                <a:gridCol w="1114200"/>
              </a:tblGrid>
              <a:tr h="63357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solidFill>
                      <a:srgbClr val="1B3E73"/>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Fix</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solidFill>
                      <a:srgbClr val="1B3E73"/>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Why it matters here</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solidFill>
                      <a:srgbClr val="1B3E73"/>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Effort</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solidFill>
                      <a:srgbClr val="1B3E73"/>
                    </a:solidFill>
                  </a:tcPr>
                </a:tc>
              </a:tr>
              <a:tr h="633575">
                <a:tc>
                  <a:txBody>
                    <a:bodyPr/>
                    <a:lstStyle/>
                    <a:p>
                      <a:pPr indent="0" lvl="0" marL="0" marR="0" rtl="0" algn="ctr">
                        <a:spcBef>
                          <a:spcPts val="0"/>
                        </a:spcBef>
                        <a:spcAft>
                          <a:spcPts val="0"/>
                        </a:spcAft>
                        <a:buClr>
                          <a:srgbClr val="990011"/>
                        </a:buClr>
                        <a:buSzPts val="1200"/>
                        <a:buFont typeface="Calibri"/>
                        <a:buNone/>
                      </a:pPr>
                      <a:r>
                        <a:rPr b="1" lang="en-US" sz="1200" u="none" cap="none" strike="noStrike">
                          <a:solidFill>
                            <a:srgbClr val="990011"/>
                          </a:solidFill>
                          <a:latin typeface="Calibri"/>
                          <a:ea typeface="Calibri"/>
                          <a:cs typeface="Calibri"/>
                          <a:sym typeface="Calibri"/>
                        </a:rPr>
                        <a:t>1</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Restyle “Fee Details” &amp; “Brochure” as real links</a:t>
                      </a:r>
                      <a:r>
                        <a:rPr lang="en-US" sz="1200">
                          <a:solidFill>
                            <a:srgbClr val="2B2320"/>
                          </a:solidFill>
                          <a:latin typeface="Calibri"/>
                          <a:ea typeface="Calibri"/>
                          <a:cs typeface="Calibri"/>
                          <a:sym typeface="Calibri"/>
                        </a:rPr>
                        <a:t> </a:t>
                      </a:r>
                      <a:r>
                        <a:rPr lang="en-US" sz="1200" u="none" cap="none" strike="noStrike">
                          <a:solidFill>
                            <a:srgbClr val="2B2320"/>
                          </a:solidFill>
                          <a:latin typeface="Calibri"/>
                          <a:ea typeface="Calibri"/>
                          <a:cs typeface="Calibri"/>
                          <a:sym typeface="Calibri"/>
                        </a:rPr>
                        <a:t>underline, colour, chevron</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6B7280"/>
                        </a:buClr>
                        <a:buSzPts val="1100"/>
                        <a:buFont typeface="Calibri"/>
                        <a:buNone/>
                      </a:pPr>
                      <a:r>
                        <a:rPr lang="en-US" sz="1100" u="none" cap="none" strike="noStrike">
                          <a:solidFill>
                            <a:srgbClr val="6B7280"/>
                          </a:solidFill>
                          <a:latin typeface="Calibri"/>
                          <a:ea typeface="Calibri"/>
                          <a:cs typeface="Calibri"/>
                          <a:sym typeface="Calibri"/>
                        </a:rPr>
                        <a:t>Matches appearance to function; the exact ambiguity flagged on this page</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1E7B34"/>
                        </a:buClr>
                        <a:buSzPts val="1100"/>
                        <a:buFont typeface="Calibri"/>
                        <a:buNone/>
                      </a:pPr>
                      <a:r>
                        <a:rPr b="1" lang="en-US" sz="1100" u="none" cap="none" strike="noStrike">
                          <a:solidFill>
                            <a:srgbClr val="1E7B34"/>
                          </a:solidFill>
                          <a:latin typeface="Calibri"/>
                          <a:ea typeface="Calibri"/>
                          <a:cs typeface="Calibri"/>
                          <a:sym typeface="Calibri"/>
                        </a:rPr>
                        <a:t>Quick</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33575">
                <a:tc>
                  <a:txBody>
                    <a:bodyPr/>
                    <a:lstStyle/>
                    <a:p>
                      <a:pPr indent="0" lvl="0" marL="0" marR="0" rtl="0" algn="ctr">
                        <a:spcBef>
                          <a:spcPts val="0"/>
                        </a:spcBef>
                        <a:spcAft>
                          <a:spcPts val="0"/>
                        </a:spcAft>
                        <a:buClr>
                          <a:srgbClr val="990011"/>
                        </a:buClr>
                        <a:buSzPts val="1200"/>
                        <a:buFont typeface="Calibri"/>
                        <a:buNone/>
                      </a:pPr>
                      <a:r>
                        <a:rPr b="1" lang="en-US" sz="1200" u="none" cap="none" strike="noStrike">
                          <a:solidFill>
                            <a:srgbClr val="990011"/>
                          </a:solidFill>
                          <a:latin typeface="Calibri"/>
                          <a:ea typeface="Calibri"/>
                          <a:cs typeface="Calibri"/>
                          <a:sym typeface="Calibri"/>
                        </a:rPr>
                        <a:t>2</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Fix the sticky “Enquire Now” tab position so it never overlaps the tab bar or body copy</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6B7280"/>
                        </a:buClr>
                        <a:buSzPts val="1100"/>
                        <a:buFont typeface="Calibri"/>
                        <a:buNone/>
                      </a:pPr>
                      <a:r>
                        <a:rPr lang="en-US" sz="1100" u="none" cap="none" strike="noStrike">
                          <a:solidFill>
                            <a:srgbClr val="6B7280"/>
                          </a:solidFill>
                          <a:latin typeface="Calibri"/>
                          <a:ea typeface="Calibri"/>
                          <a:cs typeface="Calibri"/>
                          <a:sym typeface="Calibri"/>
                        </a:rPr>
                        <a:t>It clips real content at multiple scroll positions, on mobile and desktop</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1E7B34"/>
                        </a:buClr>
                        <a:buSzPts val="1100"/>
                        <a:buFont typeface="Calibri"/>
                        <a:buNone/>
                      </a:pPr>
                      <a:r>
                        <a:rPr b="1" lang="en-US" sz="1100" u="none" cap="none" strike="noStrike">
                          <a:solidFill>
                            <a:srgbClr val="1E7B34"/>
                          </a:solidFill>
                          <a:latin typeface="Calibri"/>
                          <a:ea typeface="Calibri"/>
                          <a:cs typeface="Calibri"/>
                          <a:sym typeface="Calibri"/>
                        </a:rPr>
                        <a:t>Quick</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33575">
                <a:tc>
                  <a:txBody>
                    <a:bodyPr/>
                    <a:lstStyle/>
                    <a:p>
                      <a:pPr indent="0" lvl="0" marL="0" marR="0" rtl="0" algn="ctr">
                        <a:spcBef>
                          <a:spcPts val="0"/>
                        </a:spcBef>
                        <a:spcAft>
                          <a:spcPts val="0"/>
                        </a:spcAft>
                        <a:buClr>
                          <a:srgbClr val="990011"/>
                        </a:buClr>
                        <a:buSzPts val="1200"/>
                        <a:buFont typeface="Calibri"/>
                        <a:buNone/>
                      </a:pPr>
                      <a:r>
                        <a:rPr b="1" lang="en-US" sz="1200" u="none" cap="none" strike="noStrike">
                          <a:solidFill>
                            <a:srgbClr val="990011"/>
                          </a:solidFill>
                          <a:latin typeface="Calibri"/>
                          <a:ea typeface="Calibri"/>
                          <a:cs typeface="Calibri"/>
                          <a:sym typeface="Calibri"/>
                        </a:rPr>
                        <a:t>3</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Cap same-intent CTAs to two per fold; keep the chat teaser clear of the lead form</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6B7280"/>
                        </a:buClr>
                        <a:buSzPts val="1100"/>
                        <a:buFont typeface="Calibri"/>
                        <a:buNone/>
                      </a:pPr>
                      <a:r>
                        <a:rPr lang="en-US" sz="1100" u="none" cap="none" strike="noStrike">
                          <a:solidFill>
                            <a:srgbClr val="6B7280"/>
                          </a:solidFill>
                          <a:latin typeface="Calibri"/>
                          <a:ea typeface="Calibri"/>
                          <a:cs typeface="Calibri"/>
                          <a:sym typeface="Calibri"/>
                        </a:rPr>
                        <a:t>Four CTAs sit above the fold today, all pointing at one action</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1E7B34"/>
                        </a:buClr>
                        <a:buSzPts val="1100"/>
                        <a:buFont typeface="Calibri"/>
                        <a:buNone/>
                      </a:pPr>
                      <a:r>
                        <a:rPr b="1" lang="en-US" sz="1100" u="none" cap="none" strike="noStrike">
                          <a:solidFill>
                            <a:srgbClr val="1E7B34"/>
                          </a:solidFill>
                          <a:latin typeface="Calibri"/>
                          <a:ea typeface="Calibri"/>
                          <a:cs typeface="Calibri"/>
                          <a:sym typeface="Calibri"/>
                        </a:rPr>
                        <a:t>Quick</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33575">
                <a:tc>
                  <a:txBody>
                    <a:bodyPr/>
                    <a:lstStyle/>
                    <a:p>
                      <a:pPr indent="0" lvl="0" marL="0" marR="0" rtl="0" algn="ctr">
                        <a:spcBef>
                          <a:spcPts val="0"/>
                        </a:spcBef>
                        <a:spcAft>
                          <a:spcPts val="0"/>
                        </a:spcAft>
                        <a:buClr>
                          <a:srgbClr val="990011"/>
                        </a:buClr>
                        <a:buSzPts val="1200"/>
                        <a:buFont typeface="Calibri"/>
                        <a:buNone/>
                      </a:pPr>
                      <a:r>
                        <a:rPr b="1" lang="en-US" sz="1200" u="none" cap="none" strike="noStrike">
                          <a:solidFill>
                            <a:srgbClr val="990011"/>
                          </a:solidFill>
                          <a:latin typeface="Calibri"/>
                          <a:ea typeface="Calibri"/>
                          <a:cs typeface="Calibri"/>
                          <a:sym typeface="Calibri"/>
                        </a:rPr>
                        <a:t>4</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Pull one CSE-specific proof point + the fee figure into fold 1 as a stat strip</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6B7280"/>
                        </a:buClr>
                        <a:buSzPts val="1100"/>
                        <a:buFont typeface="Calibri"/>
                        <a:buNone/>
                      </a:pPr>
                      <a:r>
                        <a:rPr lang="en-US" sz="1100" u="none" cap="none" strike="noStrike">
                          <a:solidFill>
                            <a:srgbClr val="6B7280"/>
                          </a:solidFill>
                          <a:latin typeface="Calibri"/>
                          <a:ea typeface="Calibri"/>
                          <a:cs typeface="Calibri"/>
                          <a:sym typeface="Calibri"/>
                        </a:rPr>
                        <a:t>Proof Seeker and Cost Checker get no answer until they scroll</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B8860B"/>
                        </a:buClr>
                        <a:buSzPts val="1100"/>
                        <a:buFont typeface="Calibri"/>
                        <a:buNone/>
                      </a:pPr>
                      <a:r>
                        <a:rPr b="1" lang="en-US" sz="1100" u="none" cap="none" strike="noStrike">
                          <a:solidFill>
                            <a:srgbClr val="B8860B"/>
                          </a:solidFill>
                          <a:latin typeface="Calibri"/>
                          <a:ea typeface="Calibri"/>
                          <a:cs typeface="Calibri"/>
                          <a:sym typeface="Calibri"/>
                        </a:rPr>
                        <a:t>Medium</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33575">
                <a:tc>
                  <a:txBody>
                    <a:bodyPr/>
                    <a:lstStyle/>
                    <a:p>
                      <a:pPr indent="0" lvl="0" marL="0" marR="0" rtl="0" algn="ctr">
                        <a:spcBef>
                          <a:spcPts val="0"/>
                        </a:spcBef>
                        <a:spcAft>
                          <a:spcPts val="0"/>
                        </a:spcAft>
                        <a:buClr>
                          <a:srgbClr val="990011"/>
                        </a:buClr>
                        <a:buSzPts val="1200"/>
                        <a:buFont typeface="Calibri"/>
                        <a:buNone/>
                      </a:pPr>
                      <a:r>
                        <a:rPr b="1" lang="en-US" sz="1200" u="none" cap="none" strike="noStrike">
                          <a:solidFill>
                            <a:srgbClr val="990011"/>
                          </a:solidFill>
                          <a:latin typeface="Calibri"/>
                          <a:ea typeface="Calibri"/>
                          <a:cs typeface="Calibri"/>
                          <a:sym typeface="Calibri"/>
                        </a:rPr>
                        <a:t>5</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Fix the ribbon rotation and the 2026‑27 vs 2027‑28 date mismatch</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6B7280"/>
                        </a:buClr>
                        <a:buSzPts val="1100"/>
                        <a:buFont typeface="Calibri"/>
                        <a:buNone/>
                      </a:pPr>
                      <a:r>
                        <a:rPr lang="en-US" sz="1100" u="none" cap="none" strike="noStrike">
                          <a:solidFill>
                            <a:srgbClr val="6B7280"/>
                          </a:solidFill>
                          <a:latin typeface="Calibri"/>
                          <a:ea typeface="Calibri"/>
                          <a:cs typeface="Calibri"/>
                          <a:sym typeface="Calibri"/>
                        </a:rPr>
                        <a:t>A direct hit to credibility in the first three seconds</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B8860B"/>
                        </a:buClr>
                        <a:buSzPts val="1100"/>
                        <a:buFont typeface="Calibri"/>
                        <a:buNone/>
                      </a:pPr>
                      <a:r>
                        <a:rPr b="1" lang="en-US" sz="1100" u="none" cap="none" strike="noStrike">
                          <a:solidFill>
                            <a:srgbClr val="B8860B"/>
                          </a:solidFill>
                          <a:latin typeface="Calibri"/>
                          <a:ea typeface="Calibri"/>
                          <a:cs typeface="Calibri"/>
                          <a:sym typeface="Calibri"/>
                        </a:rPr>
                        <a:t>Medium</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33575">
                <a:tc>
                  <a:txBody>
                    <a:bodyPr/>
                    <a:lstStyle/>
                    <a:p>
                      <a:pPr indent="0" lvl="0" marL="0" marR="0" rtl="0" algn="ctr">
                        <a:spcBef>
                          <a:spcPts val="0"/>
                        </a:spcBef>
                        <a:spcAft>
                          <a:spcPts val="0"/>
                        </a:spcAft>
                        <a:buClr>
                          <a:srgbClr val="990011"/>
                        </a:buClr>
                        <a:buSzPts val="1200"/>
                        <a:buFont typeface="Calibri"/>
                        <a:buNone/>
                      </a:pPr>
                      <a:r>
                        <a:rPr b="1" lang="en-US" sz="1200" u="none" cap="none" strike="noStrike">
                          <a:solidFill>
                            <a:srgbClr val="990011"/>
                          </a:solidFill>
                          <a:latin typeface="Calibri"/>
                          <a:ea typeface="Calibri"/>
                          <a:cs typeface="Calibri"/>
                          <a:sym typeface="Calibri"/>
                        </a:rPr>
                        <a:t>6</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Define one type scale and one colour system for the template</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l">
                        <a:spcBef>
                          <a:spcPts val="0"/>
                        </a:spcBef>
                        <a:spcAft>
                          <a:spcPts val="0"/>
                        </a:spcAft>
                        <a:buClr>
                          <a:srgbClr val="6B7280"/>
                        </a:buClr>
                        <a:buSzPts val="1100"/>
                        <a:buFont typeface="Calibri"/>
                        <a:buNone/>
                      </a:pPr>
                      <a:r>
                        <a:rPr lang="en-US" sz="1100" u="none" cap="none" strike="noStrike">
                          <a:solidFill>
                            <a:srgbClr val="6B7280"/>
                          </a:solidFill>
                          <a:latin typeface="Calibri"/>
                          <a:ea typeface="Calibri"/>
                          <a:cs typeface="Calibri"/>
                          <a:sym typeface="Calibri"/>
                        </a:rPr>
                        <a:t>17 type sizes / 13 colours today — this template repeats on every program page</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2F3C7E"/>
                        </a:buClr>
                        <a:buSzPts val="1100"/>
                        <a:buFont typeface="Calibri"/>
                        <a:buNone/>
                      </a:pPr>
                      <a:r>
                        <a:rPr b="1" lang="en-US" sz="1100" u="none" cap="none" strike="noStrike">
                          <a:solidFill>
                            <a:srgbClr val="2F3C7E"/>
                          </a:solidFill>
                          <a:latin typeface="Calibri"/>
                          <a:ea typeface="Calibri"/>
                          <a:cs typeface="Calibri"/>
                          <a:sym typeface="Calibri"/>
                        </a:rPr>
                        <a:t>Template-wide</a:t>
                      </a:r>
                      <a:endParaRPr sz="11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bl>
          </a:graphicData>
        </a:graphic>
      </p:graphicFrame>
      <p:sp>
        <p:nvSpPr>
          <p:cNvPr id="494" name="Google Shape;494;p30"/>
          <p:cNvSpPr txBox="1"/>
          <p:nvPr/>
        </p:nvSpPr>
        <p:spPr>
          <a:xfrm>
            <a:off x="457200" y="6108192"/>
            <a:ext cx="112773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200"/>
              <a:buFont typeface="Calibri"/>
              <a:buNone/>
            </a:pPr>
            <a:r>
              <a:rPr b="0" i="1" lang="en-US" sz="1200" u="none" cap="none" strike="noStrike">
                <a:solidFill>
                  <a:srgbClr val="990011"/>
                </a:solidFill>
                <a:latin typeface="Calibri"/>
                <a:ea typeface="Calibri"/>
                <a:cs typeface="Calibri"/>
                <a:sym typeface="Calibri"/>
              </a:rPr>
              <a:t>This is a shared template — fixes 1–3 alone would apply across every program page on the site.</a:t>
            </a:r>
            <a:endParaRPr b="0" i="0" sz="1200" u="none" cap="none" strike="noStrike">
              <a:solidFill>
                <a:schemeClr val="dk1"/>
              </a:solidFill>
              <a:latin typeface="Calibri"/>
              <a:ea typeface="Calibri"/>
              <a:cs typeface="Calibri"/>
              <a:sym typeface="Calibri"/>
            </a:endParaRPr>
          </a:p>
        </p:txBody>
      </p:sp>
      <p:pic>
        <p:nvPicPr>
          <p:cNvPr id="495" name="Google Shape;495;p30"/>
          <p:cNvPicPr preferRelativeResize="0"/>
          <p:nvPr/>
        </p:nvPicPr>
        <p:blipFill rotWithShape="1">
          <a:blip r:embed="rId3">
            <a:alphaModFix/>
          </a:blip>
          <a:srcRect b="10820" l="35551" r="33107" t="12604"/>
          <a:stretch/>
        </p:blipFill>
        <p:spPr>
          <a:xfrm>
            <a:off x="8976600" y="115450"/>
            <a:ext cx="2973300" cy="6638700"/>
          </a:xfrm>
          <a:prstGeom prst="roundRect">
            <a:avLst>
              <a:gd fmla="val 14223"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PAGE OPPORTUNITIES  ·  FEE TEMPLATE</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Objective: increase fee findability and decision efficiency</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Can a Cost Checker find the exact fee they came for without scanning a long generic table?</a:t>
            </a:r>
          </a:p>
        </p:txBody>
      </p:sp>
      <p:sp>
        <p:nvSpPr>
          <p:cNvPr id="5" name="Rounded Rectangle 4"/>
          <p:cNvSpPr/>
          <p:nvPr/>
        </p:nvSpPr>
        <p:spPr>
          <a:xfrm>
            <a:off x="548640" y="1508760"/>
            <a:ext cx="3291840" cy="4754880"/>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2926080" cy="182880"/>
          </a:xfrm>
          <a:prstGeom prst="rect">
            <a:avLst/>
          </a:prstGeom>
          <a:noFill/>
        </p:spPr>
        <p:txBody>
          <a:bodyPr wrap="square" lIns="0" rIns="0" tIns="0" bIns="0" anchor="t">
            <a:spAutoFit/>
          </a:bodyPr>
          <a:lstStyle/>
          <a:p>
            <a:pPr algn="l"/>
            <a:r>
              <a:rPr sz="850" b="1" i="0">
                <a:solidFill>
                  <a:srgbClr val="C8102E"/>
                </a:solidFill>
                <a:latin typeface="Sora"/>
              </a:rPr>
              <a:t>WHY THIS OBJECTIVE</a:t>
            </a:r>
          </a:p>
        </p:txBody>
      </p:sp>
      <p:sp>
        <p:nvSpPr>
          <p:cNvPr id="7" name="TextBox 6"/>
          <p:cNvSpPr txBox="1"/>
          <p:nvPr/>
        </p:nvSpPr>
        <p:spPr>
          <a:xfrm>
            <a:off x="731520" y="1920240"/>
            <a:ext cx="2926080" cy="4389120"/>
          </a:xfrm>
          <a:prstGeom prst="rect">
            <a:avLst/>
          </a:prstGeom>
          <a:noFill/>
        </p:spPr>
        <p:txBody>
          <a:bodyPr wrap="square" lIns="0" rIns="0" tIns="0" bIns="0" anchor="t">
            <a:spAutoFit/>
          </a:bodyPr>
          <a:lstStyle/>
          <a:p>
            <a:pPr algn="l">
              <a:spcAft>
                <a:spcPts val="800"/>
              </a:spcAft>
            </a:pPr>
            <a:r>
              <a:rPr sz="950" b="1" i="0">
                <a:solidFill>
                  <a:srgbClr val="0F2C5C"/>
                </a:solidFill>
                <a:latin typeface="Sora"/>
              </a:rPr>
              <a:t>Not “improve fee page UX”. </a:t>
            </a:r>
            <a:r>
              <a:rPr sz="950" b="0" i="0">
                <a:solidFill>
                  <a:srgbClr val="0F2C5C"/>
                </a:solidFill>
                <a:latin typeface="Sora"/>
              </a:rPr>
              <a:t>The page already has content and a search box; users can’t reach the one number they need.</a:t>
            </a:r>
          </a:p>
          <a:p>
            <a:pPr algn="l">
              <a:spcAft>
                <a:spcPts val="800"/>
              </a:spcAft>
            </a:pPr>
            <a:r>
              <a:rPr sz="950" b="1" i="0">
                <a:solidFill>
                  <a:srgbClr val="0F2C5C"/>
                </a:solidFill>
                <a:latin typeface="Sora"/>
              </a:rPr>
              <a:t>Evidence. </a:t>
            </a:r>
            <a:r>
              <a:rPr sz="950" b="0" i="0">
                <a:solidFill>
                  <a:srgbClr val="0F2C5C"/>
                </a:solidFill>
                <a:latin typeface="Sora"/>
              </a:rPr>
              <a:t>70% of entries come from CSE; 1,236 moves to the homepage; 494 hop to MRU fees [GA4]. 82 phone clicks vs 31 submits [CSV]. Search misreturns; total fee in column 15; calculator → homepage [audit].</a:t>
            </a:r>
          </a:p>
          <a:p>
            <a:pPr algn="l">
              <a:spcAft>
                <a:spcPts val="800"/>
              </a:spcAft>
            </a:pPr>
            <a:r>
              <a:rPr sz="950" b="1" i="0">
                <a:solidFill>
                  <a:srgbClr val="0F2C5C"/>
                </a:solidFill>
                <a:latin typeface="Sora"/>
              </a:rPr>
              <a:t>Investigate. </a:t>
            </a:r>
            <a:r>
              <a:rPr sz="950" b="0" i="0">
                <a:solidFill>
                  <a:srgbClr val="0F2C5C"/>
                </a:solidFill>
                <a:latin typeface="Sora"/>
              </a:rPr>
              <a:t>Institution → school → programme → specialisation selectors; sticky headers; a fee summary card; mobile-first cards instead of a 15-column table; compare two programmes; return to the originating course; contextual next steps.</a:t>
            </a:r>
          </a:p>
        </p:txBody>
      </p:sp>
      <p:sp>
        <p:nvSpPr>
          <p:cNvPr id="8" name="Rounded Rectangle 7"/>
          <p:cNvSpPr/>
          <p:nvPr/>
        </p:nvSpPr>
        <p:spPr>
          <a:xfrm>
            <a:off x="4160520" y="1508760"/>
            <a:ext cx="2743200" cy="4754880"/>
          </a:xfrm>
          <a:prstGeom prst="roundRect">
            <a:avLst>
              <a:gd name="adj" fmla="val 8000"/>
            </a:avLst>
          </a:prstGeom>
          <a:solidFill>
            <a:srgbClr val="FFFFFF"/>
          </a:solidFill>
          <a:ln w="190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673351"/>
            <a:ext cx="2377440" cy="228600"/>
          </a:xfrm>
          <a:prstGeom prst="rect">
            <a:avLst/>
          </a:prstGeom>
          <a:noFill/>
        </p:spPr>
        <p:txBody>
          <a:bodyPr wrap="square" lIns="0" rIns="0" tIns="0" bIns="0" anchor="t">
            <a:spAutoFit/>
          </a:bodyPr>
          <a:lstStyle/>
          <a:p>
            <a:pPr algn="l"/>
            <a:r>
              <a:rPr sz="1000" b="1" i="0">
                <a:solidFill>
                  <a:srgbClr val="0F2C5C"/>
                </a:solidFill>
                <a:latin typeface="Sora"/>
              </a:rPr>
              <a:t>Fee finder · AY 2026-27</a:t>
            </a:r>
          </a:p>
        </p:txBody>
      </p:sp>
      <p:sp>
        <p:nvSpPr>
          <p:cNvPr id="10" name="Rounded Rectangle 9"/>
          <p:cNvSpPr/>
          <p:nvPr/>
        </p:nvSpPr>
        <p:spPr>
          <a:xfrm>
            <a:off x="4343400" y="2011680"/>
            <a:ext cx="2377440" cy="365760"/>
          </a:xfrm>
          <a:prstGeom prst="roundRect">
            <a:avLst>
              <a:gd name="adj" fmla="val 15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2194560" cy="365760"/>
          </a:xfrm>
          <a:prstGeom prst="rect">
            <a:avLst/>
          </a:prstGeom>
          <a:noFill/>
        </p:spPr>
        <p:txBody>
          <a:bodyPr wrap="square" lIns="0" rIns="0" tIns="0" bIns="0" anchor="ctr">
            <a:spAutoFit/>
          </a:bodyPr>
          <a:lstStyle/>
          <a:p>
            <a:pPr algn="l"/>
            <a:r>
              <a:rPr sz="800" b="0" i="0">
                <a:solidFill>
                  <a:srgbClr val="5A6472"/>
                </a:solidFill>
                <a:latin typeface="Sora"/>
              </a:rPr>
              <a:t>Institution:  </a:t>
            </a:r>
            <a:r>
              <a:rPr sz="900" b="1" i="0">
                <a:solidFill>
                  <a:srgbClr val="0F2C5C"/>
                </a:solidFill>
                <a:latin typeface="Sora"/>
              </a:rPr>
              <a:t>MRIIRS</a:t>
            </a:r>
          </a:p>
        </p:txBody>
      </p:sp>
      <p:sp>
        <p:nvSpPr>
          <p:cNvPr id="12" name="TextBox 11"/>
          <p:cNvSpPr txBox="1"/>
          <p:nvPr/>
        </p:nvSpPr>
        <p:spPr>
          <a:xfrm>
            <a:off x="6492240" y="2011680"/>
            <a:ext cx="182880" cy="365760"/>
          </a:xfrm>
          <a:prstGeom prst="rect">
            <a:avLst/>
          </a:prstGeom>
          <a:noFill/>
        </p:spPr>
        <p:txBody>
          <a:bodyPr wrap="square" lIns="0" rIns="0" tIns="0" bIns="0" anchor="ctr">
            <a:spAutoFit/>
          </a:bodyPr>
          <a:lstStyle/>
          <a:p>
            <a:pPr algn="l"/>
            <a:r>
              <a:rPr sz="900" b="0" i="0">
                <a:solidFill>
                  <a:srgbClr val="5A6472"/>
                </a:solidFill>
                <a:latin typeface="Sora"/>
              </a:rPr>
              <a:t>▾</a:t>
            </a:r>
          </a:p>
        </p:txBody>
      </p:sp>
      <p:sp>
        <p:nvSpPr>
          <p:cNvPr id="13" name="Rounded Rectangle 12"/>
          <p:cNvSpPr/>
          <p:nvPr/>
        </p:nvSpPr>
        <p:spPr>
          <a:xfrm>
            <a:off x="4343400" y="2468880"/>
            <a:ext cx="2377440" cy="365760"/>
          </a:xfrm>
          <a:prstGeom prst="roundRect">
            <a:avLst>
              <a:gd name="adj" fmla="val 15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2468880"/>
            <a:ext cx="2194560" cy="365760"/>
          </a:xfrm>
          <a:prstGeom prst="rect">
            <a:avLst/>
          </a:prstGeom>
          <a:noFill/>
        </p:spPr>
        <p:txBody>
          <a:bodyPr wrap="square" lIns="0" rIns="0" tIns="0" bIns="0" anchor="ctr">
            <a:spAutoFit/>
          </a:bodyPr>
          <a:lstStyle/>
          <a:p>
            <a:pPr algn="l"/>
            <a:r>
              <a:rPr sz="800" b="0" i="0">
                <a:solidFill>
                  <a:srgbClr val="5A6472"/>
                </a:solidFill>
                <a:latin typeface="Sora"/>
              </a:rPr>
              <a:t>Programme:  </a:t>
            </a:r>
            <a:r>
              <a:rPr sz="900" b="1" i="0">
                <a:solidFill>
                  <a:srgbClr val="0F2C5C"/>
                </a:solidFill>
                <a:latin typeface="Sora"/>
              </a:rPr>
              <a:t>B.Tech CSE</a:t>
            </a:r>
          </a:p>
        </p:txBody>
      </p:sp>
      <p:sp>
        <p:nvSpPr>
          <p:cNvPr id="15" name="TextBox 14"/>
          <p:cNvSpPr txBox="1"/>
          <p:nvPr/>
        </p:nvSpPr>
        <p:spPr>
          <a:xfrm>
            <a:off x="6492240" y="2468880"/>
            <a:ext cx="182880" cy="365760"/>
          </a:xfrm>
          <a:prstGeom prst="rect">
            <a:avLst/>
          </a:prstGeom>
          <a:noFill/>
        </p:spPr>
        <p:txBody>
          <a:bodyPr wrap="square" lIns="0" rIns="0" tIns="0" bIns="0" anchor="ctr">
            <a:spAutoFit/>
          </a:bodyPr>
          <a:lstStyle/>
          <a:p>
            <a:pPr algn="l"/>
            <a:r>
              <a:rPr sz="900" b="0" i="0">
                <a:solidFill>
                  <a:srgbClr val="5A6472"/>
                </a:solidFill>
                <a:latin typeface="Sora"/>
              </a:rPr>
              <a:t>▾</a:t>
            </a:r>
          </a:p>
        </p:txBody>
      </p:sp>
      <p:sp>
        <p:nvSpPr>
          <p:cNvPr id="16" name="Rounded Rectangle 15"/>
          <p:cNvSpPr/>
          <p:nvPr/>
        </p:nvSpPr>
        <p:spPr>
          <a:xfrm>
            <a:off x="4343400" y="2926080"/>
            <a:ext cx="2377440" cy="365760"/>
          </a:xfrm>
          <a:prstGeom prst="roundRect">
            <a:avLst>
              <a:gd name="adj" fmla="val 15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2926080"/>
            <a:ext cx="2194560" cy="365760"/>
          </a:xfrm>
          <a:prstGeom prst="rect">
            <a:avLst/>
          </a:prstGeom>
          <a:noFill/>
        </p:spPr>
        <p:txBody>
          <a:bodyPr wrap="square" lIns="0" rIns="0" tIns="0" bIns="0" anchor="ctr">
            <a:spAutoFit/>
          </a:bodyPr>
          <a:lstStyle/>
          <a:p>
            <a:pPr algn="l"/>
            <a:r>
              <a:rPr sz="800" b="0" i="0">
                <a:solidFill>
                  <a:srgbClr val="5A6472"/>
                </a:solidFill>
                <a:latin typeface="Sora"/>
              </a:rPr>
              <a:t>Specialisation:  </a:t>
            </a:r>
            <a:r>
              <a:rPr sz="900" b="1" i="0">
                <a:solidFill>
                  <a:srgbClr val="0F2C5C"/>
                </a:solidFill>
                <a:latin typeface="Sora"/>
              </a:rPr>
              <a:t>Core (no industry partner)</a:t>
            </a:r>
          </a:p>
        </p:txBody>
      </p:sp>
      <p:sp>
        <p:nvSpPr>
          <p:cNvPr id="18" name="TextBox 17"/>
          <p:cNvSpPr txBox="1"/>
          <p:nvPr/>
        </p:nvSpPr>
        <p:spPr>
          <a:xfrm>
            <a:off x="6492240" y="2926080"/>
            <a:ext cx="182880" cy="365760"/>
          </a:xfrm>
          <a:prstGeom prst="rect">
            <a:avLst/>
          </a:prstGeom>
          <a:noFill/>
        </p:spPr>
        <p:txBody>
          <a:bodyPr wrap="square" lIns="0" rIns="0" tIns="0" bIns="0" anchor="ctr">
            <a:spAutoFit/>
          </a:bodyPr>
          <a:lstStyle/>
          <a:p>
            <a:pPr algn="l"/>
            <a:r>
              <a:rPr sz="900" b="0" i="0">
                <a:solidFill>
                  <a:srgbClr val="5A6472"/>
                </a:solidFill>
                <a:latin typeface="Sora"/>
              </a:rPr>
              <a:t>▾</a:t>
            </a:r>
          </a:p>
        </p:txBody>
      </p:sp>
      <p:sp>
        <p:nvSpPr>
          <p:cNvPr id="19" name="Rounded Rectangle 18"/>
          <p:cNvSpPr/>
          <p:nvPr/>
        </p:nvSpPr>
        <p:spPr>
          <a:xfrm>
            <a:off x="4343400" y="3429000"/>
            <a:ext cx="2377440" cy="1463040"/>
          </a:xfrm>
          <a:prstGeom prst="roundRect">
            <a:avLst>
              <a:gd name="adj" fmla="val 8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59" y="3520440"/>
            <a:ext cx="2103120" cy="182880"/>
          </a:xfrm>
          <a:prstGeom prst="rect">
            <a:avLst/>
          </a:prstGeom>
          <a:noFill/>
        </p:spPr>
        <p:txBody>
          <a:bodyPr wrap="square" lIns="0" rIns="0" tIns="0" bIns="0" anchor="t">
            <a:spAutoFit/>
          </a:bodyPr>
          <a:lstStyle/>
          <a:p>
            <a:pPr algn="l"/>
            <a:r>
              <a:rPr sz="750" b="1" i="0">
                <a:solidFill>
                  <a:srgbClr val="CADCFC"/>
                </a:solidFill>
                <a:latin typeface="Sora"/>
              </a:rPr>
              <a:t>TOTAL FEE · AY 2026-27</a:t>
            </a:r>
          </a:p>
        </p:txBody>
      </p:sp>
      <p:sp>
        <p:nvSpPr>
          <p:cNvPr id="21" name="TextBox 20"/>
          <p:cNvSpPr txBox="1"/>
          <p:nvPr/>
        </p:nvSpPr>
        <p:spPr>
          <a:xfrm>
            <a:off x="4480559" y="3730752"/>
            <a:ext cx="2103120" cy="411480"/>
          </a:xfrm>
          <a:prstGeom prst="rect">
            <a:avLst/>
          </a:prstGeom>
          <a:noFill/>
        </p:spPr>
        <p:txBody>
          <a:bodyPr wrap="square" lIns="0" rIns="0" tIns="0" bIns="0" anchor="t">
            <a:spAutoFit/>
          </a:bodyPr>
          <a:lstStyle/>
          <a:p>
            <a:pPr algn="l"/>
            <a:r>
              <a:rPr sz="2200" b="1" i="0">
                <a:solidFill>
                  <a:srgbClr val="FFFFFF"/>
                </a:solidFill>
                <a:latin typeface="Sora"/>
              </a:rPr>
              <a:t>₹3,05,800</a:t>
            </a:r>
          </a:p>
        </p:txBody>
      </p:sp>
      <p:sp>
        <p:nvSpPr>
          <p:cNvPr id="22" name="TextBox 21"/>
          <p:cNvSpPr txBox="1"/>
          <p:nvPr/>
        </p:nvSpPr>
        <p:spPr>
          <a:xfrm>
            <a:off x="4480559" y="4178808"/>
            <a:ext cx="2103120" cy="685800"/>
          </a:xfrm>
          <a:prstGeom prst="rect">
            <a:avLst/>
          </a:prstGeom>
          <a:noFill/>
        </p:spPr>
        <p:txBody>
          <a:bodyPr wrap="square" lIns="0" rIns="0" tIns="0" bIns="0" anchor="t">
            <a:spAutoFit/>
          </a:bodyPr>
          <a:lstStyle/>
          <a:p>
            <a:pPr algn="l"/>
            <a:r>
              <a:rPr sz="800" b="0" i="0">
                <a:solidFill>
                  <a:srgbClr val="CADCFC"/>
                </a:solidFill>
                <a:latin typeface="Sora"/>
              </a:rPr>
              <a:t>1st installment  ₹1,85,900</a:t>
            </a:r>
          </a:p>
          <a:p>
            <a:pPr algn="l"/>
            <a:r>
              <a:rPr sz="800" b="0" i="0">
                <a:solidFill>
                  <a:srgbClr val="CADCFC"/>
                </a:solidFill>
                <a:latin typeface="Sora"/>
              </a:rPr>
              <a:t>2nd installment  ₹1,19,900</a:t>
            </a:r>
          </a:p>
          <a:p>
            <a:pPr algn="l"/>
            <a:r>
              <a:rPr sz="800" b="0" i="0">
                <a:solidFill>
                  <a:srgbClr val="CADCFC"/>
                </a:solidFill>
                <a:latin typeface="Sora"/>
              </a:rPr>
              <a:t>With industry-partner specialisation: ₹3,33,800</a:t>
            </a:r>
          </a:p>
        </p:txBody>
      </p:sp>
      <p:sp>
        <p:nvSpPr>
          <p:cNvPr id="23" name="Rounded Rectangle 22"/>
          <p:cNvSpPr/>
          <p:nvPr/>
        </p:nvSpPr>
        <p:spPr>
          <a:xfrm>
            <a:off x="4343400" y="4937760"/>
            <a:ext cx="2377440" cy="310896"/>
          </a:xfrm>
          <a:prstGeom prst="roundRect">
            <a:avLst>
              <a:gd name="adj" fmla="val 3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4937760"/>
            <a:ext cx="2377440" cy="310896"/>
          </a:xfrm>
          <a:prstGeom prst="rect">
            <a:avLst/>
          </a:prstGeom>
          <a:noFill/>
        </p:spPr>
        <p:txBody>
          <a:bodyPr wrap="square" lIns="0" rIns="0" tIns="0" bIns="0" anchor="ctr">
            <a:spAutoFit/>
          </a:bodyPr>
          <a:lstStyle/>
          <a:p>
            <a:pPr algn="ctr"/>
            <a:r>
              <a:rPr sz="850" b="1" i="0">
                <a:solidFill>
                  <a:srgbClr val="FFFFFF"/>
                </a:solidFill>
                <a:latin typeface="Sora"/>
              </a:rPr>
              <a:t>Call admissions</a:t>
            </a:r>
          </a:p>
        </p:txBody>
      </p:sp>
      <p:sp>
        <p:nvSpPr>
          <p:cNvPr id="25" name="Rounded Rectangle 24"/>
          <p:cNvSpPr/>
          <p:nvPr/>
        </p:nvSpPr>
        <p:spPr>
          <a:xfrm>
            <a:off x="4343400" y="5303520"/>
            <a:ext cx="2377440" cy="310896"/>
          </a:xfrm>
          <a:prstGeom prst="roundRect">
            <a:avLst>
              <a:gd name="adj" fmla="val 30000"/>
            </a:avLst>
          </a:prstGeom>
          <a:solidFill>
            <a:srgbClr val="FFFFFF"/>
          </a:solidFill>
          <a:ln w="9525">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5303520"/>
            <a:ext cx="2377440" cy="310896"/>
          </a:xfrm>
          <a:prstGeom prst="rect">
            <a:avLst/>
          </a:prstGeom>
          <a:noFill/>
        </p:spPr>
        <p:txBody>
          <a:bodyPr wrap="square" lIns="0" rIns="0" tIns="0" bIns="0" anchor="ctr">
            <a:spAutoFit/>
          </a:bodyPr>
          <a:lstStyle/>
          <a:p>
            <a:pPr algn="ctr"/>
            <a:r>
              <a:rPr sz="850" b="1" i="0">
                <a:solidFill>
                  <a:srgbClr val="0F2C5C"/>
                </a:solidFill>
                <a:latin typeface="Sora"/>
              </a:rPr>
              <a:t>Check eligibility for B.Tech CSE</a:t>
            </a:r>
          </a:p>
        </p:txBody>
      </p:sp>
      <p:sp>
        <p:nvSpPr>
          <p:cNvPr id="27" name="Rounded Rectangle 26"/>
          <p:cNvSpPr/>
          <p:nvPr/>
        </p:nvSpPr>
        <p:spPr>
          <a:xfrm>
            <a:off x="4343400" y="5669280"/>
            <a:ext cx="2377440" cy="310896"/>
          </a:xfrm>
          <a:prstGeom prst="roundRect">
            <a:avLst>
              <a:gd name="adj" fmla="val 30000"/>
            </a:avLst>
          </a:prstGeom>
          <a:solidFill>
            <a:srgbClr val="FFFFFF"/>
          </a:solidFill>
          <a:ln w="9525">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5669280"/>
            <a:ext cx="2377440" cy="310896"/>
          </a:xfrm>
          <a:prstGeom prst="rect">
            <a:avLst/>
          </a:prstGeom>
          <a:noFill/>
        </p:spPr>
        <p:txBody>
          <a:bodyPr wrap="square" lIns="0" rIns="0" tIns="0" bIns="0" anchor="ctr">
            <a:spAutoFit/>
          </a:bodyPr>
          <a:lstStyle/>
          <a:p>
            <a:pPr algn="ctr"/>
            <a:r>
              <a:rPr sz="850" b="1" i="0">
                <a:solidFill>
                  <a:srgbClr val="0F2C5C"/>
                </a:solidFill>
                <a:latin typeface="Sora"/>
              </a:rPr>
              <a:t>Apply for B.Tech CSE</a:t>
            </a:r>
          </a:p>
        </p:txBody>
      </p:sp>
      <p:sp>
        <p:nvSpPr>
          <p:cNvPr id="29" name="TextBox 28"/>
          <p:cNvSpPr txBox="1"/>
          <p:nvPr/>
        </p:nvSpPr>
        <p:spPr>
          <a:xfrm>
            <a:off x="4343400" y="6035040"/>
            <a:ext cx="2377440" cy="164592"/>
          </a:xfrm>
          <a:prstGeom prst="rect">
            <a:avLst/>
          </a:prstGeom>
          <a:noFill/>
        </p:spPr>
        <p:txBody>
          <a:bodyPr wrap="square" lIns="0" rIns="0" tIns="0" bIns="0" anchor="t">
            <a:spAutoFit/>
          </a:bodyPr>
          <a:lstStyle/>
          <a:p>
            <a:pPr algn="l"/>
            <a:r>
              <a:rPr sz="800" b="1" i="0">
                <a:solidFill>
                  <a:srgbClr val="C8102E"/>
                </a:solidFill>
                <a:latin typeface="Sora"/>
              </a:rPr>
              <a:t>← Back to B.Tech CSE</a:t>
            </a:r>
          </a:p>
        </p:txBody>
      </p:sp>
      <p:sp>
        <p:nvSpPr>
          <p:cNvPr id="30" name="TextBox 29"/>
          <p:cNvSpPr txBox="1"/>
          <p:nvPr/>
        </p:nvSpPr>
        <p:spPr>
          <a:xfrm>
            <a:off x="4160520" y="6281927"/>
            <a:ext cx="2743200" cy="164592"/>
          </a:xfrm>
          <a:prstGeom prst="rect">
            <a:avLst/>
          </a:prstGeom>
          <a:noFill/>
        </p:spPr>
        <p:txBody>
          <a:bodyPr wrap="square" lIns="0" rIns="0" tIns="0" bIns="0" anchor="t">
            <a:spAutoFit/>
          </a:bodyPr>
          <a:lstStyle/>
          <a:p>
            <a:pPr algn="ctr"/>
            <a:r>
              <a:rPr sz="650" b="1" i="0">
                <a:solidFill>
                  <a:srgbClr val="96A1B0"/>
                </a:solidFill>
                <a:latin typeface="Sora"/>
              </a:rPr>
              <a:t>CONCEPT FOR TESTING (T1 + T2) — fee values from the live table</a:t>
            </a:r>
          </a:p>
        </p:txBody>
      </p:sp>
      <p:sp>
        <p:nvSpPr>
          <p:cNvPr id="31" name="TextBox 30"/>
          <p:cNvSpPr txBox="1"/>
          <p:nvPr/>
        </p:nvSpPr>
        <p:spPr>
          <a:xfrm>
            <a:off x="7223760" y="1508760"/>
            <a:ext cx="4389120" cy="182880"/>
          </a:xfrm>
          <a:prstGeom prst="rect">
            <a:avLst/>
          </a:prstGeom>
          <a:noFill/>
        </p:spPr>
        <p:txBody>
          <a:bodyPr wrap="square" lIns="0" rIns="0" tIns="0" bIns="0" anchor="t">
            <a:spAutoFit/>
          </a:bodyPr>
          <a:lstStyle/>
          <a:p>
            <a:pPr algn="l"/>
            <a:r>
              <a:rPr sz="850" b="1" i="0">
                <a:solidFill>
                  <a:srgbClr val="C8102E"/>
                </a:solidFill>
                <a:latin typeface="Sora"/>
              </a:rPr>
              <a:t>WHAT EACH ELEMENT ANSWERS</a:t>
            </a:r>
          </a:p>
        </p:txBody>
      </p:sp>
      <p:sp>
        <p:nvSpPr>
          <p:cNvPr id="32" name="Rounded Rectangle 31"/>
          <p:cNvSpPr/>
          <p:nvPr/>
        </p:nvSpPr>
        <p:spPr>
          <a:xfrm>
            <a:off x="7223760" y="1783080"/>
            <a:ext cx="438912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0920" y="1856231"/>
            <a:ext cx="4114800" cy="201168"/>
          </a:xfrm>
          <a:prstGeom prst="rect">
            <a:avLst/>
          </a:prstGeom>
          <a:noFill/>
        </p:spPr>
        <p:txBody>
          <a:bodyPr wrap="square" lIns="0" rIns="0" tIns="0" bIns="0" anchor="t">
            <a:spAutoFit/>
          </a:bodyPr>
          <a:lstStyle/>
          <a:p>
            <a:pPr algn="l"/>
            <a:r>
              <a:rPr sz="950" b="1" i="0">
                <a:solidFill>
                  <a:srgbClr val="0F2C5C"/>
                </a:solidFill>
                <a:latin typeface="Sora"/>
              </a:rPr>
              <a:t>Selectors, not free-text search</a:t>
            </a:r>
          </a:p>
        </p:txBody>
      </p:sp>
      <p:sp>
        <p:nvSpPr>
          <p:cNvPr id="34" name="TextBox 33"/>
          <p:cNvSpPr txBox="1"/>
          <p:nvPr/>
        </p:nvSpPr>
        <p:spPr>
          <a:xfrm>
            <a:off x="7360920" y="2084831"/>
            <a:ext cx="4114800" cy="402336"/>
          </a:xfrm>
          <a:prstGeom prst="rect">
            <a:avLst/>
          </a:prstGeom>
          <a:noFill/>
        </p:spPr>
        <p:txBody>
          <a:bodyPr wrap="square" lIns="0" rIns="0" tIns="0" bIns="0" anchor="t">
            <a:spAutoFit/>
          </a:bodyPr>
          <a:lstStyle/>
          <a:p>
            <a:pPr algn="l"/>
            <a:r>
              <a:rPr sz="850" b="0" i="0">
                <a:solidFill>
                  <a:srgbClr val="5A6472"/>
                </a:solidFill>
                <a:latin typeface="Sora"/>
              </a:rPr>
              <a:t>Search misses “Computer Science…” when typing “CSE” and returns unrelated grouped rows.</a:t>
            </a:r>
          </a:p>
        </p:txBody>
      </p:sp>
      <p:sp>
        <p:nvSpPr>
          <p:cNvPr id="35" name="Rounded Rectangle 34"/>
          <p:cNvSpPr/>
          <p:nvPr/>
        </p:nvSpPr>
        <p:spPr>
          <a:xfrm>
            <a:off x="7223760" y="2532888"/>
            <a:ext cx="438912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0920" y="2606040"/>
            <a:ext cx="4114800" cy="201168"/>
          </a:xfrm>
          <a:prstGeom prst="rect">
            <a:avLst/>
          </a:prstGeom>
          <a:noFill/>
        </p:spPr>
        <p:txBody>
          <a:bodyPr wrap="square" lIns="0" rIns="0" tIns="0" bIns="0" anchor="t">
            <a:spAutoFit/>
          </a:bodyPr>
          <a:lstStyle/>
          <a:p>
            <a:pPr algn="l"/>
            <a:r>
              <a:rPr sz="950" b="1" i="0">
                <a:solidFill>
                  <a:srgbClr val="0F2C5C"/>
                </a:solidFill>
                <a:latin typeface="Sora"/>
              </a:rPr>
              <a:t>One fee card, total first</a:t>
            </a:r>
          </a:p>
        </p:txBody>
      </p:sp>
      <p:sp>
        <p:nvSpPr>
          <p:cNvPr id="37" name="TextBox 36"/>
          <p:cNvSpPr txBox="1"/>
          <p:nvPr/>
        </p:nvSpPr>
        <p:spPr>
          <a:xfrm>
            <a:off x="7360920" y="2834640"/>
            <a:ext cx="4114800" cy="402336"/>
          </a:xfrm>
          <a:prstGeom prst="rect">
            <a:avLst/>
          </a:prstGeom>
          <a:noFill/>
        </p:spPr>
        <p:txBody>
          <a:bodyPr wrap="square" lIns="0" rIns="0" tIns="0" bIns="0" anchor="t">
            <a:spAutoFit/>
          </a:bodyPr>
          <a:lstStyle/>
          <a:p>
            <a:pPr algn="l"/>
            <a:r>
              <a:rPr sz="850" b="0" i="0">
                <a:solidFill>
                  <a:srgbClr val="5A6472"/>
                </a:solidFill>
                <a:latin typeface="Sora"/>
              </a:rPr>
              <a:t>The total is column 15 of a 1,642px table on mobile.</a:t>
            </a:r>
          </a:p>
        </p:txBody>
      </p:sp>
      <p:sp>
        <p:nvSpPr>
          <p:cNvPr id="38" name="Rounded Rectangle 37"/>
          <p:cNvSpPr/>
          <p:nvPr/>
        </p:nvSpPr>
        <p:spPr>
          <a:xfrm>
            <a:off x="7223760" y="3282696"/>
            <a:ext cx="438912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60920" y="3355848"/>
            <a:ext cx="4114800" cy="201168"/>
          </a:xfrm>
          <a:prstGeom prst="rect">
            <a:avLst/>
          </a:prstGeom>
          <a:noFill/>
        </p:spPr>
        <p:txBody>
          <a:bodyPr wrap="square" lIns="0" rIns="0" tIns="0" bIns="0" anchor="t">
            <a:spAutoFit/>
          </a:bodyPr>
          <a:lstStyle/>
          <a:p>
            <a:pPr algn="l"/>
            <a:r>
              <a:rPr sz="950" b="1" i="0">
                <a:solidFill>
                  <a:srgbClr val="0F2C5C"/>
                </a:solidFill>
                <a:latin typeface="Sora"/>
              </a:rPr>
              <a:t>Installments + variant in the card</a:t>
            </a:r>
          </a:p>
        </p:txBody>
      </p:sp>
      <p:sp>
        <p:nvSpPr>
          <p:cNvPr id="40" name="TextBox 39"/>
          <p:cNvSpPr txBox="1"/>
          <p:nvPr/>
        </p:nvSpPr>
        <p:spPr>
          <a:xfrm>
            <a:off x="7360920" y="3584448"/>
            <a:ext cx="4114800" cy="402336"/>
          </a:xfrm>
          <a:prstGeom prst="rect">
            <a:avLst/>
          </a:prstGeom>
          <a:noFill/>
        </p:spPr>
        <p:txBody>
          <a:bodyPr wrap="square" lIns="0" rIns="0" tIns="0" bIns="0" anchor="t">
            <a:spAutoFit/>
          </a:bodyPr>
          <a:lstStyle/>
          <a:p>
            <a:pPr algn="l"/>
            <a:r>
              <a:rPr sz="850" b="0" i="0">
                <a:solidFill>
                  <a:srgbClr val="5A6472"/>
                </a:solidFill>
                <a:latin typeface="Sora"/>
              </a:rPr>
              <a:t>The course page shows only the year-1 fee — a likely (untested) reason users leave it.</a:t>
            </a:r>
          </a:p>
        </p:txBody>
      </p:sp>
      <p:sp>
        <p:nvSpPr>
          <p:cNvPr id="41" name="Rounded Rectangle 40"/>
          <p:cNvSpPr/>
          <p:nvPr/>
        </p:nvSpPr>
        <p:spPr>
          <a:xfrm>
            <a:off x="7223760" y="4032504"/>
            <a:ext cx="438912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60920" y="4105656"/>
            <a:ext cx="4114800" cy="201168"/>
          </a:xfrm>
          <a:prstGeom prst="rect">
            <a:avLst/>
          </a:prstGeom>
          <a:noFill/>
        </p:spPr>
        <p:txBody>
          <a:bodyPr wrap="square" lIns="0" rIns="0" tIns="0" bIns="0" anchor="t">
            <a:spAutoFit/>
          </a:bodyPr>
          <a:lstStyle/>
          <a:p>
            <a:pPr algn="l"/>
            <a:r>
              <a:rPr sz="950" b="1" i="0">
                <a:solidFill>
                  <a:srgbClr val="0F2C5C"/>
                </a:solidFill>
                <a:latin typeface="Sora"/>
              </a:rPr>
              <a:t>Call as the primary action</a:t>
            </a:r>
          </a:p>
        </p:txBody>
      </p:sp>
      <p:sp>
        <p:nvSpPr>
          <p:cNvPr id="43" name="TextBox 42"/>
          <p:cNvSpPr txBox="1"/>
          <p:nvPr/>
        </p:nvSpPr>
        <p:spPr>
          <a:xfrm>
            <a:off x="7360920" y="4334256"/>
            <a:ext cx="4114800" cy="402336"/>
          </a:xfrm>
          <a:prstGeom prst="rect">
            <a:avLst/>
          </a:prstGeom>
          <a:noFill/>
        </p:spPr>
        <p:txBody>
          <a:bodyPr wrap="square" lIns="0" rIns="0" tIns="0" bIns="0" anchor="t">
            <a:spAutoFit/>
          </a:bodyPr>
          <a:lstStyle/>
          <a:p>
            <a:pPr algn="l"/>
            <a:r>
              <a:rPr sz="850" b="0" i="0">
                <a:solidFill>
                  <a:srgbClr val="5A6472"/>
                </a:solidFill>
                <a:latin typeface="Sora"/>
              </a:rPr>
              <a:t>82 phone clicks vs 31 form submits on these pages.</a:t>
            </a:r>
          </a:p>
        </p:txBody>
      </p:sp>
      <p:sp>
        <p:nvSpPr>
          <p:cNvPr id="44" name="Rounded Rectangle 43"/>
          <p:cNvSpPr/>
          <p:nvPr/>
        </p:nvSpPr>
        <p:spPr>
          <a:xfrm>
            <a:off x="7223760" y="4782312"/>
            <a:ext cx="438912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60920" y="4855464"/>
            <a:ext cx="4114800" cy="201168"/>
          </a:xfrm>
          <a:prstGeom prst="rect">
            <a:avLst/>
          </a:prstGeom>
          <a:noFill/>
        </p:spPr>
        <p:txBody>
          <a:bodyPr wrap="square" lIns="0" rIns="0" tIns="0" bIns="0" anchor="t">
            <a:spAutoFit/>
          </a:bodyPr>
          <a:lstStyle/>
          <a:p>
            <a:pPr algn="l"/>
            <a:r>
              <a:rPr sz="950" b="1" i="0">
                <a:solidFill>
                  <a:srgbClr val="0F2C5C"/>
                </a:solidFill>
                <a:latin typeface="Sora"/>
              </a:rPr>
              <a:t>Eligibility + apply for this programme</a:t>
            </a:r>
          </a:p>
        </p:txBody>
      </p:sp>
      <p:sp>
        <p:nvSpPr>
          <p:cNvPr id="46" name="TextBox 45"/>
          <p:cNvSpPr txBox="1"/>
          <p:nvPr/>
        </p:nvSpPr>
        <p:spPr>
          <a:xfrm>
            <a:off x="7360920" y="5084064"/>
            <a:ext cx="4114800" cy="402336"/>
          </a:xfrm>
          <a:prstGeom prst="rect">
            <a:avLst/>
          </a:prstGeom>
          <a:noFill/>
        </p:spPr>
        <p:txBody>
          <a:bodyPr wrap="square" lIns="0" rIns="0" tIns="0" bIns="0" anchor="t">
            <a:spAutoFit/>
          </a:bodyPr>
          <a:lstStyle/>
          <a:p>
            <a:pPr algn="l"/>
            <a:r>
              <a:rPr sz="850" b="0" i="0">
                <a:solidFill>
                  <a:srgbClr val="5A6472"/>
                </a:solidFill>
                <a:latin typeface="Sora"/>
              </a:rPr>
              <a:t>Eligibility (7–201) barely registers as a next step today.</a:t>
            </a:r>
          </a:p>
        </p:txBody>
      </p:sp>
      <p:sp>
        <p:nvSpPr>
          <p:cNvPr id="47" name="Rounded Rectangle 46"/>
          <p:cNvSpPr/>
          <p:nvPr/>
        </p:nvSpPr>
        <p:spPr>
          <a:xfrm>
            <a:off x="7223760" y="5532120"/>
            <a:ext cx="438912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60920" y="5605272"/>
            <a:ext cx="4114800" cy="201168"/>
          </a:xfrm>
          <a:prstGeom prst="rect">
            <a:avLst/>
          </a:prstGeom>
          <a:noFill/>
        </p:spPr>
        <p:txBody>
          <a:bodyPr wrap="square" lIns="0" rIns="0" tIns="0" bIns="0" anchor="t">
            <a:spAutoFit/>
          </a:bodyPr>
          <a:lstStyle/>
          <a:p>
            <a:pPr algn="l"/>
            <a:r>
              <a:rPr sz="950" b="1" i="0">
                <a:solidFill>
                  <a:srgbClr val="0F2C5C"/>
                </a:solidFill>
                <a:latin typeface="Sora"/>
              </a:rPr>
              <a:t>Return to the course</a:t>
            </a:r>
          </a:p>
        </p:txBody>
      </p:sp>
      <p:sp>
        <p:nvSpPr>
          <p:cNvPr id="49" name="TextBox 48"/>
          <p:cNvSpPr txBox="1"/>
          <p:nvPr/>
        </p:nvSpPr>
        <p:spPr>
          <a:xfrm>
            <a:off x="7360920" y="5833872"/>
            <a:ext cx="4114800" cy="402336"/>
          </a:xfrm>
          <a:prstGeom prst="rect">
            <a:avLst/>
          </a:prstGeom>
          <a:noFill/>
        </p:spPr>
        <p:txBody>
          <a:bodyPr wrap="square" lIns="0" rIns="0" tIns="0" bIns="0" anchor="t">
            <a:spAutoFit/>
          </a:bodyPr>
          <a:lstStyle/>
          <a:p>
            <a:pPr algn="l"/>
            <a:r>
              <a:rPr sz="850" b="0" i="0">
                <a:solidFill>
                  <a:srgbClr val="5A6472"/>
                </a:solidFill>
                <a:latin typeface="Sora"/>
              </a:rPr>
              <a:t>7,070 moves already go back to CSE — make it one tap, with context.</a:t>
            </a:r>
          </a:p>
        </p:txBody>
      </p:sp>
      <p:sp>
        <p:nvSpPr>
          <p:cNvPr id="50" name="TextBox 49"/>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KPI: leads on fee pages · phone clicks, fee→course return, fee→home exits · guardrail: engagement. Sources: GA4 explorations, 13 Jun – 10 Sept 2026 (figures as used in this deck) · GA4 event export by page type (event counts; separate pull, not directly comparable) · Live site audit, 24 Sept 2026.</a:t>
            </a:r>
          </a:p>
        </p:txBody>
      </p:sp>
      <p:sp>
        <p:nvSpPr>
          <p:cNvPr id="51" name="Rounded Rectangle 50"/>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5"/>
          <p:cNvSpPr txBox="1"/>
          <p:nvPr/>
        </p:nvSpPr>
        <p:spPr>
          <a:xfrm>
            <a:off x="548640" y="411480"/>
            <a:ext cx="10515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COST CHECKER — JOURNEY ORCHESTRATION</a:t>
            </a:r>
            <a:endParaRPr sz="1500"/>
          </a:p>
        </p:txBody>
      </p:sp>
      <p:sp>
        <p:nvSpPr>
          <p:cNvPr id="599" name="Google Shape;599;p35"/>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A parent checking fees needs a button, not another page</a:t>
            </a:r>
            <a:endParaRPr sz="1500"/>
          </a:p>
        </p:txBody>
      </p:sp>
      <p:sp>
        <p:nvSpPr>
          <p:cNvPr id="600" name="Google Shape;600;p35"/>
          <p:cNvSpPr txBox="1"/>
          <p:nvPr/>
        </p:nvSpPr>
        <p:spPr>
          <a:xfrm>
            <a:off x="548640" y="1207008"/>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Applied to the fee-structure pages (/mriirs, /mru)</a:t>
            </a:r>
            <a:endParaRPr sz="1500"/>
          </a:p>
        </p:txBody>
      </p:sp>
      <p:sp>
        <p:nvSpPr>
          <p:cNvPr id="601" name="Google Shape;601;p35"/>
          <p:cNvSpPr/>
          <p:nvPr/>
        </p:nvSpPr>
        <p:spPr>
          <a:xfrm>
            <a:off x="548640" y="2994660"/>
            <a:ext cx="2102700" cy="1554900"/>
          </a:xfrm>
          <a:prstGeom prst="roundRect">
            <a:avLst>
              <a:gd fmla="val 9000" name="adj"/>
            </a:avLst>
          </a:prstGeom>
          <a:solidFill>
            <a:srgbClr val="0F2C5C"/>
          </a:solidFill>
          <a:ln>
            <a:noFill/>
          </a:ln>
          <a:effectLst>
            <a:outerShdw blurRad="101600" rotWithShape="0" algn="t" dir="5400000" dist="25400">
              <a:srgbClr val="0F2C5C">
                <a:alpha val="12160"/>
              </a:srgbClr>
            </a:outerShdw>
          </a:effectLst>
        </p:spPr>
        <p:txBody>
          <a:bodyPr anchorCtr="0" anchor="ctr" bIns="137175" lIns="182875" spcFirstLastPara="1" rIns="182875"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A9BBDD"/>
                </a:solidFill>
                <a:latin typeface="Sora"/>
                <a:ea typeface="Sora"/>
                <a:cs typeface="Sora"/>
                <a:sym typeface="Sora"/>
              </a:rPr>
              <a:t>VISITOR LANDS ON</a:t>
            </a:r>
            <a:endParaRPr sz="1500"/>
          </a:p>
          <a:p>
            <a:pPr indent="0" lvl="0" marL="0" marR="0" rtl="0" algn="l">
              <a:lnSpc>
                <a:spcPct val="95000"/>
              </a:lnSpc>
              <a:spcBef>
                <a:spcPts val="500"/>
              </a:spcBef>
              <a:spcAft>
                <a:spcPts val="0"/>
              </a:spcAft>
              <a:buNone/>
            </a:pPr>
            <a:r>
              <a:rPr b="1" i="0" lang="en-US" sz="1500" u="none" cap="none" strike="noStrike">
                <a:solidFill>
                  <a:srgbClr val="FFFFFF"/>
                </a:solidFill>
                <a:latin typeface="Sora"/>
                <a:ea typeface="Sora"/>
                <a:cs typeface="Sora"/>
                <a:sym typeface="Sora"/>
              </a:rPr>
              <a:t>Fee Structure Page</a:t>
            </a:r>
            <a:endParaRPr sz="1500"/>
          </a:p>
        </p:txBody>
      </p:sp>
      <p:sp>
        <p:nvSpPr>
          <p:cNvPr id="602" name="Google Shape;602;p35"/>
          <p:cNvSpPr/>
          <p:nvPr/>
        </p:nvSpPr>
        <p:spPr>
          <a:xfrm>
            <a:off x="3035808" y="2903220"/>
            <a:ext cx="1737300" cy="1737300"/>
          </a:xfrm>
          <a:prstGeom prst="ellipse">
            <a:avLst/>
          </a:prstGeom>
          <a:solidFill>
            <a:srgbClr val="C8102E"/>
          </a:solidFill>
          <a:ln>
            <a:noFill/>
          </a:ln>
          <a:effectLst>
            <a:outerShdw blurRad="101600" rotWithShape="0" algn="t" dir="5400000" dist="25400">
              <a:srgbClr val="0F2C5C">
                <a:alpha val="12160"/>
              </a:srgbClr>
            </a:outerShdw>
          </a:effectLst>
        </p:spPr>
        <p:txBody>
          <a:bodyPr anchorCtr="0" anchor="ctr" bIns="45700" lIns="109725" spcFirstLastPara="1" rIns="109725" wrap="square" tIns="45700">
            <a:noAutofit/>
          </a:bodyPr>
          <a:lstStyle/>
          <a:p>
            <a:pPr indent="0" lvl="0" marL="0" marR="0" rtl="0" algn="ctr">
              <a:lnSpc>
                <a:spcPct val="95000"/>
              </a:lnSpc>
              <a:spcBef>
                <a:spcPts val="0"/>
              </a:spcBef>
              <a:spcAft>
                <a:spcPts val="0"/>
              </a:spcAft>
              <a:buNone/>
            </a:pPr>
            <a:r>
              <a:rPr b="1" i="0" lang="en-US" sz="1100" u="none" cap="none" strike="noStrike">
                <a:solidFill>
                  <a:srgbClr val="FFFFFF"/>
                </a:solidFill>
                <a:latin typeface="Sora"/>
                <a:ea typeface="Sora"/>
                <a:cs typeface="Sora"/>
                <a:sym typeface="Sora"/>
              </a:rPr>
              <a:t>What does the visitor need right now?</a:t>
            </a:r>
            <a:endParaRPr sz="1500"/>
          </a:p>
        </p:txBody>
      </p:sp>
      <p:cxnSp>
        <p:nvCxnSpPr>
          <p:cNvPr id="603" name="Google Shape;603;p35"/>
          <p:cNvCxnSpPr>
            <a:stCxn id="601" idx="3"/>
          </p:cNvCxnSpPr>
          <p:nvPr/>
        </p:nvCxnSpPr>
        <p:spPr>
          <a:xfrm>
            <a:off x="2651340" y="3772110"/>
            <a:ext cx="384000" cy="0"/>
          </a:xfrm>
          <a:prstGeom prst="straightConnector1">
            <a:avLst/>
          </a:prstGeom>
          <a:noFill/>
          <a:ln cap="flat" cmpd="sng" w="19075">
            <a:solidFill>
              <a:srgbClr val="9AA5B5"/>
            </a:solidFill>
            <a:prstDash val="solid"/>
            <a:round/>
            <a:headEnd len="sm" w="sm" type="none"/>
            <a:tailEnd len="med" w="med" type="triangle"/>
          </a:ln>
        </p:spPr>
      </p:cxnSp>
      <p:sp>
        <p:nvSpPr>
          <p:cNvPr id="604" name="Google Shape;604;p35"/>
          <p:cNvSpPr/>
          <p:nvPr/>
        </p:nvSpPr>
        <p:spPr>
          <a:xfrm>
            <a:off x="5138928" y="1627632"/>
            <a:ext cx="6501300" cy="2007300"/>
          </a:xfrm>
          <a:prstGeom prst="roundRect">
            <a:avLst>
              <a:gd fmla="val 6000" name="adj"/>
            </a:avLst>
          </a:prstGeom>
          <a:solidFill>
            <a:srgbClr val="EAF4ED"/>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605" name="Google Shape;605;p35"/>
          <p:cNvCxnSpPr>
            <a:endCxn id="604" idx="1"/>
          </p:cNvCxnSpPr>
          <p:nvPr/>
        </p:nvCxnSpPr>
        <p:spPr>
          <a:xfrm rot="-5400000">
            <a:off x="4385928" y="3018582"/>
            <a:ext cx="1140300" cy="365700"/>
          </a:xfrm>
          <a:prstGeom prst="bentConnector3">
            <a:avLst>
              <a:gd fmla="val 100415" name="adj1"/>
            </a:avLst>
          </a:prstGeom>
          <a:noFill/>
          <a:ln cap="flat" cmpd="sng" w="19075">
            <a:solidFill>
              <a:srgbClr val="9AA5B5"/>
            </a:solidFill>
            <a:prstDash val="solid"/>
            <a:round/>
            <a:headEnd len="sm" w="sm" type="none"/>
            <a:tailEnd len="med" w="med" type="triangle"/>
          </a:ln>
        </p:spPr>
      </p:cxnSp>
      <p:sp>
        <p:nvSpPr>
          <p:cNvPr id="606" name="Google Shape;606;p35"/>
          <p:cNvSpPr/>
          <p:nvPr/>
        </p:nvSpPr>
        <p:spPr>
          <a:xfrm>
            <a:off x="5367528" y="1901952"/>
            <a:ext cx="731100" cy="274500"/>
          </a:xfrm>
          <a:prstGeom prst="roundRect">
            <a:avLst>
              <a:gd fmla="val 50000" name="adj"/>
            </a:avLst>
          </a:prstGeom>
          <a:solidFill>
            <a:srgbClr val="1E7B3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STAY</a:t>
            </a:r>
            <a:endParaRPr sz="1500"/>
          </a:p>
        </p:txBody>
      </p:sp>
      <p:sp>
        <p:nvSpPr>
          <p:cNvPr id="607" name="Google Shape;607;p35"/>
          <p:cNvSpPr/>
          <p:nvPr/>
        </p:nvSpPr>
        <p:spPr>
          <a:xfrm>
            <a:off x="5367528" y="2286000"/>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Answer stays on the page</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still has a question</a:t>
            </a:r>
            <a:endParaRPr sz="1500"/>
          </a:p>
        </p:txBody>
      </p:sp>
      <p:sp>
        <p:nvSpPr>
          <p:cNvPr id="608" name="Google Shape;608;p35"/>
          <p:cNvSpPr/>
          <p:nvPr/>
        </p:nvSpPr>
        <p:spPr>
          <a:xfrm>
            <a:off x="7424928" y="1856232"/>
            <a:ext cx="39867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ctr" bIns="137175" lIns="228600" spcFirstLastPara="1" rIns="228600"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1E7B34"/>
                </a:solidFill>
                <a:latin typeface="Sora"/>
                <a:ea typeface="Sora"/>
                <a:cs typeface="Sora"/>
                <a:sym typeface="Sora"/>
              </a:rPr>
              <a:t>ON THE PAGE</a:t>
            </a:r>
            <a:endParaRPr sz="1500"/>
          </a:p>
          <a:p>
            <a:pPr indent="0" lvl="0" marL="0" marR="0" rtl="0" algn="l">
              <a:lnSpc>
                <a:spcPct val="105000"/>
              </a:lnSpc>
              <a:spcBef>
                <a:spcPts val="500"/>
              </a:spcBef>
              <a:spcAft>
                <a:spcPts val="0"/>
              </a:spcAft>
              <a:buNone/>
            </a:pPr>
            <a:r>
              <a:rPr b="0" i="0" lang="en-US" sz="1200" u="none" cap="none" strike="noStrike">
                <a:solidFill>
                  <a:srgbClr val="0F2C5C"/>
                </a:solidFill>
                <a:latin typeface="Sora"/>
                <a:ea typeface="Sora"/>
                <a:cs typeface="Sora"/>
                <a:sym typeface="Sora"/>
              </a:rPr>
              <a:t>Tiered fee cards answer the number in place — no horizontal-scroll table required to read it.</a:t>
            </a:r>
            <a:endParaRPr sz="1500"/>
          </a:p>
        </p:txBody>
      </p:sp>
      <p:sp>
        <p:nvSpPr>
          <p:cNvPr id="609" name="Google Shape;609;p35"/>
          <p:cNvSpPr/>
          <p:nvPr/>
        </p:nvSpPr>
        <p:spPr>
          <a:xfrm>
            <a:off x="5138928" y="3909060"/>
            <a:ext cx="6501300" cy="2007300"/>
          </a:xfrm>
          <a:prstGeom prst="roundRect">
            <a:avLst>
              <a:gd fmla="val 6000" name="adj"/>
            </a:avLst>
          </a:prstGeom>
          <a:solidFill>
            <a:srgbClr val="E8EEF7"/>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610" name="Google Shape;610;p35"/>
          <p:cNvCxnSpPr>
            <a:endCxn id="609" idx="1"/>
          </p:cNvCxnSpPr>
          <p:nvPr/>
        </p:nvCxnSpPr>
        <p:spPr>
          <a:xfrm flipH="1" rot="-5400000">
            <a:off x="4388478" y="4162260"/>
            <a:ext cx="1131600" cy="369300"/>
          </a:xfrm>
          <a:prstGeom prst="bentConnector2">
            <a:avLst/>
          </a:prstGeom>
          <a:noFill/>
          <a:ln cap="flat" cmpd="sng" w="19075">
            <a:solidFill>
              <a:srgbClr val="9AA5B5"/>
            </a:solidFill>
            <a:prstDash val="solid"/>
            <a:round/>
            <a:headEnd len="sm" w="sm" type="none"/>
            <a:tailEnd len="med" w="med" type="triangle"/>
          </a:ln>
        </p:spPr>
      </p:cxnSp>
      <p:sp>
        <p:nvSpPr>
          <p:cNvPr id="611" name="Google Shape;611;p35"/>
          <p:cNvSpPr/>
          <p:nvPr/>
        </p:nvSpPr>
        <p:spPr>
          <a:xfrm>
            <a:off x="5367528" y="4183380"/>
            <a:ext cx="731100" cy="274500"/>
          </a:xfrm>
          <a:prstGeom prst="roundRect">
            <a:avLst>
              <a:gd fmla="val 50000" name="adj"/>
            </a:avLst>
          </a:prstGeom>
          <a:solidFill>
            <a:srgbClr val="0F2C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ACT</a:t>
            </a:r>
            <a:endParaRPr sz="1500"/>
          </a:p>
        </p:txBody>
      </p:sp>
      <p:sp>
        <p:nvSpPr>
          <p:cNvPr id="612" name="Google Shape;612;p35"/>
          <p:cNvSpPr/>
          <p:nvPr/>
        </p:nvSpPr>
        <p:spPr>
          <a:xfrm>
            <a:off x="5367528" y="4567428"/>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Pick one clear next step</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is ready to move</a:t>
            </a:r>
            <a:endParaRPr sz="1500"/>
          </a:p>
        </p:txBody>
      </p:sp>
      <p:sp>
        <p:nvSpPr>
          <p:cNvPr id="613" name="Google Shape;613;p35"/>
          <p:cNvSpPr/>
          <p:nvPr/>
        </p:nvSpPr>
        <p:spPr>
          <a:xfrm>
            <a:off x="7424928"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1</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Apply</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Routes straight to a Contact-Us lead form, course and fee carried over</a:t>
            </a:r>
            <a:endParaRPr sz="1500"/>
          </a:p>
        </p:txBody>
      </p:sp>
      <p:sp>
        <p:nvSpPr>
          <p:cNvPr id="614" name="Google Shape;614;p35"/>
          <p:cNvSpPr/>
          <p:nvPr/>
        </p:nvSpPr>
        <p:spPr>
          <a:xfrm>
            <a:off x="9509760"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2</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Check Eligibility</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2-field inline form, answered on the spot</a:t>
            </a:r>
            <a:endParaRPr sz="1500"/>
          </a:p>
        </p:txBody>
      </p:sp>
      <p:sp>
        <p:nvSpPr>
          <p:cNvPr id="615" name="Google Shape;615;p35"/>
          <p:cNvSpPr/>
          <p:nvPr/>
        </p:nvSpPr>
        <p:spPr>
          <a:xfrm>
            <a:off x="548640" y="6172200"/>
            <a:ext cx="11091600" cy="502800"/>
          </a:xfrm>
          <a:prstGeom prst="roundRect">
            <a:avLst>
              <a:gd fmla="val 10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16" name="Google Shape;616;p35"/>
          <p:cNvSpPr txBox="1"/>
          <p:nvPr/>
        </p:nvSpPr>
        <p:spPr>
          <a:xfrm>
            <a:off x="777240" y="6311106"/>
            <a:ext cx="10607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1" lang="en-US" sz="1200" u="none" cap="none" strike="noStrike">
                <a:solidFill>
                  <a:srgbClr val="C8102E"/>
                </a:solidFill>
                <a:latin typeface="Sora"/>
                <a:ea typeface="Sora"/>
                <a:cs typeface="Sora"/>
                <a:sym typeface="Sora"/>
              </a:rPr>
              <a:t>On the fee page, ‘Apply’ shouldn't lead to more content — it should open the form and capture the lead.</a:t>
            </a:r>
            <a:endParaRPr sz="1500"/>
          </a:p>
        </p:txBody>
      </p:sp>
      <p:sp>
        <p:nvSpPr>
          <p:cNvPr id="617" name="Rounded Rectangle 616"/>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6"/>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COMPETITIVE BENCHMARKING</a:t>
            </a:r>
            <a:endParaRPr sz="1500"/>
          </a:p>
        </p:txBody>
      </p:sp>
      <p:sp>
        <p:nvSpPr>
          <p:cNvPr id="622" name="Google Shape;622;p36"/>
          <p:cNvSpPr txBox="1"/>
          <p:nvPr/>
        </p:nvSpPr>
        <p:spPr>
          <a:xfrm>
            <a:off x="548640" y="713232"/>
            <a:ext cx="11064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F2C5C"/>
                </a:solidFill>
                <a:latin typeface="Sora"/>
                <a:ea typeface="Sora"/>
                <a:cs typeface="Sora"/>
                <a:sym typeface="Sora"/>
              </a:rPr>
              <a:t>Two ways competitors answer “what does it cost” without a table</a:t>
            </a:r>
            <a:endParaRPr sz="1500"/>
          </a:p>
        </p:txBody>
      </p:sp>
      <p:sp>
        <p:nvSpPr>
          <p:cNvPr id="623" name="Google Shape;623;p36"/>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Observed live on the equivalent program-fee pages</a:t>
            </a:r>
            <a:endParaRPr sz="1500"/>
          </a:p>
        </p:txBody>
      </p:sp>
      <p:sp>
        <p:nvSpPr>
          <p:cNvPr id="624" name="Google Shape;624;p36"/>
          <p:cNvSpPr/>
          <p:nvPr/>
        </p:nvSpPr>
        <p:spPr>
          <a:xfrm>
            <a:off x="548640" y="1691640"/>
            <a:ext cx="5349300" cy="4389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25" name="Google Shape;625;p36"/>
          <p:cNvSpPr/>
          <p:nvPr/>
        </p:nvSpPr>
        <p:spPr>
          <a:xfrm>
            <a:off x="777240"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26" name="Google Shape;626;p36"/>
          <p:cNvSpPr txBox="1"/>
          <p:nvPr/>
        </p:nvSpPr>
        <p:spPr>
          <a:xfrm>
            <a:off x="777240" y="1892808"/>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1</a:t>
            </a:r>
            <a:endParaRPr sz="1500"/>
          </a:p>
        </p:txBody>
      </p:sp>
      <p:sp>
        <p:nvSpPr>
          <p:cNvPr id="627" name="Google Shape;627;p36"/>
          <p:cNvSpPr txBox="1"/>
          <p:nvPr/>
        </p:nvSpPr>
        <p:spPr>
          <a:xfrm>
            <a:off x="1417320" y="1911096"/>
            <a:ext cx="4251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Tiered fee cards</a:t>
            </a:r>
            <a:endParaRPr sz="1500"/>
          </a:p>
        </p:txBody>
      </p:sp>
      <p:sp>
        <p:nvSpPr>
          <p:cNvPr id="628" name="Google Shape;628;p36"/>
          <p:cNvSpPr txBox="1"/>
          <p:nvPr/>
        </p:nvSpPr>
        <p:spPr>
          <a:xfrm>
            <a:off x="777240" y="2468880"/>
            <a:ext cx="4892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AMITY ONLINE · MBA PROGRAMME PAGE</a:t>
            </a:r>
            <a:endParaRPr sz="1500"/>
          </a:p>
        </p:txBody>
      </p:sp>
      <p:sp>
        <p:nvSpPr>
          <p:cNvPr id="629" name="Google Shape;629;p36"/>
          <p:cNvSpPr txBox="1"/>
          <p:nvPr/>
        </p:nvSpPr>
        <p:spPr>
          <a:xfrm>
            <a:off x="777233" y="4827326"/>
            <a:ext cx="4892100" cy="76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u="none" cap="none" strike="noStrike">
                <a:solidFill>
                  <a:srgbClr val="5A6472"/>
                </a:solidFill>
                <a:latin typeface="Sora"/>
                <a:ea typeface="Sora"/>
                <a:cs typeface="Sora"/>
                <a:sym typeface="Sora"/>
              </a:rPr>
              <a:t>Four payment options as cards — one-time, annual, per-semester, no-cost EMI — each with the discount struck through and the effective price called out. No table, no scrolling.</a:t>
            </a:r>
            <a:endParaRPr sz="1500"/>
          </a:p>
        </p:txBody>
      </p:sp>
      <p:sp>
        <p:nvSpPr>
          <p:cNvPr id="630" name="Google Shape;630;p36"/>
          <p:cNvSpPr/>
          <p:nvPr/>
        </p:nvSpPr>
        <p:spPr>
          <a:xfrm>
            <a:off x="6172200" y="1691640"/>
            <a:ext cx="5349300" cy="4389300"/>
          </a:xfrm>
          <a:prstGeom prst="roundRect">
            <a:avLst>
              <a:gd fmla="val 6000" name="adj"/>
            </a:avLst>
          </a:prstGeom>
          <a:solidFill>
            <a:srgbClr val="FFFFFF"/>
          </a:solidFill>
          <a:ln cap="flat" cmpd="sng" w="9525">
            <a:solidFill>
              <a:srgbClr val="E5E0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31" name="Google Shape;631;p36"/>
          <p:cNvSpPr/>
          <p:nvPr/>
        </p:nvSpPr>
        <p:spPr>
          <a:xfrm>
            <a:off x="6400800"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32" name="Google Shape;632;p36"/>
          <p:cNvSpPr txBox="1"/>
          <p:nvPr/>
        </p:nvSpPr>
        <p:spPr>
          <a:xfrm>
            <a:off x="6400800" y="1892808"/>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2</a:t>
            </a:r>
            <a:endParaRPr sz="1500"/>
          </a:p>
        </p:txBody>
      </p:sp>
      <p:sp>
        <p:nvSpPr>
          <p:cNvPr id="633" name="Google Shape;633;p36"/>
          <p:cNvSpPr txBox="1"/>
          <p:nvPr/>
        </p:nvSpPr>
        <p:spPr>
          <a:xfrm>
            <a:off x="7040880" y="1911096"/>
            <a:ext cx="4251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C5C"/>
                </a:solidFill>
                <a:latin typeface="Sora"/>
                <a:ea typeface="Sora"/>
                <a:cs typeface="Sora"/>
                <a:sym typeface="Sora"/>
              </a:rPr>
              <a:t>At-a-glance fee strip</a:t>
            </a:r>
            <a:endParaRPr sz="1500"/>
          </a:p>
        </p:txBody>
      </p:sp>
      <p:sp>
        <p:nvSpPr>
          <p:cNvPr id="634" name="Google Shape;634;p36"/>
          <p:cNvSpPr txBox="1"/>
          <p:nvPr/>
        </p:nvSpPr>
        <p:spPr>
          <a:xfrm>
            <a:off x="6400800" y="2468880"/>
            <a:ext cx="4892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LPU ONLINE · MBA PROGRAMME PAGE</a:t>
            </a:r>
            <a:endParaRPr sz="1500"/>
          </a:p>
        </p:txBody>
      </p:sp>
      <p:pic>
        <p:nvPicPr>
          <p:cNvPr descr="crop-lpu-fee.png" id="635" name="Google Shape;635;p36"/>
          <p:cNvPicPr preferRelativeResize="0"/>
          <p:nvPr/>
        </p:nvPicPr>
        <p:blipFill rotWithShape="1">
          <a:blip r:embed="rId3">
            <a:alphaModFix/>
          </a:blip>
          <a:srcRect b="0" l="0" r="0" t="0"/>
          <a:stretch/>
        </p:blipFill>
        <p:spPr>
          <a:xfrm>
            <a:off x="6400800" y="2880360"/>
            <a:ext cx="4358640" cy="1005840"/>
          </a:xfrm>
          <a:prstGeom prst="rect">
            <a:avLst/>
          </a:prstGeom>
          <a:noFill/>
          <a:ln>
            <a:noFill/>
          </a:ln>
        </p:spPr>
      </p:pic>
      <p:sp>
        <p:nvSpPr>
          <p:cNvPr id="636" name="Google Shape;636;p36"/>
          <p:cNvSpPr txBox="1"/>
          <p:nvPr/>
        </p:nvSpPr>
        <p:spPr>
          <a:xfrm>
            <a:off x="6400800" y="4227815"/>
            <a:ext cx="4892100" cy="1403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00" u="none" cap="none" strike="noStrike">
                <a:solidFill>
                  <a:srgbClr val="5A6472"/>
                </a:solidFill>
                <a:latin typeface="Sora"/>
                <a:ea typeface="Sora"/>
                <a:cs typeface="Sora"/>
                <a:sym typeface="Sora"/>
              </a:rPr>
              <a:t>One line answers the question — ₹40,400/Sem, No-Cost EMI available — placed right after the program description, before the lead form. The application deadline sits next to it, same glance.</a:t>
            </a:r>
            <a:endParaRPr sz="1500"/>
          </a:p>
          <a:p>
            <a:pPr indent="0" lvl="0" marL="0" marR="0" rtl="0" algn="l">
              <a:lnSpc>
                <a:spcPct val="110000"/>
              </a:lnSpc>
              <a:spcBef>
                <a:spcPts val="0"/>
              </a:spcBef>
              <a:spcAft>
                <a:spcPts val="0"/>
              </a:spcAft>
              <a:buNone/>
            </a:pPr>
            <a:r>
              <a:t/>
            </a:r>
            <a:endParaRPr b="0" i="0" sz="1200" u="none" cap="none" strike="noStrike">
              <a:solidFill>
                <a:srgbClr val="5A6472"/>
              </a:solidFill>
              <a:latin typeface="Sora"/>
              <a:ea typeface="Sora"/>
              <a:cs typeface="Sora"/>
              <a:sym typeface="Sora"/>
            </a:endParaRPr>
          </a:p>
          <a:p>
            <a:pPr indent="0" lvl="0" marL="0" marR="0" rtl="0" algn="l">
              <a:lnSpc>
                <a:spcPct val="110000"/>
              </a:lnSpc>
              <a:spcBef>
                <a:spcPts val="0"/>
              </a:spcBef>
              <a:spcAft>
                <a:spcPts val="0"/>
              </a:spcAft>
              <a:buNone/>
            </a:pPr>
            <a:r>
              <a:rPr b="0" i="0" lang="en-US" sz="1200" u="none" cap="none" strike="noStrike">
                <a:solidFill>
                  <a:srgbClr val="5A6472"/>
                </a:solidFill>
                <a:latin typeface="Sora"/>
                <a:ea typeface="Sora"/>
                <a:cs typeface="Sora"/>
                <a:sym typeface="Sora"/>
              </a:rPr>
              <a:t>Neither competitor makes a Cost Checker scroll a wide table sideways to find a number.</a:t>
            </a:r>
            <a:endParaRPr sz="1500"/>
          </a:p>
        </p:txBody>
      </p:sp>
      <p:sp>
        <p:nvSpPr>
          <p:cNvPr id="637" name="Google Shape;637;p36"/>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live capture of competitor programme-fee pages, mobile viewport, 22 Sept 2026.</a:t>
            </a:r>
            <a:endParaRPr sz="1500"/>
          </a:p>
        </p:txBody>
      </p:sp>
      <p:pic>
        <p:nvPicPr>
          <p:cNvPr id="638" name="Google Shape;638;p36"/>
          <p:cNvPicPr preferRelativeResize="0"/>
          <p:nvPr/>
        </p:nvPicPr>
        <p:blipFill>
          <a:blip r:embed="rId4">
            <a:alphaModFix/>
          </a:blip>
          <a:stretch>
            <a:fillRect/>
          </a:stretch>
        </p:blipFill>
        <p:spPr>
          <a:xfrm>
            <a:off x="694500" y="2843600"/>
            <a:ext cx="4839368" cy="1632251"/>
          </a:xfrm>
          <a:prstGeom prst="rect">
            <a:avLst/>
          </a:prstGeom>
          <a:noFill/>
          <a:ln>
            <a:noFill/>
          </a:ln>
        </p:spPr>
      </p:pic>
      <p:sp>
        <p:nvSpPr>
          <p:cNvPr id="639" name="Rounded Rectangle 638"/>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37"/>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FIXES</a:t>
            </a:r>
            <a:endParaRPr sz="1500"/>
          </a:p>
        </p:txBody>
      </p:sp>
      <p:sp>
        <p:nvSpPr>
          <p:cNvPr id="644" name="Google Shape;644;p37"/>
          <p:cNvSpPr txBox="1"/>
          <p:nvPr/>
        </p:nvSpPr>
        <p:spPr>
          <a:xfrm>
            <a:off x="548640" y="713232"/>
            <a:ext cx="11064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u="none" cap="none" strike="noStrike">
                <a:solidFill>
                  <a:srgbClr val="0F2C5C"/>
                </a:solidFill>
                <a:latin typeface="Sora"/>
                <a:ea typeface="Sora"/>
                <a:cs typeface="Sora"/>
                <a:sym typeface="Sora"/>
              </a:rPr>
              <a:t>Six fixes for the fee-structure template</a:t>
            </a:r>
            <a:endParaRPr sz="1500"/>
          </a:p>
        </p:txBody>
      </p:sp>
      <p:sp>
        <p:nvSpPr>
          <p:cNvPr id="645" name="Google Shape;645;p37"/>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Ranked by effort — applies once to both /mriirs and /mru, since it's one shared template</a:t>
            </a:r>
            <a:endParaRPr sz="1500"/>
          </a:p>
        </p:txBody>
      </p:sp>
      <p:graphicFrame>
        <p:nvGraphicFramePr>
          <p:cNvPr id="646" name="Google Shape;646;p37"/>
          <p:cNvGraphicFramePr/>
          <p:nvPr/>
        </p:nvGraphicFramePr>
        <p:xfrm>
          <a:off x="548640" y="1691640"/>
          <a:ext cx="3000000" cy="3000000"/>
        </p:xfrm>
        <a:graphic>
          <a:graphicData uri="http://schemas.openxmlformats.org/drawingml/2006/table">
            <a:tbl>
              <a:tblPr bandRow="1" firstRow="1">
                <a:noFill/>
                <a:tableStyleId>{AF987E92-83FC-4B9D-A84D-E1139F2F7CFC}</a:tableStyleId>
              </a:tblPr>
              <a:tblGrid>
                <a:gridCol w="346300"/>
                <a:gridCol w="2363325"/>
                <a:gridCol w="823775"/>
              </a:tblGrid>
              <a:tr h="613975">
                <a:tc>
                  <a:txBody>
                    <a:bodyPr/>
                    <a:lstStyle/>
                    <a:p>
                      <a:pPr indent="0" lvl="0" marL="0" marR="0" rtl="0" algn="ctr">
                        <a:lnSpc>
                          <a:spcPct val="100000"/>
                        </a:lnSpc>
                        <a:spcBef>
                          <a:spcPts val="0"/>
                        </a:spcBef>
                        <a:spcAft>
                          <a:spcPts val="0"/>
                        </a:spcAft>
                        <a:buNone/>
                      </a:pPr>
                      <a:r>
                        <a:rPr b="1" lang="en-US" sz="900" u="none" cap="none" strike="noStrike">
                          <a:solidFill>
                            <a:srgbClr val="FFFFFF"/>
                          </a:solidFill>
                          <a:latin typeface="Sora"/>
                          <a:ea typeface="Sora"/>
                          <a:cs typeface="Sora"/>
                          <a:sym typeface="Sora"/>
                        </a:rPr>
                        <a:t>#</a:t>
                      </a:r>
                      <a:endParaRPr sz="1200"/>
                    </a:p>
                  </a:txBody>
                  <a:tcPr marT="45725" marB="45725" marR="73175" marL="73175" anchor="ctr">
                    <a:solidFill>
                      <a:srgbClr val="0F2C5C"/>
                    </a:solidFill>
                  </a:tcPr>
                </a:tc>
                <a:tc>
                  <a:txBody>
                    <a:bodyPr/>
                    <a:lstStyle/>
                    <a:p>
                      <a:pPr indent="0" lvl="0" marL="0" marR="0" rtl="0" algn="l">
                        <a:lnSpc>
                          <a:spcPct val="100000"/>
                        </a:lnSpc>
                        <a:spcBef>
                          <a:spcPts val="0"/>
                        </a:spcBef>
                        <a:spcAft>
                          <a:spcPts val="0"/>
                        </a:spcAft>
                        <a:buNone/>
                      </a:pPr>
                      <a:r>
                        <a:rPr b="1" lang="en-US" sz="900" u="none" cap="none" strike="noStrike">
                          <a:solidFill>
                            <a:srgbClr val="FFFFFF"/>
                          </a:solidFill>
                          <a:latin typeface="Sora"/>
                          <a:ea typeface="Sora"/>
                          <a:cs typeface="Sora"/>
                          <a:sym typeface="Sora"/>
                        </a:rPr>
                        <a:t>Fix</a:t>
                      </a:r>
                      <a:endParaRPr sz="1200"/>
                    </a:p>
                  </a:txBody>
                  <a:tcPr marT="45725" marB="45725" marR="73175" marL="73175" anchor="ctr">
                    <a:solidFill>
                      <a:srgbClr val="0F2C5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FFFFFF"/>
                          </a:solidFill>
                          <a:latin typeface="Sora"/>
                          <a:ea typeface="Sora"/>
                          <a:cs typeface="Sora"/>
                          <a:sym typeface="Sora"/>
                        </a:rPr>
                        <a:t>Effort</a:t>
                      </a:r>
                      <a:endParaRPr sz="1200"/>
                    </a:p>
                  </a:txBody>
                  <a:tcPr marT="45725" marB="45725" marR="73175" marL="73175" anchor="ctr">
                    <a:solidFill>
                      <a:srgbClr val="0F2C5C"/>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1</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Cap sticky CTAs to one; never let it overlap the title, table or fee values</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2</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Move the chat teaser and bubble off the fee table</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7F8FA"/>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3</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Collapse duplicate long-name rows behind a “view specialisations” toggle</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4</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Add a sticky header row and sticky first (“School”) column to the table</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7F8FA"/>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5</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Lead with an at-a-glance fee strip or tiered cards, table optional below</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6</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Link back to the originating course inline on the fee page</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7F8FA"/>
                    </a:solidFill>
                  </a:tcPr>
                </a:tc>
              </a:tr>
            </a:tbl>
          </a:graphicData>
        </a:graphic>
      </p:graphicFrame>
      <p:sp>
        <p:nvSpPr>
          <p:cNvPr id="647" name="Google Shape;647;p37"/>
          <p:cNvSpPr/>
          <p:nvPr/>
        </p:nvSpPr>
        <p:spPr>
          <a:xfrm>
            <a:off x="548640" y="6126480"/>
            <a:ext cx="11091600" cy="4572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648" name="Google Shape;648;p37"/>
          <p:cNvSpPr txBox="1"/>
          <p:nvPr/>
        </p:nvSpPr>
        <p:spPr>
          <a:xfrm>
            <a:off x="777240" y="6126480"/>
            <a:ext cx="10607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sz="1200" u="none" cap="none" strike="noStrike">
                <a:solidFill>
                  <a:srgbClr val="0F2C5C"/>
                </a:solidFill>
                <a:latin typeface="Sora"/>
                <a:ea typeface="Sora"/>
                <a:cs typeface="Sora"/>
                <a:sym typeface="Sora"/>
              </a:rPr>
              <a:t>One template, two URLs — every fix here ships once and fixes both /mriirs and /mru at the same time.</a:t>
            </a:r>
            <a:endParaRPr sz="1500"/>
          </a:p>
        </p:txBody>
      </p:sp>
      <p:pic>
        <p:nvPicPr>
          <p:cNvPr id="649" name="Google Shape;649;p37"/>
          <p:cNvPicPr preferRelativeResize="0"/>
          <p:nvPr/>
        </p:nvPicPr>
        <p:blipFill rotWithShape="1">
          <a:blip r:embed="rId3">
            <a:alphaModFix/>
          </a:blip>
          <a:srcRect b="2099" l="0" r="0" t="11895"/>
          <a:stretch/>
        </p:blipFill>
        <p:spPr>
          <a:xfrm>
            <a:off x="4235450" y="1702300"/>
            <a:ext cx="7956550" cy="3853950"/>
          </a:xfrm>
          <a:prstGeom prst="rect">
            <a:avLst/>
          </a:prstGeom>
          <a:noFill/>
          <a:ln>
            <a:noFill/>
          </a:ln>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PAGE OPPORTUNITIES  ·  PROOF</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Proof: verify it, then attach it to the programme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Awards, placements and programme pages</a:t>
            </a:r>
          </a:p>
        </p:txBody>
      </p:sp>
      <p:sp>
        <p:nvSpPr>
          <p:cNvPr id="5" name="Rounded Rectangle 4"/>
          <p:cNvSpPr/>
          <p:nvPr/>
        </p:nvSpPr>
        <p:spPr>
          <a:xfrm>
            <a:off x="548640" y="1600200"/>
            <a:ext cx="2051913" cy="3977639"/>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PROBLEM</a:t>
            </a:r>
          </a:p>
        </p:txBody>
      </p:sp>
      <p:sp>
        <p:nvSpPr>
          <p:cNvPr id="7" name="TextBox 6"/>
          <p:cNvSpPr txBox="1"/>
          <p:nvPr/>
        </p:nvSpPr>
        <p:spPr>
          <a:xfrm>
            <a:off x="685800"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Proof sits on standalone pages that rarely lead to a programme, and several claims conflict or have no stated source.</a:t>
            </a:r>
          </a:p>
        </p:txBody>
      </p:sp>
      <p:sp>
        <p:nvSpPr>
          <p:cNvPr id="8" name="Right Arrow 7"/>
          <p:cNvSpPr/>
          <p:nvPr/>
        </p:nvSpPr>
        <p:spPr>
          <a:xfrm>
            <a:off x="2618841"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01721" y="1600200"/>
            <a:ext cx="2051913" cy="3977639"/>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8881"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EVIDENCE</a:t>
            </a:r>
          </a:p>
        </p:txBody>
      </p:sp>
      <p:sp>
        <p:nvSpPr>
          <p:cNvPr id="11" name="TextBox 10"/>
          <p:cNvSpPr txBox="1"/>
          <p:nvPr/>
        </p:nvSpPr>
        <p:spPr>
          <a:xfrm>
            <a:off x="2938881"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Awards: 67.13% bounce, 9 reach fees [GA4]. NBA accreditation of B.Tech CSE not stated on the CSE page; NIRF 2025 vs 2026; “95%” and “60 LPA” unscoped [MREI pages].</a:t>
            </a:r>
          </a:p>
        </p:txBody>
      </p:sp>
      <p:sp>
        <p:nvSpPr>
          <p:cNvPr id="12" name="Right Arrow 11"/>
          <p:cNvSpPr/>
          <p:nvPr/>
        </p:nvSpPr>
        <p:spPr>
          <a:xfrm>
            <a:off x="4871923"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54803" y="1600200"/>
            <a:ext cx="2051913" cy="3977639"/>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91963" y="1737360"/>
            <a:ext cx="1777593" cy="320040"/>
          </a:xfrm>
          <a:prstGeom prst="rect">
            <a:avLst/>
          </a:prstGeom>
          <a:noFill/>
        </p:spPr>
        <p:txBody>
          <a:bodyPr wrap="square" lIns="0" rIns="0" tIns="0" bIns="0" anchor="t">
            <a:spAutoFit/>
          </a:bodyPr>
          <a:lstStyle/>
          <a:p>
            <a:pPr algn="l"/>
            <a:r>
              <a:rPr sz="850" b="1" i="0">
                <a:solidFill>
                  <a:srgbClr val="CADCFC"/>
                </a:solidFill>
                <a:latin typeface="Sora"/>
              </a:rPr>
              <a:t>RECOMMENDATION</a:t>
            </a:r>
          </a:p>
        </p:txBody>
      </p:sp>
      <p:sp>
        <p:nvSpPr>
          <p:cNvPr id="15" name="TextBox 14"/>
          <p:cNvSpPr txBox="1"/>
          <p:nvPr/>
        </p:nvSpPr>
        <p:spPr>
          <a:xfrm>
            <a:off x="5191963" y="2148840"/>
            <a:ext cx="1777593" cy="3337559"/>
          </a:xfrm>
          <a:prstGeom prst="rect">
            <a:avLst/>
          </a:prstGeom>
          <a:noFill/>
        </p:spPr>
        <p:txBody>
          <a:bodyPr wrap="square" lIns="0" rIns="0" tIns="0" bIns="0" anchor="t">
            <a:spAutoFit/>
          </a:bodyPr>
          <a:lstStyle/>
          <a:p>
            <a:pPr algn="l">
              <a:spcAft>
                <a:spcPts val="500"/>
              </a:spcAft>
            </a:pPr>
            <a:r>
              <a:rPr sz="1150" b="0" i="0">
                <a:solidFill>
                  <a:srgbClr val="FFFFFF"/>
                </a:solidFill>
                <a:latin typeface="Sora"/>
              </a:rPr>
              <a:t>Reconcile claims with MREI first. Then a programme proof strip (NBA badge, dated named offers) beside the form; every award links to the programmes it covers; faculty filter pattern reused.</a:t>
            </a:r>
          </a:p>
        </p:txBody>
      </p:sp>
      <p:sp>
        <p:nvSpPr>
          <p:cNvPr id="16" name="Right Arrow 15"/>
          <p:cNvSpPr/>
          <p:nvPr/>
        </p:nvSpPr>
        <p:spPr>
          <a:xfrm>
            <a:off x="7125004"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07884" y="1600200"/>
            <a:ext cx="2051913" cy="3977639"/>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5044"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EXPECTED BEHAVIOUR CHANGE</a:t>
            </a:r>
          </a:p>
        </p:txBody>
      </p:sp>
      <p:sp>
        <p:nvSpPr>
          <p:cNvPr id="19" name="TextBox 18"/>
          <p:cNvSpPr txBox="1"/>
          <p:nvPr/>
        </p:nvSpPr>
        <p:spPr>
          <a:xfrm>
            <a:off x="7445044"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Proof pages lead to programmes; programme pages carry their own credibility, so fewer users leave to look for it.</a:t>
            </a:r>
          </a:p>
        </p:txBody>
      </p:sp>
      <p:sp>
        <p:nvSpPr>
          <p:cNvPr id="20" name="Right Arrow 19"/>
          <p:cNvSpPr/>
          <p:nvPr/>
        </p:nvSpPr>
        <p:spPr>
          <a:xfrm>
            <a:off x="9378086"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60966" y="1600200"/>
            <a:ext cx="2051913" cy="3977639"/>
          </a:xfrm>
          <a:prstGeom prst="roundRect">
            <a:avLst>
              <a:gd name="adj" fmla="val 6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8126"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KPI</a:t>
            </a:r>
          </a:p>
        </p:txBody>
      </p:sp>
      <p:sp>
        <p:nvSpPr>
          <p:cNvPr id="23" name="TextBox 22"/>
          <p:cNvSpPr txBox="1"/>
          <p:nvPr/>
        </p:nvSpPr>
        <p:spPr>
          <a:xfrm>
            <a:off x="9698126"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Primary: awards → programme progression; course-page form_start. Secondary: leads. Guardrail: bounce. Tests T8, T9.</a:t>
            </a:r>
          </a:p>
        </p:txBody>
      </p:sp>
      <p:sp>
        <p:nvSpPr>
          <p:cNvPr id="24" name="TextBox 23"/>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Official MREI pages, read 24 Sept 2026.</a:t>
            </a:r>
          </a:p>
        </p:txBody>
      </p:sp>
      <p:sp>
        <p:nvSpPr>
          <p:cNvPr id="25" name="Rounded Rectangle 24"/>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3"/>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FIXES</a:t>
            </a:r>
            <a:endParaRPr sz="1500"/>
          </a:p>
        </p:txBody>
      </p:sp>
      <p:sp>
        <p:nvSpPr>
          <p:cNvPr id="765" name="Google Shape;765;p43"/>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Six fixes for the Proof Seeker's two templates</a:t>
            </a:r>
            <a:endParaRPr sz="1500"/>
          </a:p>
        </p:txBody>
      </p:sp>
      <p:sp>
        <p:nvSpPr>
          <p:cNvPr id="766" name="Google Shape;766;p43"/>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Half repair, half replication — ranked by effort</a:t>
            </a:r>
            <a:endParaRPr sz="1500"/>
          </a:p>
        </p:txBody>
      </p:sp>
      <p:graphicFrame>
        <p:nvGraphicFramePr>
          <p:cNvPr id="767" name="Google Shape;767;p43"/>
          <p:cNvGraphicFramePr/>
          <p:nvPr/>
        </p:nvGraphicFramePr>
        <p:xfrm>
          <a:off x="148201" y="1691640"/>
          <a:ext cx="3000000" cy="3000000"/>
        </p:xfrm>
        <a:graphic>
          <a:graphicData uri="http://schemas.openxmlformats.org/drawingml/2006/table">
            <a:tbl>
              <a:tblPr bandRow="1" firstRow="1">
                <a:noFill/>
                <a:tableStyleId>{AF987E92-83FC-4B9D-A84D-E1139F2F7CFC}</a:tableStyleId>
              </a:tblPr>
              <a:tblGrid>
                <a:gridCol w="346300"/>
                <a:gridCol w="2682725"/>
                <a:gridCol w="1396700"/>
                <a:gridCol w="851675"/>
              </a:tblGrid>
              <a:tr h="613975">
                <a:tc>
                  <a:txBody>
                    <a:bodyPr/>
                    <a:lstStyle/>
                    <a:p>
                      <a:pPr indent="0" lvl="0" marL="0" marR="0" rtl="0" algn="ctr">
                        <a:lnSpc>
                          <a:spcPct val="100000"/>
                        </a:lnSpc>
                        <a:spcBef>
                          <a:spcPts val="0"/>
                        </a:spcBef>
                        <a:spcAft>
                          <a:spcPts val="0"/>
                        </a:spcAft>
                        <a:buNone/>
                      </a:pPr>
                      <a:r>
                        <a:rPr b="1" lang="en-US" sz="900" u="none" cap="none" strike="noStrike">
                          <a:solidFill>
                            <a:srgbClr val="FFFFFF"/>
                          </a:solidFill>
                          <a:latin typeface="Sora"/>
                          <a:ea typeface="Sora"/>
                          <a:cs typeface="Sora"/>
                          <a:sym typeface="Sora"/>
                        </a:rPr>
                        <a:t>#</a:t>
                      </a:r>
                      <a:endParaRPr sz="1200"/>
                    </a:p>
                  </a:txBody>
                  <a:tcPr marT="45725" marB="45725" marR="73175" marL="73175" anchor="ctr">
                    <a:solidFill>
                      <a:srgbClr val="0F2C5C"/>
                    </a:solidFill>
                  </a:tcPr>
                </a:tc>
                <a:tc>
                  <a:txBody>
                    <a:bodyPr/>
                    <a:lstStyle/>
                    <a:p>
                      <a:pPr indent="0" lvl="0" marL="0" marR="0" rtl="0" algn="l">
                        <a:lnSpc>
                          <a:spcPct val="100000"/>
                        </a:lnSpc>
                        <a:spcBef>
                          <a:spcPts val="0"/>
                        </a:spcBef>
                        <a:spcAft>
                          <a:spcPts val="0"/>
                        </a:spcAft>
                        <a:buNone/>
                      </a:pPr>
                      <a:r>
                        <a:rPr b="1" lang="en-US" sz="900" u="none" cap="none" strike="noStrike">
                          <a:solidFill>
                            <a:srgbClr val="FFFFFF"/>
                          </a:solidFill>
                          <a:latin typeface="Sora"/>
                          <a:ea typeface="Sora"/>
                          <a:cs typeface="Sora"/>
                          <a:sym typeface="Sora"/>
                        </a:rPr>
                        <a:t>Fix</a:t>
                      </a:r>
                      <a:endParaRPr sz="1200"/>
                    </a:p>
                  </a:txBody>
                  <a:tcPr marT="45725" marB="45725" marR="73175" marL="73175" anchor="ctr">
                    <a:solidFill>
                      <a:srgbClr val="0F2C5C"/>
                    </a:solidFill>
                  </a:tcPr>
                </a:tc>
                <a:tc>
                  <a:txBody>
                    <a:bodyPr/>
                    <a:lstStyle/>
                    <a:p>
                      <a:pPr indent="0" lvl="0" marL="0" marR="0" rtl="0" algn="l">
                        <a:lnSpc>
                          <a:spcPct val="100000"/>
                        </a:lnSpc>
                        <a:spcBef>
                          <a:spcPts val="0"/>
                        </a:spcBef>
                        <a:spcAft>
                          <a:spcPts val="0"/>
                        </a:spcAft>
                        <a:buNone/>
                      </a:pPr>
                      <a:r>
                        <a:rPr b="1" lang="en-US" sz="900" u="none" cap="none" strike="noStrike">
                          <a:solidFill>
                            <a:srgbClr val="FFFFFF"/>
                          </a:solidFill>
                          <a:latin typeface="Sora"/>
                          <a:ea typeface="Sora"/>
                          <a:cs typeface="Sora"/>
                          <a:sym typeface="Sora"/>
                        </a:rPr>
                        <a:t>Applies to</a:t>
                      </a:r>
                      <a:endParaRPr sz="1200"/>
                    </a:p>
                  </a:txBody>
                  <a:tcPr marT="45725" marB="45725" marR="73175" marL="73175" anchor="ctr">
                    <a:solidFill>
                      <a:srgbClr val="0F2C5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FFFFFF"/>
                          </a:solidFill>
                          <a:latin typeface="Sora"/>
                          <a:ea typeface="Sora"/>
                          <a:cs typeface="Sora"/>
                          <a:sym typeface="Sora"/>
                        </a:rPr>
                        <a:t>Effort</a:t>
                      </a:r>
                      <a:endParaRPr sz="1200"/>
                    </a:p>
                  </a:txBody>
                  <a:tcPr marT="45725" marB="45725" marR="73175" marL="73175" anchor="ctr">
                    <a:solidFill>
                      <a:srgbClr val="0F2C5C"/>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1</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Turn certificate images into scannable text + icon badges</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Awards page</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2</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Cap sticky CTAs to one; keep the chat teaser off content</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Both pages</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7F8FA"/>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3</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Link every award/ranking to the relevant school or course page</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Awards page</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4</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Attach top rankings to named faculty or department pages, not a standalone gallery</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Awards page</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7F8FA"/>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5</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Add the faculty page's School/Department/Name filter to the awards page</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Awards page</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6</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Roll the faculty directory's search + card pattern out to every other proof template</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Sitewide</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0F2C5C"/>
                          </a:solidFill>
                          <a:latin typeface="Sora"/>
                          <a:ea typeface="Sora"/>
                          <a:cs typeface="Sora"/>
                          <a:sym typeface="Sora"/>
                        </a:rPr>
                        <a:t>Template-wide</a:t>
                      </a:r>
                      <a:endParaRPr sz="1200"/>
                    </a:p>
                  </a:txBody>
                  <a:tcPr marT="45725" marB="45725" marR="73175" marL="73175" anchor="ctr">
                    <a:solidFill>
                      <a:srgbClr val="F7F8FA"/>
                    </a:solidFill>
                  </a:tcPr>
                </a:tc>
              </a:tr>
            </a:tbl>
          </a:graphicData>
        </a:graphic>
      </p:graphicFrame>
      <p:sp>
        <p:nvSpPr>
          <p:cNvPr id="768" name="Google Shape;768;p43"/>
          <p:cNvSpPr/>
          <p:nvPr/>
        </p:nvSpPr>
        <p:spPr>
          <a:xfrm>
            <a:off x="548640" y="6126480"/>
            <a:ext cx="11091600" cy="4572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69" name="Google Shape;769;p43"/>
          <p:cNvSpPr txBox="1"/>
          <p:nvPr/>
        </p:nvSpPr>
        <p:spPr>
          <a:xfrm>
            <a:off x="777240" y="6126480"/>
            <a:ext cx="10607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sz="1200" u="none" cap="none" strike="noStrike">
                <a:solidFill>
                  <a:srgbClr val="0F2C5C"/>
                </a:solidFill>
                <a:latin typeface="Sora"/>
                <a:ea typeface="Sora"/>
                <a:cs typeface="Sora"/>
                <a:sym typeface="Sora"/>
              </a:rPr>
              <a:t>The fastest win here isn't new content — it's connecting proof that already exists to the people and courses it's proof for.</a:t>
            </a:r>
            <a:endParaRPr sz="1500"/>
          </a:p>
        </p:txBody>
      </p:sp>
      <p:pic>
        <p:nvPicPr>
          <p:cNvPr id="770" name="Google Shape;770;p43"/>
          <p:cNvPicPr preferRelativeResize="0"/>
          <p:nvPr/>
        </p:nvPicPr>
        <p:blipFill rotWithShape="1">
          <a:blip r:embed="rId3">
            <a:alphaModFix/>
          </a:blip>
          <a:srcRect b="15441" l="0" r="1497" t="0"/>
          <a:stretch/>
        </p:blipFill>
        <p:spPr>
          <a:xfrm>
            <a:off x="5511900" y="1654775"/>
            <a:ext cx="6680099" cy="382278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44"/>
          <p:cNvSpPr txBox="1"/>
          <p:nvPr/>
        </p:nvSpPr>
        <p:spPr>
          <a:xfrm>
            <a:off x="548640" y="411480"/>
            <a:ext cx="10515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PROOF SEEKER — JOURNEY ORCHESTRATION</a:t>
            </a:r>
            <a:endParaRPr sz="1500"/>
          </a:p>
        </p:txBody>
      </p:sp>
      <p:sp>
        <p:nvSpPr>
          <p:cNvPr id="776" name="Google Shape;776;p44"/>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Proof should end in a conversation, not a dead end</a:t>
            </a:r>
            <a:endParaRPr sz="1500"/>
          </a:p>
        </p:txBody>
      </p:sp>
      <p:sp>
        <p:nvSpPr>
          <p:cNvPr id="777" name="Google Shape;777;p44"/>
          <p:cNvSpPr txBox="1"/>
          <p:nvPr/>
        </p:nvSpPr>
        <p:spPr>
          <a:xfrm>
            <a:off x="548640" y="1207008"/>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Applied to the awards &amp; faculty pages</a:t>
            </a:r>
            <a:endParaRPr sz="1500"/>
          </a:p>
        </p:txBody>
      </p:sp>
      <p:sp>
        <p:nvSpPr>
          <p:cNvPr id="778" name="Google Shape;778;p44"/>
          <p:cNvSpPr/>
          <p:nvPr/>
        </p:nvSpPr>
        <p:spPr>
          <a:xfrm>
            <a:off x="548640" y="2994660"/>
            <a:ext cx="2102700" cy="1554900"/>
          </a:xfrm>
          <a:prstGeom prst="roundRect">
            <a:avLst>
              <a:gd fmla="val 9000" name="adj"/>
            </a:avLst>
          </a:prstGeom>
          <a:solidFill>
            <a:srgbClr val="0F2C5C"/>
          </a:solidFill>
          <a:ln>
            <a:noFill/>
          </a:ln>
          <a:effectLst>
            <a:outerShdw blurRad="101600" rotWithShape="0" algn="t" dir="5400000" dist="25400">
              <a:srgbClr val="0F2C5C">
                <a:alpha val="12160"/>
              </a:srgbClr>
            </a:outerShdw>
          </a:effectLst>
        </p:spPr>
        <p:txBody>
          <a:bodyPr anchorCtr="0" anchor="ctr" bIns="137175" lIns="182875" spcFirstLastPara="1" rIns="182875"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A9BBDD"/>
                </a:solidFill>
                <a:latin typeface="Sora"/>
                <a:ea typeface="Sora"/>
                <a:cs typeface="Sora"/>
                <a:sym typeface="Sora"/>
              </a:rPr>
              <a:t>VISITOR LANDS ON</a:t>
            </a:r>
            <a:endParaRPr sz="1500"/>
          </a:p>
          <a:p>
            <a:pPr indent="0" lvl="0" marL="0" marR="0" rtl="0" algn="l">
              <a:lnSpc>
                <a:spcPct val="95000"/>
              </a:lnSpc>
              <a:spcBef>
                <a:spcPts val="500"/>
              </a:spcBef>
              <a:spcAft>
                <a:spcPts val="0"/>
              </a:spcAft>
              <a:buNone/>
            </a:pPr>
            <a:r>
              <a:rPr b="1" i="0" lang="en-US" sz="1500" u="none" cap="none" strike="noStrike">
                <a:solidFill>
                  <a:srgbClr val="FFFFFF"/>
                </a:solidFill>
                <a:latin typeface="Sora"/>
                <a:ea typeface="Sora"/>
                <a:cs typeface="Sora"/>
                <a:sym typeface="Sora"/>
              </a:rPr>
              <a:t>Awards &amp; Recognitions / Faculty Page</a:t>
            </a:r>
            <a:endParaRPr sz="1500"/>
          </a:p>
        </p:txBody>
      </p:sp>
      <p:sp>
        <p:nvSpPr>
          <p:cNvPr id="779" name="Google Shape;779;p44"/>
          <p:cNvSpPr/>
          <p:nvPr/>
        </p:nvSpPr>
        <p:spPr>
          <a:xfrm>
            <a:off x="3035808" y="2903220"/>
            <a:ext cx="1737300" cy="1737300"/>
          </a:xfrm>
          <a:prstGeom prst="ellipse">
            <a:avLst/>
          </a:prstGeom>
          <a:solidFill>
            <a:srgbClr val="C8102E"/>
          </a:solidFill>
          <a:ln>
            <a:noFill/>
          </a:ln>
          <a:effectLst>
            <a:outerShdw blurRad="101600" rotWithShape="0" algn="t" dir="5400000" dist="25400">
              <a:srgbClr val="0F2C5C">
                <a:alpha val="12160"/>
              </a:srgbClr>
            </a:outerShdw>
          </a:effectLst>
        </p:spPr>
        <p:txBody>
          <a:bodyPr anchorCtr="0" anchor="ctr" bIns="45700" lIns="109725" spcFirstLastPara="1" rIns="109725" wrap="square" tIns="45700">
            <a:noAutofit/>
          </a:bodyPr>
          <a:lstStyle/>
          <a:p>
            <a:pPr indent="0" lvl="0" marL="0" marR="0" rtl="0" algn="ctr">
              <a:lnSpc>
                <a:spcPct val="95000"/>
              </a:lnSpc>
              <a:spcBef>
                <a:spcPts val="0"/>
              </a:spcBef>
              <a:spcAft>
                <a:spcPts val="0"/>
              </a:spcAft>
              <a:buNone/>
            </a:pPr>
            <a:r>
              <a:rPr b="1" i="0" lang="en-US" sz="1100" u="none" cap="none" strike="noStrike">
                <a:solidFill>
                  <a:srgbClr val="FFFFFF"/>
                </a:solidFill>
                <a:latin typeface="Sora"/>
                <a:ea typeface="Sora"/>
                <a:cs typeface="Sora"/>
                <a:sym typeface="Sora"/>
              </a:rPr>
              <a:t>What does the visitor need right now?</a:t>
            </a:r>
            <a:endParaRPr sz="1500"/>
          </a:p>
        </p:txBody>
      </p:sp>
      <p:cxnSp>
        <p:nvCxnSpPr>
          <p:cNvPr id="780" name="Google Shape;780;p44"/>
          <p:cNvCxnSpPr>
            <a:stCxn id="778" idx="3"/>
          </p:cNvCxnSpPr>
          <p:nvPr/>
        </p:nvCxnSpPr>
        <p:spPr>
          <a:xfrm>
            <a:off x="2651340" y="3772110"/>
            <a:ext cx="384000" cy="0"/>
          </a:xfrm>
          <a:prstGeom prst="straightConnector1">
            <a:avLst/>
          </a:prstGeom>
          <a:noFill/>
          <a:ln cap="flat" cmpd="sng" w="19075">
            <a:solidFill>
              <a:srgbClr val="9AA5B5"/>
            </a:solidFill>
            <a:prstDash val="solid"/>
            <a:round/>
            <a:headEnd len="sm" w="sm" type="none"/>
            <a:tailEnd len="med" w="med" type="triangle"/>
          </a:ln>
        </p:spPr>
      </p:cxnSp>
      <p:sp>
        <p:nvSpPr>
          <p:cNvPr id="781" name="Google Shape;781;p44"/>
          <p:cNvSpPr/>
          <p:nvPr/>
        </p:nvSpPr>
        <p:spPr>
          <a:xfrm>
            <a:off x="5138928" y="1627632"/>
            <a:ext cx="6501300" cy="2007300"/>
          </a:xfrm>
          <a:prstGeom prst="roundRect">
            <a:avLst>
              <a:gd fmla="val 6000" name="adj"/>
            </a:avLst>
          </a:prstGeom>
          <a:solidFill>
            <a:srgbClr val="EAF4ED"/>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782" name="Google Shape;782;p44"/>
          <p:cNvCxnSpPr>
            <a:endCxn id="781" idx="1"/>
          </p:cNvCxnSpPr>
          <p:nvPr/>
        </p:nvCxnSpPr>
        <p:spPr>
          <a:xfrm rot="-5400000">
            <a:off x="4385928" y="3018582"/>
            <a:ext cx="1140300" cy="365700"/>
          </a:xfrm>
          <a:prstGeom prst="bentConnector3">
            <a:avLst>
              <a:gd fmla="val 100327" name="adj1"/>
            </a:avLst>
          </a:prstGeom>
          <a:noFill/>
          <a:ln cap="flat" cmpd="sng" w="19075">
            <a:solidFill>
              <a:srgbClr val="9AA5B5"/>
            </a:solidFill>
            <a:prstDash val="solid"/>
            <a:round/>
            <a:headEnd len="sm" w="sm" type="none"/>
            <a:tailEnd len="med" w="med" type="triangle"/>
          </a:ln>
        </p:spPr>
      </p:cxnSp>
      <p:sp>
        <p:nvSpPr>
          <p:cNvPr id="783" name="Google Shape;783;p44"/>
          <p:cNvSpPr/>
          <p:nvPr/>
        </p:nvSpPr>
        <p:spPr>
          <a:xfrm>
            <a:off x="5367528" y="1901952"/>
            <a:ext cx="731100" cy="274500"/>
          </a:xfrm>
          <a:prstGeom prst="roundRect">
            <a:avLst>
              <a:gd fmla="val 50000" name="adj"/>
            </a:avLst>
          </a:prstGeom>
          <a:solidFill>
            <a:srgbClr val="1E7B3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STAY</a:t>
            </a:r>
            <a:endParaRPr sz="1500"/>
          </a:p>
        </p:txBody>
      </p:sp>
      <p:sp>
        <p:nvSpPr>
          <p:cNvPr id="784" name="Google Shape;784;p44"/>
          <p:cNvSpPr/>
          <p:nvPr/>
        </p:nvSpPr>
        <p:spPr>
          <a:xfrm>
            <a:off x="5367528" y="2286000"/>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Answer stays on the page</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still has a question</a:t>
            </a:r>
            <a:endParaRPr sz="1500"/>
          </a:p>
        </p:txBody>
      </p:sp>
      <p:sp>
        <p:nvSpPr>
          <p:cNvPr id="785" name="Google Shape;785;p44"/>
          <p:cNvSpPr/>
          <p:nvPr/>
        </p:nvSpPr>
        <p:spPr>
          <a:xfrm>
            <a:off x="7424928" y="1856232"/>
            <a:ext cx="39867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ctr" bIns="137175" lIns="228600" spcFirstLastPara="1" rIns="228600"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1E7B34"/>
                </a:solidFill>
                <a:latin typeface="Sora"/>
                <a:ea typeface="Sora"/>
                <a:cs typeface="Sora"/>
                <a:sym typeface="Sora"/>
              </a:rPr>
              <a:t>ON THE PAGE</a:t>
            </a:r>
            <a:endParaRPr sz="1500"/>
          </a:p>
          <a:p>
            <a:pPr indent="0" lvl="0" marL="0" marR="0" rtl="0" algn="l">
              <a:lnSpc>
                <a:spcPct val="105000"/>
              </a:lnSpc>
              <a:spcBef>
                <a:spcPts val="500"/>
              </a:spcBef>
              <a:spcAft>
                <a:spcPts val="0"/>
              </a:spcAft>
              <a:buNone/>
            </a:pPr>
            <a:r>
              <a:rPr b="0" i="0" lang="en-US" sz="1200" u="none" cap="none" strike="noStrike">
                <a:solidFill>
                  <a:srgbClr val="0F2C5C"/>
                </a:solidFill>
                <a:latin typeface="Sora"/>
                <a:ea typeface="Sora"/>
                <a:cs typeface="Sora"/>
                <a:sym typeface="Sora"/>
              </a:rPr>
              <a:t>Rankings and named faculty appear together on one page, instead of two that never reference each other.</a:t>
            </a:r>
            <a:endParaRPr sz="1500"/>
          </a:p>
        </p:txBody>
      </p:sp>
      <p:sp>
        <p:nvSpPr>
          <p:cNvPr id="786" name="Google Shape;786;p44"/>
          <p:cNvSpPr/>
          <p:nvPr/>
        </p:nvSpPr>
        <p:spPr>
          <a:xfrm>
            <a:off x="5138928" y="3909060"/>
            <a:ext cx="6501300" cy="2007300"/>
          </a:xfrm>
          <a:prstGeom prst="roundRect">
            <a:avLst>
              <a:gd fmla="val 6000" name="adj"/>
            </a:avLst>
          </a:prstGeom>
          <a:solidFill>
            <a:srgbClr val="E8EEF7"/>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787" name="Google Shape;787;p44"/>
          <p:cNvCxnSpPr>
            <a:endCxn id="786" idx="1"/>
          </p:cNvCxnSpPr>
          <p:nvPr/>
        </p:nvCxnSpPr>
        <p:spPr>
          <a:xfrm flipH="1" rot="-5400000">
            <a:off x="4385628" y="4159410"/>
            <a:ext cx="1140900" cy="365700"/>
          </a:xfrm>
          <a:prstGeom prst="bentConnector3">
            <a:avLst>
              <a:gd fmla="val 99945" name="adj1"/>
            </a:avLst>
          </a:prstGeom>
          <a:noFill/>
          <a:ln cap="flat" cmpd="sng" w="19075">
            <a:solidFill>
              <a:srgbClr val="9AA5B5"/>
            </a:solidFill>
            <a:prstDash val="solid"/>
            <a:round/>
            <a:headEnd len="sm" w="sm" type="none"/>
            <a:tailEnd len="med" w="med" type="triangle"/>
          </a:ln>
        </p:spPr>
      </p:cxnSp>
      <p:sp>
        <p:nvSpPr>
          <p:cNvPr id="788" name="Google Shape;788;p44"/>
          <p:cNvSpPr/>
          <p:nvPr/>
        </p:nvSpPr>
        <p:spPr>
          <a:xfrm>
            <a:off x="5367528" y="4183380"/>
            <a:ext cx="731100" cy="274500"/>
          </a:xfrm>
          <a:prstGeom prst="roundRect">
            <a:avLst>
              <a:gd fmla="val 50000" name="adj"/>
            </a:avLst>
          </a:prstGeom>
          <a:solidFill>
            <a:srgbClr val="0F2C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ACT</a:t>
            </a:r>
            <a:endParaRPr sz="1500"/>
          </a:p>
        </p:txBody>
      </p:sp>
      <p:sp>
        <p:nvSpPr>
          <p:cNvPr id="789" name="Google Shape;789;p44"/>
          <p:cNvSpPr/>
          <p:nvPr/>
        </p:nvSpPr>
        <p:spPr>
          <a:xfrm>
            <a:off x="5367528" y="4567428"/>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Pick one clear next step</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is ready to move</a:t>
            </a:r>
            <a:endParaRPr sz="1500"/>
          </a:p>
        </p:txBody>
      </p:sp>
      <p:sp>
        <p:nvSpPr>
          <p:cNvPr id="790" name="Google Shape;790;p44"/>
          <p:cNvSpPr/>
          <p:nvPr/>
        </p:nvSpPr>
        <p:spPr>
          <a:xfrm>
            <a:off x="7424928"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1</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Talk to Faculty</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Chat or callback request — a real conversation, not a form into silence</a:t>
            </a:r>
            <a:endParaRPr sz="1500"/>
          </a:p>
        </p:txBody>
      </p:sp>
      <p:sp>
        <p:nvSpPr>
          <p:cNvPr id="791" name="Google Shape;791;p44"/>
          <p:cNvSpPr/>
          <p:nvPr/>
        </p:nvSpPr>
        <p:spPr>
          <a:xfrm>
            <a:off x="9509760"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2</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Book a Campus Visit</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Scheduling form, routed to the admissions team</a:t>
            </a:r>
            <a:endParaRPr sz="1500"/>
          </a:p>
        </p:txBody>
      </p:sp>
      <p:sp>
        <p:nvSpPr>
          <p:cNvPr id="792" name="Google Shape;792;p44"/>
          <p:cNvSpPr/>
          <p:nvPr/>
        </p:nvSpPr>
        <p:spPr>
          <a:xfrm>
            <a:off x="548640" y="6172200"/>
            <a:ext cx="11091600" cy="502800"/>
          </a:xfrm>
          <a:prstGeom prst="roundRect">
            <a:avLst>
              <a:gd fmla="val 10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793" name="Google Shape;793;p44"/>
          <p:cNvSpPr txBox="1"/>
          <p:nvPr/>
        </p:nvSpPr>
        <p:spPr>
          <a:xfrm>
            <a:off x="777240" y="6353629"/>
            <a:ext cx="10607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1" lang="en-US" sz="1200" u="none" cap="none" strike="noStrike">
                <a:solidFill>
                  <a:srgbClr val="C8102E"/>
                </a:solidFill>
                <a:latin typeface="Sora"/>
                <a:ea typeface="Sora"/>
                <a:cs typeface="Sora"/>
                <a:sym typeface="Sora"/>
              </a:rPr>
              <a:t>A certificate gallery with nowhere to go wastes the strongest proof on the site.</a:t>
            </a:r>
            <a:endParaRPr sz="1500"/>
          </a:p>
        </p:txBody>
      </p:sp>
      <p:sp>
        <p:nvSpPr>
          <p:cNvPr id="794" name="Rounded Rectangle 793"/>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PAGE OPPORTUNITIES  ·  DISCOVERY (BLOG)</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Blog: link every answer to a programme</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792 articles on one template — one linking rule compounds across all of them</a:t>
            </a:r>
          </a:p>
        </p:txBody>
      </p:sp>
      <p:sp>
        <p:nvSpPr>
          <p:cNvPr id="5" name="Rounded Rectangle 4"/>
          <p:cNvSpPr/>
          <p:nvPr/>
        </p:nvSpPr>
        <p:spPr>
          <a:xfrm>
            <a:off x="548640" y="1600200"/>
            <a:ext cx="2051913" cy="3977639"/>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PROBLEM</a:t>
            </a:r>
          </a:p>
        </p:txBody>
      </p:sp>
      <p:sp>
        <p:nvSpPr>
          <p:cNvPr id="7" name="TextBox 6"/>
          <p:cNvSpPr txBox="1"/>
          <p:nvPr/>
        </p:nvSpPr>
        <p:spPr>
          <a:xfrm>
            <a:off x="685800"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Articles link to articles; readers who move on go to the homepage, not to the programme described.</a:t>
            </a:r>
          </a:p>
        </p:txBody>
      </p:sp>
      <p:sp>
        <p:nvSpPr>
          <p:cNvPr id="8" name="Right Arrow 7"/>
          <p:cNvSpPr/>
          <p:nvPr/>
        </p:nvSpPr>
        <p:spPr>
          <a:xfrm>
            <a:off x="2618841"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01721" y="1600200"/>
            <a:ext cx="2051913" cy="3977639"/>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8881"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EVIDENCE</a:t>
            </a:r>
          </a:p>
        </p:txBody>
      </p:sp>
      <p:sp>
        <p:nvSpPr>
          <p:cNvPr id="11" name="TextBox 10"/>
          <p:cNvSpPr txBox="1"/>
          <p:nvPr/>
        </p:nvSpPr>
        <p:spPr>
          <a:xfrm>
            <a:off x="2938881"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35 of 4,195 NEET/BPT readers reach BPT; top onward page is the homepage (82) [GA4]. ~10 blog vs 0–1 programme links per article [audit]. 0 Apply / 0 phone on 32,318 blog-index landings [CSV].</a:t>
            </a:r>
          </a:p>
        </p:txBody>
      </p:sp>
      <p:sp>
        <p:nvSpPr>
          <p:cNvPr id="12" name="Right Arrow 11"/>
          <p:cNvSpPr/>
          <p:nvPr/>
        </p:nvSpPr>
        <p:spPr>
          <a:xfrm>
            <a:off x="4871923"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54803" y="1600200"/>
            <a:ext cx="2051913" cy="3977639"/>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91963" y="1737360"/>
            <a:ext cx="1777593" cy="320040"/>
          </a:xfrm>
          <a:prstGeom prst="rect">
            <a:avLst/>
          </a:prstGeom>
          <a:noFill/>
        </p:spPr>
        <p:txBody>
          <a:bodyPr wrap="square" lIns="0" rIns="0" tIns="0" bIns="0" anchor="t">
            <a:spAutoFit/>
          </a:bodyPr>
          <a:lstStyle/>
          <a:p>
            <a:pPr algn="l"/>
            <a:r>
              <a:rPr sz="850" b="1" i="0">
                <a:solidFill>
                  <a:srgbClr val="CADCFC"/>
                </a:solidFill>
                <a:latin typeface="Sora"/>
              </a:rPr>
              <a:t>RECOMMENDATION</a:t>
            </a:r>
          </a:p>
        </p:txBody>
      </p:sp>
      <p:sp>
        <p:nvSpPr>
          <p:cNvPr id="15" name="TextBox 14"/>
          <p:cNvSpPr txBox="1"/>
          <p:nvPr/>
        </p:nvSpPr>
        <p:spPr>
          <a:xfrm>
            <a:off x="5191963" y="2148840"/>
            <a:ext cx="1777593" cy="3337559"/>
          </a:xfrm>
          <a:prstGeom prst="rect">
            <a:avLst/>
          </a:prstGeom>
          <a:noFill/>
        </p:spPr>
        <p:txBody>
          <a:bodyPr wrap="square" lIns="0" rIns="0" tIns="0" bIns="0" anchor="t">
            <a:spAutoFit/>
          </a:bodyPr>
          <a:lstStyle/>
          <a:p>
            <a:pPr algn="l">
              <a:spcAft>
                <a:spcPts val="500"/>
              </a:spcAft>
            </a:pPr>
            <a:r>
              <a:rPr sz="1150" b="0" i="0">
                <a:solidFill>
                  <a:srgbClr val="FFFFFF"/>
                </a:solidFill>
                <a:latin typeface="Sora"/>
              </a:rPr>
              <a:t>Validate blog traffic and scroll tracking first. Then: programme link for every course/exam mention, an end-of-article programme card, and an exploratory CTA (“help me choose”) instead of Apply.</a:t>
            </a:r>
          </a:p>
        </p:txBody>
      </p:sp>
      <p:sp>
        <p:nvSpPr>
          <p:cNvPr id="16" name="Right Arrow 15"/>
          <p:cNvSpPr/>
          <p:nvPr/>
        </p:nvSpPr>
        <p:spPr>
          <a:xfrm>
            <a:off x="7125004"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07884" y="1600200"/>
            <a:ext cx="2051913" cy="3977639"/>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5044"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EXPECTED BEHAVIOUR CHANGE</a:t>
            </a:r>
          </a:p>
        </p:txBody>
      </p:sp>
      <p:sp>
        <p:nvSpPr>
          <p:cNvPr id="19" name="TextBox 18"/>
          <p:cNvSpPr txBox="1"/>
          <p:nvPr/>
        </p:nvSpPr>
        <p:spPr>
          <a:xfrm>
            <a:off x="7445044"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Readers move article → programme instead of article → homepage; the blog starts producing intent events.</a:t>
            </a:r>
          </a:p>
        </p:txBody>
      </p:sp>
      <p:sp>
        <p:nvSpPr>
          <p:cNvPr id="20" name="Right Arrow 19"/>
          <p:cNvSpPr/>
          <p:nvPr/>
        </p:nvSpPr>
        <p:spPr>
          <a:xfrm>
            <a:off x="9378086"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60966" y="1600200"/>
            <a:ext cx="2051913" cy="3977639"/>
          </a:xfrm>
          <a:prstGeom prst="roundRect">
            <a:avLst>
              <a:gd name="adj" fmla="val 6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8126"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KPI</a:t>
            </a:r>
          </a:p>
        </p:txBody>
      </p:sp>
      <p:sp>
        <p:nvSpPr>
          <p:cNvPr id="23" name="TextBox 22"/>
          <p:cNvSpPr txBox="1"/>
          <p:nvPr/>
        </p:nvSpPr>
        <p:spPr>
          <a:xfrm>
            <a:off x="9698126"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Primary: article → programme progression. Secondary: form_start, leads. Guardrail: engagement. Tests T10, T11.</a:t>
            </a:r>
          </a:p>
        </p:txBody>
      </p:sp>
      <p:sp>
        <p:nvSpPr>
          <p:cNvPr id="24" name="TextBox 23"/>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Live site audit, 24 Sept 2026 · GA4 event export by page type (event counts; separate pull, not directly comparable).</a:t>
            </a:r>
          </a:p>
        </p:txBody>
      </p:sp>
      <p:sp>
        <p:nvSpPr>
          <p:cNvPr id="25" name="Rounded Rectangle 24"/>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59"/>
          <p:cNvSpPr txBox="1"/>
          <p:nvPr/>
        </p:nvSpPr>
        <p:spPr>
          <a:xfrm>
            <a:off x="145659" y="191672"/>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FIXES</a:t>
            </a:r>
            <a:endParaRPr sz="1500"/>
          </a:p>
        </p:txBody>
      </p:sp>
      <p:sp>
        <p:nvSpPr>
          <p:cNvPr id="1081" name="Google Shape;1081;p59"/>
          <p:cNvSpPr txBox="1"/>
          <p:nvPr/>
        </p:nvSpPr>
        <p:spPr>
          <a:xfrm>
            <a:off x="145659" y="493424"/>
            <a:ext cx="11064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u="none" cap="none" strike="noStrike">
                <a:solidFill>
                  <a:srgbClr val="0F2C5C"/>
                </a:solidFill>
                <a:latin typeface="Sora"/>
                <a:ea typeface="Sora"/>
                <a:cs typeface="Sora"/>
                <a:sym typeface="Sora"/>
              </a:rPr>
              <a:t>Six fixes for the blog template</a:t>
            </a:r>
            <a:endParaRPr sz="1500"/>
          </a:p>
        </p:txBody>
      </p:sp>
      <p:sp>
        <p:nvSpPr>
          <p:cNvPr id="1082" name="Google Shape;1082;p59"/>
          <p:cNvSpPr txBox="1"/>
          <p:nvPr/>
        </p:nvSpPr>
        <p:spPr>
          <a:xfrm>
            <a:off x="145659" y="1014632"/>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Content edits first, no development needed for most of these</a:t>
            </a:r>
            <a:endParaRPr sz="1500"/>
          </a:p>
        </p:txBody>
      </p:sp>
      <p:graphicFrame>
        <p:nvGraphicFramePr>
          <p:cNvPr id="1083" name="Google Shape;1083;p59"/>
          <p:cNvGraphicFramePr/>
          <p:nvPr/>
        </p:nvGraphicFramePr>
        <p:xfrm>
          <a:off x="145659" y="1471832"/>
          <a:ext cx="3000000" cy="3000000"/>
        </p:xfrm>
        <a:graphic>
          <a:graphicData uri="http://schemas.openxmlformats.org/drawingml/2006/table">
            <a:tbl>
              <a:tblPr bandRow="1" firstRow="1">
                <a:noFill/>
                <a:tableStyleId>{AF987E92-83FC-4B9D-A84D-E1139F2F7CFC}</a:tableStyleId>
              </a:tblPr>
              <a:tblGrid>
                <a:gridCol w="346300"/>
                <a:gridCol w="2268125"/>
                <a:gridCol w="2305175"/>
                <a:gridCol w="786900"/>
              </a:tblGrid>
              <a:tr h="613975">
                <a:tc>
                  <a:txBody>
                    <a:bodyPr/>
                    <a:lstStyle/>
                    <a:p>
                      <a:pPr indent="0" lvl="0" marL="0" marR="0" rtl="0" algn="ctr">
                        <a:lnSpc>
                          <a:spcPct val="100000"/>
                        </a:lnSpc>
                        <a:spcBef>
                          <a:spcPts val="0"/>
                        </a:spcBef>
                        <a:spcAft>
                          <a:spcPts val="0"/>
                        </a:spcAft>
                        <a:buNone/>
                      </a:pPr>
                      <a:r>
                        <a:rPr b="1" lang="en-US" sz="900" u="none" cap="none" strike="noStrike">
                          <a:solidFill>
                            <a:srgbClr val="FFFFFF"/>
                          </a:solidFill>
                          <a:latin typeface="Sora"/>
                          <a:ea typeface="Sora"/>
                          <a:cs typeface="Sora"/>
                          <a:sym typeface="Sora"/>
                        </a:rPr>
                        <a:t>#</a:t>
                      </a:r>
                      <a:endParaRPr sz="1200"/>
                    </a:p>
                  </a:txBody>
                  <a:tcPr marT="45725" marB="45725" marR="73175" marL="73175" anchor="ctr">
                    <a:solidFill>
                      <a:srgbClr val="0F2C5C"/>
                    </a:solidFill>
                  </a:tcPr>
                </a:tc>
                <a:tc>
                  <a:txBody>
                    <a:bodyPr/>
                    <a:lstStyle/>
                    <a:p>
                      <a:pPr indent="0" lvl="0" marL="0" marR="0" rtl="0" algn="l">
                        <a:lnSpc>
                          <a:spcPct val="100000"/>
                        </a:lnSpc>
                        <a:spcBef>
                          <a:spcPts val="0"/>
                        </a:spcBef>
                        <a:spcAft>
                          <a:spcPts val="0"/>
                        </a:spcAft>
                        <a:buNone/>
                      </a:pPr>
                      <a:r>
                        <a:rPr b="1" lang="en-US" sz="900" u="none" cap="none" strike="noStrike">
                          <a:solidFill>
                            <a:srgbClr val="FFFFFF"/>
                          </a:solidFill>
                          <a:latin typeface="Sora"/>
                          <a:ea typeface="Sora"/>
                          <a:cs typeface="Sora"/>
                          <a:sym typeface="Sora"/>
                        </a:rPr>
                        <a:t>Fix</a:t>
                      </a:r>
                      <a:endParaRPr sz="1200"/>
                    </a:p>
                  </a:txBody>
                  <a:tcPr marT="45725" marB="45725" marR="73175" marL="73175" anchor="ctr">
                    <a:solidFill>
                      <a:srgbClr val="0F2C5C"/>
                    </a:solidFill>
                  </a:tcPr>
                </a:tc>
                <a:tc>
                  <a:txBody>
                    <a:bodyPr/>
                    <a:lstStyle/>
                    <a:p>
                      <a:pPr indent="0" lvl="0" marL="0" marR="0" rtl="0" algn="l">
                        <a:lnSpc>
                          <a:spcPct val="100000"/>
                        </a:lnSpc>
                        <a:spcBef>
                          <a:spcPts val="0"/>
                        </a:spcBef>
                        <a:spcAft>
                          <a:spcPts val="0"/>
                        </a:spcAft>
                        <a:buNone/>
                      </a:pPr>
                      <a:r>
                        <a:rPr b="1" lang="en-US" sz="900" u="none" cap="none" strike="noStrike">
                          <a:solidFill>
                            <a:srgbClr val="FFFFFF"/>
                          </a:solidFill>
                          <a:latin typeface="Sora"/>
                          <a:ea typeface="Sora"/>
                          <a:cs typeface="Sora"/>
                          <a:sym typeface="Sora"/>
                        </a:rPr>
                        <a:t>Why</a:t>
                      </a:r>
                      <a:endParaRPr sz="1200"/>
                    </a:p>
                  </a:txBody>
                  <a:tcPr marT="45725" marB="45725" marR="73175" marL="73175" anchor="ctr">
                    <a:solidFill>
                      <a:srgbClr val="0F2C5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FFFFFF"/>
                          </a:solidFill>
                          <a:latin typeface="Sora"/>
                          <a:ea typeface="Sora"/>
                          <a:cs typeface="Sora"/>
                          <a:sym typeface="Sora"/>
                        </a:rPr>
                        <a:t>Effort</a:t>
                      </a:r>
                      <a:endParaRPr sz="1200"/>
                    </a:p>
                  </a:txBody>
                  <a:tcPr marT="45725" marB="45725" marR="73175" marL="73175" anchor="ctr">
                    <a:solidFill>
                      <a:srgbClr val="0F2C5C"/>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1</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Link every course/exam mention to the matching MREI programme page</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Zero in-article course links today, on either article checked</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2</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Point “Also Read” links at the matching course too, not only other posts</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The link pattern already exists — it just never points at a course</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7F8FA"/>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3</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Add a “Highlights” box (course, duration, fee, recruiters) to explainer articles</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Amity's pattern — turns curiosity content into a real answer</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4</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Tag every article with a topic category (Health Sciences, Business, Law…)</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Feed is exam names only — nothing to browse by interest</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7F8FA"/>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5</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Swap the blog template's sticky CTA to something exploratory, not “Apply Now”</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Amity uses “1-1 Counselling” on this exact template type</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6</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Confirm /blog's traffic source before optimising it further</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33,075 sessions are flagged “Review” — unexplained in GA4 today</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7F8FA"/>
                    </a:solidFill>
                  </a:tcPr>
                </a:tc>
              </a:tr>
            </a:tbl>
          </a:graphicData>
        </a:graphic>
      </p:graphicFrame>
      <p:sp>
        <p:nvSpPr>
          <p:cNvPr id="1084" name="Google Shape;1084;p59"/>
          <p:cNvSpPr/>
          <p:nvPr/>
        </p:nvSpPr>
        <p:spPr>
          <a:xfrm>
            <a:off x="131945" y="6181440"/>
            <a:ext cx="5720100" cy="4572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85" name="Google Shape;1085;p59"/>
          <p:cNvSpPr txBox="1"/>
          <p:nvPr/>
        </p:nvSpPr>
        <p:spPr>
          <a:xfrm>
            <a:off x="360545" y="6236386"/>
            <a:ext cx="5372700" cy="369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sz="1200" u="none" cap="none" strike="noStrike">
                <a:solidFill>
                  <a:srgbClr val="0F2C5C"/>
                </a:solidFill>
                <a:latin typeface="Sora"/>
                <a:ea typeface="Sora"/>
                <a:cs typeface="Sora"/>
                <a:sym typeface="Sora"/>
              </a:rPr>
              <a:t>This is 792 articles on one template — a content and linking rule here compounds across the whole blog, no redesign required.</a:t>
            </a:r>
            <a:endParaRPr sz="1500"/>
          </a:p>
        </p:txBody>
      </p:sp>
      <p:pic>
        <p:nvPicPr>
          <p:cNvPr id="1086" name="Google Shape;1086;p59"/>
          <p:cNvPicPr preferRelativeResize="0"/>
          <p:nvPr/>
        </p:nvPicPr>
        <p:blipFill rotWithShape="1">
          <a:blip r:embed="rId3">
            <a:alphaModFix/>
          </a:blip>
          <a:srcRect b="13793" l="1720" r="0" t="0"/>
          <a:stretch/>
        </p:blipFill>
        <p:spPr>
          <a:xfrm>
            <a:off x="5852125" y="1616259"/>
            <a:ext cx="6339875" cy="376964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60"/>
          <p:cNvSpPr txBox="1"/>
          <p:nvPr/>
        </p:nvSpPr>
        <p:spPr>
          <a:xfrm>
            <a:off x="548640" y="411480"/>
            <a:ext cx="10515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EARLY EXPLORER — JOURNEY ORCHESTRATION</a:t>
            </a:r>
            <a:endParaRPr sz="1500"/>
          </a:p>
        </p:txBody>
      </p:sp>
      <p:sp>
        <p:nvSpPr>
          <p:cNvPr id="1092" name="Google Shape;1092;p60"/>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Someone unsure what to study shouldn't see ‘Apply Now’</a:t>
            </a:r>
            <a:endParaRPr sz="1500"/>
          </a:p>
        </p:txBody>
      </p:sp>
      <p:sp>
        <p:nvSpPr>
          <p:cNvPr id="1093" name="Google Shape;1093;p60"/>
          <p:cNvSpPr txBox="1"/>
          <p:nvPr/>
        </p:nvSpPr>
        <p:spPr>
          <a:xfrm>
            <a:off x="548640" y="1207008"/>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Applied to blog articles (e.g. career options after BDS)</a:t>
            </a:r>
            <a:endParaRPr sz="1500"/>
          </a:p>
        </p:txBody>
      </p:sp>
      <p:sp>
        <p:nvSpPr>
          <p:cNvPr id="1094" name="Google Shape;1094;p60"/>
          <p:cNvSpPr/>
          <p:nvPr/>
        </p:nvSpPr>
        <p:spPr>
          <a:xfrm>
            <a:off x="548640" y="2994660"/>
            <a:ext cx="2102700" cy="1554900"/>
          </a:xfrm>
          <a:prstGeom prst="roundRect">
            <a:avLst>
              <a:gd fmla="val 9000" name="adj"/>
            </a:avLst>
          </a:prstGeom>
          <a:solidFill>
            <a:srgbClr val="0F2C5C"/>
          </a:solidFill>
          <a:ln>
            <a:noFill/>
          </a:ln>
          <a:effectLst>
            <a:outerShdw blurRad="101600" rotWithShape="0" algn="t" dir="5400000" dist="25400">
              <a:srgbClr val="0F2C5C">
                <a:alpha val="12160"/>
              </a:srgbClr>
            </a:outerShdw>
          </a:effectLst>
        </p:spPr>
        <p:txBody>
          <a:bodyPr anchorCtr="0" anchor="ctr" bIns="137175" lIns="182875" spcFirstLastPara="1" rIns="182875"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A9BBDD"/>
                </a:solidFill>
                <a:latin typeface="Sora"/>
                <a:ea typeface="Sora"/>
                <a:cs typeface="Sora"/>
                <a:sym typeface="Sora"/>
              </a:rPr>
              <a:t>VISITOR LANDS ON</a:t>
            </a:r>
            <a:endParaRPr sz="1500"/>
          </a:p>
          <a:p>
            <a:pPr indent="0" lvl="0" marL="0" marR="0" rtl="0" algn="l">
              <a:lnSpc>
                <a:spcPct val="95000"/>
              </a:lnSpc>
              <a:spcBef>
                <a:spcPts val="500"/>
              </a:spcBef>
              <a:spcAft>
                <a:spcPts val="0"/>
              </a:spcAft>
              <a:buNone/>
            </a:pPr>
            <a:r>
              <a:rPr b="1" i="0" lang="en-US" sz="1500" u="none" cap="none" strike="noStrike">
                <a:solidFill>
                  <a:srgbClr val="FFFFFF"/>
                </a:solidFill>
                <a:latin typeface="Sora"/>
                <a:ea typeface="Sora"/>
                <a:cs typeface="Sora"/>
                <a:sym typeface="Sora"/>
              </a:rPr>
              <a:t>Blog Article</a:t>
            </a:r>
            <a:endParaRPr sz="1500"/>
          </a:p>
        </p:txBody>
      </p:sp>
      <p:sp>
        <p:nvSpPr>
          <p:cNvPr id="1095" name="Google Shape;1095;p60"/>
          <p:cNvSpPr/>
          <p:nvPr/>
        </p:nvSpPr>
        <p:spPr>
          <a:xfrm>
            <a:off x="3035808" y="2903220"/>
            <a:ext cx="1737300" cy="1737300"/>
          </a:xfrm>
          <a:prstGeom prst="ellipse">
            <a:avLst/>
          </a:prstGeom>
          <a:solidFill>
            <a:srgbClr val="C8102E"/>
          </a:solidFill>
          <a:ln>
            <a:noFill/>
          </a:ln>
          <a:effectLst>
            <a:outerShdw blurRad="101600" rotWithShape="0" algn="t" dir="5400000" dist="25400">
              <a:srgbClr val="0F2C5C">
                <a:alpha val="12160"/>
              </a:srgbClr>
            </a:outerShdw>
          </a:effectLst>
        </p:spPr>
        <p:txBody>
          <a:bodyPr anchorCtr="0" anchor="ctr" bIns="45700" lIns="109725" spcFirstLastPara="1" rIns="109725" wrap="square" tIns="45700">
            <a:noAutofit/>
          </a:bodyPr>
          <a:lstStyle/>
          <a:p>
            <a:pPr indent="0" lvl="0" marL="0" marR="0" rtl="0" algn="ctr">
              <a:lnSpc>
                <a:spcPct val="95000"/>
              </a:lnSpc>
              <a:spcBef>
                <a:spcPts val="0"/>
              </a:spcBef>
              <a:spcAft>
                <a:spcPts val="0"/>
              </a:spcAft>
              <a:buNone/>
            </a:pPr>
            <a:r>
              <a:rPr b="1" i="0" lang="en-US" sz="1100" u="none" cap="none" strike="noStrike">
                <a:solidFill>
                  <a:srgbClr val="FFFFFF"/>
                </a:solidFill>
                <a:latin typeface="Sora"/>
                <a:ea typeface="Sora"/>
                <a:cs typeface="Sora"/>
                <a:sym typeface="Sora"/>
              </a:rPr>
              <a:t>What does the visitor need right now?</a:t>
            </a:r>
            <a:endParaRPr sz="1500"/>
          </a:p>
        </p:txBody>
      </p:sp>
      <p:cxnSp>
        <p:nvCxnSpPr>
          <p:cNvPr id="1096" name="Google Shape;1096;p60"/>
          <p:cNvCxnSpPr>
            <a:stCxn id="1094" idx="3"/>
          </p:cNvCxnSpPr>
          <p:nvPr/>
        </p:nvCxnSpPr>
        <p:spPr>
          <a:xfrm>
            <a:off x="2651340" y="3772110"/>
            <a:ext cx="384000" cy="0"/>
          </a:xfrm>
          <a:prstGeom prst="straightConnector1">
            <a:avLst/>
          </a:prstGeom>
          <a:noFill/>
          <a:ln cap="flat" cmpd="sng" w="19075">
            <a:solidFill>
              <a:srgbClr val="9AA5B5"/>
            </a:solidFill>
            <a:prstDash val="solid"/>
            <a:round/>
            <a:headEnd len="sm" w="sm" type="none"/>
            <a:tailEnd len="med" w="med" type="triangle"/>
          </a:ln>
        </p:spPr>
      </p:cxnSp>
      <p:sp>
        <p:nvSpPr>
          <p:cNvPr id="1097" name="Google Shape;1097;p60"/>
          <p:cNvSpPr/>
          <p:nvPr/>
        </p:nvSpPr>
        <p:spPr>
          <a:xfrm>
            <a:off x="5138928" y="1627632"/>
            <a:ext cx="6501300" cy="2007300"/>
          </a:xfrm>
          <a:prstGeom prst="roundRect">
            <a:avLst>
              <a:gd fmla="val 6000" name="adj"/>
            </a:avLst>
          </a:prstGeom>
          <a:solidFill>
            <a:srgbClr val="EAF4ED"/>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1098" name="Google Shape;1098;p60"/>
          <p:cNvCxnSpPr>
            <a:endCxn id="1097" idx="1"/>
          </p:cNvCxnSpPr>
          <p:nvPr/>
        </p:nvCxnSpPr>
        <p:spPr>
          <a:xfrm rot="-5400000">
            <a:off x="4385928" y="3018582"/>
            <a:ext cx="1140300" cy="365700"/>
          </a:xfrm>
          <a:prstGeom prst="bentConnector3">
            <a:avLst>
              <a:gd fmla="val 99722" name="adj1"/>
            </a:avLst>
          </a:prstGeom>
          <a:noFill/>
          <a:ln cap="flat" cmpd="sng" w="19075">
            <a:solidFill>
              <a:srgbClr val="9AA5B5"/>
            </a:solidFill>
            <a:prstDash val="solid"/>
            <a:round/>
            <a:headEnd len="sm" w="sm" type="none"/>
            <a:tailEnd len="med" w="med" type="triangle"/>
          </a:ln>
        </p:spPr>
      </p:cxnSp>
      <p:sp>
        <p:nvSpPr>
          <p:cNvPr id="1099" name="Google Shape;1099;p60"/>
          <p:cNvSpPr/>
          <p:nvPr/>
        </p:nvSpPr>
        <p:spPr>
          <a:xfrm>
            <a:off x="5367528" y="1901952"/>
            <a:ext cx="731100" cy="274500"/>
          </a:xfrm>
          <a:prstGeom prst="roundRect">
            <a:avLst>
              <a:gd fmla="val 50000" name="adj"/>
            </a:avLst>
          </a:prstGeom>
          <a:solidFill>
            <a:srgbClr val="1E7B3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STAY</a:t>
            </a:r>
            <a:endParaRPr sz="1500"/>
          </a:p>
        </p:txBody>
      </p:sp>
      <p:sp>
        <p:nvSpPr>
          <p:cNvPr id="1100" name="Google Shape;1100;p60"/>
          <p:cNvSpPr/>
          <p:nvPr/>
        </p:nvSpPr>
        <p:spPr>
          <a:xfrm>
            <a:off x="5367528" y="2286000"/>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Answer stays on the page</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still has a question</a:t>
            </a:r>
            <a:endParaRPr sz="1500"/>
          </a:p>
        </p:txBody>
      </p:sp>
      <p:sp>
        <p:nvSpPr>
          <p:cNvPr id="1101" name="Google Shape;1101;p60"/>
          <p:cNvSpPr/>
          <p:nvPr/>
        </p:nvSpPr>
        <p:spPr>
          <a:xfrm>
            <a:off x="7424928" y="1856232"/>
            <a:ext cx="39867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ctr" bIns="137175" lIns="228600" spcFirstLastPara="1" rIns="228600"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1E7B34"/>
                </a:solidFill>
                <a:latin typeface="Sora"/>
                <a:ea typeface="Sora"/>
                <a:cs typeface="Sora"/>
                <a:sym typeface="Sora"/>
              </a:rPr>
              <a:t>ON THE PAGE</a:t>
            </a:r>
            <a:endParaRPr sz="1500"/>
          </a:p>
          <a:p>
            <a:pPr indent="0" lvl="0" marL="0" marR="0" rtl="0" algn="l">
              <a:lnSpc>
                <a:spcPct val="105000"/>
              </a:lnSpc>
              <a:spcBef>
                <a:spcPts val="500"/>
              </a:spcBef>
              <a:spcAft>
                <a:spcPts val="0"/>
              </a:spcAft>
              <a:buNone/>
            </a:pPr>
            <a:r>
              <a:rPr b="0" i="0" lang="en-US" sz="1200" u="none" cap="none" strike="noStrike">
                <a:solidFill>
                  <a:srgbClr val="0F2C5C"/>
                </a:solidFill>
                <a:latin typeface="Sora"/>
                <a:ea typeface="Sora"/>
                <a:cs typeface="Sora"/>
                <a:sym typeface="Sora"/>
              </a:rPr>
              <a:t>A Highlights box answers course, fee and outcomes right inside the article — no click required.</a:t>
            </a:r>
            <a:endParaRPr sz="1500"/>
          </a:p>
        </p:txBody>
      </p:sp>
      <p:sp>
        <p:nvSpPr>
          <p:cNvPr id="1102" name="Google Shape;1102;p60"/>
          <p:cNvSpPr/>
          <p:nvPr/>
        </p:nvSpPr>
        <p:spPr>
          <a:xfrm>
            <a:off x="5138928" y="3909060"/>
            <a:ext cx="6501300" cy="2007300"/>
          </a:xfrm>
          <a:prstGeom prst="roundRect">
            <a:avLst>
              <a:gd fmla="val 6000" name="adj"/>
            </a:avLst>
          </a:prstGeom>
          <a:solidFill>
            <a:srgbClr val="E8EEF7"/>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1103" name="Google Shape;1103;p60"/>
          <p:cNvCxnSpPr>
            <a:endCxn id="1102" idx="1"/>
          </p:cNvCxnSpPr>
          <p:nvPr/>
        </p:nvCxnSpPr>
        <p:spPr>
          <a:xfrm flipH="1" rot="-5400000">
            <a:off x="4385628" y="4159410"/>
            <a:ext cx="1140900" cy="365700"/>
          </a:xfrm>
          <a:prstGeom prst="bentConnector3">
            <a:avLst>
              <a:gd fmla="val 99966" name="adj1"/>
            </a:avLst>
          </a:prstGeom>
          <a:noFill/>
          <a:ln cap="flat" cmpd="sng" w="19075">
            <a:solidFill>
              <a:srgbClr val="9AA5B5"/>
            </a:solidFill>
            <a:prstDash val="solid"/>
            <a:round/>
            <a:headEnd len="sm" w="sm" type="none"/>
            <a:tailEnd len="med" w="med" type="triangle"/>
          </a:ln>
        </p:spPr>
      </p:cxnSp>
      <p:sp>
        <p:nvSpPr>
          <p:cNvPr id="1104" name="Google Shape;1104;p60"/>
          <p:cNvSpPr/>
          <p:nvPr/>
        </p:nvSpPr>
        <p:spPr>
          <a:xfrm>
            <a:off x="5367528" y="4183380"/>
            <a:ext cx="731100" cy="274500"/>
          </a:xfrm>
          <a:prstGeom prst="roundRect">
            <a:avLst>
              <a:gd fmla="val 50000" name="adj"/>
            </a:avLst>
          </a:prstGeom>
          <a:solidFill>
            <a:srgbClr val="0F2C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ACT</a:t>
            </a:r>
            <a:endParaRPr sz="1500"/>
          </a:p>
        </p:txBody>
      </p:sp>
      <p:sp>
        <p:nvSpPr>
          <p:cNvPr id="1105" name="Google Shape;1105;p60"/>
          <p:cNvSpPr/>
          <p:nvPr/>
        </p:nvSpPr>
        <p:spPr>
          <a:xfrm>
            <a:off x="5367528" y="4567428"/>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Pick one clear next step</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is ready to move</a:t>
            </a:r>
            <a:endParaRPr sz="1500"/>
          </a:p>
        </p:txBody>
      </p:sp>
      <p:sp>
        <p:nvSpPr>
          <p:cNvPr id="1106" name="Google Shape;1106;p60"/>
          <p:cNvSpPr/>
          <p:nvPr/>
        </p:nvSpPr>
        <p:spPr>
          <a:xfrm>
            <a:off x="7424928"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1</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Get Career Guidance</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Short interest quiz — captures intent, not an application</a:t>
            </a:r>
            <a:endParaRPr sz="1500"/>
          </a:p>
        </p:txBody>
      </p:sp>
      <p:sp>
        <p:nvSpPr>
          <p:cNvPr id="1107" name="Google Shape;1107;p60"/>
          <p:cNvSpPr/>
          <p:nvPr/>
        </p:nvSpPr>
        <p:spPr>
          <a:xfrm>
            <a:off x="9509760"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2</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Explore This Programme</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Routes to the one matching MRIIRS/MRU course page</a:t>
            </a:r>
            <a:endParaRPr sz="1500"/>
          </a:p>
        </p:txBody>
      </p:sp>
      <p:sp>
        <p:nvSpPr>
          <p:cNvPr id="1108" name="Google Shape;1108;p60"/>
          <p:cNvSpPr/>
          <p:nvPr/>
        </p:nvSpPr>
        <p:spPr>
          <a:xfrm>
            <a:off x="548640" y="6172200"/>
            <a:ext cx="11091600" cy="502800"/>
          </a:xfrm>
          <a:prstGeom prst="roundRect">
            <a:avLst>
              <a:gd fmla="val 10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109" name="Google Shape;1109;p60"/>
          <p:cNvSpPr txBox="1"/>
          <p:nvPr/>
        </p:nvSpPr>
        <p:spPr>
          <a:xfrm>
            <a:off x="777240" y="6330950"/>
            <a:ext cx="10607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1" lang="en-US" sz="1200" u="none" cap="none" strike="noStrike">
                <a:solidFill>
                  <a:srgbClr val="C8102E"/>
                </a:solidFill>
                <a:latin typeface="Sora"/>
                <a:ea typeface="Sora"/>
                <a:cs typeface="Sora"/>
                <a:sym typeface="Sora"/>
              </a:rPr>
              <a:t>The right next step for someone still exploring is a guide, not a generic Apply button.</a:t>
            </a:r>
            <a:endParaRPr sz="1500"/>
          </a:p>
        </p:txBody>
      </p:sp>
      <p:sp>
        <p:nvSpPr>
          <p:cNvPr id="1110" name="Rounded Rectangle 1109"/>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PAGE OPPORTUNITIES  ·  INSTITUTION ROOT</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Institution roots: protect the benchmark, close the comparison leak</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/mriirs and /mru — and the school pages that should copy them</a:t>
            </a:r>
          </a:p>
        </p:txBody>
      </p:sp>
      <p:sp>
        <p:nvSpPr>
          <p:cNvPr id="5" name="Rounded Rectangle 4"/>
          <p:cNvSpPr/>
          <p:nvPr/>
        </p:nvSpPr>
        <p:spPr>
          <a:xfrm>
            <a:off x="548640" y="1600200"/>
            <a:ext cx="2051913" cy="3977639"/>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PROBLEM</a:t>
            </a:r>
          </a:p>
        </p:txBody>
      </p:sp>
      <p:sp>
        <p:nvSpPr>
          <p:cNvPr id="7" name="TextBox 6"/>
          <p:cNvSpPr txBox="1"/>
          <p:nvPr/>
        </p:nvSpPr>
        <p:spPr>
          <a:xfrm>
            <a:off x="685800"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The best template loses users who are still comparing institutions — they loop home or hop brands.</a:t>
            </a:r>
          </a:p>
        </p:txBody>
      </p:sp>
      <p:sp>
        <p:nvSpPr>
          <p:cNvPr id="8" name="Right Arrow 7"/>
          <p:cNvSpPr/>
          <p:nvPr/>
        </p:nvSpPr>
        <p:spPr>
          <a:xfrm>
            <a:off x="2618841"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01721" y="1600200"/>
            <a:ext cx="2051913" cy="3977639"/>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8881"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EVIDENCE</a:t>
            </a:r>
          </a:p>
        </p:txBody>
      </p:sp>
      <p:sp>
        <p:nvSpPr>
          <p:cNvPr id="11" name="TextBox 10"/>
          <p:cNvSpPr txBox="1"/>
          <p:nvPr/>
        </p:nvSpPr>
        <p:spPr>
          <a:xfrm>
            <a:off x="2938881"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76.1% engagement, 3.33 views/session [GA4]. 517 of 613 Apply-MRIIRS clicks happen here [CSV]. /mriirs → homepage 673; /mru → /mriirs 166; 494 hop fee pages [GA4].</a:t>
            </a:r>
          </a:p>
        </p:txBody>
      </p:sp>
      <p:sp>
        <p:nvSpPr>
          <p:cNvPr id="12" name="Right Arrow 11"/>
          <p:cNvSpPr/>
          <p:nvPr/>
        </p:nvSpPr>
        <p:spPr>
          <a:xfrm>
            <a:off x="4871923"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54803" y="1600200"/>
            <a:ext cx="2051913" cy="3977639"/>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91963" y="1737360"/>
            <a:ext cx="1777593" cy="320040"/>
          </a:xfrm>
          <a:prstGeom prst="rect">
            <a:avLst/>
          </a:prstGeom>
          <a:noFill/>
        </p:spPr>
        <p:txBody>
          <a:bodyPr wrap="square" lIns="0" rIns="0" tIns="0" bIns="0" anchor="t">
            <a:spAutoFit/>
          </a:bodyPr>
          <a:lstStyle/>
          <a:p>
            <a:pPr algn="l"/>
            <a:r>
              <a:rPr sz="850" b="1" i="0">
                <a:solidFill>
                  <a:srgbClr val="CADCFC"/>
                </a:solidFill>
                <a:latin typeface="Sora"/>
              </a:rPr>
              <a:t>RECOMMENDATION</a:t>
            </a:r>
          </a:p>
        </p:txBody>
      </p:sp>
      <p:sp>
        <p:nvSpPr>
          <p:cNvPr id="15" name="TextBox 14"/>
          <p:cNvSpPr txBox="1"/>
          <p:nvPr/>
        </p:nvSpPr>
        <p:spPr>
          <a:xfrm>
            <a:off x="5191963" y="2148840"/>
            <a:ext cx="1777593" cy="3337559"/>
          </a:xfrm>
          <a:prstGeom prst="rect">
            <a:avLst/>
          </a:prstGeom>
          <a:noFill/>
        </p:spPr>
        <p:txBody>
          <a:bodyPr wrap="square" lIns="0" rIns="0" tIns="0" bIns="0" anchor="t">
            <a:spAutoFit/>
          </a:bodyPr>
          <a:lstStyle/>
          <a:p>
            <a:pPr algn="l">
              <a:spcAft>
                <a:spcPts val="500"/>
              </a:spcAft>
            </a:pPr>
            <a:r>
              <a:rPr sz="1150" b="0" i="0">
                <a:solidFill>
                  <a:srgbClr val="FFFFFF"/>
                </a:solidFill>
                <a:latin typeface="Sora"/>
              </a:rPr>
              <a:t>Keep the hub unchanged. Add a “Compare MRIIRS &amp; MRU” route and a counsellor option for comparers; replicate the hub pattern on school pages.</a:t>
            </a:r>
          </a:p>
        </p:txBody>
      </p:sp>
      <p:sp>
        <p:nvSpPr>
          <p:cNvPr id="16" name="Right Arrow 15"/>
          <p:cNvSpPr/>
          <p:nvPr/>
        </p:nvSpPr>
        <p:spPr>
          <a:xfrm>
            <a:off x="7125004"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07884" y="1600200"/>
            <a:ext cx="2051913" cy="3977639"/>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5044"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EXPECTED BEHAVIOUR CHANGE</a:t>
            </a:r>
          </a:p>
        </p:txBody>
      </p:sp>
      <p:sp>
        <p:nvSpPr>
          <p:cNvPr id="19" name="TextBox 18"/>
          <p:cNvSpPr txBox="1"/>
          <p:nvPr/>
        </p:nvSpPr>
        <p:spPr>
          <a:xfrm>
            <a:off x="7445044"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Fewer homepage loops and brand hops; comparers stay in a guided route to a programme.</a:t>
            </a:r>
          </a:p>
        </p:txBody>
      </p:sp>
      <p:sp>
        <p:nvSpPr>
          <p:cNvPr id="20" name="Right Arrow 19"/>
          <p:cNvSpPr/>
          <p:nvPr/>
        </p:nvSpPr>
        <p:spPr>
          <a:xfrm>
            <a:off x="9378086" y="3497579"/>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60966" y="1600200"/>
            <a:ext cx="2051913" cy="3977639"/>
          </a:xfrm>
          <a:prstGeom prst="roundRect">
            <a:avLst>
              <a:gd name="adj" fmla="val 6000"/>
            </a:avLst>
          </a:prstGeom>
          <a:solidFill>
            <a:srgbClr val="E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8126" y="1737360"/>
            <a:ext cx="1777593" cy="320040"/>
          </a:xfrm>
          <a:prstGeom prst="rect">
            <a:avLst/>
          </a:prstGeom>
          <a:noFill/>
        </p:spPr>
        <p:txBody>
          <a:bodyPr wrap="square" lIns="0" rIns="0" tIns="0" bIns="0" anchor="t">
            <a:spAutoFit/>
          </a:bodyPr>
          <a:lstStyle/>
          <a:p>
            <a:pPr algn="l"/>
            <a:r>
              <a:rPr sz="850" b="1" i="0">
                <a:solidFill>
                  <a:srgbClr val="C8102E"/>
                </a:solidFill>
                <a:latin typeface="Sora"/>
              </a:rPr>
              <a:t>KPI</a:t>
            </a:r>
          </a:p>
        </p:txBody>
      </p:sp>
      <p:sp>
        <p:nvSpPr>
          <p:cNvPr id="23" name="TextBox 22"/>
          <p:cNvSpPr txBox="1"/>
          <p:nvPr/>
        </p:nvSpPr>
        <p:spPr>
          <a:xfrm>
            <a:off x="9698126" y="2148840"/>
            <a:ext cx="1777593" cy="3337559"/>
          </a:xfrm>
          <a:prstGeom prst="rect">
            <a:avLst/>
          </a:prstGeom>
          <a:noFill/>
        </p:spPr>
        <p:txBody>
          <a:bodyPr wrap="square" lIns="0" rIns="0" tIns="0" bIns="0" anchor="t">
            <a:spAutoFit/>
          </a:bodyPr>
          <a:lstStyle/>
          <a:p>
            <a:pPr algn="l">
              <a:spcAft>
                <a:spcPts val="500"/>
              </a:spcAft>
            </a:pPr>
            <a:r>
              <a:rPr sz="1150" b="0" i="0">
                <a:solidFill>
                  <a:srgbClr val="0F2C5C"/>
                </a:solidFill>
                <a:latin typeface="Sora"/>
              </a:rPr>
              <a:t>Primary: leads. Secondary: cross-brand hops, hub progression. Guardrail: Apply-MRIIRS clicks must not fall. Test T12.</a:t>
            </a:r>
          </a:p>
        </p:txBody>
      </p:sp>
      <p:sp>
        <p:nvSpPr>
          <p:cNvPr id="24" name="TextBox 23"/>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 GA4 event export by page type (event counts; separate pull, not directly comparable).</a:t>
            </a:r>
          </a:p>
        </p:txBody>
      </p:sp>
      <p:sp>
        <p:nvSpPr>
          <p:cNvPr id="25" name="Rounded Rectangle 24"/>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52"/>
          <p:cNvSpPr txBox="1"/>
          <p:nvPr/>
        </p:nvSpPr>
        <p:spPr>
          <a:xfrm>
            <a:off x="361546" y="125156"/>
            <a:ext cx="61953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FIXES</a:t>
            </a:r>
            <a:endParaRPr sz="1500"/>
          </a:p>
        </p:txBody>
      </p:sp>
      <p:sp>
        <p:nvSpPr>
          <p:cNvPr id="937" name="Google Shape;937;p52"/>
          <p:cNvSpPr txBox="1"/>
          <p:nvPr/>
        </p:nvSpPr>
        <p:spPr>
          <a:xfrm>
            <a:off x="361546" y="426908"/>
            <a:ext cx="71397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u="none" cap="none" strike="noStrike">
                <a:solidFill>
                  <a:srgbClr val="0F2C5C"/>
                </a:solidFill>
                <a:latin typeface="Sora"/>
                <a:ea typeface="Sora"/>
                <a:cs typeface="Sora"/>
                <a:sym typeface="Sora"/>
              </a:rPr>
              <a:t>Six fixes for the institution-root template</a:t>
            </a:r>
            <a:endParaRPr sz="1500"/>
          </a:p>
        </p:txBody>
      </p:sp>
      <p:sp>
        <p:nvSpPr>
          <p:cNvPr id="938" name="Google Shape;938;p52"/>
          <p:cNvSpPr txBox="1"/>
          <p:nvPr/>
        </p:nvSpPr>
        <p:spPr>
          <a:xfrm>
            <a:off x="361550" y="1370500"/>
            <a:ext cx="6195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Mostly protect and extend — this is the strongest template on the site</a:t>
            </a:r>
            <a:endParaRPr sz="1500"/>
          </a:p>
        </p:txBody>
      </p:sp>
      <p:graphicFrame>
        <p:nvGraphicFramePr>
          <p:cNvPr id="939" name="Google Shape;939;p52"/>
          <p:cNvGraphicFramePr/>
          <p:nvPr/>
        </p:nvGraphicFramePr>
        <p:xfrm>
          <a:off x="361540" y="1691640"/>
          <a:ext cx="3000000" cy="3000000"/>
        </p:xfrm>
        <a:graphic>
          <a:graphicData uri="http://schemas.openxmlformats.org/drawingml/2006/table">
            <a:tbl>
              <a:tblPr bandRow="1" firstRow="1">
                <a:noFill/>
                <a:tableStyleId>{AF987E92-83FC-4B9D-A84D-E1139F2F7CFC}</a:tableStyleId>
              </a:tblPr>
              <a:tblGrid>
                <a:gridCol w="429375"/>
                <a:gridCol w="2616175"/>
                <a:gridCol w="2658875"/>
                <a:gridCol w="1090825"/>
              </a:tblGrid>
              <a:tr h="613975">
                <a:tc>
                  <a:txBody>
                    <a:bodyPr/>
                    <a:lstStyle/>
                    <a:p>
                      <a:pPr indent="0" lvl="0" marL="0" marR="0" rtl="0" algn="ctr">
                        <a:lnSpc>
                          <a:spcPct val="100000"/>
                        </a:lnSpc>
                        <a:spcBef>
                          <a:spcPts val="0"/>
                        </a:spcBef>
                        <a:spcAft>
                          <a:spcPts val="0"/>
                        </a:spcAft>
                        <a:buNone/>
                      </a:pPr>
                      <a:r>
                        <a:rPr b="1" lang="en-US" sz="1200" u="none" cap="none" strike="noStrike">
                          <a:solidFill>
                            <a:srgbClr val="FFFFFF"/>
                          </a:solidFill>
                          <a:latin typeface="Sora"/>
                          <a:ea typeface="Sora"/>
                          <a:cs typeface="Sora"/>
                          <a:sym typeface="Sora"/>
                        </a:rPr>
                        <a:t>#</a:t>
                      </a:r>
                      <a:endParaRPr sz="1500"/>
                    </a:p>
                  </a:txBody>
                  <a:tcPr marT="45725" marB="45725" marR="73175" marL="73175" anchor="ctr">
                    <a:solidFill>
                      <a:srgbClr val="0F2C5C"/>
                    </a:solidFill>
                  </a:tcPr>
                </a:tc>
                <a:tc>
                  <a:txBody>
                    <a:bodyPr/>
                    <a:lstStyle/>
                    <a:p>
                      <a:pPr indent="0" lvl="0" marL="0" marR="0" rtl="0" algn="l">
                        <a:lnSpc>
                          <a:spcPct val="100000"/>
                        </a:lnSpc>
                        <a:spcBef>
                          <a:spcPts val="0"/>
                        </a:spcBef>
                        <a:spcAft>
                          <a:spcPts val="0"/>
                        </a:spcAft>
                        <a:buNone/>
                      </a:pPr>
                      <a:r>
                        <a:rPr b="1" lang="en-US" sz="1200" u="none" cap="none" strike="noStrike">
                          <a:solidFill>
                            <a:srgbClr val="FFFFFF"/>
                          </a:solidFill>
                          <a:latin typeface="Sora"/>
                          <a:ea typeface="Sora"/>
                          <a:cs typeface="Sora"/>
                          <a:sym typeface="Sora"/>
                        </a:rPr>
                        <a:t>Fix</a:t>
                      </a:r>
                      <a:endParaRPr sz="1500"/>
                    </a:p>
                  </a:txBody>
                  <a:tcPr marT="45725" marB="45725" marR="73175" marL="73175" anchor="ctr">
                    <a:solidFill>
                      <a:srgbClr val="0F2C5C"/>
                    </a:solidFill>
                  </a:tcPr>
                </a:tc>
                <a:tc>
                  <a:txBody>
                    <a:bodyPr/>
                    <a:lstStyle/>
                    <a:p>
                      <a:pPr indent="0" lvl="0" marL="0" marR="0" rtl="0" algn="l">
                        <a:lnSpc>
                          <a:spcPct val="100000"/>
                        </a:lnSpc>
                        <a:spcBef>
                          <a:spcPts val="0"/>
                        </a:spcBef>
                        <a:spcAft>
                          <a:spcPts val="0"/>
                        </a:spcAft>
                        <a:buNone/>
                      </a:pPr>
                      <a:r>
                        <a:rPr b="1" lang="en-US" sz="1200" u="none" cap="none" strike="noStrike">
                          <a:solidFill>
                            <a:srgbClr val="FFFFFF"/>
                          </a:solidFill>
                          <a:latin typeface="Sora"/>
                          <a:ea typeface="Sora"/>
                          <a:cs typeface="Sora"/>
                          <a:sym typeface="Sora"/>
                        </a:rPr>
                        <a:t>Why</a:t>
                      </a:r>
                      <a:endParaRPr sz="1500"/>
                    </a:p>
                  </a:txBody>
                  <a:tcPr marT="45725" marB="45725" marR="73175" marL="73175" anchor="ctr">
                    <a:solidFill>
                      <a:srgbClr val="0F2C5C"/>
                    </a:solidFill>
                  </a:tcPr>
                </a:tc>
                <a:tc>
                  <a:txBody>
                    <a:bodyPr/>
                    <a:lstStyle/>
                    <a:p>
                      <a:pPr indent="0" lvl="0" marL="0" marR="0" rtl="0" algn="ctr">
                        <a:lnSpc>
                          <a:spcPct val="100000"/>
                        </a:lnSpc>
                        <a:spcBef>
                          <a:spcPts val="0"/>
                        </a:spcBef>
                        <a:spcAft>
                          <a:spcPts val="0"/>
                        </a:spcAft>
                        <a:buNone/>
                      </a:pPr>
                      <a:r>
                        <a:rPr b="1" lang="en-US" sz="1200" u="none" cap="none" strike="noStrike">
                          <a:solidFill>
                            <a:srgbClr val="FFFFFF"/>
                          </a:solidFill>
                          <a:latin typeface="Sora"/>
                          <a:ea typeface="Sora"/>
                          <a:cs typeface="Sora"/>
                          <a:sym typeface="Sora"/>
                        </a:rPr>
                        <a:t>Effort</a:t>
                      </a:r>
                      <a:endParaRPr sz="1500"/>
                    </a:p>
                  </a:txBody>
                  <a:tcPr marT="45725" marB="45725" marR="73175" marL="73175" anchor="ctr">
                    <a:solidFill>
                      <a:srgbClr val="0F2C5C"/>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1</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Differentiate the two sticky tabs by intent, not just Apply / Enquire</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Same generic-CTA problem, even on the best template</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2</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Fix the clipped NAAC badge text on the /mru header</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Small polish miss on an otherwise strong page</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1E7B34"/>
                          </a:solidFill>
                          <a:latin typeface="Sora"/>
                          <a:ea typeface="Sora"/>
                          <a:cs typeface="Sora"/>
                          <a:sym typeface="Sora"/>
                        </a:rPr>
                        <a:t>Quick</a:t>
                      </a:r>
                      <a:endParaRPr sz="1200"/>
                    </a:p>
                  </a:txBody>
                  <a:tcPr marT="45725" marB="45725" marR="73175" marL="73175" anchor="ctr">
                    <a:solidFill>
                      <a:srgbClr val="F7F8FA"/>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3</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Add a one-line positioning statement to the hero (“Why MREI”, not just “what MREI is”)</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Chandigarh University answers this in its H1; MREI doesn't</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4</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Fuse a rankings or outcome stat onto the UG / PG / Doctoral tiles themselves</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Proof and segmentation exist but never touch each other</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7F8FA"/>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5</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Add a short campus-life visual or tour alongside the existing candid photography</a:t>
                      </a:r>
                      <a:endParaRPr sz="1200"/>
                    </a:p>
                  </a:txBody>
                  <a:tcPr marT="45725" marB="45725" marR="73175" marL="73175" anchor="ctr">
                    <a:solidFill>
                      <a:srgbClr val="FFFFFF"/>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Galgotias answers “what's it like here” viscerally; MREI relies on generic photos</a:t>
                      </a:r>
                      <a:endParaRPr sz="1200"/>
                    </a:p>
                  </a:txBody>
                  <a:tcPr marT="45725" marB="45725" marR="73175" marL="73175" anchor="ctr">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B8860B"/>
                          </a:solidFill>
                          <a:latin typeface="Sora"/>
                          <a:ea typeface="Sora"/>
                          <a:cs typeface="Sora"/>
                          <a:sym typeface="Sora"/>
                        </a:rPr>
                        <a:t>Medium</a:t>
                      </a:r>
                      <a:endParaRPr sz="1200"/>
                    </a:p>
                  </a:txBody>
                  <a:tcPr marT="45725" marB="45725" marR="73175" marL="73175" anchor="ctr">
                    <a:solidFill>
                      <a:srgbClr val="FFFFFF"/>
                    </a:solidFill>
                  </a:tcPr>
                </a:tc>
              </a:tr>
              <a:tr h="613975">
                <a:tc>
                  <a:txBody>
                    <a:bodyPr/>
                    <a:lstStyle/>
                    <a:p>
                      <a:pPr indent="0" lvl="0" marL="0" marR="0" rtl="0" algn="ctr">
                        <a:lnSpc>
                          <a:spcPct val="100000"/>
                        </a:lnSpc>
                        <a:spcBef>
                          <a:spcPts val="0"/>
                        </a:spcBef>
                        <a:spcAft>
                          <a:spcPts val="0"/>
                        </a:spcAft>
                        <a:buNone/>
                      </a:pPr>
                      <a:r>
                        <a:rPr b="1" lang="en-US" sz="1100" u="none" cap="none" strike="noStrike">
                          <a:solidFill>
                            <a:srgbClr val="C8102E"/>
                          </a:solidFill>
                          <a:latin typeface="Sora"/>
                          <a:ea typeface="Sora"/>
                          <a:cs typeface="Sora"/>
                          <a:sym typeface="Sora"/>
                        </a:rPr>
                        <a:t>6</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b="1" lang="en-US" sz="900" u="none" cap="none" strike="noStrike">
                          <a:solidFill>
                            <a:srgbClr val="0F2C5C"/>
                          </a:solidFill>
                          <a:latin typeface="Sora"/>
                          <a:ea typeface="Sora"/>
                          <a:cs typeface="Sora"/>
                          <a:sym typeface="Sora"/>
                        </a:rPr>
                        <a:t>Protect this template and roll it out to /mrdc and school-level pages unchanged</a:t>
                      </a:r>
                      <a:endParaRPr sz="1200"/>
                    </a:p>
                  </a:txBody>
                  <a:tcPr marT="45725" marB="45725" marR="73175" marL="73175" anchor="ctr">
                    <a:solidFill>
                      <a:srgbClr val="F7F8FA"/>
                    </a:solidFill>
                  </a:tcPr>
                </a:tc>
                <a:tc>
                  <a:txBody>
                    <a:bodyPr/>
                    <a:lstStyle/>
                    <a:p>
                      <a:pPr indent="0" lvl="0" marL="0" marR="0" rtl="0" algn="l">
                        <a:lnSpc>
                          <a:spcPct val="100000"/>
                        </a:lnSpc>
                        <a:spcBef>
                          <a:spcPts val="0"/>
                        </a:spcBef>
                        <a:spcAft>
                          <a:spcPts val="0"/>
                        </a:spcAft>
                        <a:buNone/>
                      </a:pPr>
                      <a:r>
                        <a:rPr lang="en-US" sz="800" u="none" cap="none" strike="noStrike">
                          <a:solidFill>
                            <a:srgbClr val="5A6472"/>
                          </a:solidFill>
                          <a:latin typeface="Sora"/>
                          <a:ea typeface="Sora"/>
                          <a:cs typeface="Sora"/>
                          <a:sym typeface="Sora"/>
                        </a:rPr>
                        <a:t>It already outperforms every other template on engagement and views/session</a:t>
                      </a:r>
                      <a:endParaRPr sz="1200"/>
                    </a:p>
                  </a:txBody>
                  <a:tcPr marT="45725" marB="45725" marR="73175" marL="73175" anchor="ctr">
                    <a:solidFill>
                      <a:srgbClr val="F7F8FA"/>
                    </a:solidFill>
                  </a:tcPr>
                </a:tc>
                <a:tc>
                  <a:txBody>
                    <a:bodyPr/>
                    <a:lstStyle/>
                    <a:p>
                      <a:pPr indent="0" lvl="0" marL="0" marR="0" rtl="0" algn="ctr">
                        <a:lnSpc>
                          <a:spcPct val="100000"/>
                        </a:lnSpc>
                        <a:spcBef>
                          <a:spcPts val="0"/>
                        </a:spcBef>
                        <a:spcAft>
                          <a:spcPts val="0"/>
                        </a:spcAft>
                        <a:buNone/>
                      </a:pPr>
                      <a:r>
                        <a:rPr b="1" lang="en-US" sz="900" u="none" cap="none" strike="noStrike">
                          <a:solidFill>
                            <a:srgbClr val="0F2C5C"/>
                          </a:solidFill>
                          <a:latin typeface="Sora"/>
                          <a:ea typeface="Sora"/>
                          <a:cs typeface="Sora"/>
                          <a:sym typeface="Sora"/>
                        </a:rPr>
                        <a:t>Template-wide</a:t>
                      </a:r>
                      <a:endParaRPr sz="1200"/>
                    </a:p>
                  </a:txBody>
                  <a:tcPr marT="45725" marB="45725" marR="73175" marL="73175" anchor="ctr">
                    <a:solidFill>
                      <a:srgbClr val="F7F8FA"/>
                    </a:solidFill>
                  </a:tcPr>
                </a:tc>
              </a:tr>
            </a:tbl>
          </a:graphicData>
        </a:graphic>
      </p:graphicFrame>
      <p:sp>
        <p:nvSpPr>
          <p:cNvPr id="940" name="Google Shape;940;p52"/>
          <p:cNvSpPr/>
          <p:nvPr/>
        </p:nvSpPr>
        <p:spPr>
          <a:xfrm>
            <a:off x="361550" y="6126475"/>
            <a:ext cx="6795300" cy="5751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41" name="Google Shape;941;p52"/>
          <p:cNvSpPr txBox="1"/>
          <p:nvPr/>
        </p:nvSpPr>
        <p:spPr>
          <a:xfrm>
            <a:off x="501600" y="6126475"/>
            <a:ext cx="6498300" cy="57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1" lang="en-US" sz="1200" u="none" cap="none" strike="noStrike">
                <a:solidFill>
                  <a:srgbClr val="0F2C5C"/>
                </a:solidFill>
                <a:latin typeface="Sora"/>
                <a:ea typeface="Sora"/>
                <a:cs typeface="Sora"/>
                <a:sym typeface="Sora"/>
              </a:rPr>
              <a:t>The risk here isn't inaction — it's a redesign that throws away the one template already proven to work.</a:t>
            </a:r>
            <a:endParaRPr sz="1500"/>
          </a:p>
        </p:txBody>
      </p:sp>
      <p:pic>
        <p:nvPicPr>
          <p:cNvPr id="942" name="Google Shape;942;p52"/>
          <p:cNvPicPr preferRelativeResize="0"/>
          <p:nvPr/>
        </p:nvPicPr>
        <p:blipFill>
          <a:blip r:embed="rId3">
            <a:alphaModFix/>
          </a:blip>
          <a:stretch>
            <a:fillRect/>
          </a:stretch>
        </p:blipFill>
        <p:spPr>
          <a:xfrm>
            <a:off x="7619991" y="0"/>
            <a:ext cx="4572009" cy="685800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53"/>
          <p:cNvSpPr txBox="1"/>
          <p:nvPr/>
        </p:nvSpPr>
        <p:spPr>
          <a:xfrm>
            <a:off x="548640" y="411480"/>
            <a:ext cx="10515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UNIVERSITY SHORTLISTER — JOURNEY ORCHESTRATION</a:t>
            </a:r>
            <a:endParaRPr sz="1500"/>
          </a:p>
        </p:txBody>
      </p:sp>
      <p:sp>
        <p:nvSpPr>
          <p:cNvPr id="948" name="Google Shape;948;p53"/>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The hub already works — it just needs a second action</a:t>
            </a:r>
            <a:endParaRPr sz="1500"/>
          </a:p>
        </p:txBody>
      </p:sp>
      <p:sp>
        <p:nvSpPr>
          <p:cNvPr id="949" name="Google Shape;949;p53"/>
          <p:cNvSpPr txBox="1"/>
          <p:nvPr/>
        </p:nvSpPr>
        <p:spPr>
          <a:xfrm>
            <a:off x="548640" y="1207008"/>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Applied to the institution-root pages (/mriirs, /mru)</a:t>
            </a:r>
            <a:endParaRPr sz="1500"/>
          </a:p>
        </p:txBody>
      </p:sp>
      <p:sp>
        <p:nvSpPr>
          <p:cNvPr id="950" name="Google Shape;950;p53"/>
          <p:cNvSpPr/>
          <p:nvPr/>
        </p:nvSpPr>
        <p:spPr>
          <a:xfrm>
            <a:off x="548640" y="2994660"/>
            <a:ext cx="2102700" cy="1554900"/>
          </a:xfrm>
          <a:prstGeom prst="roundRect">
            <a:avLst>
              <a:gd fmla="val 9000" name="adj"/>
            </a:avLst>
          </a:prstGeom>
          <a:solidFill>
            <a:srgbClr val="0F2C5C"/>
          </a:solidFill>
          <a:ln>
            <a:noFill/>
          </a:ln>
          <a:effectLst>
            <a:outerShdw blurRad="101600" rotWithShape="0" algn="t" dir="5400000" dist="25400">
              <a:srgbClr val="0F2C5C">
                <a:alpha val="12160"/>
              </a:srgbClr>
            </a:outerShdw>
          </a:effectLst>
        </p:spPr>
        <p:txBody>
          <a:bodyPr anchorCtr="0" anchor="ctr" bIns="137175" lIns="182875" spcFirstLastPara="1" rIns="182875"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A9BBDD"/>
                </a:solidFill>
                <a:latin typeface="Sora"/>
                <a:ea typeface="Sora"/>
                <a:cs typeface="Sora"/>
                <a:sym typeface="Sora"/>
              </a:rPr>
              <a:t>VISITOR LANDS ON</a:t>
            </a:r>
            <a:endParaRPr sz="1500"/>
          </a:p>
          <a:p>
            <a:pPr indent="0" lvl="0" marL="0" marR="0" rtl="0" algn="l">
              <a:lnSpc>
                <a:spcPct val="95000"/>
              </a:lnSpc>
              <a:spcBef>
                <a:spcPts val="500"/>
              </a:spcBef>
              <a:spcAft>
                <a:spcPts val="0"/>
              </a:spcAft>
              <a:buNone/>
            </a:pPr>
            <a:r>
              <a:rPr b="1" i="0" lang="en-US" sz="1500" u="none" cap="none" strike="noStrike">
                <a:solidFill>
                  <a:srgbClr val="FFFFFF"/>
                </a:solidFill>
                <a:latin typeface="Sora"/>
                <a:ea typeface="Sora"/>
                <a:cs typeface="Sora"/>
                <a:sym typeface="Sora"/>
              </a:rPr>
              <a:t>Institution Root Page</a:t>
            </a:r>
            <a:endParaRPr sz="1500"/>
          </a:p>
        </p:txBody>
      </p:sp>
      <p:sp>
        <p:nvSpPr>
          <p:cNvPr id="951" name="Google Shape;951;p53"/>
          <p:cNvSpPr/>
          <p:nvPr/>
        </p:nvSpPr>
        <p:spPr>
          <a:xfrm>
            <a:off x="3035808" y="2903220"/>
            <a:ext cx="1737300" cy="1737300"/>
          </a:xfrm>
          <a:prstGeom prst="ellipse">
            <a:avLst/>
          </a:prstGeom>
          <a:solidFill>
            <a:srgbClr val="C8102E"/>
          </a:solidFill>
          <a:ln>
            <a:noFill/>
          </a:ln>
          <a:effectLst>
            <a:outerShdw blurRad="101600" rotWithShape="0" algn="t" dir="5400000" dist="25400">
              <a:srgbClr val="0F2C5C">
                <a:alpha val="12160"/>
              </a:srgbClr>
            </a:outerShdw>
          </a:effectLst>
        </p:spPr>
        <p:txBody>
          <a:bodyPr anchorCtr="0" anchor="ctr" bIns="45700" lIns="109725" spcFirstLastPara="1" rIns="109725" wrap="square" tIns="45700">
            <a:noAutofit/>
          </a:bodyPr>
          <a:lstStyle/>
          <a:p>
            <a:pPr indent="0" lvl="0" marL="0" marR="0" rtl="0" algn="ctr">
              <a:lnSpc>
                <a:spcPct val="95000"/>
              </a:lnSpc>
              <a:spcBef>
                <a:spcPts val="0"/>
              </a:spcBef>
              <a:spcAft>
                <a:spcPts val="0"/>
              </a:spcAft>
              <a:buNone/>
            </a:pPr>
            <a:r>
              <a:rPr b="1" i="0" lang="en-US" sz="1100" u="none" cap="none" strike="noStrike">
                <a:solidFill>
                  <a:srgbClr val="FFFFFF"/>
                </a:solidFill>
                <a:latin typeface="Sora"/>
                <a:ea typeface="Sora"/>
                <a:cs typeface="Sora"/>
                <a:sym typeface="Sora"/>
              </a:rPr>
              <a:t>What does the visitor need right now?</a:t>
            </a:r>
            <a:endParaRPr sz="1500"/>
          </a:p>
        </p:txBody>
      </p:sp>
      <p:cxnSp>
        <p:nvCxnSpPr>
          <p:cNvPr id="952" name="Google Shape;952;p53"/>
          <p:cNvCxnSpPr>
            <a:stCxn id="950" idx="3"/>
          </p:cNvCxnSpPr>
          <p:nvPr/>
        </p:nvCxnSpPr>
        <p:spPr>
          <a:xfrm>
            <a:off x="2651340" y="3772110"/>
            <a:ext cx="384000" cy="0"/>
          </a:xfrm>
          <a:prstGeom prst="straightConnector1">
            <a:avLst/>
          </a:prstGeom>
          <a:noFill/>
          <a:ln cap="flat" cmpd="sng" w="19075">
            <a:solidFill>
              <a:srgbClr val="9AA5B5"/>
            </a:solidFill>
            <a:prstDash val="solid"/>
            <a:round/>
            <a:headEnd len="sm" w="sm" type="none"/>
            <a:tailEnd len="med" w="med" type="triangle"/>
          </a:ln>
        </p:spPr>
      </p:cxnSp>
      <p:sp>
        <p:nvSpPr>
          <p:cNvPr id="953" name="Google Shape;953;p53"/>
          <p:cNvSpPr/>
          <p:nvPr/>
        </p:nvSpPr>
        <p:spPr>
          <a:xfrm>
            <a:off x="5138928" y="1627632"/>
            <a:ext cx="6501300" cy="2007300"/>
          </a:xfrm>
          <a:prstGeom prst="roundRect">
            <a:avLst>
              <a:gd fmla="val 6000" name="adj"/>
            </a:avLst>
          </a:prstGeom>
          <a:solidFill>
            <a:srgbClr val="EAF4ED"/>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954" name="Google Shape;954;p53"/>
          <p:cNvCxnSpPr>
            <a:endCxn id="953" idx="1"/>
          </p:cNvCxnSpPr>
          <p:nvPr/>
        </p:nvCxnSpPr>
        <p:spPr>
          <a:xfrm rot="-5400000">
            <a:off x="4385928" y="3018582"/>
            <a:ext cx="1140300" cy="365700"/>
          </a:xfrm>
          <a:prstGeom prst="bentConnector3">
            <a:avLst>
              <a:gd fmla="val 99170" name="adj1"/>
            </a:avLst>
          </a:prstGeom>
          <a:noFill/>
          <a:ln cap="flat" cmpd="sng" w="19075">
            <a:solidFill>
              <a:srgbClr val="9AA5B5"/>
            </a:solidFill>
            <a:prstDash val="solid"/>
            <a:round/>
            <a:headEnd len="sm" w="sm" type="none"/>
            <a:tailEnd len="med" w="med" type="triangle"/>
          </a:ln>
        </p:spPr>
      </p:cxnSp>
      <p:sp>
        <p:nvSpPr>
          <p:cNvPr id="955" name="Google Shape;955;p53"/>
          <p:cNvSpPr/>
          <p:nvPr/>
        </p:nvSpPr>
        <p:spPr>
          <a:xfrm>
            <a:off x="5367528" y="1901952"/>
            <a:ext cx="731100" cy="274500"/>
          </a:xfrm>
          <a:prstGeom prst="roundRect">
            <a:avLst>
              <a:gd fmla="val 50000" name="adj"/>
            </a:avLst>
          </a:prstGeom>
          <a:solidFill>
            <a:srgbClr val="1E7B3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STAY</a:t>
            </a:r>
            <a:endParaRPr sz="1500"/>
          </a:p>
        </p:txBody>
      </p:sp>
      <p:sp>
        <p:nvSpPr>
          <p:cNvPr id="956" name="Google Shape;956;p53"/>
          <p:cNvSpPr/>
          <p:nvPr/>
        </p:nvSpPr>
        <p:spPr>
          <a:xfrm>
            <a:off x="5367528" y="2286000"/>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Answer stays on the page</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still has a question</a:t>
            </a:r>
            <a:endParaRPr sz="1500"/>
          </a:p>
        </p:txBody>
      </p:sp>
      <p:sp>
        <p:nvSpPr>
          <p:cNvPr id="957" name="Google Shape;957;p53"/>
          <p:cNvSpPr/>
          <p:nvPr/>
        </p:nvSpPr>
        <p:spPr>
          <a:xfrm>
            <a:off x="7424928" y="1856232"/>
            <a:ext cx="39867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ctr" bIns="137175" lIns="228600" spcFirstLastPara="1" rIns="228600" wrap="square" tIns="137175">
            <a:noAutofit/>
          </a:bodyPr>
          <a:lstStyle/>
          <a:p>
            <a:pPr indent="0" lvl="0" marL="0" marR="0" rtl="0" algn="l">
              <a:lnSpc>
                <a:spcPct val="100000"/>
              </a:lnSpc>
              <a:spcBef>
                <a:spcPts val="0"/>
              </a:spcBef>
              <a:spcAft>
                <a:spcPts val="0"/>
              </a:spcAft>
              <a:buNone/>
            </a:pPr>
            <a:r>
              <a:rPr b="1" i="0" lang="en-US" sz="800" u="none" cap="none" strike="noStrike">
                <a:solidFill>
                  <a:srgbClr val="1E7B34"/>
                </a:solidFill>
                <a:latin typeface="Sora"/>
                <a:ea typeface="Sora"/>
                <a:cs typeface="Sora"/>
                <a:sym typeface="Sora"/>
              </a:rPr>
              <a:t>ON THE PAGE</a:t>
            </a:r>
            <a:endParaRPr sz="1500"/>
          </a:p>
          <a:p>
            <a:pPr indent="0" lvl="0" marL="0" marR="0" rtl="0" algn="l">
              <a:lnSpc>
                <a:spcPct val="105000"/>
              </a:lnSpc>
              <a:spcBef>
                <a:spcPts val="500"/>
              </a:spcBef>
              <a:spcAft>
                <a:spcPts val="0"/>
              </a:spcAft>
              <a:buNone/>
            </a:pPr>
            <a:r>
              <a:rPr b="0" i="0" lang="en-US" sz="1200" u="none" cap="none" strike="noStrike">
                <a:solidFill>
                  <a:srgbClr val="0F2C5C"/>
                </a:solidFill>
                <a:latin typeface="Sora"/>
                <a:ea typeface="Sora"/>
                <a:cs typeface="Sora"/>
                <a:sym typeface="Sora"/>
              </a:rPr>
              <a:t>The UG / PG / Doctoral hub already lets a visitor self-segment in place — protect this pattern.</a:t>
            </a:r>
            <a:endParaRPr sz="1500"/>
          </a:p>
        </p:txBody>
      </p:sp>
      <p:sp>
        <p:nvSpPr>
          <p:cNvPr id="958" name="Google Shape;958;p53"/>
          <p:cNvSpPr/>
          <p:nvPr/>
        </p:nvSpPr>
        <p:spPr>
          <a:xfrm>
            <a:off x="5138928" y="3909060"/>
            <a:ext cx="6501300" cy="2007300"/>
          </a:xfrm>
          <a:prstGeom prst="roundRect">
            <a:avLst>
              <a:gd fmla="val 6000" name="adj"/>
            </a:avLst>
          </a:prstGeom>
          <a:solidFill>
            <a:srgbClr val="E8EEF7"/>
          </a:solidFill>
          <a:ln>
            <a:noFill/>
          </a:ln>
        </p:spPr>
        <p:txBody>
          <a:bodyPr anchorCtr="0" anchor="ctr" bIns="91425" lIns="137175" spcFirstLastPara="1" rIns="137175" wrap="square" tIns="9142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959" name="Google Shape;959;p53"/>
          <p:cNvCxnSpPr>
            <a:endCxn id="958" idx="1"/>
          </p:cNvCxnSpPr>
          <p:nvPr/>
        </p:nvCxnSpPr>
        <p:spPr>
          <a:xfrm flipH="1" rot="-5400000">
            <a:off x="4385628" y="4159410"/>
            <a:ext cx="1140900" cy="365700"/>
          </a:xfrm>
          <a:prstGeom prst="bentConnector3">
            <a:avLst>
              <a:gd fmla="val 98756" name="adj1"/>
            </a:avLst>
          </a:prstGeom>
          <a:noFill/>
          <a:ln cap="flat" cmpd="sng" w="19075">
            <a:solidFill>
              <a:srgbClr val="9AA5B5"/>
            </a:solidFill>
            <a:prstDash val="solid"/>
            <a:round/>
            <a:headEnd len="sm" w="sm" type="none"/>
            <a:tailEnd len="med" w="med" type="triangle"/>
          </a:ln>
        </p:spPr>
      </p:cxnSp>
      <p:sp>
        <p:nvSpPr>
          <p:cNvPr id="960" name="Google Shape;960;p53"/>
          <p:cNvSpPr/>
          <p:nvPr/>
        </p:nvSpPr>
        <p:spPr>
          <a:xfrm>
            <a:off x="5367528" y="4183380"/>
            <a:ext cx="731100" cy="274500"/>
          </a:xfrm>
          <a:prstGeom prst="roundRect">
            <a:avLst>
              <a:gd fmla="val 50000" name="adj"/>
            </a:avLst>
          </a:prstGeom>
          <a:solidFill>
            <a:srgbClr val="0F2C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Sora"/>
                <a:ea typeface="Sora"/>
                <a:cs typeface="Sora"/>
                <a:sym typeface="Sora"/>
              </a:rPr>
              <a:t>ACT</a:t>
            </a:r>
            <a:endParaRPr sz="1500"/>
          </a:p>
        </p:txBody>
      </p:sp>
      <p:sp>
        <p:nvSpPr>
          <p:cNvPr id="961" name="Google Shape;961;p53"/>
          <p:cNvSpPr/>
          <p:nvPr/>
        </p:nvSpPr>
        <p:spPr>
          <a:xfrm>
            <a:off x="5367528" y="4567428"/>
            <a:ext cx="1828800" cy="11385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i="0" lang="en-US" sz="1500" u="none" cap="none" strike="noStrike">
                <a:solidFill>
                  <a:srgbClr val="0F2C5C"/>
                </a:solidFill>
                <a:latin typeface="Sora"/>
                <a:ea typeface="Sora"/>
                <a:cs typeface="Sora"/>
                <a:sym typeface="Sora"/>
              </a:rPr>
              <a:t>Pick one clear next step</a:t>
            </a:r>
            <a:endParaRPr sz="1500"/>
          </a:p>
          <a:p>
            <a:pPr indent="0" lvl="0" marL="0" marR="0" rtl="0" algn="l">
              <a:lnSpc>
                <a:spcPct val="100000"/>
              </a:lnSpc>
              <a:spcBef>
                <a:spcPts val="700"/>
              </a:spcBef>
              <a:spcAft>
                <a:spcPts val="0"/>
              </a:spcAft>
              <a:buNone/>
            </a:pPr>
            <a:r>
              <a:rPr b="0" i="0" lang="en-US" sz="1100" u="none" cap="none" strike="noStrike">
                <a:solidFill>
                  <a:srgbClr val="5A6472"/>
                </a:solidFill>
                <a:latin typeface="Sora"/>
                <a:ea typeface="Sora"/>
                <a:cs typeface="Sora"/>
                <a:sym typeface="Sora"/>
              </a:rPr>
              <a:t>Visitor is ready to move</a:t>
            </a:r>
            <a:endParaRPr sz="1500"/>
          </a:p>
        </p:txBody>
      </p:sp>
      <p:sp>
        <p:nvSpPr>
          <p:cNvPr id="962" name="Google Shape;962;p53"/>
          <p:cNvSpPr/>
          <p:nvPr/>
        </p:nvSpPr>
        <p:spPr>
          <a:xfrm>
            <a:off x="7424928"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1</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Apply</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Programme-specific lead form, once a choice is made</a:t>
            </a:r>
            <a:endParaRPr sz="1500"/>
          </a:p>
        </p:txBody>
      </p:sp>
      <p:sp>
        <p:nvSpPr>
          <p:cNvPr id="963" name="Google Shape;963;p53"/>
          <p:cNvSpPr/>
          <p:nvPr/>
        </p:nvSpPr>
        <p:spPr>
          <a:xfrm>
            <a:off x="9509760" y="4137660"/>
            <a:ext cx="1902000" cy="1549500"/>
          </a:xfrm>
          <a:prstGeom prst="roundRect">
            <a:avLst>
              <a:gd fmla="val 7000" name="adj"/>
            </a:avLst>
          </a:prstGeom>
          <a:solidFill>
            <a:srgbClr val="FFFFFF"/>
          </a:solidFill>
          <a:ln>
            <a:noFill/>
          </a:ln>
          <a:effectLst>
            <a:outerShdw blurRad="101600" rotWithShape="0" algn="t" dir="5400000" dist="25400">
              <a:srgbClr val="0F2C5C">
                <a:alpha val="12160"/>
              </a:srgbClr>
            </a:outerShdw>
          </a:effectLst>
        </p:spPr>
        <p:txBody>
          <a:bodyPr anchorCtr="0" anchor="t" bIns="109725" lIns="164575" spcFirstLastPara="1" rIns="164575" wrap="square" tIns="155425">
            <a:noAutofit/>
          </a:bodyPr>
          <a:lstStyle/>
          <a:p>
            <a:pPr indent="0" lvl="0" marL="0" marR="0" rtl="0" algn="l">
              <a:lnSpc>
                <a:spcPct val="100000"/>
              </a:lnSpc>
              <a:spcBef>
                <a:spcPts val="0"/>
              </a:spcBef>
              <a:spcAft>
                <a:spcPts val="0"/>
              </a:spcAft>
              <a:buNone/>
            </a:pPr>
            <a:r>
              <a:rPr b="1" i="0" lang="en-US" sz="800" u="none" cap="none" strike="noStrike">
                <a:solidFill>
                  <a:srgbClr val="C8102E"/>
                </a:solidFill>
                <a:latin typeface="Sora"/>
                <a:ea typeface="Sora"/>
                <a:cs typeface="Sora"/>
                <a:sym typeface="Sora"/>
              </a:rPr>
              <a:t>OPTION 2</a:t>
            </a:r>
            <a:endParaRPr sz="1500"/>
          </a:p>
          <a:p>
            <a:pPr indent="0" lvl="0" marL="0" marR="0" rtl="0" algn="l">
              <a:lnSpc>
                <a:spcPct val="95000"/>
              </a:lnSpc>
              <a:spcBef>
                <a:spcPts val="400"/>
              </a:spcBef>
              <a:spcAft>
                <a:spcPts val="0"/>
              </a:spcAft>
              <a:buNone/>
            </a:pPr>
            <a:r>
              <a:rPr b="1" i="0" lang="en-US" sz="1200" u="none" cap="none" strike="noStrike">
                <a:solidFill>
                  <a:srgbClr val="0F2C5C"/>
                </a:solidFill>
                <a:latin typeface="Sora"/>
                <a:ea typeface="Sora"/>
                <a:cs typeface="Sora"/>
                <a:sym typeface="Sora"/>
              </a:rPr>
              <a:t>Talk to a Counsellor</a:t>
            </a:r>
            <a:endParaRPr sz="1500"/>
          </a:p>
          <a:p>
            <a:pPr indent="0" lvl="0" marL="0" marR="0" rtl="0" algn="l">
              <a:lnSpc>
                <a:spcPct val="105000"/>
              </a:lnSpc>
              <a:spcBef>
                <a:spcPts val="500"/>
              </a:spcBef>
              <a:spcAft>
                <a:spcPts val="0"/>
              </a:spcAft>
              <a:buNone/>
            </a:pPr>
            <a:r>
              <a:rPr b="0" i="0" lang="en-US" sz="900" u="none" cap="none" strike="noStrike">
                <a:solidFill>
                  <a:srgbClr val="5A6472"/>
                </a:solidFill>
                <a:latin typeface="Sora"/>
                <a:ea typeface="Sora"/>
                <a:cs typeface="Sora"/>
                <a:sym typeface="Sora"/>
              </a:rPr>
              <a:t>1-1 booking, for a visitor still comparing universities</a:t>
            </a:r>
            <a:endParaRPr sz="1500"/>
          </a:p>
        </p:txBody>
      </p:sp>
      <p:sp>
        <p:nvSpPr>
          <p:cNvPr id="964" name="Google Shape;964;p53"/>
          <p:cNvSpPr/>
          <p:nvPr/>
        </p:nvSpPr>
        <p:spPr>
          <a:xfrm>
            <a:off x="548640" y="6172200"/>
            <a:ext cx="11091600" cy="502800"/>
          </a:xfrm>
          <a:prstGeom prst="roundRect">
            <a:avLst>
              <a:gd fmla="val 10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65" name="Google Shape;965;p53"/>
          <p:cNvSpPr txBox="1"/>
          <p:nvPr/>
        </p:nvSpPr>
        <p:spPr>
          <a:xfrm>
            <a:off x="777240" y="6172200"/>
            <a:ext cx="10607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1" lang="en-US" sz="1200" u="none" cap="none" strike="noStrike">
                <a:solidFill>
                  <a:srgbClr val="C8102E"/>
                </a:solidFill>
                <a:latin typeface="Sora"/>
                <a:ea typeface="Sora"/>
                <a:cs typeface="Sora"/>
                <a:sym typeface="Sora"/>
              </a:rPr>
              <a:t>Someone still comparing universities needs a counsellor, not the same ‘Apply Now’ as everyone else.</a:t>
            </a:r>
            <a:endParaRPr sz="1500"/>
          </a:p>
        </p:txBody>
      </p:sp>
      <p:sp>
        <p:nvSpPr>
          <p:cNvPr id="966" name="Rounded Rectangle 965"/>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50"/>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COMPETITIVE BENCHMARKING — HOMEPAGE TEMPLATE</a:t>
            </a:r>
            <a:endParaRPr sz="1500"/>
          </a:p>
        </p:txBody>
      </p:sp>
      <p:sp>
        <p:nvSpPr>
          <p:cNvPr id="899" name="Google Shape;899;p50"/>
          <p:cNvSpPr txBox="1"/>
          <p:nvPr/>
        </p:nvSpPr>
        <p:spPr>
          <a:xfrm>
            <a:off x="548640" y="713232"/>
            <a:ext cx="11064300" cy="70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0F2C5C"/>
                </a:solidFill>
                <a:latin typeface="Sora"/>
                <a:ea typeface="Sora"/>
                <a:cs typeface="Sora"/>
                <a:sym typeface="Sora"/>
              </a:rPr>
              <a:t>No competitor does everything — but each does one thing worth </a:t>
            </a:r>
            <a:r>
              <a:rPr b="1" lang="en-US" sz="2100">
                <a:solidFill>
                  <a:srgbClr val="0F2C5C"/>
                </a:solidFill>
                <a:latin typeface="Sora"/>
                <a:ea typeface="Sora"/>
                <a:cs typeface="Sora"/>
                <a:sym typeface="Sora"/>
              </a:rPr>
              <a:t>grabbing</a:t>
            </a:r>
            <a:endParaRPr sz="1500"/>
          </a:p>
        </p:txBody>
      </p:sp>
      <p:sp>
        <p:nvSpPr>
          <p:cNvPr id="900" name="Google Shape;900;p50"/>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Feature coverage across all six named competitors' homepages, observed live</a:t>
            </a:r>
            <a:endParaRPr sz="1500"/>
          </a:p>
        </p:txBody>
      </p:sp>
      <p:graphicFrame>
        <p:nvGraphicFramePr>
          <p:cNvPr id="901" name="Google Shape;901;p50"/>
          <p:cNvGraphicFramePr/>
          <p:nvPr/>
        </p:nvGraphicFramePr>
        <p:xfrm>
          <a:off x="548640" y="1691640"/>
          <a:ext cx="3000000" cy="3000000"/>
        </p:xfrm>
        <a:graphic>
          <a:graphicData uri="http://schemas.openxmlformats.org/drawingml/2006/table">
            <a:tbl>
              <a:tblPr bandRow="1" firstRow="1">
                <a:noFill/>
                <a:tableStyleId>{AF987E92-83FC-4B9D-A84D-E1139F2F7CFC}</a:tableStyleId>
              </a:tblPr>
              <a:tblGrid>
                <a:gridCol w="2377475"/>
                <a:gridCol w="1452075"/>
                <a:gridCol w="1452075"/>
                <a:gridCol w="1452075"/>
                <a:gridCol w="1452075"/>
                <a:gridCol w="1452075"/>
                <a:gridCol w="1452075"/>
              </a:tblGrid>
              <a:tr h="525775">
                <a:tc>
                  <a:txBody>
                    <a:bodyPr/>
                    <a:lstStyle/>
                    <a:p>
                      <a:pPr indent="0" lvl="0" marL="0" marR="0" rtl="0" algn="l">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Site</a:t>
                      </a:r>
                      <a:endParaRPr sz="1500"/>
                    </a:p>
                  </a:txBody>
                  <a:tcPr marT="27425" marB="27425" marR="54875" marL="548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Positioning</a:t>
                      </a:r>
                      <a:br>
                        <a:rPr b="1" lang="en-US" sz="1100" u="none" cap="none" strike="noStrike">
                          <a:solidFill>
                            <a:srgbClr val="FFFFFF"/>
                          </a:solidFill>
                          <a:latin typeface="Sora"/>
                          <a:ea typeface="Sora"/>
                          <a:cs typeface="Sora"/>
                          <a:sym typeface="Sora"/>
                        </a:rPr>
                      </a:br>
                      <a:r>
                        <a:rPr b="1" lang="en-US" sz="1100" u="none" cap="none" strike="noStrike">
                          <a:solidFill>
                            <a:srgbClr val="FFFFFF"/>
                          </a:solidFill>
                          <a:latin typeface="Sora"/>
                          <a:ea typeface="Sora"/>
                          <a:cs typeface="Sora"/>
                          <a:sym typeface="Sora"/>
                        </a:rPr>
                        <a:t>statement</a:t>
                      </a:r>
                      <a:endParaRPr sz="1500"/>
                    </a:p>
                  </a:txBody>
                  <a:tcPr marT="27425" marB="27425" marR="54875" marL="548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Segmentation</a:t>
                      </a:r>
                      <a:br>
                        <a:rPr b="1" lang="en-US" sz="1100" u="none" cap="none" strike="noStrike">
                          <a:solidFill>
                            <a:srgbClr val="FFFFFF"/>
                          </a:solidFill>
                          <a:latin typeface="Sora"/>
                          <a:ea typeface="Sora"/>
                          <a:cs typeface="Sora"/>
                          <a:sym typeface="Sora"/>
                        </a:rPr>
                      </a:br>
                      <a:r>
                        <a:rPr b="1" lang="en-US" sz="1100" u="none" cap="none" strike="noStrike">
                          <a:solidFill>
                            <a:srgbClr val="FFFFFF"/>
                          </a:solidFill>
                          <a:latin typeface="Sora"/>
                          <a:ea typeface="Sora"/>
                          <a:cs typeface="Sora"/>
                          <a:sym typeface="Sora"/>
                        </a:rPr>
                        <a:t>picker</a:t>
                      </a:r>
                      <a:endParaRPr sz="1500"/>
                    </a:p>
                  </a:txBody>
                  <a:tcPr marT="27425" marB="27425" marR="54875" marL="548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Search /</a:t>
                      </a:r>
                      <a:br>
                        <a:rPr b="1" lang="en-US" sz="1100" u="none" cap="none" strike="noStrike">
                          <a:solidFill>
                            <a:srgbClr val="FFFFFF"/>
                          </a:solidFill>
                          <a:latin typeface="Sora"/>
                          <a:ea typeface="Sora"/>
                          <a:cs typeface="Sora"/>
                          <a:sym typeface="Sora"/>
                        </a:rPr>
                      </a:br>
                      <a:r>
                        <a:rPr b="1" lang="en-US" sz="1100" u="none" cap="none" strike="noStrike">
                          <a:solidFill>
                            <a:srgbClr val="FFFFFF"/>
                          </a:solidFill>
                          <a:latin typeface="Sora"/>
                          <a:ea typeface="Sora"/>
                          <a:cs typeface="Sora"/>
                          <a:sym typeface="Sora"/>
                        </a:rPr>
                        <a:t>AI assist</a:t>
                      </a:r>
                      <a:endParaRPr sz="1500"/>
                    </a:p>
                  </a:txBody>
                  <a:tcPr marT="27425" marB="27425" marR="54875" marL="548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Named</a:t>
                      </a:r>
                      <a:br>
                        <a:rPr b="1" lang="en-US" sz="1100" u="none" cap="none" strike="noStrike">
                          <a:solidFill>
                            <a:srgbClr val="FFFFFF"/>
                          </a:solidFill>
                          <a:latin typeface="Sora"/>
                          <a:ea typeface="Sora"/>
                          <a:cs typeface="Sora"/>
                          <a:sym typeface="Sora"/>
                        </a:rPr>
                      </a:br>
                      <a:r>
                        <a:rPr b="1" lang="en-US" sz="1100" u="none" cap="none" strike="noStrike">
                          <a:solidFill>
                            <a:srgbClr val="FFFFFF"/>
                          </a:solidFill>
                          <a:latin typeface="Sora"/>
                          <a:ea typeface="Sora"/>
                          <a:cs typeface="Sora"/>
                          <a:sym typeface="Sora"/>
                        </a:rPr>
                        <a:t>proof</a:t>
                      </a:r>
                      <a:endParaRPr sz="1500"/>
                    </a:p>
                  </a:txBody>
                  <a:tcPr marT="27425" marB="27425" marR="54875" marL="548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Campus</a:t>
                      </a:r>
                      <a:br>
                        <a:rPr b="1" lang="en-US" sz="1100" u="none" cap="none" strike="noStrike">
                          <a:solidFill>
                            <a:srgbClr val="FFFFFF"/>
                          </a:solidFill>
                          <a:latin typeface="Sora"/>
                          <a:ea typeface="Sora"/>
                          <a:cs typeface="Sora"/>
                          <a:sym typeface="Sora"/>
                        </a:rPr>
                      </a:br>
                      <a:r>
                        <a:rPr b="1" lang="en-US" sz="1100" u="none" cap="none" strike="noStrike">
                          <a:solidFill>
                            <a:srgbClr val="FFFFFF"/>
                          </a:solidFill>
                          <a:latin typeface="Sora"/>
                          <a:ea typeface="Sora"/>
                          <a:cs typeface="Sora"/>
                          <a:sym typeface="Sora"/>
                        </a:rPr>
                        <a:t>life visual</a:t>
                      </a:r>
                      <a:endParaRPr sz="1500"/>
                    </a:p>
                  </a:txBody>
                  <a:tcPr marT="27425" marB="27425" marR="54875" marL="548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Differentiated</a:t>
                      </a:r>
                      <a:br>
                        <a:rPr b="1" lang="en-US" sz="1100" u="none" cap="none" strike="noStrike">
                          <a:solidFill>
                            <a:srgbClr val="FFFFFF"/>
                          </a:solidFill>
                          <a:latin typeface="Sora"/>
                          <a:ea typeface="Sora"/>
                          <a:cs typeface="Sora"/>
                          <a:sym typeface="Sora"/>
                        </a:rPr>
                      </a:br>
                      <a:r>
                        <a:rPr b="1" lang="en-US" sz="1100" u="none" cap="none" strike="noStrike">
                          <a:solidFill>
                            <a:srgbClr val="FFFFFF"/>
                          </a:solidFill>
                          <a:latin typeface="Sora"/>
                          <a:ea typeface="Sora"/>
                          <a:cs typeface="Sora"/>
                          <a:sym typeface="Sora"/>
                        </a:rPr>
                        <a:t>sticky CTAs</a:t>
                      </a:r>
                      <a:endParaRPr sz="1500"/>
                    </a:p>
                  </a:txBody>
                  <a:tcPr marT="27425" marB="27425" marR="54875" marL="54875" anchor="ctr">
                    <a:solidFill>
                      <a:srgbClr val="0F2C5C"/>
                    </a:solidFill>
                  </a:tcPr>
                </a:tc>
              </a:tr>
              <a:tr h="5257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MREI</a:t>
                      </a:r>
                      <a:endParaRPr sz="1500"/>
                    </a:p>
                  </a:txBody>
                  <a:tcPr marT="27425" marB="27425" marR="54875" marL="54875" anchor="ctr">
                    <a:solidFill>
                      <a:srgbClr val="E8EEF7"/>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E8EEF7"/>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E8EEF7"/>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E8EEF7"/>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E8EEF7"/>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E8EEF7"/>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E8EEF7"/>
                    </a:solidFill>
                  </a:tcPr>
                </a:tc>
              </a:tr>
              <a:tr h="5257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LPU Online</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r>
              <a:tr h="5257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Chandigarh University</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r>
              <a:tr h="5257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Galgotias</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FFFFF"/>
                    </a:solidFill>
                  </a:tcPr>
                </a:tc>
              </a:tr>
              <a:tr h="5257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Amity Online</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r>
              <a:tr h="5257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Sharda</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FFFFF"/>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FFFFF"/>
                    </a:solidFill>
                  </a:tcPr>
                </a:tc>
              </a:tr>
              <a:tr h="5257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Bennett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C9C9C9"/>
                          </a:solidFill>
                          <a:latin typeface="Sora"/>
                          <a:ea typeface="Sora"/>
                          <a:cs typeface="Sora"/>
                          <a:sym typeface="Sora"/>
                        </a:rPr>
                        <a:t>—</a:t>
                      </a:r>
                      <a:endParaRPr sz="1500"/>
                    </a:p>
                  </a:txBody>
                  <a:tcPr marT="27425" marB="27425" marR="54875" marL="54875" anchor="ctr">
                    <a:solidFill>
                      <a:srgbClr val="F7F8FA"/>
                    </a:solidFill>
                  </a:tcPr>
                </a:tc>
                <a:tc>
                  <a:txBody>
                    <a:bodyPr/>
                    <a:lstStyle/>
                    <a:p>
                      <a:pPr indent="0" lvl="0" marL="0" marR="0" rtl="0" algn="ctr">
                        <a:lnSpc>
                          <a:spcPct val="100000"/>
                        </a:lnSpc>
                        <a:spcBef>
                          <a:spcPts val="0"/>
                        </a:spcBef>
                        <a:spcAft>
                          <a:spcPts val="0"/>
                        </a:spcAft>
                        <a:buNone/>
                      </a:pPr>
                      <a:r>
                        <a:rPr b="1" lang="en-US" sz="1500" u="none" cap="none" strike="noStrike">
                          <a:solidFill>
                            <a:srgbClr val="1E7B34"/>
                          </a:solidFill>
                          <a:latin typeface="Sora"/>
                          <a:ea typeface="Sora"/>
                          <a:cs typeface="Sora"/>
                          <a:sym typeface="Sora"/>
                        </a:rPr>
                        <a:t>✓</a:t>
                      </a:r>
                      <a:endParaRPr sz="1500"/>
                    </a:p>
                  </a:txBody>
                  <a:tcPr marT="27425" marB="27425" marR="54875" marL="54875" anchor="ctr">
                    <a:solidFill>
                      <a:srgbClr val="F7F8FA"/>
                    </a:solidFill>
                  </a:tcPr>
                </a:tc>
              </a:tr>
            </a:tbl>
          </a:graphicData>
        </a:graphic>
      </p:graphicFrame>
      <p:sp>
        <p:nvSpPr>
          <p:cNvPr id="902" name="Google Shape;902;p50"/>
          <p:cNvSpPr/>
          <p:nvPr/>
        </p:nvSpPr>
        <p:spPr>
          <a:xfrm>
            <a:off x="548640" y="6053328"/>
            <a:ext cx="11091600" cy="5028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03" name="Google Shape;903;p50"/>
          <p:cNvSpPr txBox="1"/>
          <p:nvPr/>
        </p:nvSpPr>
        <p:spPr>
          <a:xfrm>
            <a:off x="777240" y="6212078"/>
            <a:ext cx="10607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sz="1200" u="none" cap="none" strike="noStrike">
                <a:solidFill>
                  <a:srgbClr val="0F2C5C"/>
                </a:solidFill>
                <a:latin typeface="Sora"/>
                <a:ea typeface="Sora"/>
                <a:cs typeface="Sora"/>
                <a:sym typeface="Sora"/>
              </a:rPr>
              <a:t>MREI already leads on two of six — segmentation and search. Positioning, named proof and differentiated CTAs are open ground.</a:t>
            </a:r>
            <a:endParaRPr sz="1500"/>
          </a:p>
        </p:txBody>
      </p:sp>
      <p:sp>
        <p:nvSpPr>
          <p:cNvPr id="904" name="Rounded Rectangle 903"/>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51"/>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COMPETITIVE BENCHMARKING — HOMEPAGE TEMPLATE</a:t>
            </a:r>
            <a:endParaRPr sz="1500"/>
          </a:p>
        </p:txBody>
      </p:sp>
      <p:sp>
        <p:nvSpPr>
          <p:cNvPr id="909" name="Google Shape;909;p51"/>
          <p:cNvSpPr txBox="1"/>
          <p:nvPr/>
        </p:nvSpPr>
        <p:spPr>
          <a:xfrm>
            <a:off x="548640" y="713232"/>
            <a:ext cx="110643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0F2C5C"/>
                </a:solidFill>
                <a:latin typeface="Sora"/>
                <a:ea typeface="Sora"/>
                <a:cs typeface="Sora"/>
                <a:sym typeface="Sora"/>
              </a:rPr>
              <a:t>Three patterns worth taking a closer look at</a:t>
            </a:r>
            <a:endParaRPr sz="1500"/>
          </a:p>
        </p:txBody>
      </p:sp>
      <p:sp>
        <p:nvSpPr>
          <p:cNvPr id="910" name="Google Shape;910;p51"/>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Observed live on competitor homepages, 21–22 Sept 2026</a:t>
            </a:r>
            <a:endParaRPr sz="1500"/>
          </a:p>
        </p:txBody>
      </p:sp>
      <p:sp>
        <p:nvSpPr>
          <p:cNvPr id="911" name="Google Shape;911;p51"/>
          <p:cNvSpPr/>
          <p:nvPr/>
        </p:nvSpPr>
        <p:spPr>
          <a:xfrm>
            <a:off x="548650" y="1691651"/>
            <a:ext cx="3520500" cy="4793700"/>
          </a:xfrm>
          <a:prstGeom prst="roundRect">
            <a:avLst>
              <a:gd fmla="val 6000" name="adj"/>
            </a:avLst>
          </a:prstGeom>
          <a:solidFill>
            <a:srgbClr val="FFFFFF"/>
          </a:solidFill>
          <a:ln cap="flat" cmpd="sng" w="9525">
            <a:solidFill>
              <a:srgbClr val="E5E0D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12" name="Google Shape;912;p51"/>
          <p:cNvSpPr/>
          <p:nvPr/>
        </p:nvSpPr>
        <p:spPr>
          <a:xfrm>
            <a:off x="777240"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13" name="Google Shape;913;p51"/>
          <p:cNvSpPr txBox="1"/>
          <p:nvPr/>
        </p:nvSpPr>
        <p:spPr>
          <a:xfrm>
            <a:off x="777240" y="1992027"/>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1</a:t>
            </a:r>
            <a:endParaRPr sz="1500"/>
          </a:p>
        </p:txBody>
      </p:sp>
      <p:sp>
        <p:nvSpPr>
          <p:cNvPr id="914" name="Google Shape;914;p51"/>
          <p:cNvSpPr txBox="1"/>
          <p:nvPr/>
        </p:nvSpPr>
        <p:spPr>
          <a:xfrm>
            <a:off x="1417320" y="1874520"/>
            <a:ext cx="24231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Answer the question in the headline</a:t>
            </a:r>
            <a:endParaRPr sz="1500"/>
          </a:p>
        </p:txBody>
      </p:sp>
      <p:sp>
        <p:nvSpPr>
          <p:cNvPr id="915" name="Google Shape;915;p51"/>
          <p:cNvSpPr txBox="1"/>
          <p:nvPr/>
        </p:nvSpPr>
        <p:spPr>
          <a:xfrm>
            <a:off x="777240" y="2583724"/>
            <a:ext cx="3063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CHANDIGARH UNIVERSITY</a:t>
            </a:r>
            <a:endParaRPr sz="1500"/>
          </a:p>
        </p:txBody>
      </p:sp>
      <p:pic>
        <p:nvPicPr>
          <p:cNvPr descr="crop-cu-positioning.png" id="916" name="Google Shape;916;p51"/>
          <p:cNvPicPr preferRelativeResize="0"/>
          <p:nvPr/>
        </p:nvPicPr>
        <p:blipFill rotWithShape="1">
          <a:blip r:embed="rId3">
            <a:alphaModFix/>
          </a:blip>
          <a:srcRect b="0" l="0" r="0" t="0"/>
          <a:stretch/>
        </p:blipFill>
        <p:spPr>
          <a:xfrm>
            <a:off x="777240" y="2953512"/>
            <a:ext cx="2723247" cy="1920238"/>
          </a:xfrm>
          <a:prstGeom prst="rect">
            <a:avLst/>
          </a:prstGeom>
          <a:noFill/>
          <a:ln>
            <a:noFill/>
          </a:ln>
        </p:spPr>
      </p:pic>
      <p:sp>
        <p:nvSpPr>
          <p:cNvPr id="917" name="Google Shape;917;p51"/>
          <p:cNvSpPr txBox="1"/>
          <p:nvPr/>
        </p:nvSpPr>
        <p:spPr>
          <a:xfrm>
            <a:off x="777250" y="5175500"/>
            <a:ext cx="3063300" cy="1185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100" u="none" cap="none" strike="noStrike">
                <a:solidFill>
                  <a:srgbClr val="5A6472"/>
                </a:solidFill>
                <a:latin typeface="Sora"/>
                <a:ea typeface="Sora"/>
                <a:cs typeface="Sora"/>
                <a:sym typeface="Sora"/>
              </a:rPr>
              <a:t>“Best Private University in Punjab (India)” — the H1 answers the shortlister's exact question before any photo or CTA. MREI's institution roots lead with a generic tagline instead.</a:t>
            </a:r>
            <a:endParaRPr sz="1500"/>
          </a:p>
        </p:txBody>
      </p:sp>
      <p:sp>
        <p:nvSpPr>
          <p:cNvPr id="918" name="Google Shape;918;p51"/>
          <p:cNvSpPr/>
          <p:nvPr/>
        </p:nvSpPr>
        <p:spPr>
          <a:xfrm>
            <a:off x="4251968" y="1691651"/>
            <a:ext cx="3520500" cy="4793700"/>
          </a:xfrm>
          <a:prstGeom prst="roundRect">
            <a:avLst>
              <a:gd fmla="val 6000" name="adj"/>
            </a:avLst>
          </a:prstGeom>
          <a:solidFill>
            <a:srgbClr val="FFFFFF"/>
          </a:solidFill>
          <a:ln cap="flat" cmpd="sng" w="9525">
            <a:solidFill>
              <a:srgbClr val="E5E0D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19" name="Google Shape;919;p51"/>
          <p:cNvSpPr/>
          <p:nvPr/>
        </p:nvSpPr>
        <p:spPr>
          <a:xfrm>
            <a:off x="4480559"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20" name="Google Shape;920;p51"/>
          <p:cNvSpPr txBox="1"/>
          <p:nvPr/>
        </p:nvSpPr>
        <p:spPr>
          <a:xfrm>
            <a:off x="4480559" y="1992027"/>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2</a:t>
            </a:r>
            <a:endParaRPr sz="1500"/>
          </a:p>
        </p:txBody>
      </p:sp>
      <p:sp>
        <p:nvSpPr>
          <p:cNvPr id="921" name="Google Shape;921;p51"/>
          <p:cNvSpPr txBox="1"/>
          <p:nvPr/>
        </p:nvSpPr>
        <p:spPr>
          <a:xfrm>
            <a:off x="5120639" y="1874520"/>
            <a:ext cx="24231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Campus life as an interactive tour</a:t>
            </a:r>
            <a:endParaRPr sz="1500"/>
          </a:p>
        </p:txBody>
      </p:sp>
      <p:sp>
        <p:nvSpPr>
          <p:cNvPr id="922" name="Google Shape;922;p51"/>
          <p:cNvSpPr txBox="1"/>
          <p:nvPr/>
        </p:nvSpPr>
        <p:spPr>
          <a:xfrm>
            <a:off x="4480559" y="2583724"/>
            <a:ext cx="3063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GALGOTIAS UNIVERSITY</a:t>
            </a:r>
            <a:endParaRPr sz="1500"/>
          </a:p>
        </p:txBody>
      </p:sp>
      <p:pic>
        <p:nvPicPr>
          <p:cNvPr descr="crop-galgotias-tour.png" id="923" name="Google Shape;923;p51"/>
          <p:cNvPicPr preferRelativeResize="0"/>
          <p:nvPr/>
        </p:nvPicPr>
        <p:blipFill rotWithShape="1">
          <a:blip r:embed="rId4">
            <a:alphaModFix/>
          </a:blip>
          <a:srcRect b="0" l="0" r="0" t="0"/>
          <a:stretch/>
        </p:blipFill>
        <p:spPr>
          <a:xfrm>
            <a:off x="4480559" y="2953512"/>
            <a:ext cx="2604847" cy="1920240"/>
          </a:xfrm>
          <a:prstGeom prst="rect">
            <a:avLst/>
          </a:prstGeom>
          <a:noFill/>
          <a:ln>
            <a:noFill/>
          </a:ln>
        </p:spPr>
      </p:pic>
      <p:sp>
        <p:nvSpPr>
          <p:cNvPr id="924" name="Google Shape;924;p51"/>
          <p:cNvSpPr txBox="1"/>
          <p:nvPr/>
        </p:nvSpPr>
        <p:spPr>
          <a:xfrm>
            <a:off x="4480562" y="5175500"/>
            <a:ext cx="3063300" cy="931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100" u="none" cap="none" strike="noStrike">
                <a:solidFill>
                  <a:srgbClr val="5A6472"/>
                </a:solidFill>
                <a:latin typeface="Sora"/>
                <a:ea typeface="Sora"/>
                <a:cs typeface="Sora"/>
                <a:sym typeface="Sora"/>
              </a:rPr>
              <a:t>A named “Campus Tour” section sits in fold two, with real interior photography — answering “what's it like here” viscerally, not with stock photography.</a:t>
            </a:r>
            <a:endParaRPr sz="1500"/>
          </a:p>
        </p:txBody>
      </p:sp>
      <p:sp>
        <p:nvSpPr>
          <p:cNvPr id="925" name="Google Shape;925;p51"/>
          <p:cNvSpPr/>
          <p:nvPr/>
        </p:nvSpPr>
        <p:spPr>
          <a:xfrm>
            <a:off x="7955286" y="1691651"/>
            <a:ext cx="3520500" cy="4793700"/>
          </a:xfrm>
          <a:prstGeom prst="roundRect">
            <a:avLst>
              <a:gd fmla="val 6000" name="adj"/>
            </a:avLst>
          </a:prstGeom>
          <a:solidFill>
            <a:srgbClr val="FFFFFF"/>
          </a:solidFill>
          <a:ln cap="flat" cmpd="sng" w="9525">
            <a:solidFill>
              <a:srgbClr val="E5E0D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26" name="Google Shape;926;p51"/>
          <p:cNvSpPr/>
          <p:nvPr/>
        </p:nvSpPr>
        <p:spPr>
          <a:xfrm>
            <a:off x="8183879" y="1892808"/>
            <a:ext cx="457200" cy="457200"/>
          </a:xfrm>
          <a:prstGeom prst="ellipse">
            <a:avLst/>
          </a:prstGeom>
          <a:solidFill>
            <a:srgbClr val="C8102E"/>
          </a:solidFill>
          <a:ln cap="flat" cmpd="sng" w="190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927" name="Google Shape;927;p51"/>
          <p:cNvSpPr txBox="1"/>
          <p:nvPr/>
        </p:nvSpPr>
        <p:spPr>
          <a:xfrm>
            <a:off x="8183879" y="1992027"/>
            <a:ext cx="457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Sora"/>
                <a:ea typeface="Sora"/>
                <a:cs typeface="Sora"/>
                <a:sym typeface="Sora"/>
              </a:rPr>
              <a:t>3</a:t>
            </a:r>
            <a:endParaRPr sz="1500"/>
          </a:p>
        </p:txBody>
      </p:sp>
      <p:sp>
        <p:nvSpPr>
          <p:cNvPr id="928" name="Google Shape;928;p51"/>
          <p:cNvSpPr txBox="1"/>
          <p:nvPr/>
        </p:nvSpPr>
        <p:spPr>
          <a:xfrm>
            <a:off x="8823959" y="1874520"/>
            <a:ext cx="24231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2C5C"/>
                </a:solidFill>
                <a:latin typeface="Sora"/>
                <a:ea typeface="Sora"/>
                <a:cs typeface="Sora"/>
                <a:sym typeface="Sora"/>
              </a:rPr>
              <a:t>Proof tied to a name and an employer</a:t>
            </a:r>
            <a:endParaRPr sz="1500"/>
          </a:p>
        </p:txBody>
      </p:sp>
      <p:sp>
        <p:nvSpPr>
          <p:cNvPr id="929" name="Google Shape;929;p51"/>
          <p:cNvSpPr txBox="1"/>
          <p:nvPr/>
        </p:nvSpPr>
        <p:spPr>
          <a:xfrm>
            <a:off x="8183879" y="2583724"/>
            <a:ext cx="3063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C8102E"/>
                </a:solidFill>
                <a:latin typeface="Sora"/>
                <a:ea typeface="Sora"/>
                <a:cs typeface="Sora"/>
                <a:sym typeface="Sora"/>
              </a:rPr>
              <a:t>SHARDA UNIVERSITY</a:t>
            </a:r>
            <a:endParaRPr sz="1500"/>
          </a:p>
        </p:txBody>
      </p:sp>
      <p:pic>
        <p:nvPicPr>
          <p:cNvPr descr="crop-sharda-alumni.png" id="930" name="Google Shape;930;p51"/>
          <p:cNvPicPr preferRelativeResize="0"/>
          <p:nvPr/>
        </p:nvPicPr>
        <p:blipFill rotWithShape="1">
          <a:blip r:embed="rId5">
            <a:alphaModFix/>
          </a:blip>
          <a:srcRect b="0" l="26627" r="0" t="0"/>
          <a:stretch/>
        </p:blipFill>
        <p:spPr>
          <a:xfrm>
            <a:off x="8105696" y="3123600"/>
            <a:ext cx="3181727" cy="1556600"/>
          </a:xfrm>
          <a:prstGeom prst="rect">
            <a:avLst/>
          </a:prstGeom>
          <a:noFill/>
          <a:ln>
            <a:noFill/>
          </a:ln>
        </p:spPr>
      </p:pic>
      <p:sp>
        <p:nvSpPr>
          <p:cNvPr id="931" name="Google Shape;931;p51"/>
          <p:cNvSpPr txBox="1"/>
          <p:nvPr/>
        </p:nvSpPr>
        <p:spPr>
          <a:xfrm>
            <a:off x="8183875" y="5175500"/>
            <a:ext cx="3063300" cy="1185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100" u="none" cap="none" strike="noStrike">
                <a:solidFill>
                  <a:srgbClr val="5A6472"/>
                </a:solidFill>
                <a:latin typeface="Sora"/>
                <a:ea typeface="Sora"/>
                <a:cs typeface="Sora"/>
                <a:sym typeface="Sora"/>
              </a:rPr>
              <a:t>“Star Alumni” cards pair a real graduate's name with the company logo they now work at (NVIDIA, Microsoft, Amazon) — outcome proof in one glance, no rankings PDF required.</a:t>
            </a:r>
            <a:endParaRPr sz="1500"/>
          </a:p>
        </p:txBody>
      </p:sp>
      <p:sp>
        <p:nvSpPr>
          <p:cNvPr id="932" name="Rounded Rectangle 931"/>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F2C5C"/>
        </a:solidFill>
        <a:effectLst/>
      </p:bgPr>
    </p:bg>
    <p:spTree>
      <p:nvGrpSpPr>
        <p:cNvPr id="1" name=""/>
        <p:cNvGrpSpPr/>
        <p:nvPr/>
      </p:nvGrpSpPr>
      <p:grpSpPr/>
      <p:sp>
        <p:nvSpPr>
          <p:cNvPr id="2" name="TextBox 1"/>
          <p:cNvSpPr txBox="1"/>
          <p:nvPr/>
        </p:nvSpPr>
        <p:spPr>
          <a:xfrm>
            <a:off x="822960" y="2514600"/>
            <a:ext cx="2743200" cy="457200"/>
          </a:xfrm>
          <a:prstGeom prst="rect">
            <a:avLst/>
          </a:prstGeom>
          <a:noFill/>
        </p:spPr>
        <p:txBody>
          <a:bodyPr wrap="square" lIns="0" rIns="0" tIns="0" bIns="0" anchor="t">
            <a:spAutoFit/>
          </a:bodyPr>
          <a:lstStyle/>
          <a:p>
            <a:pPr algn="l"/>
            <a:r>
              <a:rPr sz="1600" b="1" i="0">
                <a:solidFill>
                  <a:srgbClr val="C8102E"/>
                </a:solidFill>
                <a:latin typeface="Sora"/>
              </a:rPr>
              <a:t>07</a:t>
            </a:r>
          </a:p>
        </p:txBody>
      </p:sp>
      <p:sp>
        <p:nvSpPr>
          <p:cNvPr id="3" name="TextBox 2"/>
          <p:cNvSpPr txBox="1"/>
          <p:nvPr/>
        </p:nvSpPr>
        <p:spPr>
          <a:xfrm>
            <a:off x="822960" y="2926080"/>
            <a:ext cx="10058400" cy="731520"/>
          </a:xfrm>
          <a:prstGeom prst="rect">
            <a:avLst/>
          </a:prstGeom>
          <a:noFill/>
        </p:spPr>
        <p:txBody>
          <a:bodyPr wrap="square" lIns="0" rIns="0" tIns="0" bIns="0" anchor="t">
            <a:spAutoFit/>
          </a:bodyPr>
          <a:lstStyle/>
          <a:p>
            <a:pPr algn="l"/>
            <a:r>
              <a:rPr sz="3400" b="1" i="0">
                <a:solidFill>
                  <a:srgbClr val="FFFFFF"/>
                </a:solidFill>
                <a:latin typeface="Sora"/>
              </a:rPr>
              <a:t>Experimentation</a:t>
            </a:r>
          </a:p>
        </p:txBody>
      </p:sp>
      <p:sp>
        <p:nvSpPr>
          <p:cNvPr id="4" name="TextBox 3"/>
          <p:cNvSpPr txBox="1"/>
          <p:nvPr/>
        </p:nvSpPr>
        <p:spPr>
          <a:xfrm>
            <a:off x="822960" y="3703320"/>
            <a:ext cx="9601200" cy="548640"/>
          </a:xfrm>
          <a:prstGeom prst="rect">
            <a:avLst/>
          </a:prstGeom>
          <a:noFill/>
        </p:spPr>
        <p:txBody>
          <a:bodyPr wrap="square" lIns="0" rIns="0" tIns="0" bIns="0" anchor="t">
            <a:spAutoFit/>
          </a:bodyPr>
          <a:lstStyle/>
          <a:p>
            <a:pPr algn="l"/>
            <a:r>
              <a:rPr sz="1400" b="0" i="0">
                <a:solidFill>
                  <a:srgbClr val="CADCFC"/>
                </a:solidFill>
                <a:latin typeface="Sora"/>
              </a:rPr>
              <a:t>Fix what is broken, measure what matters, then test.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EXPERIMENTATION  ·  PHASE 0</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Fix before testing: verified defects and missing measurement</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These are not hypotheses. Testing on top of them would measure the defects, not the ideas</a:t>
            </a:r>
          </a:p>
        </p:txBody>
      </p:sp>
      <p:sp>
        <p:nvSpPr>
          <p:cNvPr id="5" name="TextBox 4"/>
          <p:cNvSpPr txBox="1"/>
          <p:nvPr/>
        </p:nvSpPr>
        <p:spPr>
          <a:xfrm>
            <a:off x="548640" y="1508760"/>
            <a:ext cx="5394960" cy="182880"/>
          </a:xfrm>
          <a:prstGeom prst="rect">
            <a:avLst/>
          </a:prstGeom>
          <a:noFill/>
        </p:spPr>
        <p:txBody>
          <a:bodyPr wrap="square" lIns="0" rIns="0" tIns="0" bIns="0" anchor="t">
            <a:spAutoFit/>
          </a:bodyPr>
          <a:lstStyle/>
          <a:p>
            <a:pPr algn="l"/>
            <a:r>
              <a:rPr sz="900" b="1" i="0">
                <a:solidFill>
                  <a:srgbClr val="C8102E"/>
                </a:solidFill>
                <a:latin typeface="Sora"/>
              </a:rPr>
              <a:t>VERIFIED DEFECTS — FIX, DON’T TEST</a:t>
            </a:r>
          </a:p>
        </p:txBody>
      </p:sp>
      <p:sp>
        <p:nvSpPr>
          <p:cNvPr id="6" name="Rounded Rectangle 5"/>
          <p:cNvSpPr/>
          <p:nvPr/>
        </p:nvSpPr>
        <p:spPr>
          <a:xfrm>
            <a:off x="548640" y="1783080"/>
            <a:ext cx="5394960" cy="82296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5029200" cy="228600"/>
          </a:xfrm>
          <a:prstGeom prst="rect">
            <a:avLst/>
          </a:prstGeom>
          <a:noFill/>
        </p:spPr>
        <p:txBody>
          <a:bodyPr wrap="square" lIns="0" rIns="0" tIns="0" bIns="0" anchor="t">
            <a:spAutoFit/>
          </a:bodyPr>
          <a:lstStyle/>
          <a:p>
            <a:pPr algn="l"/>
            <a:r>
              <a:rPr sz="1050" b="1" i="0">
                <a:solidFill>
                  <a:srgbClr val="0F2C5C"/>
                </a:solidFill>
                <a:latin typeface="Sora"/>
              </a:rPr>
              <a:t>Fee Calculator → homepage</a:t>
            </a:r>
          </a:p>
        </p:txBody>
      </p:sp>
      <p:sp>
        <p:nvSpPr>
          <p:cNvPr id="8" name="TextBox 7"/>
          <p:cNvSpPr txBox="1"/>
          <p:nvPr/>
        </p:nvSpPr>
        <p:spPr>
          <a:xfrm>
            <a:off x="731520" y="2148840"/>
            <a:ext cx="5029200" cy="411480"/>
          </a:xfrm>
          <a:prstGeom prst="rect">
            <a:avLst/>
          </a:prstGeom>
          <a:noFill/>
        </p:spPr>
        <p:txBody>
          <a:bodyPr wrap="square" lIns="0" rIns="0" tIns="0" bIns="0" anchor="t">
            <a:spAutoFit/>
          </a:bodyPr>
          <a:lstStyle/>
          <a:p>
            <a:pPr algn="l"/>
            <a:r>
              <a:rPr sz="900" b="0" i="0">
                <a:solidFill>
                  <a:srgbClr val="5A6472"/>
                </a:solidFill>
                <a:latin typeface="Sora"/>
              </a:rPr>
              <a:t>Restore the calculator or remove the four links.</a:t>
            </a:r>
          </a:p>
        </p:txBody>
      </p:sp>
      <p:sp>
        <p:nvSpPr>
          <p:cNvPr id="9" name="Rounded Rectangle 8"/>
          <p:cNvSpPr/>
          <p:nvPr/>
        </p:nvSpPr>
        <p:spPr>
          <a:xfrm>
            <a:off x="548640" y="2688336"/>
            <a:ext cx="5394960" cy="82296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779776"/>
            <a:ext cx="5029200" cy="228600"/>
          </a:xfrm>
          <a:prstGeom prst="rect">
            <a:avLst/>
          </a:prstGeom>
          <a:noFill/>
        </p:spPr>
        <p:txBody>
          <a:bodyPr wrap="square" lIns="0" rIns="0" tIns="0" bIns="0" anchor="t">
            <a:spAutoFit/>
          </a:bodyPr>
          <a:lstStyle/>
          <a:p>
            <a:pPr algn="l"/>
            <a:r>
              <a:rPr sz="1050" b="1" i="0">
                <a:solidFill>
                  <a:srgbClr val="0F2C5C"/>
                </a:solidFill>
                <a:latin typeface="Sora"/>
              </a:rPr>
              <a:t>Fee search returns unrelated rows</a:t>
            </a:r>
          </a:p>
        </p:txBody>
      </p:sp>
      <p:sp>
        <p:nvSpPr>
          <p:cNvPr id="11" name="TextBox 10"/>
          <p:cNvSpPr txBox="1"/>
          <p:nvPr/>
        </p:nvSpPr>
        <p:spPr>
          <a:xfrm>
            <a:off x="731520" y="3054096"/>
            <a:ext cx="5029200" cy="411480"/>
          </a:xfrm>
          <a:prstGeom prst="rect">
            <a:avLst/>
          </a:prstGeom>
          <a:noFill/>
        </p:spPr>
        <p:txBody>
          <a:bodyPr wrap="square" lIns="0" rIns="0" tIns="0" bIns="0" anchor="t">
            <a:spAutoFit/>
          </a:bodyPr>
          <a:lstStyle/>
          <a:p>
            <a:pPr algn="l"/>
            <a:r>
              <a:rPr sz="900" b="0" i="0">
                <a:solidFill>
                  <a:srgbClr val="5A6472"/>
                </a:solidFill>
                <a:latin typeface="Sora"/>
              </a:rPr>
              <a:t>Filter per row, not per school group; add synonyms (“CSE” should also match “Computer Science”).</a:t>
            </a:r>
          </a:p>
        </p:txBody>
      </p:sp>
      <p:sp>
        <p:nvSpPr>
          <p:cNvPr id="12" name="Rounded Rectangle 11"/>
          <p:cNvSpPr/>
          <p:nvPr/>
        </p:nvSpPr>
        <p:spPr>
          <a:xfrm>
            <a:off x="548640" y="3593591"/>
            <a:ext cx="5394960" cy="82296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685031"/>
            <a:ext cx="5029200" cy="228600"/>
          </a:xfrm>
          <a:prstGeom prst="rect">
            <a:avLst/>
          </a:prstGeom>
          <a:noFill/>
        </p:spPr>
        <p:txBody>
          <a:bodyPr wrap="square" lIns="0" rIns="0" tIns="0" bIns="0" anchor="t">
            <a:spAutoFit/>
          </a:bodyPr>
          <a:lstStyle/>
          <a:p>
            <a:pPr algn="l"/>
            <a:r>
              <a:rPr sz="1050" b="1" i="0">
                <a:solidFill>
                  <a:srgbClr val="0F2C5C"/>
                </a:solidFill>
                <a:latin typeface="Sora"/>
              </a:rPr>
              <a:t>Session-year conflict</a:t>
            </a:r>
          </a:p>
        </p:txBody>
      </p:sp>
      <p:sp>
        <p:nvSpPr>
          <p:cNvPr id="14" name="TextBox 13"/>
          <p:cNvSpPr txBox="1"/>
          <p:nvPr/>
        </p:nvSpPr>
        <p:spPr>
          <a:xfrm>
            <a:off x="731520" y="3959352"/>
            <a:ext cx="5029200" cy="411480"/>
          </a:xfrm>
          <a:prstGeom prst="rect">
            <a:avLst/>
          </a:prstGeom>
          <a:noFill/>
        </p:spPr>
        <p:txBody>
          <a:bodyPr wrap="square" lIns="0" rIns="0" tIns="0" bIns="0" anchor="t">
            <a:spAutoFit/>
          </a:bodyPr>
          <a:lstStyle/>
          <a:p>
            <a:pPr algn="l"/>
            <a:r>
              <a:rPr sz="900" b="0" i="0">
                <a:solidFill>
                  <a:srgbClr val="5A6472"/>
                </a:solidFill>
                <a:latin typeface="Sora"/>
              </a:rPr>
              <a:t>One admissions year per page context: top bar, banners, fee table.</a:t>
            </a:r>
          </a:p>
        </p:txBody>
      </p:sp>
      <p:sp>
        <p:nvSpPr>
          <p:cNvPr id="15" name="Rounded Rectangle 14"/>
          <p:cNvSpPr/>
          <p:nvPr/>
        </p:nvSpPr>
        <p:spPr>
          <a:xfrm>
            <a:off x="548640" y="4498848"/>
            <a:ext cx="5394960" cy="82296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590288"/>
            <a:ext cx="5029200" cy="228600"/>
          </a:xfrm>
          <a:prstGeom prst="rect">
            <a:avLst/>
          </a:prstGeom>
          <a:noFill/>
        </p:spPr>
        <p:txBody>
          <a:bodyPr wrap="square" lIns="0" rIns="0" tIns="0" bIns="0" anchor="t">
            <a:spAutoFit/>
          </a:bodyPr>
          <a:lstStyle/>
          <a:p>
            <a:pPr algn="l"/>
            <a:r>
              <a:rPr sz="1050" b="1" i="0">
                <a:solidFill>
                  <a:srgbClr val="0F2C5C"/>
                </a:solidFill>
                <a:latin typeface="Sora"/>
              </a:rPr>
              <a:t>Enquire tab clips content</a:t>
            </a:r>
          </a:p>
        </p:txBody>
      </p:sp>
      <p:sp>
        <p:nvSpPr>
          <p:cNvPr id="17" name="TextBox 16"/>
          <p:cNvSpPr txBox="1"/>
          <p:nvPr/>
        </p:nvSpPr>
        <p:spPr>
          <a:xfrm>
            <a:off x="731520" y="4864608"/>
            <a:ext cx="5029200" cy="411480"/>
          </a:xfrm>
          <a:prstGeom prst="rect">
            <a:avLst/>
          </a:prstGeom>
          <a:noFill/>
        </p:spPr>
        <p:txBody>
          <a:bodyPr wrap="square" lIns="0" rIns="0" tIns="0" bIns="0" anchor="t">
            <a:spAutoFit/>
          </a:bodyPr>
          <a:lstStyle/>
          <a:p>
            <a:pPr algn="l"/>
            <a:r>
              <a:rPr sz="900" b="0" i="0">
                <a:solidFill>
                  <a:srgbClr val="5A6472"/>
                </a:solidFill>
                <a:latin typeface="Sora"/>
              </a:rPr>
              <a:t>Reposition so it never covers headings, tab bars or fee values.</a:t>
            </a:r>
          </a:p>
        </p:txBody>
      </p:sp>
      <p:sp>
        <p:nvSpPr>
          <p:cNvPr id="18" name="Rounded Rectangle 17"/>
          <p:cNvSpPr/>
          <p:nvPr/>
        </p:nvSpPr>
        <p:spPr>
          <a:xfrm>
            <a:off x="548640" y="5404104"/>
            <a:ext cx="5394960" cy="82296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495544"/>
            <a:ext cx="5029200" cy="228600"/>
          </a:xfrm>
          <a:prstGeom prst="rect">
            <a:avLst/>
          </a:prstGeom>
          <a:noFill/>
        </p:spPr>
        <p:txBody>
          <a:bodyPr wrap="square" lIns="0" rIns="0" tIns="0" bIns="0" anchor="t">
            <a:spAutoFit/>
          </a:bodyPr>
          <a:lstStyle/>
          <a:p>
            <a:pPr algn="l"/>
            <a:r>
              <a:rPr sz="1050" b="1" i="0">
                <a:solidFill>
                  <a:srgbClr val="0F2C5C"/>
                </a:solidFill>
                <a:latin typeface="Sora"/>
              </a:rPr>
              <a:t>Proof claims</a:t>
            </a:r>
          </a:p>
        </p:txBody>
      </p:sp>
      <p:sp>
        <p:nvSpPr>
          <p:cNvPr id="20" name="TextBox 19"/>
          <p:cNvSpPr txBox="1"/>
          <p:nvPr/>
        </p:nvSpPr>
        <p:spPr>
          <a:xfrm>
            <a:off x="731520" y="5769864"/>
            <a:ext cx="5029200" cy="411480"/>
          </a:xfrm>
          <a:prstGeom prst="rect">
            <a:avLst/>
          </a:prstGeom>
          <a:noFill/>
        </p:spPr>
        <p:txBody>
          <a:bodyPr wrap="square" lIns="0" rIns="0" tIns="0" bIns="0" anchor="t">
            <a:spAutoFit/>
          </a:bodyPr>
          <a:lstStyle/>
          <a:p>
            <a:pPr algn="l"/>
            <a:r>
              <a:rPr sz="900" b="0" i="0">
                <a:solidFill>
                  <a:srgbClr val="5A6472"/>
                </a:solidFill>
                <a:latin typeface="Sora"/>
              </a:rPr>
              <a:t>Reconcile NIRF year, NAAC grade per institution, 60 LPA scope, 95% rate.</a:t>
            </a:r>
          </a:p>
        </p:txBody>
      </p:sp>
      <p:sp>
        <p:nvSpPr>
          <p:cNvPr id="21" name="TextBox 20"/>
          <p:cNvSpPr txBox="1"/>
          <p:nvPr/>
        </p:nvSpPr>
        <p:spPr>
          <a:xfrm>
            <a:off x="6217920" y="1508760"/>
            <a:ext cx="5394960" cy="182880"/>
          </a:xfrm>
          <a:prstGeom prst="rect">
            <a:avLst/>
          </a:prstGeom>
          <a:noFill/>
        </p:spPr>
        <p:txBody>
          <a:bodyPr wrap="square" lIns="0" rIns="0" tIns="0" bIns="0" anchor="t">
            <a:spAutoFit/>
          </a:bodyPr>
          <a:lstStyle/>
          <a:p>
            <a:pPr algn="l"/>
            <a:r>
              <a:rPr sz="900" b="1" i="0">
                <a:solidFill>
                  <a:srgbClr val="0F2C5C"/>
                </a:solidFill>
                <a:latin typeface="Sora"/>
              </a:rPr>
              <a:t>MEASUREMENT TO ADD — SO THE KPIs EXIST</a:t>
            </a:r>
          </a:p>
        </p:txBody>
      </p:sp>
      <p:sp>
        <p:nvSpPr>
          <p:cNvPr id="22" name="Rounded Rectangle 21"/>
          <p:cNvSpPr/>
          <p:nvPr/>
        </p:nvSpPr>
        <p:spPr>
          <a:xfrm>
            <a:off x="6217920" y="1783080"/>
            <a:ext cx="539496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1856231"/>
            <a:ext cx="5029200" cy="228600"/>
          </a:xfrm>
          <a:prstGeom prst="rect">
            <a:avLst/>
          </a:prstGeom>
          <a:noFill/>
        </p:spPr>
        <p:txBody>
          <a:bodyPr wrap="square" lIns="0" rIns="0" tIns="0" bIns="0" anchor="t">
            <a:spAutoFit/>
          </a:bodyPr>
          <a:lstStyle/>
          <a:p>
            <a:pPr algn="l"/>
            <a:r>
              <a:rPr sz="1000" b="1" i="0">
                <a:solidFill>
                  <a:srgbClr val="0F2C5C"/>
                </a:solidFill>
                <a:latin typeface="Sora"/>
              </a:rPr>
              <a:t>generate_lead</a:t>
            </a:r>
          </a:p>
        </p:txBody>
      </p:sp>
      <p:sp>
        <p:nvSpPr>
          <p:cNvPr id="24" name="TextBox 23"/>
          <p:cNvSpPr txBox="1"/>
          <p:nvPr/>
        </p:nvSpPr>
        <p:spPr>
          <a:xfrm>
            <a:off x="6400800" y="2112264"/>
            <a:ext cx="5029200" cy="365760"/>
          </a:xfrm>
          <a:prstGeom prst="rect">
            <a:avLst/>
          </a:prstGeom>
          <a:noFill/>
        </p:spPr>
        <p:txBody>
          <a:bodyPr wrap="square" lIns="0" rIns="0" tIns="0" bIns="0" anchor="t">
            <a:spAutoFit/>
          </a:bodyPr>
          <a:lstStyle/>
          <a:p>
            <a:pPr algn="l"/>
            <a:r>
              <a:rPr sz="850" b="0" i="0">
                <a:solidFill>
                  <a:srgbClr val="5A6472"/>
                </a:solidFill>
                <a:latin typeface="Sora"/>
              </a:rPr>
              <a:t>On confirmed form success (NoPaperForms widget), not on any form submit.</a:t>
            </a:r>
          </a:p>
        </p:txBody>
      </p:sp>
      <p:sp>
        <p:nvSpPr>
          <p:cNvPr id="25" name="Rounded Rectangle 24"/>
          <p:cNvSpPr/>
          <p:nvPr/>
        </p:nvSpPr>
        <p:spPr>
          <a:xfrm>
            <a:off x="6217920" y="2542032"/>
            <a:ext cx="539496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2615184"/>
            <a:ext cx="5029200" cy="228600"/>
          </a:xfrm>
          <a:prstGeom prst="rect">
            <a:avLst/>
          </a:prstGeom>
          <a:noFill/>
        </p:spPr>
        <p:txBody>
          <a:bodyPr wrap="square" lIns="0" rIns="0" tIns="0" bIns="0" anchor="t">
            <a:spAutoFit/>
          </a:bodyPr>
          <a:lstStyle/>
          <a:p>
            <a:pPr algn="l"/>
            <a:r>
              <a:rPr sz="1000" b="1" i="0">
                <a:solidFill>
                  <a:srgbClr val="0F2C5C"/>
                </a:solidFill>
                <a:latin typeface="Sora"/>
              </a:rPr>
              <a:t>phone_click (unified)</a:t>
            </a:r>
          </a:p>
        </p:txBody>
      </p:sp>
      <p:sp>
        <p:nvSpPr>
          <p:cNvPr id="27" name="TextBox 26"/>
          <p:cNvSpPr txBox="1"/>
          <p:nvPr/>
        </p:nvSpPr>
        <p:spPr>
          <a:xfrm>
            <a:off x="6400800" y="2871215"/>
            <a:ext cx="5029200" cy="365760"/>
          </a:xfrm>
          <a:prstGeom prst="rect">
            <a:avLst/>
          </a:prstGeom>
          <a:noFill/>
        </p:spPr>
        <p:txBody>
          <a:bodyPr wrap="square" lIns="0" rIns="0" tIns="0" bIns="0" anchor="t">
            <a:spAutoFit/>
          </a:bodyPr>
          <a:lstStyle/>
          <a:p>
            <a:pPr algn="l"/>
            <a:r>
              <a:rPr sz="850" b="0" i="0">
                <a:solidFill>
                  <a:srgbClr val="5A6472"/>
                </a:solidFill>
                <a:latin typeface="Sora"/>
              </a:rPr>
              <a:t>One event with page_type + number, replacing four Number_* events.</a:t>
            </a:r>
          </a:p>
        </p:txBody>
      </p:sp>
      <p:sp>
        <p:nvSpPr>
          <p:cNvPr id="28" name="Rounded Rectangle 27"/>
          <p:cNvSpPr/>
          <p:nvPr/>
        </p:nvSpPr>
        <p:spPr>
          <a:xfrm>
            <a:off x="6217920" y="3300984"/>
            <a:ext cx="539496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374136"/>
            <a:ext cx="5029200" cy="228600"/>
          </a:xfrm>
          <a:prstGeom prst="rect">
            <a:avLst/>
          </a:prstGeom>
          <a:noFill/>
        </p:spPr>
        <p:txBody>
          <a:bodyPr wrap="square" lIns="0" rIns="0" tIns="0" bIns="0" anchor="t">
            <a:spAutoFit/>
          </a:bodyPr>
          <a:lstStyle/>
          <a:p>
            <a:pPr algn="l"/>
            <a:r>
              <a:rPr sz="1000" b="1" i="0">
                <a:solidFill>
                  <a:srgbClr val="0F2C5C"/>
                </a:solidFill>
                <a:latin typeface="Sora"/>
              </a:rPr>
              <a:t>fee_search · fee_calculator_click</a:t>
            </a:r>
          </a:p>
        </p:txBody>
      </p:sp>
      <p:sp>
        <p:nvSpPr>
          <p:cNvPr id="30" name="TextBox 29"/>
          <p:cNvSpPr txBox="1"/>
          <p:nvPr/>
        </p:nvSpPr>
        <p:spPr>
          <a:xfrm>
            <a:off x="6400800" y="3630168"/>
            <a:ext cx="5029200" cy="365760"/>
          </a:xfrm>
          <a:prstGeom prst="rect">
            <a:avLst/>
          </a:prstGeom>
          <a:noFill/>
        </p:spPr>
        <p:txBody>
          <a:bodyPr wrap="square" lIns="0" rIns="0" tIns="0" bIns="0" anchor="t">
            <a:spAutoFit/>
          </a:bodyPr>
          <a:lstStyle/>
          <a:p>
            <a:pPr algn="l"/>
            <a:r>
              <a:rPr sz="850" b="0" i="0">
                <a:solidFill>
                  <a:srgbClr val="5A6472"/>
                </a:solidFill>
                <a:latin typeface="Sora"/>
              </a:rPr>
              <a:t>Make the fee page’s own tools visible.</a:t>
            </a:r>
          </a:p>
        </p:txBody>
      </p:sp>
      <p:sp>
        <p:nvSpPr>
          <p:cNvPr id="31" name="Rounded Rectangle 30"/>
          <p:cNvSpPr/>
          <p:nvPr/>
        </p:nvSpPr>
        <p:spPr>
          <a:xfrm>
            <a:off x="6217920" y="4059935"/>
            <a:ext cx="539496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4133087"/>
            <a:ext cx="5029200" cy="228600"/>
          </a:xfrm>
          <a:prstGeom prst="rect">
            <a:avLst/>
          </a:prstGeom>
          <a:noFill/>
        </p:spPr>
        <p:txBody>
          <a:bodyPr wrap="square" lIns="0" rIns="0" tIns="0" bIns="0" anchor="t">
            <a:spAutoFit/>
          </a:bodyPr>
          <a:lstStyle/>
          <a:p>
            <a:pPr algn="l"/>
            <a:r>
              <a:rPr sz="1000" b="1" i="0">
                <a:solidFill>
                  <a:srgbClr val="0F2C5C"/>
                </a:solidFill>
                <a:latin typeface="Sora"/>
              </a:rPr>
              <a:t>brochure_request vs file_download</a:t>
            </a:r>
          </a:p>
        </p:txBody>
      </p:sp>
      <p:sp>
        <p:nvSpPr>
          <p:cNvPr id="33" name="TextBox 32"/>
          <p:cNvSpPr txBox="1"/>
          <p:nvPr/>
        </p:nvSpPr>
        <p:spPr>
          <a:xfrm>
            <a:off x="6400800" y="4389120"/>
            <a:ext cx="5029200" cy="365760"/>
          </a:xfrm>
          <a:prstGeom prst="rect">
            <a:avLst/>
          </a:prstGeom>
          <a:noFill/>
        </p:spPr>
        <p:txBody>
          <a:bodyPr wrap="square" lIns="0" rIns="0" tIns="0" bIns="0" anchor="t">
            <a:spAutoFit/>
          </a:bodyPr>
          <a:lstStyle/>
          <a:p>
            <a:pPr algn="l"/>
            <a:r>
              <a:rPr sz="850" b="0" i="0">
                <a:solidFill>
                  <a:srgbClr val="5A6472"/>
                </a:solidFill>
                <a:latin typeface="Sora"/>
              </a:rPr>
              <a:t>Separate brochure intent from any file download.</a:t>
            </a:r>
          </a:p>
        </p:txBody>
      </p:sp>
      <p:sp>
        <p:nvSpPr>
          <p:cNvPr id="34" name="Rounded Rectangle 33"/>
          <p:cNvSpPr/>
          <p:nvPr/>
        </p:nvSpPr>
        <p:spPr>
          <a:xfrm>
            <a:off x="6217920" y="4818888"/>
            <a:ext cx="539496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892040"/>
            <a:ext cx="5029200" cy="228600"/>
          </a:xfrm>
          <a:prstGeom prst="rect">
            <a:avLst/>
          </a:prstGeom>
          <a:noFill/>
        </p:spPr>
        <p:txBody>
          <a:bodyPr wrap="square" lIns="0" rIns="0" tIns="0" bIns="0" anchor="t">
            <a:spAutoFit/>
          </a:bodyPr>
          <a:lstStyle/>
          <a:p>
            <a:pPr algn="l"/>
            <a:r>
              <a:rPr sz="1000" b="1" i="0">
                <a:solidFill>
                  <a:srgbClr val="0F2C5C"/>
                </a:solidFill>
                <a:latin typeface="Sora"/>
              </a:rPr>
              <a:t>GMB clicks · shortlist</a:t>
            </a:r>
          </a:p>
        </p:txBody>
      </p:sp>
      <p:sp>
        <p:nvSpPr>
          <p:cNvPr id="36" name="TextBox 35"/>
          <p:cNvSpPr txBox="1"/>
          <p:nvPr/>
        </p:nvSpPr>
        <p:spPr>
          <a:xfrm>
            <a:off x="6400800" y="5148072"/>
            <a:ext cx="5029200" cy="365760"/>
          </a:xfrm>
          <a:prstGeom prst="rect">
            <a:avLst/>
          </a:prstGeom>
          <a:noFill/>
        </p:spPr>
        <p:txBody>
          <a:bodyPr wrap="square" lIns="0" rIns="0" tIns="0" bIns="0" anchor="t">
            <a:spAutoFit/>
          </a:bodyPr>
          <a:lstStyle/>
          <a:p>
            <a:pPr algn="l"/>
            <a:r>
              <a:rPr sz="850" b="0" i="0">
                <a:solidFill>
                  <a:srgbClr val="5A6472"/>
                </a:solidFill>
                <a:latin typeface="Sora"/>
              </a:rPr>
              <a:t>GMB from Google Business Profile Insights; shortlist only if the feature is built.</a:t>
            </a:r>
          </a:p>
        </p:txBody>
      </p:sp>
      <p:sp>
        <p:nvSpPr>
          <p:cNvPr id="37" name="Rounded Rectangle 36"/>
          <p:cNvSpPr/>
          <p:nvPr/>
        </p:nvSpPr>
        <p:spPr>
          <a:xfrm>
            <a:off x="6217920" y="5577840"/>
            <a:ext cx="539496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5650992"/>
            <a:ext cx="5029200" cy="228600"/>
          </a:xfrm>
          <a:prstGeom prst="rect">
            <a:avLst/>
          </a:prstGeom>
          <a:noFill/>
        </p:spPr>
        <p:txBody>
          <a:bodyPr wrap="square" lIns="0" rIns="0" tIns="0" bIns="0" anchor="t">
            <a:spAutoFit/>
          </a:bodyPr>
          <a:lstStyle/>
          <a:p>
            <a:pPr algn="l"/>
            <a:r>
              <a:rPr sz="1000" b="1" i="0">
                <a:solidFill>
                  <a:srgbClr val="0F2C5C"/>
                </a:solidFill>
                <a:latin typeface="Sora"/>
              </a:rPr>
              <a:t>Persona dimension</a:t>
            </a:r>
          </a:p>
        </p:txBody>
      </p:sp>
      <p:sp>
        <p:nvSpPr>
          <p:cNvPr id="39" name="TextBox 38"/>
          <p:cNvSpPr txBox="1"/>
          <p:nvPr/>
        </p:nvSpPr>
        <p:spPr>
          <a:xfrm>
            <a:off x="6400800" y="5907024"/>
            <a:ext cx="5029200" cy="365760"/>
          </a:xfrm>
          <a:prstGeom prst="rect">
            <a:avLst/>
          </a:prstGeom>
          <a:noFill/>
        </p:spPr>
        <p:txBody>
          <a:bodyPr wrap="square" lIns="0" rIns="0" tIns="0" bIns="0" anchor="t">
            <a:spAutoFit/>
          </a:bodyPr>
          <a:lstStyle/>
          <a:p>
            <a:pPr algn="l"/>
            <a:r>
              <a:rPr sz="850" b="0" i="0">
                <a:solidFill>
                  <a:srgbClr val="5A6472"/>
                </a:solidFill>
                <a:latin typeface="Sora"/>
              </a:rPr>
              <a:t>From landing page type; fix blog-article classification (26 sessions today).</a:t>
            </a:r>
          </a:p>
        </p:txBody>
      </p:sp>
      <p:sp>
        <p:nvSpPr>
          <p:cNvPr id="40" name="TextBox 39"/>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Live site audit, 24 Sept 2026 · GA4 event export by page type (event counts; separate pull, not directly comparable).</a:t>
            </a:r>
          </a:p>
        </p:txBody>
      </p:sp>
      <p:sp>
        <p:nvSpPr>
          <p:cNvPr id="41" name="Rounded Rectangle 40"/>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C5C"/>
        </a:solidFill>
      </p:bgPr>
    </p:bg>
    <p:spTree>
      <p:nvGrpSpPr>
        <p:cNvPr id="314" name="Shape 314"/>
        <p:cNvGrpSpPr/>
        <p:nvPr/>
      </p:nvGrpSpPr>
      <p:grpSpPr>
        <a:xfrm>
          <a:off x="0" y="0"/>
          <a:ext cx="0" cy="0"/>
          <a:chOff x="0" y="0"/>
          <a:chExt cx="0" cy="0"/>
        </a:xfrm>
      </p:grpSpPr>
      <p:sp>
        <p:nvSpPr>
          <p:cNvPr id="315" name="Google Shape;315;p23"/>
          <p:cNvSpPr txBox="1"/>
          <p:nvPr/>
        </p:nvSpPr>
        <p:spPr>
          <a:xfrm>
            <a:off x="548640" y="548640"/>
            <a:ext cx="10058400" cy="5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Sora"/>
              <a:buNone/>
            </a:pPr>
            <a:r>
              <a:rPr b="1" i="0" lang="en-US" sz="3200" u="none" cap="none" strike="noStrike">
                <a:solidFill>
                  <a:srgbClr val="FFFFFF"/>
                </a:solidFill>
                <a:latin typeface="Sora"/>
                <a:ea typeface="Sora"/>
                <a:cs typeface="Sora"/>
                <a:sym typeface="Sora"/>
              </a:rPr>
              <a:t>How we will know it worked</a:t>
            </a:r>
            <a:endParaRPr b="0" i="0" sz="3200" u="none" cap="none" strike="noStrike">
              <a:solidFill>
                <a:schemeClr val="dk1"/>
              </a:solidFill>
              <a:latin typeface="Calibri"/>
              <a:ea typeface="Calibri"/>
              <a:cs typeface="Calibri"/>
              <a:sym typeface="Calibri"/>
            </a:endParaRPr>
          </a:p>
        </p:txBody>
      </p:sp>
      <p:sp>
        <p:nvSpPr>
          <p:cNvPr id="316" name="Google Shape;316;p23"/>
          <p:cNvSpPr txBox="1"/>
          <p:nvPr/>
        </p:nvSpPr>
        <p:spPr>
          <a:xfrm>
            <a:off x="548640" y="1143000"/>
            <a:ext cx="10058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7DC"/>
              </a:buClr>
              <a:buSzPts val="1500"/>
              <a:buFont typeface="Sora"/>
              <a:buNone/>
            </a:pPr>
            <a:r>
              <a:rPr b="0" i="0" lang="en-US" sz="1500" u="none" cap="none" strike="noStrike">
                <a:solidFill>
                  <a:srgbClr val="B9C7DC"/>
                </a:solidFill>
                <a:latin typeface="Sora"/>
                <a:ea typeface="Sora"/>
                <a:cs typeface="Sora"/>
                <a:sym typeface="Sora"/>
              </a:rPr>
              <a:t>Measurement has to be built before the target can be tracked — no lead event exists in GA4 today</a:t>
            </a:r>
            <a:endParaRPr b="0" i="0" sz="1500" u="none" cap="none" strike="noStrike">
              <a:solidFill>
                <a:schemeClr val="dk1"/>
              </a:solidFill>
              <a:latin typeface="Calibri"/>
              <a:ea typeface="Calibri"/>
              <a:cs typeface="Calibri"/>
              <a:sym typeface="Calibri"/>
            </a:endParaRPr>
          </a:p>
        </p:txBody>
      </p:sp>
      <p:sp>
        <p:nvSpPr>
          <p:cNvPr id="317" name="Google Shape;317;p23"/>
          <p:cNvSpPr/>
          <p:nvPr/>
        </p:nvSpPr>
        <p:spPr>
          <a:xfrm>
            <a:off x="548640" y="1691640"/>
            <a:ext cx="3429300" cy="3200400"/>
          </a:xfrm>
          <a:prstGeom prst="roundRect">
            <a:avLst>
              <a:gd fmla="val 2286" name="adj"/>
            </a:avLst>
          </a:prstGeom>
          <a:solidFill>
            <a:srgbClr val="1B3E73"/>
          </a:solidFill>
          <a:ln cap="flat" cmpd="sng" w="9525">
            <a:solidFill>
              <a:srgbClr val="2A55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3"/>
          <p:cNvSpPr txBox="1"/>
          <p:nvPr/>
        </p:nvSpPr>
        <p:spPr>
          <a:xfrm>
            <a:off x="804672" y="1874520"/>
            <a:ext cx="29265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095"/>
              </a:buClr>
              <a:buSzPts val="1100"/>
              <a:buFont typeface="Sora"/>
              <a:buNone/>
            </a:pPr>
            <a:r>
              <a:rPr b="1" i="0" lang="en-US" sz="1100" u="none" cap="none" strike="noStrike">
                <a:solidFill>
                  <a:srgbClr val="FF8095"/>
                </a:solidFill>
                <a:latin typeface="Sora"/>
                <a:ea typeface="Sora"/>
                <a:cs typeface="Sora"/>
                <a:sym typeface="Sora"/>
              </a:rPr>
              <a:t>PHASE 0</a:t>
            </a:r>
            <a:endParaRPr b="0" i="0" sz="1100" u="none" cap="none" strike="noStrike">
              <a:solidFill>
                <a:schemeClr val="dk1"/>
              </a:solidFill>
              <a:latin typeface="Calibri"/>
              <a:ea typeface="Calibri"/>
              <a:cs typeface="Calibri"/>
              <a:sym typeface="Calibri"/>
            </a:endParaRPr>
          </a:p>
        </p:txBody>
      </p:sp>
      <p:sp>
        <p:nvSpPr>
          <p:cNvPr id="319" name="Google Shape;319;p23"/>
          <p:cNvSpPr txBox="1"/>
          <p:nvPr/>
        </p:nvSpPr>
        <p:spPr>
          <a:xfrm>
            <a:off x="804672" y="2148840"/>
            <a:ext cx="29265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1100"/>
              <a:buFont typeface="Sora"/>
              <a:buNone/>
            </a:pPr>
            <a:r>
              <a:rPr b="0" i="0" lang="en-US" sz="1100" u="none" cap="none" strike="noStrike">
                <a:solidFill>
                  <a:srgbClr val="8FA3BF"/>
                </a:solidFill>
                <a:latin typeface="Sora"/>
                <a:ea typeface="Sora"/>
                <a:cs typeface="Sora"/>
                <a:sym typeface="Sora"/>
              </a:rPr>
              <a:t>Weeks 1–2</a:t>
            </a:r>
            <a:endParaRPr b="0" i="0" sz="1100" u="none" cap="none" strike="noStrike">
              <a:solidFill>
                <a:schemeClr val="dk1"/>
              </a:solidFill>
              <a:latin typeface="Calibri"/>
              <a:ea typeface="Calibri"/>
              <a:cs typeface="Calibri"/>
              <a:sym typeface="Calibri"/>
            </a:endParaRPr>
          </a:p>
        </p:txBody>
      </p:sp>
      <p:sp>
        <p:nvSpPr>
          <p:cNvPr id="320" name="Google Shape;320;p23"/>
          <p:cNvSpPr txBox="1"/>
          <p:nvPr/>
        </p:nvSpPr>
        <p:spPr>
          <a:xfrm>
            <a:off x="804672" y="2450592"/>
            <a:ext cx="292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Sora"/>
              <a:buNone/>
            </a:pPr>
            <a:r>
              <a:rPr b="1" i="0" lang="en-US" sz="1600" u="none" cap="none" strike="noStrike">
                <a:solidFill>
                  <a:srgbClr val="FFFFFF"/>
                </a:solidFill>
                <a:latin typeface="Sora"/>
                <a:ea typeface="Sora"/>
                <a:cs typeface="Sora"/>
                <a:sym typeface="Sora"/>
              </a:rPr>
              <a:t>Measurement foundation</a:t>
            </a:r>
            <a:endParaRPr b="0" i="0" sz="1600" u="none" cap="none" strike="noStrike">
              <a:solidFill>
                <a:schemeClr val="dk1"/>
              </a:solidFill>
              <a:latin typeface="Calibri"/>
              <a:ea typeface="Calibri"/>
              <a:cs typeface="Calibri"/>
              <a:sym typeface="Calibri"/>
            </a:endParaRPr>
          </a:p>
        </p:txBody>
      </p:sp>
      <p:sp>
        <p:nvSpPr>
          <p:cNvPr id="321" name="Google Shape;321;p23"/>
          <p:cNvSpPr txBox="1"/>
          <p:nvPr/>
        </p:nvSpPr>
        <p:spPr>
          <a:xfrm>
            <a:off x="804672" y="2944368"/>
            <a:ext cx="2926500" cy="1828800"/>
          </a:xfrm>
          <a:prstGeom prst="rect">
            <a:avLst/>
          </a:prstGeom>
          <a:noFill/>
          <a:ln>
            <a:noFill/>
          </a:ln>
        </p:spPr>
        <p:txBody>
          <a:bodyPr anchorCtr="0" anchor="ctr" bIns="0" lIns="0" spcFirstLastPara="1" rIns="0" wrap="square" tIns="0">
            <a:noAutofit/>
          </a:bodyPr>
          <a:lstStyle/>
          <a:p>
            <a:pPr indent="-349250" lvl="0" marL="342900" marR="0" rtl="0" algn="l">
              <a:spcBef>
                <a:spcPts val="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Define and configure lead events in GA4</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Implement form start, submit and CTA tracking</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Establish the true organic conversion baseline</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Exclude bot traffic so the baseline is honest</a:t>
            </a:r>
            <a:endParaRPr b="0" i="0" sz="1100" u="none" cap="none" strike="noStrike">
              <a:solidFill>
                <a:schemeClr val="dk1"/>
              </a:solidFill>
              <a:latin typeface="Calibri"/>
              <a:ea typeface="Calibri"/>
              <a:cs typeface="Calibri"/>
              <a:sym typeface="Calibri"/>
            </a:endParaRPr>
          </a:p>
        </p:txBody>
      </p:sp>
      <p:sp>
        <p:nvSpPr>
          <p:cNvPr id="322" name="Google Shape;322;p23"/>
          <p:cNvSpPr/>
          <p:nvPr/>
        </p:nvSpPr>
        <p:spPr>
          <a:xfrm>
            <a:off x="4206240" y="1691640"/>
            <a:ext cx="3429300" cy="3200400"/>
          </a:xfrm>
          <a:prstGeom prst="roundRect">
            <a:avLst>
              <a:gd fmla="val 2286" name="adj"/>
            </a:avLst>
          </a:prstGeom>
          <a:solidFill>
            <a:srgbClr val="1B3E73"/>
          </a:solidFill>
          <a:ln cap="flat" cmpd="sng" w="9525">
            <a:solidFill>
              <a:srgbClr val="2A55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3"/>
          <p:cNvSpPr txBox="1"/>
          <p:nvPr/>
        </p:nvSpPr>
        <p:spPr>
          <a:xfrm>
            <a:off x="4462272" y="1874520"/>
            <a:ext cx="29265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095"/>
              </a:buClr>
              <a:buSzPts val="1100"/>
              <a:buFont typeface="Sora"/>
              <a:buNone/>
            </a:pPr>
            <a:r>
              <a:rPr b="1" i="0" lang="en-US" sz="1100" u="none" cap="none" strike="noStrike">
                <a:solidFill>
                  <a:srgbClr val="FF8095"/>
                </a:solidFill>
                <a:latin typeface="Sora"/>
                <a:ea typeface="Sora"/>
                <a:cs typeface="Sora"/>
                <a:sym typeface="Sora"/>
              </a:rPr>
              <a:t>PHASE 1</a:t>
            </a:r>
            <a:endParaRPr b="0" i="0" sz="1100" u="none" cap="none" strike="noStrike">
              <a:solidFill>
                <a:schemeClr val="dk1"/>
              </a:solidFill>
              <a:latin typeface="Calibri"/>
              <a:ea typeface="Calibri"/>
              <a:cs typeface="Calibri"/>
              <a:sym typeface="Calibri"/>
            </a:endParaRPr>
          </a:p>
        </p:txBody>
      </p:sp>
      <p:sp>
        <p:nvSpPr>
          <p:cNvPr id="324" name="Google Shape;324;p23"/>
          <p:cNvSpPr txBox="1"/>
          <p:nvPr/>
        </p:nvSpPr>
        <p:spPr>
          <a:xfrm>
            <a:off x="4462272" y="2148840"/>
            <a:ext cx="29265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1100"/>
              <a:buFont typeface="Sora"/>
              <a:buNone/>
            </a:pPr>
            <a:r>
              <a:rPr b="0" i="0" lang="en-US" sz="1100" u="none" cap="none" strike="noStrike">
                <a:solidFill>
                  <a:srgbClr val="8FA3BF"/>
                </a:solidFill>
                <a:latin typeface="Sora"/>
                <a:ea typeface="Sora"/>
                <a:cs typeface="Sora"/>
                <a:sym typeface="Sora"/>
              </a:rPr>
              <a:t>Weeks 3–6</a:t>
            </a:r>
            <a:endParaRPr b="0" i="0" sz="1100" u="none" cap="none" strike="noStrike">
              <a:solidFill>
                <a:schemeClr val="dk1"/>
              </a:solidFill>
              <a:latin typeface="Calibri"/>
              <a:ea typeface="Calibri"/>
              <a:cs typeface="Calibri"/>
              <a:sym typeface="Calibri"/>
            </a:endParaRPr>
          </a:p>
        </p:txBody>
      </p:sp>
      <p:sp>
        <p:nvSpPr>
          <p:cNvPr id="325" name="Google Shape;325;p23"/>
          <p:cNvSpPr txBox="1"/>
          <p:nvPr/>
        </p:nvSpPr>
        <p:spPr>
          <a:xfrm>
            <a:off x="4462272" y="2450592"/>
            <a:ext cx="292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Sora"/>
              <a:buNone/>
            </a:pPr>
            <a:r>
              <a:rPr b="1" i="0" lang="en-US" sz="1600" u="none" cap="none" strike="noStrike">
                <a:solidFill>
                  <a:srgbClr val="FFFFFF"/>
                </a:solidFill>
                <a:latin typeface="Sora"/>
                <a:ea typeface="Sora"/>
                <a:cs typeface="Sora"/>
                <a:sym typeface="Sora"/>
              </a:rPr>
              <a:t>Journey fixes</a:t>
            </a:r>
            <a:endParaRPr b="0" i="0" sz="1600" u="none" cap="none" strike="noStrike">
              <a:solidFill>
                <a:schemeClr val="dk1"/>
              </a:solidFill>
              <a:latin typeface="Calibri"/>
              <a:ea typeface="Calibri"/>
              <a:cs typeface="Calibri"/>
              <a:sym typeface="Calibri"/>
            </a:endParaRPr>
          </a:p>
        </p:txBody>
      </p:sp>
      <p:sp>
        <p:nvSpPr>
          <p:cNvPr id="326" name="Google Shape;326;p23"/>
          <p:cNvSpPr txBox="1"/>
          <p:nvPr/>
        </p:nvSpPr>
        <p:spPr>
          <a:xfrm>
            <a:off x="4462272" y="2944368"/>
            <a:ext cx="2926500" cy="1828800"/>
          </a:xfrm>
          <a:prstGeom prst="rect">
            <a:avLst/>
          </a:prstGeom>
          <a:noFill/>
          <a:ln>
            <a:noFill/>
          </a:ln>
        </p:spPr>
        <p:txBody>
          <a:bodyPr anchorCtr="0" anchor="ctr" bIns="0" lIns="0" spcFirstLastPara="1" rIns="0" wrap="square" tIns="0">
            <a:noAutofit/>
          </a:bodyPr>
          <a:lstStyle/>
          <a:p>
            <a:pPr indent="-349250" lvl="0" marL="342900" marR="0" rtl="0" algn="l">
              <a:spcBef>
                <a:spcPts val="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Course page: fees, eligibility and outcomes in place</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Fee page: course-level filtering and a forward exit</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Blog: in-context links to the matching course</a:t>
            </a:r>
            <a:endParaRPr b="0" i="0" sz="1100" u="none" cap="none" strike="noStrike">
              <a:solidFill>
                <a:schemeClr val="dk1"/>
              </a:solidFill>
              <a:latin typeface="Calibri"/>
              <a:ea typeface="Calibri"/>
              <a:cs typeface="Calibri"/>
              <a:sym typeface="Calibri"/>
            </a:endParaRPr>
          </a:p>
        </p:txBody>
      </p:sp>
      <p:sp>
        <p:nvSpPr>
          <p:cNvPr id="327" name="Google Shape;327;p23"/>
          <p:cNvSpPr/>
          <p:nvPr/>
        </p:nvSpPr>
        <p:spPr>
          <a:xfrm>
            <a:off x="7863840" y="1691640"/>
            <a:ext cx="3429300" cy="3200400"/>
          </a:xfrm>
          <a:prstGeom prst="roundRect">
            <a:avLst>
              <a:gd fmla="val 2286" name="adj"/>
            </a:avLst>
          </a:prstGeom>
          <a:solidFill>
            <a:srgbClr val="1B3E73"/>
          </a:solidFill>
          <a:ln cap="flat" cmpd="sng" w="9525">
            <a:solidFill>
              <a:srgbClr val="2A55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txBox="1"/>
          <p:nvPr/>
        </p:nvSpPr>
        <p:spPr>
          <a:xfrm>
            <a:off x="8119872" y="1874520"/>
            <a:ext cx="29265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095"/>
              </a:buClr>
              <a:buSzPts val="1100"/>
              <a:buFont typeface="Sora"/>
              <a:buNone/>
            </a:pPr>
            <a:r>
              <a:rPr b="1" i="0" lang="en-US" sz="1100" u="none" cap="none" strike="noStrike">
                <a:solidFill>
                  <a:srgbClr val="FF8095"/>
                </a:solidFill>
                <a:latin typeface="Sora"/>
                <a:ea typeface="Sora"/>
                <a:cs typeface="Sora"/>
                <a:sym typeface="Sora"/>
              </a:rPr>
              <a:t>PHASE 2</a:t>
            </a:r>
            <a:endParaRPr b="0" i="0" sz="1100" u="none" cap="none" strike="noStrike">
              <a:solidFill>
                <a:schemeClr val="dk1"/>
              </a:solidFill>
              <a:latin typeface="Calibri"/>
              <a:ea typeface="Calibri"/>
              <a:cs typeface="Calibri"/>
              <a:sym typeface="Calibri"/>
            </a:endParaRPr>
          </a:p>
        </p:txBody>
      </p:sp>
      <p:sp>
        <p:nvSpPr>
          <p:cNvPr id="329" name="Google Shape;329;p23"/>
          <p:cNvSpPr txBox="1"/>
          <p:nvPr/>
        </p:nvSpPr>
        <p:spPr>
          <a:xfrm>
            <a:off x="8119872" y="2148840"/>
            <a:ext cx="29265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F"/>
              </a:buClr>
              <a:buSzPts val="1100"/>
              <a:buFont typeface="Sora"/>
              <a:buNone/>
            </a:pPr>
            <a:r>
              <a:rPr b="0" i="0" lang="en-US" sz="1100" u="none" cap="none" strike="noStrike">
                <a:solidFill>
                  <a:srgbClr val="8FA3BF"/>
                </a:solidFill>
                <a:latin typeface="Sora"/>
                <a:ea typeface="Sora"/>
                <a:cs typeface="Sora"/>
                <a:sym typeface="Sora"/>
              </a:rPr>
              <a:t>Ongoing</a:t>
            </a:r>
            <a:endParaRPr b="0" i="0" sz="1100" u="none" cap="none" strike="noStrike">
              <a:solidFill>
                <a:schemeClr val="dk1"/>
              </a:solidFill>
              <a:latin typeface="Calibri"/>
              <a:ea typeface="Calibri"/>
              <a:cs typeface="Calibri"/>
              <a:sym typeface="Calibri"/>
            </a:endParaRPr>
          </a:p>
        </p:txBody>
      </p:sp>
      <p:sp>
        <p:nvSpPr>
          <p:cNvPr id="330" name="Google Shape;330;p23"/>
          <p:cNvSpPr txBox="1"/>
          <p:nvPr/>
        </p:nvSpPr>
        <p:spPr>
          <a:xfrm>
            <a:off x="8119872" y="2450592"/>
            <a:ext cx="292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Sora"/>
              <a:buNone/>
            </a:pPr>
            <a:r>
              <a:rPr b="1" i="0" lang="en-US" sz="1600" u="none" cap="none" strike="noStrike">
                <a:solidFill>
                  <a:srgbClr val="FFFFFF"/>
                </a:solidFill>
                <a:latin typeface="Sora"/>
                <a:ea typeface="Sora"/>
                <a:cs typeface="Sora"/>
                <a:sym typeface="Sora"/>
              </a:rPr>
              <a:t>Capture and iterate</a:t>
            </a:r>
            <a:endParaRPr b="0" i="0" sz="1600" u="none" cap="none" strike="noStrike">
              <a:solidFill>
                <a:schemeClr val="dk1"/>
              </a:solidFill>
              <a:latin typeface="Calibri"/>
              <a:ea typeface="Calibri"/>
              <a:cs typeface="Calibri"/>
              <a:sym typeface="Calibri"/>
            </a:endParaRPr>
          </a:p>
        </p:txBody>
      </p:sp>
      <p:sp>
        <p:nvSpPr>
          <p:cNvPr id="331" name="Google Shape;331;p23"/>
          <p:cNvSpPr txBox="1"/>
          <p:nvPr/>
        </p:nvSpPr>
        <p:spPr>
          <a:xfrm>
            <a:off x="8119872" y="2944368"/>
            <a:ext cx="2926500" cy="1828800"/>
          </a:xfrm>
          <a:prstGeom prst="rect">
            <a:avLst/>
          </a:prstGeom>
          <a:noFill/>
          <a:ln>
            <a:noFill/>
          </a:ln>
        </p:spPr>
        <p:txBody>
          <a:bodyPr anchorCtr="0" anchor="ctr" bIns="0" lIns="0" spcFirstLastPara="1" rIns="0" wrap="square" tIns="0">
            <a:noAutofit/>
          </a:bodyPr>
          <a:lstStyle/>
          <a:p>
            <a:pPr indent="-349250" lvl="0" marL="342900" marR="0" rtl="0" algn="l">
              <a:spcBef>
                <a:spcPts val="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Micro-conversion on every persona journey</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Monthly funnel reporting by persona</a:t>
            </a:r>
            <a:endParaRPr b="0" i="0" sz="1100" u="none" cap="none" strike="noStrike">
              <a:solidFill>
                <a:schemeClr val="dk1"/>
              </a:solidFill>
              <a:latin typeface="Calibri"/>
              <a:ea typeface="Calibri"/>
              <a:cs typeface="Calibri"/>
              <a:sym typeface="Calibri"/>
            </a:endParaRPr>
          </a:p>
          <a:p>
            <a:pPr indent="-349250" lvl="0" marL="342900" marR="0" rtl="0" algn="l">
              <a:spcBef>
                <a:spcPts val="700"/>
              </a:spcBef>
              <a:spcAft>
                <a:spcPts val="0"/>
              </a:spcAft>
              <a:buClr>
                <a:srgbClr val="D6DEEA"/>
              </a:buClr>
              <a:buSzPts val="1100"/>
              <a:buFont typeface="Sora"/>
              <a:buChar char="•"/>
            </a:pPr>
            <a:r>
              <a:rPr b="0" i="0" lang="en-US" sz="1100" u="none" cap="none" strike="noStrike">
                <a:solidFill>
                  <a:srgbClr val="D6DEEA"/>
                </a:solidFill>
                <a:latin typeface="Sora"/>
                <a:ea typeface="Sora"/>
                <a:cs typeface="Sora"/>
                <a:sym typeface="Sora"/>
              </a:rPr>
              <a:t>A/B testing on the highest-volume templates</a:t>
            </a:r>
            <a:endParaRPr b="0" i="0" sz="1100" u="none" cap="none" strike="noStrike">
              <a:solidFill>
                <a:schemeClr val="dk1"/>
              </a:solidFill>
              <a:latin typeface="Calibri"/>
              <a:ea typeface="Calibri"/>
              <a:cs typeface="Calibri"/>
              <a:sym typeface="Calibri"/>
            </a:endParaRPr>
          </a:p>
        </p:txBody>
      </p:sp>
      <p:sp>
        <p:nvSpPr>
          <p:cNvPr id="332" name="Google Shape;332;p23"/>
          <p:cNvSpPr/>
          <p:nvPr/>
        </p:nvSpPr>
        <p:spPr>
          <a:xfrm>
            <a:off x="548640" y="5074920"/>
            <a:ext cx="10881300" cy="1005900"/>
          </a:xfrm>
          <a:prstGeom prst="roundRect">
            <a:avLst>
              <a:gd fmla="val 7273" name="adj"/>
            </a:avLst>
          </a:prstGeom>
          <a:solidFill>
            <a:srgbClr val="1B3E73"/>
          </a:solidFill>
          <a:ln cap="flat" cmpd="sng" w="15875">
            <a:solidFill>
              <a:srgbClr val="FF80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3"/>
          <p:cNvSpPr txBox="1"/>
          <p:nvPr/>
        </p:nvSpPr>
        <p:spPr>
          <a:xfrm>
            <a:off x="822960" y="5230368"/>
            <a:ext cx="1828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095"/>
              </a:buClr>
              <a:buSzPts val="900"/>
              <a:buFont typeface="Sora"/>
              <a:buNone/>
            </a:pPr>
            <a:r>
              <a:rPr b="1" i="0" lang="en-US" sz="900" u="none" cap="none" strike="noStrike">
                <a:solidFill>
                  <a:srgbClr val="FF8095"/>
                </a:solidFill>
                <a:latin typeface="Sora"/>
                <a:ea typeface="Sora"/>
                <a:cs typeface="Sora"/>
                <a:sym typeface="Sora"/>
              </a:rPr>
              <a:t>THE TARGET</a:t>
            </a:r>
            <a:endParaRPr b="0" i="0" sz="900" u="none" cap="none" strike="noStrike">
              <a:solidFill>
                <a:schemeClr val="dk1"/>
              </a:solidFill>
              <a:latin typeface="Calibri"/>
              <a:ea typeface="Calibri"/>
              <a:cs typeface="Calibri"/>
              <a:sym typeface="Calibri"/>
            </a:endParaRPr>
          </a:p>
        </p:txBody>
      </p:sp>
      <p:sp>
        <p:nvSpPr>
          <p:cNvPr id="334" name="Google Shape;334;p23"/>
          <p:cNvSpPr txBox="1"/>
          <p:nvPr/>
        </p:nvSpPr>
        <p:spPr>
          <a:xfrm>
            <a:off x="822960" y="5504688"/>
            <a:ext cx="10332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Sora"/>
              <a:buNone/>
            </a:pPr>
            <a:r>
              <a:rPr b="1" i="0" lang="en-US" sz="1500" u="none" cap="none" strike="noStrike">
                <a:solidFill>
                  <a:srgbClr val="FFFFFF"/>
                </a:solidFill>
                <a:latin typeface="Sora"/>
                <a:ea typeface="Sora"/>
                <a:cs typeface="Sora"/>
                <a:sym typeface="Sora"/>
              </a:rPr>
              <a:t>SEO’s +33% traffic and CRO’s +50% conversion rate compound: 1.33 × 1.50 = 2.0, i.e. 100% more leads. The CRO half can only be read once Phase 0 sets a lead baseline.</a:t>
            </a:r>
            <a:endParaRPr b="0" i="0" sz="1500" u="none" cap="none" strike="noStrike">
              <a:solidFill>
                <a:schemeClr val="dk1"/>
              </a:solidFill>
              <a:latin typeface="Calibri"/>
              <a:ea typeface="Calibri"/>
              <a:cs typeface="Calibri"/>
              <a:sym typeface="Calibri"/>
            </a:endParaRPr>
          </a:p>
        </p:txBody>
      </p:sp>
      <p:sp>
        <p:nvSpPr>
          <p:cNvPr id="335" name="Google Shape;335;p23"/>
          <p:cNvSpPr txBox="1"/>
          <p:nvPr/>
        </p:nvSpPr>
        <p:spPr>
          <a:xfrm>
            <a:off x="548640" y="6355080"/>
            <a:ext cx="10058400" cy="27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90AD"/>
              </a:buClr>
              <a:buSzPts val="900"/>
              <a:buFont typeface="Sora"/>
              <a:buNone/>
            </a:pPr>
            <a:r>
              <a:rPr b="0" i="0" lang="en-US" sz="900" u="none" cap="none" strike="noStrike">
                <a:solidFill>
                  <a:srgbClr val="7C90AD"/>
                </a:solidFill>
                <a:latin typeface="Sora"/>
                <a:ea typeface="Sora"/>
                <a:cs typeface="Sora"/>
                <a:sym typeface="Sora"/>
              </a:rPr>
              <a:t>Source: GA4 — MREI Regular Website, 13 Jun – 10 </a:t>
            </a:r>
            <a:r>
              <a:rPr lang="en-US" sz="900">
                <a:solidFill>
                  <a:srgbClr val="7C90AD"/>
                </a:solidFill>
                <a:latin typeface="Sora"/>
                <a:ea typeface="Sora"/>
                <a:cs typeface="Sora"/>
                <a:sym typeface="Sora"/>
              </a:rPr>
              <a:t>Sep</a:t>
            </a:r>
            <a:r>
              <a:rPr b="0" i="0" lang="en-US" sz="900" u="none" cap="none" strike="noStrike">
                <a:solidFill>
                  <a:srgbClr val="7C90AD"/>
                </a:solidFill>
                <a:latin typeface="Sora"/>
                <a:ea typeface="Sora"/>
                <a:cs typeface="Sora"/>
                <a:sym typeface="Sora"/>
              </a:rPr>
              <a:t> 2026.</a:t>
            </a:r>
            <a:endParaRPr b="0" i="0" sz="900" u="none" cap="none" strike="noStrike">
              <a:solidFill>
                <a:schemeClr val="dk1"/>
              </a:solidFill>
              <a:latin typeface="Calibri"/>
              <a:ea typeface="Calibri"/>
              <a:cs typeface="Calibri"/>
              <a:sym typeface="Calibri"/>
            </a:endParaRPr>
          </a:p>
        </p:txBody>
      </p:sp>
      <p:sp>
        <p:nvSpPr>
          <p:cNvPr id="336" name="Rounded Rectangle 335"/>
          <p:cNvSpPr/>
          <p:nvPr/>
        </p:nvSpPr>
        <p:spPr>
          <a:xfrm>
            <a:off x="10771632" y="18288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EXPERIMENTATION  ·  A/B TEST BACKLOG  (1/3)</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Every test starts from a behaviour we observed</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Primary KPI hierarchy: 1) leads  2) meaningful micro-conversion  3) progression. Tests run after Phase 0.</a:t>
            </a:r>
          </a:p>
        </p:txBody>
      </p:sp>
      <p:graphicFrame>
        <p:nvGraphicFramePr>
          <p:cNvPr id="5" name="Table 4"/>
          <p:cNvGraphicFramePr>
            <a:graphicFrameLocks noGrp="1"/>
          </p:cNvGraphicFramePr>
          <p:nvPr/>
        </p:nvGraphicFramePr>
        <p:xfrm>
          <a:off x="548640" y="1463040"/>
          <a:ext cx="11064240" cy="4846320"/>
        </p:xfrm>
        <a:graphic>
          <a:graphicData uri="http://schemas.openxmlformats.org/drawingml/2006/table">
            <a:tbl>
              <a:tblPr firstRow="1" bandRow="1">
                <a:tableStyleId>{5C22544A-7EE6-4342-B048-85BDC9FD1C3A}</a:tableStyleId>
              </a:tblPr>
              <a:tblGrid>
                <a:gridCol w="347472"/>
                <a:gridCol w="960120"/>
                <a:gridCol w="822960"/>
                <a:gridCol w="914400"/>
                <a:gridCol w="1508760"/>
                <a:gridCol w="1325880"/>
                <a:gridCol w="914400"/>
                <a:gridCol w="1371600"/>
                <a:gridCol w="777240"/>
                <a:gridCol w="868680"/>
                <a:gridCol w="822960"/>
                <a:gridCol w="429768"/>
              </a:tblGrid>
              <a:tr h="320040">
                <a:tc>
                  <a:txBody>
                    <a:bodyPr/>
                    <a:lstStyle/>
                    <a:p>
                      <a:r>
                        <a:rPr sz="750" b="1">
                          <a:solidFill>
                            <a:srgbClr val="FFFFFF"/>
                          </a:solidFill>
                          <a:latin typeface="Sora"/>
                        </a:rPr>
                        <a:t>#</a:t>
                      </a:r>
                    </a:p>
                  </a:txBody>
                  <a:tcPr marL="54864" marR="54864" marT="27432" marB="27432" anchor="ctr">
                    <a:solidFill>
                      <a:srgbClr val="0F2C5C"/>
                    </a:solidFill>
                  </a:tcPr>
                </a:tc>
                <a:tc>
                  <a:txBody>
                    <a:bodyPr/>
                    <a:lstStyle/>
                    <a:p>
                      <a:r>
                        <a:rPr sz="750" b="1">
                          <a:solidFill>
                            <a:srgbClr val="FFFFFF"/>
                          </a:solidFill>
                          <a:latin typeface="Sora"/>
                        </a:rPr>
                        <a:t>Test</a:t>
                      </a:r>
                    </a:p>
                  </a:txBody>
                  <a:tcPr marL="54864" marR="54864" marT="27432" marB="27432" anchor="ctr">
                    <a:solidFill>
                      <a:srgbClr val="0F2C5C"/>
                    </a:solidFill>
                  </a:tcPr>
                </a:tc>
                <a:tc>
                  <a:txBody>
                    <a:bodyPr/>
                    <a:lstStyle/>
                    <a:p>
                      <a:r>
                        <a:rPr sz="750" b="1">
                          <a:solidFill>
                            <a:srgbClr val="FFFFFF"/>
                          </a:solidFill>
                          <a:latin typeface="Sora"/>
                        </a:rPr>
                        <a:t>Persona</a:t>
                      </a:r>
                    </a:p>
                  </a:txBody>
                  <a:tcPr marL="54864" marR="54864" marT="27432" marB="27432" anchor="ctr">
                    <a:solidFill>
                      <a:srgbClr val="0F2C5C"/>
                    </a:solidFill>
                  </a:tcPr>
                </a:tc>
                <a:tc>
                  <a:txBody>
                    <a:bodyPr/>
                    <a:lstStyle/>
                    <a:p>
                      <a:r>
                        <a:rPr sz="750" b="1">
                          <a:solidFill>
                            <a:srgbClr val="FFFFFF"/>
                          </a:solidFill>
                          <a:latin typeface="Sora"/>
                        </a:rPr>
                        <a:t>URL / template</a:t>
                      </a:r>
                    </a:p>
                  </a:txBody>
                  <a:tcPr marL="54864" marR="54864" marT="27432" marB="27432" anchor="ctr">
                    <a:solidFill>
                      <a:srgbClr val="0F2C5C"/>
                    </a:solidFill>
                  </a:tcPr>
                </a:tc>
                <a:tc>
                  <a:txBody>
                    <a:bodyPr/>
                    <a:lstStyle/>
                    <a:p>
                      <a:r>
                        <a:rPr sz="750" b="1">
                          <a:solidFill>
                            <a:srgbClr val="FFFFFF"/>
                          </a:solidFill>
                          <a:latin typeface="Sora"/>
                        </a:rPr>
                        <a:t>Evidence</a:t>
                      </a:r>
                    </a:p>
                  </a:txBody>
                  <a:tcPr marL="54864" marR="54864" marT="27432" marB="27432" anchor="ctr">
                    <a:solidFill>
                      <a:srgbClr val="0F2C5C"/>
                    </a:solidFill>
                  </a:tcPr>
                </a:tc>
                <a:tc>
                  <a:txBody>
                    <a:bodyPr/>
                    <a:lstStyle/>
                    <a:p>
                      <a:r>
                        <a:rPr sz="750" b="1">
                          <a:solidFill>
                            <a:srgbClr val="FFFFFF"/>
                          </a:solidFill>
                          <a:latin typeface="Sora"/>
                        </a:rPr>
                        <a:t>Hypothesis</a:t>
                      </a:r>
                    </a:p>
                  </a:txBody>
                  <a:tcPr marL="54864" marR="54864" marT="27432" marB="27432" anchor="ctr">
                    <a:solidFill>
                      <a:srgbClr val="0F2C5C"/>
                    </a:solidFill>
                  </a:tcPr>
                </a:tc>
                <a:tc>
                  <a:txBody>
                    <a:bodyPr/>
                    <a:lstStyle/>
                    <a:p>
                      <a:r>
                        <a:rPr sz="750" b="1">
                          <a:solidFill>
                            <a:srgbClr val="FFFFFF"/>
                          </a:solidFill>
                          <a:latin typeface="Sora"/>
                        </a:rPr>
                        <a:t>Control</a:t>
                      </a:r>
                    </a:p>
                  </a:txBody>
                  <a:tcPr marL="54864" marR="54864" marT="27432" marB="27432" anchor="ctr">
                    <a:solidFill>
                      <a:srgbClr val="0F2C5C"/>
                    </a:solidFill>
                  </a:tcPr>
                </a:tc>
                <a:tc>
                  <a:txBody>
                    <a:bodyPr/>
                    <a:lstStyle/>
                    <a:p>
                      <a:r>
                        <a:rPr sz="750" b="1">
                          <a:solidFill>
                            <a:srgbClr val="FFFFFF"/>
                          </a:solidFill>
                          <a:latin typeface="Sora"/>
                        </a:rPr>
                        <a:t>Variant</a:t>
                      </a:r>
                    </a:p>
                  </a:txBody>
                  <a:tcPr marL="54864" marR="54864" marT="27432" marB="27432" anchor="ctr">
                    <a:solidFill>
                      <a:srgbClr val="0F2C5C"/>
                    </a:solidFill>
                  </a:tcPr>
                </a:tc>
                <a:tc>
                  <a:txBody>
                    <a:bodyPr/>
                    <a:lstStyle/>
                    <a:p>
                      <a:r>
                        <a:rPr sz="750" b="1">
                          <a:solidFill>
                            <a:srgbClr val="FFFFFF"/>
                          </a:solidFill>
                          <a:latin typeface="Sora"/>
                        </a:rPr>
                        <a:t>Primary KPI</a:t>
                      </a:r>
                    </a:p>
                  </a:txBody>
                  <a:tcPr marL="54864" marR="54864" marT="27432" marB="27432" anchor="ctr">
                    <a:solidFill>
                      <a:srgbClr val="0F2C5C"/>
                    </a:solidFill>
                  </a:tcPr>
                </a:tc>
                <a:tc>
                  <a:txBody>
                    <a:bodyPr/>
                    <a:lstStyle/>
                    <a:p>
                      <a:r>
                        <a:rPr sz="750" b="1">
                          <a:solidFill>
                            <a:srgbClr val="FFFFFF"/>
                          </a:solidFill>
                          <a:latin typeface="Sora"/>
                        </a:rPr>
                        <a:t>Secondary KPI</a:t>
                      </a:r>
                    </a:p>
                  </a:txBody>
                  <a:tcPr marL="54864" marR="54864" marT="27432" marB="27432" anchor="ctr">
                    <a:solidFill>
                      <a:srgbClr val="0F2C5C"/>
                    </a:solidFill>
                  </a:tcPr>
                </a:tc>
                <a:tc>
                  <a:txBody>
                    <a:bodyPr/>
                    <a:lstStyle/>
                    <a:p>
                      <a:r>
                        <a:rPr sz="750" b="1">
                          <a:solidFill>
                            <a:srgbClr val="FFFFFF"/>
                          </a:solidFill>
                          <a:latin typeface="Sora"/>
                        </a:rPr>
                        <a:t>Guardrail</a:t>
                      </a:r>
                    </a:p>
                  </a:txBody>
                  <a:tcPr marL="54864" marR="54864" marT="27432" marB="27432" anchor="ctr">
                    <a:solidFill>
                      <a:srgbClr val="0F2C5C"/>
                    </a:solidFill>
                  </a:tcPr>
                </a:tc>
                <a:tc>
                  <a:txBody>
                    <a:bodyPr/>
                    <a:lstStyle/>
                    <a:p>
                      <a:r>
                        <a:rPr sz="750" b="1">
                          <a:solidFill>
                            <a:srgbClr val="FFFFFF"/>
                          </a:solidFill>
                          <a:latin typeface="Sora"/>
                        </a:rPr>
                        <a:t>Effort</a:t>
                      </a:r>
                    </a:p>
                  </a:txBody>
                  <a:tcPr marL="54864" marR="54864" marT="27432" marB="27432" anchor="ctr">
                    <a:solidFill>
                      <a:srgbClr val="0F2C5C"/>
                    </a:solidFill>
                  </a:tcPr>
                </a:tc>
              </a:tr>
              <a:tr h="905256">
                <a:tc>
                  <a:txBody>
                    <a:bodyPr/>
                    <a:lstStyle/>
                    <a:p>
                      <a:r>
                        <a:rPr sz="800" b="1">
                          <a:solidFill>
                            <a:srgbClr val="FFFFFF"/>
                          </a:solidFill>
                          <a:latin typeface="Sora"/>
                        </a:rPr>
                        <a:t>T1</a:t>
                      </a:r>
                    </a:p>
                  </a:txBody>
                  <a:tcPr marL="54864" marR="54864" marT="27432" marB="27432" anchor="ctr">
                    <a:solidFill>
                      <a:srgbClr val="C8102E"/>
                    </a:solidFill>
                  </a:tcPr>
                </a:tc>
                <a:tc>
                  <a:txBody>
                    <a:bodyPr/>
                    <a:lstStyle/>
                    <a:p>
                      <a:r>
                        <a:rPr sz="800" b="1">
                          <a:solidFill>
                            <a:srgbClr val="0F2C5C"/>
                          </a:solidFill>
                          <a:latin typeface="Sora"/>
                        </a:rPr>
                        <a:t>Fee selector → fee card</a:t>
                      </a:r>
                    </a:p>
                  </a:txBody>
                  <a:tcPr marL="54864" marR="54864" marT="27432" marB="27432" anchor="ctr">
                    <a:solidFill>
                      <a:srgbClr val="F4F6FA"/>
                    </a:solidFill>
                  </a:tcPr>
                </a:tc>
                <a:tc>
                  <a:txBody>
                    <a:bodyPr/>
                    <a:lstStyle/>
                    <a:p>
                      <a:r>
                        <a:rPr sz="800" b="0">
                          <a:solidFill>
                            <a:srgbClr val="5A6472"/>
                          </a:solidFill>
                          <a:latin typeface="Sora"/>
                        </a:rPr>
                        <a:t>Cost Checker</a:t>
                      </a:r>
                    </a:p>
                  </a:txBody>
                  <a:tcPr marL="54864" marR="54864" marT="27432" marB="27432" anchor="ctr">
                    <a:solidFill>
                      <a:srgbClr val="F4F6FA"/>
                    </a:solidFill>
                  </a:tcPr>
                </a:tc>
                <a:tc>
                  <a:txBody>
                    <a:bodyPr/>
                    <a:lstStyle/>
                    <a:p>
                      <a:r>
                        <a:rPr sz="800" b="0">
                          <a:solidFill>
                            <a:srgbClr val="5A6472"/>
                          </a:solidFill>
                          <a:latin typeface="Sora"/>
                        </a:rPr>
                        <a:t>/mriirs &amp; /mru fee-structure</a:t>
                      </a:r>
                    </a:p>
                  </a:txBody>
                  <a:tcPr marL="54864" marR="54864" marT="27432" marB="27432" anchor="ctr">
                    <a:solidFill>
                      <a:srgbClr val="F4F6FA"/>
                    </a:solidFill>
                  </a:tcPr>
                </a:tc>
                <a:tc>
                  <a:txBody>
                    <a:bodyPr/>
                    <a:lstStyle/>
                    <a:p>
                      <a:r>
                        <a:rPr sz="800" b="0">
                          <a:solidFill>
                            <a:srgbClr val="5A6472"/>
                          </a:solidFill>
                          <a:latin typeface="Sora"/>
                        </a:rPr>
                        <a:t>Search misreturns; total in col 15 [audit]; 82 phone vs 31 submits [CSV]</a:t>
                      </a:r>
                    </a:p>
                  </a:txBody>
                  <a:tcPr marL="54864" marR="54864" marT="27432" marB="27432" anchor="ctr">
                    <a:solidFill>
                      <a:srgbClr val="F4F6FA"/>
                    </a:solidFill>
                  </a:tcPr>
                </a:tc>
                <a:tc>
                  <a:txBody>
                    <a:bodyPr/>
                    <a:lstStyle/>
                    <a:p>
                      <a:r>
                        <a:rPr sz="800" b="0">
                          <a:solidFill>
                            <a:srgbClr val="5A6472"/>
                          </a:solidFill>
                          <a:latin typeface="Sora"/>
                        </a:rPr>
                        <a:t>One fee card cuts effort and lifts contact</a:t>
                      </a:r>
                    </a:p>
                  </a:txBody>
                  <a:tcPr marL="54864" marR="54864" marT="27432" marB="27432" anchor="ctr">
                    <a:solidFill>
                      <a:srgbClr val="F4F6FA"/>
                    </a:solidFill>
                  </a:tcPr>
                </a:tc>
                <a:tc>
                  <a:txBody>
                    <a:bodyPr/>
                    <a:lstStyle/>
                    <a:p>
                      <a:r>
                        <a:rPr sz="800" b="0">
                          <a:solidFill>
                            <a:srgbClr val="5A6472"/>
                          </a:solidFill>
                          <a:latin typeface="Sora"/>
                        </a:rPr>
                        <a:t>Table + search</a:t>
                      </a:r>
                    </a:p>
                  </a:txBody>
                  <a:tcPr marL="54864" marR="54864" marT="27432" marB="27432" anchor="ctr">
                    <a:solidFill>
                      <a:srgbClr val="F4F6FA"/>
                    </a:solidFill>
                  </a:tcPr>
                </a:tc>
                <a:tc>
                  <a:txBody>
                    <a:bodyPr/>
                    <a:lstStyle/>
                    <a:p>
                      <a:r>
                        <a:rPr sz="800" b="0">
                          <a:solidFill>
                            <a:srgbClr val="0F2C5C"/>
                          </a:solidFill>
                          <a:latin typeface="Sora"/>
                        </a:rPr>
                        <a:t>School → programme → specialisation selector → card</a:t>
                      </a:r>
                    </a:p>
                  </a:txBody>
                  <a:tcPr marL="54864" marR="54864" marT="27432" marB="27432" anchor="ctr">
                    <a:solidFill>
                      <a:srgbClr val="F4F6FA"/>
                    </a:solidFill>
                  </a:tcPr>
                </a:tc>
                <a:tc>
                  <a:txBody>
                    <a:bodyPr/>
                    <a:lstStyle/>
                    <a:p>
                      <a:r>
                        <a:rPr sz="800" b="1">
                          <a:solidFill>
                            <a:srgbClr val="1E7B4F"/>
                          </a:solidFill>
                          <a:latin typeface="Sora"/>
                        </a:rPr>
                        <a:t>Leads (fee page)</a:t>
                      </a:r>
                    </a:p>
                  </a:txBody>
                  <a:tcPr marL="54864" marR="54864" marT="27432" marB="27432" anchor="ctr">
                    <a:solidFill>
                      <a:srgbClr val="E6F3EC"/>
                    </a:solidFill>
                  </a:tcPr>
                </a:tc>
                <a:tc>
                  <a:txBody>
                    <a:bodyPr/>
                    <a:lstStyle/>
                    <a:p>
                      <a:r>
                        <a:rPr sz="800" b="0">
                          <a:solidFill>
                            <a:srgbClr val="5A6472"/>
                          </a:solidFill>
                          <a:latin typeface="Sora"/>
                        </a:rPr>
                        <a:t>Phone clicks; fee→course return</a:t>
                      </a:r>
                    </a:p>
                  </a:txBody>
                  <a:tcPr marL="54864" marR="54864" marT="27432" marB="27432" anchor="ctr">
                    <a:solidFill>
                      <a:srgbClr val="F4F6FA"/>
                    </a:solidFill>
                  </a:tcPr>
                </a:tc>
                <a:tc>
                  <a:txBody>
                    <a:bodyPr/>
                    <a:lstStyle/>
                    <a:p>
                      <a:r>
                        <a:rPr sz="800" b="0">
                          <a:solidFill>
                            <a:srgbClr val="5A6472"/>
                          </a:solidFill>
                          <a:latin typeface="Sora"/>
                        </a:rPr>
                        <a:t>Engagement; fee→home exits</a:t>
                      </a:r>
                    </a:p>
                  </a:txBody>
                  <a:tcPr marL="54864" marR="54864" marT="27432" marB="27432" anchor="ctr">
                    <a:solidFill>
                      <a:srgbClr val="F4F6FA"/>
                    </a:solidFill>
                  </a:tcPr>
                </a:tc>
                <a:tc>
                  <a:txBody>
                    <a:bodyPr/>
                    <a:lstStyle/>
                    <a:p>
                      <a:r>
                        <a:rPr sz="800" b="1">
                          <a:solidFill>
                            <a:srgbClr val="0F2C5C"/>
                          </a:solidFill>
                          <a:latin typeface="Sora"/>
                        </a:rPr>
                        <a:t>M</a:t>
                      </a:r>
                    </a:p>
                  </a:txBody>
                  <a:tcPr marL="54864" marR="54864" marT="27432" marB="27432" anchor="ctr">
                    <a:solidFill>
                      <a:srgbClr val="F4F6FA"/>
                    </a:solidFill>
                  </a:tcPr>
                </a:tc>
              </a:tr>
              <a:tr h="905256">
                <a:tc>
                  <a:txBody>
                    <a:bodyPr/>
                    <a:lstStyle/>
                    <a:p>
                      <a:r>
                        <a:rPr sz="800" b="1">
                          <a:solidFill>
                            <a:srgbClr val="FFFFFF"/>
                          </a:solidFill>
                          <a:latin typeface="Sora"/>
                        </a:rPr>
                        <a:t>T2</a:t>
                      </a:r>
                    </a:p>
                  </a:txBody>
                  <a:tcPr marL="54864" marR="54864" marT="27432" marB="27432" anchor="ctr">
                    <a:solidFill>
                      <a:srgbClr val="C8102E"/>
                    </a:solidFill>
                  </a:tcPr>
                </a:tc>
                <a:tc>
                  <a:txBody>
                    <a:bodyPr/>
                    <a:lstStyle/>
                    <a:p>
                      <a:r>
                        <a:rPr sz="800" b="1">
                          <a:solidFill>
                            <a:srgbClr val="0F2C5C"/>
                          </a:solidFill>
                          <a:latin typeface="Sora"/>
                        </a:rPr>
                        <a:t>Next step under the fee</a:t>
                      </a:r>
                    </a:p>
                  </a:txBody>
                  <a:tcPr marL="54864" marR="54864" marT="27432" marB="27432" anchor="ctr">
                    <a:solidFill>
                      <a:srgbClr val="FFFFFF"/>
                    </a:solidFill>
                  </a:tcPr>
                </a:tc>
                <a:tc>
                  <a:txBody>
                    <a:bodyPr/>
                    <a:lstStyle/>
                    <a:p>
                      <a:r>
                        <a:rPr sz="800" b="0">
                          <a:solidFill>
                            <a:srgbClr val="5A6472"/>
                          </a:solidFill>
                          <a:latin typeface="Sora"/>
                        </a:rPr>
                        <a:t>Cost Checker</a:t>
                      </a:r>
                    </a:p>
                  </a:txBody>
                  <a:tcPr marL="54864" marR="54864" marT="27432" marB="27432" anchor="ctr">
                    <a:solidFill>
                      <a:srgbClr val="FFFFFF"/>
                    </a:solidFill>
                  </a:tcPr>
                </a:tc>
                <a:tc>
                  <a:txBody>
                    <a:bodyPr/>
                    <a:lstStyle/>
                    <a:p>
                      <a:r>
                        <a:rPr sz="800" b="0">
                          <a:solidFill>
                            <a:srgbClr val="5A6472"/>
                          </a:solidFill>
                          <a:latin typeface="Sora"/>
                        </a:rPr>
                        <a:t>Fee-structure</a:t>
                      </a:r>
                    </a:p>
                  </a:txBody>
                  <a:tcPr marL="54864" marR="54864" marT="27432" marB="27432" anchor="ctr">
                    <a:solidFill>
                      <a:srgbClr val="FFFFFF"/>
                    </a:solidFill>
                  </a:tcPr>
                </a:tc>
                <a:tc>
                  <a:txBody>
                    <a:bodyPr/>
                    <a:lstStyle/>
                    <a:p>
                      <a:r>
                        <a:rPr sz="800" b="0">
                          <a:solidFill>
                            <a:srgbClr val="5A6472"/>
                          </a:solidFill>
                          <a:latin typeface="Sora"/>
                        </a:rPr>
                        <a:t>Eligibility 7–201, aid 4–71 as next steps [GA4]</a:t>
                      </a:r>
                    </a:p>
                  </a:txBody>
                  <a:tcPr marL="54864" marR="54864" marT="27432" marB="27432" anchor="ctr">
                    <a:solidFill>
                      <a:srgbClr val="FFFFFF"/>
                    </a:solidFill>
                  </a:tcPr>
                </a:tc>
                <a:tc>
                  <a:txBody>
                    <a:bodyPr/>
                    <a:lstStyle/>
                    <a:p>
                      <a:r>
                        <a:rPr sz="800" b="0">
                          <a:solidFill>
                            <a:srgbClr val="5A6472"/>
                          </a:solidFill>
                          <a:latin typeface="Sora"/>
                        </a:rPr>
                        <a:t>A “for this programme” block converts leaking intent</a:t>
                      </a:r>
                    </a:p>
                  </a:txBody>
                  <a:tcPr marL="54864" marR="54864" marT="27432" marB="27432" anchor="ctr">
                    <a:solidFill>
                      <a:srgbClr val="FFFFFF"/>
                    </a:solidFill>
                  </a:tcPr>
                </a:tc>
                <a:tc>
                  <a:txBody>
                    <a:bodyPr/>
                    <a:lstStyle/>
                    <a:p>
                      <a:r>
                        <a:rPr sz="800" b="0">
                          <a:solidFill>
                            <a:srgbClr val="5A6472"/>
                          </a:solidFill>
                          <a:latin typeface="Sora"/>
                        </a:rPr>
                        <a:t>Generic sticky Apply / Enquire</a:t>
                      </a:r>
                    </a:p>
                  </a:txBody>
                  <a:tcPr marL="54864" marR="54864" marT="27432" marB="27432" anchor="ctr">
                    <a:solidFill>
                      <a:srgbClr val="FFFFFF"/>
                    </a:solidFill>
                  </a:tcPr>
                </a:tc>
                <a:tc>
                  <a:txBody>
                    <a:bodyPr/>
                    <a:lstStyle/>
                    <a:p>
                      <a:r>
                        <a:rPr sz="800" b="0">
                          <a:solidFill>
                            <a:srgbClr val="0F2C5C"/>
                          </a:solidFill>
                          <a:latin typeface="Sora"/>
                        </a:rPr>
                        <a:t>Call · check eligibility · apply for this programme</a:t>
                      </a:r>
                    </a:p>
                  </a:txBody>
                  <a:tcPr marL="54864" marR="54864" marT="27432" marB="27432" anchor="ctr">
                    <a:solidFill>
                      <a:srgbClr val="FFFFFF"/>
                    </a:solidFill>
                  </a:tcPr>
                </a:tc>
                <a:tc>
                  <a:txBody>
                    <a:bodyPr/>
                    <a:lstStyle/>
                    <a:p>
                      <a:r>
                        <a:rPr sz="800" b="1">
                          <a:solidFill>
                            <a:srgbClr val="1E7B4F"/>
                          </a:solidFill>
                          <a:latin typeface="Sora"/>
                        </a:rPr>
                        <a:t>Leads</a:t>
                      </a:r>
                    </a:p>
                  </a:txBody>
                  <a:tcPr marL="54864" marR="54864" marT="27432" marB="27432" anchor="ctr">
                    <a:solidFill>
                      <a:srgbClr val="E6F3EC"/>
                    </a:solidFill>
                  </a:tcPr>
                </a:tc>
                <a:tc>
                  <a:txBody>
                    <a:bodyPr/>
                    <a:lstStyle/>
                    <a:p>
                      <a:r>
                        <a:rPr sz="800" b="0">
                          <a:solidFill>
                            <a:srgbClr val="5A6472"/>
                          </a:solidFill>
                          <a:latin typeface="Sora"/>
                        </a:rPr>
                        <a:t>Eligibility progression; phone</a:t>
                      </a:r>
                    </a:p>
                  </a:txBody>
                  <a:tcPr marL="54864" marR="54864" marT="27432" marB="27432" anchor="ctr">
                    <a:solidFill>
                      <a:srgbClr val="FFFFFF"/>
                    </a:solidFill>
                  </a:tcPr>
                </a:tc>
                <a:tc>
                  <a:txBody>
                    <a:bodyPr/>
                    <a:lstStyle/>
                    <a:p>
                      <a:r>
                        <a:rPr sz="800" b="0">
                          <a:solidFill>
                            <a:srgbClr val="5A6472"/>
                          </a:solidFill>
                          <a:latin typeface="Sora"/>
                        </a:rPr>
                        <a:t>Total contact actions</a:t>
                      </a:r>
                    </a:p>
                  </a:txBody>
                  <a:tcPr marL="54864" marR="54864" marT="27432" marB="27432" anchor="ctr">
                    <a:solidFill>
                      <a:srgbClr val="FFFFFF"/>
                    </a:solidFill>
                  </a:tcPr>
                </a:tc>
                <a:tc>
                  <a:txBody>
                    <a:bodyPr/>
                    <a:lstStyle/>
                    <a:p>
                      <a:r>
                        <a:rPr sz="800" b="1">
                          <a:solidFill>
                            <a:srgbClr val="0F2C5C"/>
                          </a:solidFill>
                          <a:latin typeface="Sora"/>
                        </a:rPr>
                        <a:t>S</a:t>
                      </a:r>
                    </a:p>
                  </a:txBody>
                  <a:tcPr marL="54864" marR="54864" marT="27432" marB="27432" anchor="ctr">
                    <a:solidFill>
                      <a:srgbClr val="FFFFFF"/>
                    </a:solidFill>
                  </a:tcPr>
                </a:tc>
              </a:tr>
              <a:tr h="905256">
                <a:tc>
                  <a:txBody>
                    <a:bodyPr/>
                    <a:lstStyle/>
                    <a:p>
                      <a:r>
                        <a:rPr sz="800" b="1">
                          <a:solidFill>
                            <a:srgbClr val="FFFFFF"/>
                          </a:solidFill>
                          <a:latin typeface="Sora"/>
                        </a:rPr>
                        <a:t>T3</a:t>
                      </a:r>
                    </a:p>
                  </a:txBody>
                  <a:tcPr marL="54864" marR="54864" marT="27432" marB="27432" anchor="ctr">
                    <a:solidFill>
                      <a:srgbClr val="C8102E"/>
                    </a:solidFill>
                  </a:tcPr>
                </a:tc>
                <a:tc>
                  <a:txBody>
                    <a:bodyPr/>
                    <a:lstStyle/>
                    <a:p>
                      <a:r>
                        <a:rPr sz="800" b="1">
                          <a:solidFill>
                            <a:srgbClr val="0F2C5C"/>
                          </a:solidFill>
                          <a:latin typeface="Sora"/>
                        </a:rPr>
                        <a:t>Callback card</a:t>
                      </a:r>
                    </a:p>
                  </a:txBody>
                  <a:tcPr marL="54864" marR="54864" marT="27432" marB="27432" anchor="ctr">
                    <a:solidFill>
                      <a:srgbClr val="F4F6FA"/>
                    </a:solidFill>
                  </a:tcPr>
                </a:tc>
                <a:tc>
                  <a:txBody>
                    <a:bodyPr/>
                    <a:lstStyle/>
                    <a:p>
                      <a:r>
                        <a:rPr sz="800" b="0">
                          <a:solidFill>
                            <a:srgbClr val="5A6472"/>
                          </a:solidFill>
                          <a:latin typeface="Sora"/>
                        </a:rPr>
                        <a:t>Cost Checker</a:t>
                      </a:r>
                    </a:p>
                  </a:txBody>
                  <a:tcPr marL="54864" marR="54864" marT="27432" marB="27432" anchor="ctr">
                    <a:solidFill>
                      <a:srgbClr val="F4F6FA"/>
                    </a:solidFill>
                  </a:tcPr>
                </a:tc>
                <a:tc>
                  <a:txBody>
                    <a:bodyPr/>
                    <a:lstStyle/>
                    <a:p>
                      <a:r>
                        <a:rPr sz="800" b="0">
                          <a:solidFill>
                            <a:srgbClr val="5A6472"/>
                          </a:solidFill>
                          <a:latin typeface="Sora"/>
                        </a:rPr>
                        <a:t>Fee-structure (mobile)</a:t>
                      </a:r>
                    </a:p>
                  </a:txBody>
                  <a:tcPr marL="54864" marR="54864" marT="27432" marB="27432" anchor="ctr">
                    <a:solidFill>
                      <a:srgbClr val="F4F6FA"/>
                    </a:solidFill>
                  </a:tcPr>
                </a:tc>
                <a:tc>
                  <a:txBody>
                    <a:bodyPr/>
                    <a:lstStyle/>
                    <a:p>
                      <a:r>
                        <a:rPr sz="800" b="0">
                          <a:solidFill>
                            <a:srgbClr val="5A6472"/>
                          </a:solidFill>
                          <a:latin typeface="Sora"/>
                        </a:rPr>
                        <a:t>12.5% of phone clicks from 6.7% of landings [CSV]</a:t>
                      </a:r>
                    </a:p>
                  </a:txBody>
                  <a:tcPr marL="54864" marR="54864" marT="27432" marB="27432" anchor="ctr">
                    <a:solidFill>
                      <a:srgbClr val="F4F6FA"/>
                    </a:solidFill>
                  </a:tcPr>
                </a:tc>
                <a:tc>
                  <a:txBody>
                    <a:bodyPr/>
                    <a:lstStyle/>
                    <a:p>
                      <a:r>
                        <a:rPr sz="800" b="0">
                          <a:solidFill>
                            <a:srgbClr val="5A6472"/>
                          </a:solidFill>
                          <a:latin typeface="Sora"/>
                        </a:rPr>
                        <a:t>An explicit phone route + callback raises contact</a:t>
                      </a:r>
                    </a:p>
                  </a:txBody>
                  <a:tcPr marL="54864" marR="54864" marT="27432" marB="27432" anchor="ctr">
                    <a:solidFill>
                      <a:srgbClr val="F4F6FA"/>
                    </a:solidFill>
                  </a:tcPr>
                </a:tc>
                <a:tc>
                  <a:txBody>
                    <a:bodyPr/>
                    <a:lstStyle/>
                    <a:p>
                      <a:r>
                        <a:rPr sz="800" b="0">
                          <a:solidFill>
                            <a:srgbClr val="5A6472"/>
                          </a:solidFill>
                          <a:latin typeface="Sora"/>
                        </a:rPr>
                        <a:t>Footer number only</a:t>
                      </a:r>
                    </a:p>
                  </a:txBody>
                  <a:tcPr marL="54864" marR="54864" marT="27432" marB="27432" anchor="ctr">
                    <a:solidFill>
                      <a:srgbClr val="F4F6FA"/>
                    </a:solidFill>
                  </a:tcPr>
                </a:tc>
                <a:tc>
                  <a:txBody>
                    <a:bodyPr/>
                    <a:lstStyle/>
                    <a:p>
                      <a:r>
                        <a:rPr sz="800" b="0">
                          <a:solidFill>
                            <a:srgbClr val="0F2C5C"/>
                          </a:solidFill>
                          <a:latin typeface="Sora"/>
                        </a:rPr>
                        <a:t>Tap-to-call + callback request beside the fee</a:t>
                      </a:r>
                    </a:p>
                  </a:txBody>
                  <a:tcPr marL="54864" marR="54864" marT="27432" marB="27432" anchor="ctr">
                    <a:solidFill>
                      <a:srgbClr val="F4F6FA"/>
                    </a:solidFill>
                  </a:tcPr>
                </a:tc>
                <a:tc>
                  <a:txBody>
                    <a:bodyPr/>
                    <a:lstStyle/>
                    <a:p>
                      <a:r>
                        <a:rPr sz="800" b="1">
                          <a:solidFill>
                            <a:srgbClr val="1E7B4F"/>
                          </a:solidFill>
                          <a:latin typeface="Sora"/>
                        </a:rPr>
                        <a:t>Leads (callback)</a:t>
                      </a:r>
                    </a:p>
                  </a:txBody>
                  <a:tcPr marL="54864" marR="54864" marT="27432" marB="27432" anchor="ctr">
                    <a:solidFill>
                      <a:srgbClr val="E6F3EC"/>
                    </a:solidFill>
                  </a:tcPr>
                </a:tc>
                <a:tc>
                  <a:txBody>
                    <a:bodyPr/>
                    <a:lstStyle/>
                    <a:p>
                      <a:r>
                        <a:rPr sz="800" b="0">
                          <a:solidFill>
                            <a:srgbClr val="5A6472"/>
                          </a:solidFill>
                          <a:latin typeface="Sora"/>
                        </a:rPr>
                        <a:t>Phone clicks</a:t>
                      </a:r>
                    </a:p>
                  </a:txBody>
                  <a:tcPr marL="54864" marR="54864" marT="27432" marB="27432" anchor="ctr">
                    <a:solidFill>
                      <a:srgbClr val="F4F6FA"/>
                    </a:solidFill>
                  </a:tcPr>
                </a:tc>
                <a:tc>
                  <a:txBody>
                    <a:bodyPr/>
                    <a:lstStyle/>
                    <a:p>
                      <a:r>
                        <a:rPr sz="800" b="0">
                          <a:solidFill>
                            <a:srgbClr val="5A6472"/>
                          </a:solidFill>
                          <a:latin typeface="Sora"/>
                        </a:rPr>
                        <a:t>Form submits</a:t>
                      </a:r>
                    </a:p>
                  </a:txBody>
                  <a:tcPr marL="54864" marR="54864" marT="27432" marB="27432" anchor="ctr">
                    <a:solidFill>
                      <a:srgbClr val="F4F6FA"/>
                    </a:solidFill>
                  </a:tcPr>
                </a:tc>
                <a:tc>
                  <a:txBody>
                    <a:bodyPr/>
                    <a:lstStyle/>
                    <a:p>
                      <a:r>
                        <a:rPr sz="800" b="1">
                          <a:solidFill>
                            <a:srgbClr val="0F2C5C"/>
                          </a:solidFill>
                          <a:latin typeface="Sora"/>
                        </a:rPr>
                        <a:t>S</a:t>
                      </a:r>
                    </a:p>
                  </a:txBody>
                  <a:tcPr marL="54864" marR="54864" marT="27432" marB="27432" anchor="ctr">
                    <a:solidFill>
                      <a:srgbClr val="F4F6FA"/>
                    </a:solidFill>
                  </a:tcPr>
                </a:tc>
              </a:tr>
              <a:tr h="905256">
                <a:tc>
                  <a:txBody>
                    <a:bodyPr/>
                    <a:lstStyle/>
                    <a:p>
                      <a:r>
                        <a:rPr sz="800" b="1">
                          <a:solidFill>
                            <a:srgbClr val="FFFFFF"/>
                          </a:solidFill>
                          <a:latin typeface="Sora"/>
                        </a:rPr>
                        <a:t>T4</a:t>
                      </a:r>
                    </a:p>
                  </a:txBody>
                  <a:tcPr marL="54864" marR="54864" marT="27432" marB="27432" anchor="ctr">
                    <a:solidFill>
                      <a:srgbClr val="C8102E"/>
                    </a:solidFill>
                  </a:tcPr>
                </a:tc>
                <a:tc>
                  <a:txBody>
                    <a:bodyPr/>
                    <a:lstStyle/>
                    <a:p>
                      <a:r>
                        <a:rPr sz="800" b="1">
                          <a:solidFill>
                            <a:srgbClr val="0F2C5C"/>
                          </a:solidFill>
                          <a:latin typeface="Sora"/>
                        </a:rPr>
                        <a:t>Pre-filtered fee link</a:t>
                      </a:r>
                    </a:p>
                  </a:txBody>
                  <a:tcPr marL="54864" marR="54864" marT="27432" marB="27432" anchor="ctr">
                    <a:solidFill>
                      <a:srgbClr val="FFFFFF"/>
                    </a:solidFill>
                  </a:tcPr>
                </a:tc>
                <a:tc>
                  <a:txBody>
                    <a:bodyPr/>
                    <a:lstStyle/>
                    <a:p>
                      <a:r>
                        <a:rPr sz="800" b="0">
                          <a:solidFill>
                            <a:srgbClr val="5A6472"/>
                          </a:solidFill>
                          <a:latin typeface="Sora"/>
                        </a:rPr>
                        <a:t>Course Researcher</a:t>
                      </a:r>
                    </a:p>
                  </a:txBody>
                  <a:tcPr marL="54864" marR="54864" marT="27432" marB="27432" anchor="ctr">
                    <a:solidFill>
                      <a:srgbClr val="FFFFFF"/>
                    </a:solidFill>
                  </a:tcPr>
                </a:tc>
                <a:tc>
                  <a:txBody>
                    <a:bodyPr/>
                    <a:lstStyle/>
                    <a:p>
                      <a:r>
                        <a:rPr sz="800" b="0">
                          <a:solidFill>
                            <a:srgbClr val="5A6472"/>
                          </a:solidFill>
                          <a:latin typeface="Sora"/>
                        </a:rPr>
                        <a:t>CSE → fee-structure</a:t>
                      </a:r>
                    </a:p>
                  </a:txBody>
                  <a:tcPr marL="54864" marR="54864" marT="27432" marB="27432" anchor="ctr">
                    <a:solidFill>
                      <a:srgbClr val="FFFFFF"/>
                    </a:solidFill>
                  </a:tcPr>
                </a:tc>
                <a:tc>
                  <a:txBody>
                    <a:bodyPr/>
                    <a:lstStyle/>
                    <a:p>
                      <a:r>
                        <a:rPr sz="800" b="0">
                          <a:solidFill>
                            <a:srgbClr val="5A6472"/>
                          </a:solidFill>
                          <a:latin typeface="Sora"/>
                        </a:rPr>
                        <a:t>70% of fee entries from CSE; 99.3% return [GA4]</a:t>
                      </a:r>
                    </a:p>
                  </a:txBody>
                  <a:tcPr marL="54864" marR="54864" marT="27432" marB="27432" anchor="ctr">
                    <a:solidFill>
                      <a:srgbClr val="FFFFFF"/>
                    </a:solidFill>
                  </a:tcPr>
                </a:tc>
                <a:tc>
                  <a:txBody>
                    <a:bodyPr/>
                    <a:lstStyle/>
                    <a:p>
                      <a:r>
                        <a:rPr sz="800" b="0">
                          <a:solidFill>
                            <a:srgbClr val="5A6472"/>
                          </a:solidFill>
                          <a:latin typeface="Sora"/>
                        </a:rPr>
                        <a:t>Landing on the CSE row cuts round-trip effort</a:t>
                      </a:r>
                    </a:p>
                  </a:txBody>
                  <a:tcPr marL="54864" marR="54864" marT="27432" marB="27432" anchor="ctr">
                    <a:solidFill>
                      <a:srgbClr val="FFFFFF"/>
                    </a:solidFill>
                  </a:tcPr>
                </a:tc>
                <a:tc>
                  <a:txBody>
                    <a:bodyPr/>
                    <a:lstStyle/>
                    <a:p>
                      <a:r>
                        <a:rPr sz="800" b="0">
                          <a:solidFill>
                            <a:srgbClr val="5A6472"/>
                          </a:solidFill>
                          <a:latin typeface="Sora"/>
                        </a:rPr>
                        <a:t>Generic fee link</a:t>
                      </a:r>
                    </a:p>
                  </a:txBody>
                  <a:tcPr marL="54864" marR="54864" marT="27432" marB="27432" anchor="ctr">
                    <a:solidFill>
                      <a:srgbClr val="FFFFFF"/>
                    </a:solidFill>
                  </a:tcPr>
                </a:tc>
                <a:tc>
                  <a:txBody>
                    <a:bodyPr/>
                    <a:lstStyle/>
                    <a:p>
                      <a:r>
                        <a:rPr sz="800" b="0">
                          <a:solidFill>
                            <a:srgbClr val="0F2C5C"/>
                          </a:solidFill>
                          <a:latin typeface="Sora"/>
                        </a:rPr>
                        <a:t>?programme=btech-cse pre-filtered</a:t>
                      </a:r>
                    </a:p>
                  </a:txBody>
                  <a:tcPr marL="54864" marR="54864" marT="27432" marB="27432" anchor="ctr">
                    <a:solidFill>
                      <a:srgbClr val="FFFFFF"/>
                    </a:solidFill>
                  </a:tcPr>
                </a:tc>
                <a:tc>
                  <a:txBody>
                    <a:bodyPr/>
                    <a:lstStyle/>
                    <a:p>
                      <a:r>
                        <a:rPr sz="800" b="1">
                          <a:solidFill>
                            <a:srgbClr val="1E7B4F"/>
                          </a:solidFill>
                          <a:latin typeface="Sora"/>
                        </a:rPr>
                        <a:t>Leads (CSE + fee)</a:t>
                      </a:r>
                    </a:p>
                  </a:txBody>
                  <a:tcPr marL="54864" marR="54864" marT="27432" marB="27432" anchor="ctr">
                    <a:solidFill>
                      <a:srgbClr val="E6F3EC"/>
                    </a:solidFill>
                  </a:tcPr>
                </a:tc>
                <a:tc>
                  <a:txBody>
                    <a:bodyPr/>
                    <a:lstStyle/>
                    <a:p>
                      <a:r>
                        <a:rPr sz="800" b="0">
                          <a:solidFill>
                            <a:srgbClr val="5A6472"/>
                          </a:solidFill>
                          <a:latin typeface="Sora"/>
                        </a:rPr>
                        <a:t>Round-trip count</a:t>
                      </a:r>
                    </a:p>
                  </a:txBody>
                  <a:tcPr marL="54864" marR="54864" marT="27432" marB="27432" anchor="ctr">
                    <a:solidFill>
                      <a:srgbClr val="FFFFFF"/>
                    </a:solidFill>
                  </a:tcPr>
                </a:tc>
                <a:tc>
                  <a:txBody>
                    <a:bodyPr/>
                    <a:lstStyle/>
                    <a:p>
                      <a:r>
                        <a:rPr sz="800" b="0">
                          <a:solidFill>
                            <a:srgbClr val="5A6472"/>
                          </a:solidFill>
                          <a:latin typeface="Sora"/>
                        </a:rPr>
                        <a:t>Fee-page engagement</a:t>
                      </a:r>
                    </a:p>
                  </a:txBody>
                  <a:tcPr marL="54864" marR="54864" marT="27432" marB="27432" anchor="ctr">
                    <a:solidFill>
                      <a:srgbClr val="FFFFFF"/>
                    </a:solidFill>
                  </a:tcPr>
                </a:tc>
                <a:tc>
                  <a:txBody>
                    <a:bodyPr/>
                    <a:lstStyle/>
                    <a:p>
                      <a:r>
                        <a:rPr sz="800" b="1">
                          <a:solidFill>
                            <a:srgbClr val="0F2C5C"/>
                          </a:solidFill>
                          <a:latin typeface="Sora"/>
                        </a:rPr>
                        <a:t>M</a:t>
                      </a:r>
                    </a:p>
                  </a:txBody>
                  <a:tcPr marL="54864" marR="54864" marT="27432" marB="27432" anchor="ctr">
                    <a:solidFill>
                      <a:srgbClr val="FFFFFF"/>
                    </a:solidFill>
                  </a:tcPr>
                </a:tc>
              </a:tr>
              <a:tr h="905256">
                <a:tc>
                  <a:txBody>
                    <a:bodyPr/>
                    <a:lstStyle/>
                    <a:p>
                      <a:r>
                        <a:rPr sz="800" b="1">
                          <a:solidFill>
                            <a:srgbClr val="FFFFFF"/>
                          </a:solidFill>
                          <a:latin typeface="Sora"/>
                        </a:rPr>
                        <a:t>T5</a:t>
                      </a:r>
                    </a:p>
                  </a:txBody>
                  <a:tcPr marL="54864" marR="54864" marT="27432" marB="27432" anchor="ctr">
                    <a:solidFill>
                      <a:srgbClr val="C8102E"/>
                    </a:solidFill>
                  </a:tcPr>
                </a:tc>
                <a:tc>
                  <a:txBody>
                    <a:bodyPr/>
                    <a:lstStyle/>
                    <a:p>
                      <a:r>
                        <a:rPr sz="800" b="1">
                          <a:solidFill>
                            <a:srgbClr val="0F2C5C"/>
                          </a:solidFill>
                          <a:latin typeface="Sora"/>
                        </a:rPr>
                        <a:t>Fee summary at decision height</a:t>
                      </a:r>
                    </a:p>
                  </a:txBody>
                  <a:tcPr marL="54864" marR="54864" marT="27432" marB="27432" anchor="ctr">
                    <a:solidFill>
                      <a:srgbClr val="F4F6FA"/>
                    </a:solidFill>
                  </a:tcPr>
                </a:tc>
                <a:tc>
                  <a:txBody>
                    <a:bodyPr/>
                    <a:lstStyle/>
                    <a:p>
                      <a:r>
                        <a:rPr sz="800" b="0">
                          <a:solidFill>
                            <a:srgbClr val="5A6472"/>
                          </a:solidFill>
                          <a:latin typeface="Sora"/>
                        </a:rPr>
                        <a:t>Course Researcher</a:t>
                      </a:r>
                    </a:p>
                  </a:txBody>
                  <a:tcPr marL="54864" marR="54864" marT="27432" marB="27432" anchor="ctr">
                    <a:solidFill>
                      <a:srgbClr val="F4F6FA"/>
                    </a:solidFill>
                  </a:tcPr>
                </a:tc>
                <a:tc>
                  <a:txBody>
                    <a:bodyPr/>
                    <a:lstStyle/>
                    <a:p>
                      <a:r>
                        <a:rPr sz="800" b="0">
                          <a:solidFill>
                            <a:srgbClr val="5A6472"/>
                          </a:solidFill>
                          <a:latin typeface="Sora"/>
                        </a:rPr>
                        <a:t>Course template</a:t>
                      </a:r>
                    </a:p>
                  </a:txBody>
                  <a:tcPr marL="54864" marR="54864" marT="27432" marB="27432" anchor="ctr">
                    <a:solidFill>
                      <a:srgbClr val="F4F6FA"/>
                    </a:solidFill>
                  </a:tcPr>
                </a:tc>
                <a:tc>
                  <a:txBody>
                    <a:bodyPr/>
                    <a:lstStyle/>
                    <a:p>
                      <a:r>
                        <a:rPr sz="800" b="0">
                          <a:solidFill>
                            <a:srgbClr val="5A6472"/>
                          </a:solidFill>
                          <a:latin typeface="Sora"/>
                        </a:rPr>
                        <a:t>84.3% onward to fees; fee block ~13 screens down [GA4 + audit]</a:t>
                      </a:r>
                    </a:p>
                  </a:txBody>
                  <a:tcPr marL="54864" marR="54864" marT="27432" marB="27432" anchor="ctr">
                    <a:solidFill>
                      <a:srgbClr val="F4F6FA"/>
                    </a:solidFill>
                  </a:tcPr>
                </a:tc>
                <a:tc>
                  <a:txBody>
                    <a:bodyPr/>
                    <a:lstStyle/>
                    <a:p>
                      <a:r>
                        <a:rPr sz="800" b="0">
                          <a:solidFill>
                            <a:srgbClr val="5A6472"/>
                          </a:solidFill>
                          <a:latin typeface="Sora"/>
                        </a:rPr>
                        <a:t>A complete fee summary high up reduces round-trips</a:t>
                      </a:r>
                    </a:p>
                  </a:txBody>
                  <a:tcPr marL="54864" marR="54864" marT="27432" marB="27432" anchor="ctr">
                    <a:solidFill>
                      <a:srgbClr val="F4F6FA"/>
                    </a:solidFill>
                  </a:tcPr>
                </a:tc>
                <a:tc>
                  <a:txBody>
                    <a:bodyPr/>
                    <a:lstStyle/>
                    <a:p>
                      <a:r>
                        <a:rPr sz="800" b="0">
                          <a:solidFill>
                            <a:srgbClr val="5A6472"/>
                          </a:solidFill>
                          <a:latin typeface="Sora"/>
                        </a:rPr>
                        <a:t>“Fee Details” anchors to bottom block</a:t>
                      </a:r>
                    </a:p>
                  </a:txBody>
                  <a:tcPr marL="54864" marR="54864" marT="27432" marB="27432" anchor="ctr">
                    <a:solidFill>
                      <a:srgbClr val="F4F6FA"/>
                    </a:solidFill>
                  </a:tcPr>
                </a:tc>
                <a:tc>
                  <a:txBody>
                    <a:bodyPr/>
                    <a:lstStyle/>
                    <a:p>
                      <a:r>
                        <a:rPr sz="800" b="0">
                          <a:solidFill>
                            <a:srgbClr val="0F2C5C"/>
                          </a:solidFill>
                          <a:latin typeface="Sora"/>
                        </a:rPr>
                        <a:t>Inline summary in fold 2 (total, installments, variants)</a:t>
                      </a:r>
                    </a:p>
                  </a:txBody>
                  <a:tcPr marL="54864" marR="54864" marT="27432" marB="27432" anchor="ctr">
                    <a:solidFill>
                      <a:srgbClr val="F4F6FA"/>
                    </a:solidFill>
                  </a:tcPr>
                </a:tc>
                <a:tc>
                  <a:txBody>
                    <a:bodyPr/>
                    <a:lstStyle/>
                    <a:p>
                      <a:r>
                        <a:rPr sz="800" b="1">
                          <a:solidFill>
                            <a:srgbClr val="1E7B4F"/>
                          </a:solidFill>
                          <a:latin typeface="Sora"/>
                        </a:rPr>
                        <a:t>Leads (course page)</a:t>
                      </a:r>
                    </a:p>
                  </a:txBody>
                  <a:tcPr marL="54864" marR="54864" marT="27432" marB="27432" anchor="ctr">
                    <a:solidFill>
                      <a:srgbClr val="E6F3EC"/>
                    </a:solidFill>
                  </a:tcPr>
                </a:tc>
                <a:tc>
                  <a:txBody>
                    <a:bodyPr/>
                    <a:lstStyle/>
                    <a:p>
                      <a:r>
                        <a:rPr sz="800" b="0">
                          <a:solidFill>
                            <a:srgbClr val="5A6472"/>
                          </a:solidFill>
                          <a:latin typeface="Sora"/>
                        </a:rPr>
                        <a:t>Fee-page exit share</a:t>
                      </a:r>
                    </a:p>
                  </a:txBody>
                  <a:tcPr marL="54864" marR="54864" marT="27432" marB="27432" anchor="ctr">
                    <a:solidFill>
                      <a:srgbClr val="F4F6FA"/>
                    </a:solidFill>
                  </a:tcPr>
                </a:tc>
                <a:tc>
                  <a:txBody>
                    <a:bodyPr/>
                    <a:lstStyle/>
                    <a:p>
                      <a:r>
                        <a:rPr sz="800" b="0">
                          <a:solidFill>
                            <a:srgbClr val="5A6472"/>
                          </a:solidFill>
                          <a:latin typeface="Sora"/>
                        </a:rPr>
                        <a:t>Scroll / engagement</a:t>
                      </a:r>
                    </a:p>
                  </a:txBody>
                  <a:tcPr marL="54864" marR="54864" marT="27432" marB="27432" anchor="ctr">
                    <a:solidFill>
                      <a:srgbClr val="F4F6FA"/>
                    </a:solidFill>
                  </a:tcPr>
                </a:tc>
                <a:tc>
                  <a:txBody>
                    <a:bodyPr/>
                    <a:lstStyle/>
                    <a:p>
                      <a:r>
                        <a:rPr sz="800" b="1">
                          <a:solidFill>
                            <a:srgbClr val="0F2C5C"/>
                          </a:solidFill>
                          <a:latin typeface="Sora"/>
                        </a:rPr>
                        <a:t>M</a:t>
                      </a:r>
                    </a:p>
                  </a:txBody>
                  <a:tcPr marL="54864" marR="54864" marT="27432" marB="27432" anchor="ctr">
                    <a:solidFill>
                      <a:srgbClr val="F4F6FA"/>
                    </a:solidFill>
                  </a:tcPr>
                </a:tc>
              </a:tr>
            </a:tbl>
          </a:graphicData>
        </a:graphic>
      </p:graphicFrame>
      <p:sp>
        <p:nvSpPr>
          <p:cNvPr id="6" name="TextBox 5"/>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Evidence tags: [GA4] = explorations used in this deck, 13 Jun – 10 Sept 2026 · [CSV] = GA4 event export by page type · [audit] = live site, 24 Sept 2026. Effort: S = content/config, M = template change.</a:t>
            </a:r>
          </a:p>
        </p:txBody>
      </p:sp>
      <p:sp>
        <p:nvSpPr>
          <p:cNvPr id="7" name="Rounded Rectangle 6"/>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EXPERIMENTATION  ·  A/B TEST BACKLOG  (2/3)</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Every test starts from a behaviour we observed</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Primary KPI hierarchy: 1) leads  2) meaningful micro-conversion  3) progression. Tests run after Phase 0.</a:t>
            </a:r>
          </a:p>
        </p:txBody>
      </p:sp>
      <p:graphicFrame>
        <p:nvGraphicFramePr>
          <p:cNvPr id="5" name="Table 4"/>
          <p:cNvGraphicFramePr>
            <a:graphicFrameLocks noGrp="1"/>
          </p:cNvGraphicFramePr>
          <p:nvPr/>
        </p:nvGraphicFramePr>
        <p:xfrm>
          <a:off x="548640" y="1463040"/>
          <a:ext cx="11064240" cy="4846320"/>
        </p:xfrm>
        <a:graphic>
          <a:graphicData uri="http://schemas.openxmlformats.org/drawingml/2006/table">
            <a:tbl>
              <a:tblPr firstRow="1" bandRow="1">
                <a:tableStyleId>{5C22544A-7EE6-4342-B048-85BDC9FD1C3A}</a:tableStyleId>
              </a:tblPr>
              <a:tblGrid>
                <a:gridCol w="347472"/>
                <a:gridCol w="960120"/>
                <a:gridCol w="822960"/>
                <a:gridCol w="914400"/>
                <a:gridCol w="1508760"/>
                <a:gridCol w="1325880"/>
                <a:gridCol w="914400"/>
                <a:gridCol w="1371600"/>
                <a:gridCol w="777240"/>
                <a:gridCol w="868680"/>
                <a:gridCol w="822960"/>
                <a:gridCol w="429768"/>
              </a:tblGrid>
              <a:tr h="320040">
                <a:tc>
                  <a:txBody>
                    <a:bodyPr/>
                    <a:lstStyle/>
                    <a:p>
                      <a:r>
                        <a:rPr sz="750" b="1">
                          <a:solidFill>
                            <a:srgbClr val="FFFFFF"/>
                          </a:solidFill>
                          <a:latin typeface="Sora"/>
                        </a:rPr>
                        <a:t>#</a:t>
                      </a:r>
                    </a:p>
                  </a:txBody>
                  <a:tcPr marL="54864" marR="54864" marT="27432" marB="27432" anchor="ctr">
                    <a:solidFill>
                      <a:srgbClr val="0F2C5C"/>
                    </a:solidFill>
                  </a:tcPr>
                </a:tc>
                <a:tc>
                  <a:txBody>
                    <a:bodyPr/>
                    <a:lstStyle/>
                    <a:p>
                      <a:r>
                        <a:rPr sz="750" b="1">
                          <a:solidFill>
                            <a:srgbClr val="FFFFFF"/>
                          </a:solidFill>
                          <a:latin typeface="Sora"/>
                        </a:rPr>
                        <a:t>Test</a:t>
                      </a:r>
                    </a:p>
                  </a:txBody>
                  <a:tcPr marL="54864" marR="54864" marT="27432" marB="27432" anchor="ctr">
                    <a:solidFill>
                      <a:srgbClr val="0F2C5C"/>
                    </a:solidFill>
                  </a:tcPr>
                </a:tc>
                <a:tc>
                  <a:txBody>
                    <a:bodyPr/>
                    <a:lstStyle/>
                    <a:p>
                      <a:r>
                        <a:rPr sz="750" b="1">
                          <a:solidFill>
                            <a:srgbClr val="FFFFFF"/>
                          </a:solidFill>
                          <a:latin typeface="Sora"/>
                        </a:rPr>
                        <a:t>Persona</a:t>
                      </a:r>
                    </a:p>
                  </a:txBody>
                  <a:tcPr marL="54864" marR="54864" marT="27432" marB="27432" anchor="ctr">
                    <a:solidFill>
                      <a:srgbClr val="0F2C5C"/>
                    </a:solidFill>
                  </a:tcPr>
                </a:tc>
                <a:tc>
                  <a:txBody>
                    <a:bodyPr/>
                    <a:lstStyle/>
                    <a:p>
                      <a:r>
                        <a:rPr sz="750" b="1">
                          <a:solidFill>
                            <a:srgbClr val="FFFFFF"/>
                          </a:solidFill>
                          <a:latin typeface="Sora"/>
                        </a:rPr>
                        <a:t>URL / template</a:t>
                      </a:r>
                    </a:p>
                  </a:txBody>
                  <a:tcPr marL="54864" marR="54864" marT="27432" marB="27432" anchor="ctr">
                    <a:solidFill>
                      <a:srgbClr val="0F2C5C"/>
                    </a:solidFill>
                  </a:tcPr>
                </a:tc>
                <a:tc>
                  <a:txBody>
                    <a:bodyPr/>
                    <a:lstStyle/>
                    <a:p>
                      <a:r>
                        <a:rPr sz="750" b="1">
                          <a:solidFill>
                            <a:srgbClr val="FFFFFF"/>
                          </a:solidFill>
                          <a:latin typeface="Sora"/>
                        </a:rPr>
                        <a:t>Evidence</a:t>
                      </a:r>
                    </a:p>
                  </a:txBody>
                  <a:tcPr marL="54864" marR="54864" marT="27432" marB="27432" anchor="ctr">
                    <a:solidFill>
                      <a:srgbClr val="0F2C5C"/>
                    </a:solidFill>
                  </a:tcPr>
                </a:tc>
                <a:tc>
                  <a:txBody>
                    <a:bodyPr/>
                    <a:lstStyle/>
                    <a:p>
                      <a:r>
                        <a:rPr sz="750" b="1">
                          <a:solidFill>
                            <a:srgbClr val="FFFFFF"/>
                          </a:solidFill>
                          <a:latin typeface="Sora"/>
                        </a:rPr>
                        <a:t>Hypothesis</a:t>
                      </a:r>
                    </a:p>
                  </a:txBody>
                  <a:tcPr marL="54864" marR="54864" marT="27432" marB="27432" anchor="ctr">
                    <a:solidFill>
                      <a:srgbClr val="0F2C5C"/>
                    </a:solidFill>
                  </a:tcPr>
                </a:tc>
                <a:tc>
                  <a:txBody>
                    <a:bodyPr/>
                    <a:lstStyle/>
                    <a:p>
                      <a:r>
                        <a:rPr sz="750" b="1">
                          <a:solidFill>
                            <a:srgbClr val="FFFFFF"/>
                          </a:solidFill>
                          <a:latin typeface="Sora"/>
                        </a:rPr>
                        <a:t>Control</a:t>
                      </a:r>
                    </a:p>
                  </a:txBody>
                  <a:tcPr marL="54864" marR="54864" marT="27432" marB="27432" anchor="ctr">
                    <a:solidFill>
                      <a:srgbClr val="0F2C5C"/>
                    </a:solidFill>
                  </a:tcPr>
                </a:tc>
                <a:tc>
                  <a:txBody>
                    <a:bodyPr/>
                    <a:lstStyle/>
                    <a:p>
                      <a:r>
                        <a:rPr sz="750" b="1">
                          <a:solidFill>
                            <a:srgbClr val="FFFFFF"/>
                          </a:solidFill>
                          <a:latin typeface="Sora"/>
                        </a:rPr>
                        <a:t>Variant</a:t>
                      </a:r>
                    </a:p>
                  </a:txBody>
                  <a:tcPr marL="54864" marR="54864" marT="27432" marB="27432" anchor="ctr">
                    <a:solidFill>
                      <a:srgbClr val="0F2C5C"/>
                    </a:solidFill>
                  </a:tcPr>
                </a:tc>
                <a:tc>
                  <a:txBody>
                    <a:bodyPr/>
                    <a:lstStyle/>
                    <a:p>
                      <a:r>
                        <a:rPr sz="750" b="1">
                          <a:solidFill>
                            <a:srgbClr val="FFFFFF"/>
                          </a:solidFill>
                          <a:latin typeface="Sora"/>
                        </a:rPr>
                        <a:t>Primary KPI</a:t>
                      </a:r>
                    </a:p>
                  </a:txBody>
                  <a:tcPr marL="54864" marR="54864" marT="27432" marB="27432" anchor="ctr">
                    <a:solidFill>
                      <a:srgbClr val="0F2C5C"/>
                    </a:solidFill>
                  </a:tcPr>
                </a:tc>
                <a:tc>
                  <a:txBody>
                    <a:bodyPr/>
                    <a:lstStyle/>
                    <a:p>
                      <a:r>
                        <a:rPr sz="750" b="1">
                          <a:solidFill>
                            <a:srgbClr val="FFFFFF"/>
                          </a:solidFill>
                          <a:latin typeface="Sora"/>
                        </a:rPr>
                        <a:t>Secondary KPI</a:t>
                      </a:r>
                    </a:p>
                  </a:txBody>
                  <a:tcPr marL="54864" marR="54864" marT="27432" marB="27432" anchor="ctr">
                    <a:solidFill>
                      <a:srgbClr val="0F2C5C"/>
                    </a:solidFill>
                  </a:tcPr>
                </a:tc>
                <a:tc>
                  <a:txBody>
                    <a:bodyPr/>
                    <a:lstStyle/>
                    <a:p>
                      <a:r>
                        <a:rPr sz="750" b="1">
                          <a:solidFill>
                            <a:srgbClr val="FFFFFF"/>
                          </a:solidFill>
                          <a:latin typeface="Sora"/>
                        </a:rPr>
                        <a:t>Guardrail</a:t>
                      </a:r>
                    </a:p>
                  </a:txBody>
                  <a:tcPr marL="54864" marR="54864" marT="27432" marB="27432" anchor="ctr">
                    <a:solidFill>
                      <a:srgbClr val="0F2C5C"/>
                    </a:solidFill>
                  </a:tcPr>
                </a:tc>
                <a:tc>
                  <a:txBody>
                    <a:bodyPr/>
                    <a:lstStyle/>
                    <a:p>
                      <a:r>
                        <a:rPr sz="750" b="1">
                          <a:solidFill>
                            <a:srgbClr val="FFFFFF"/>
                          </a:solidFill>
                          <a:latin typeface="Sora"/>
                        </a:rPr>
                        <a:t>Effort</a:t>
                      </a:r>
                    </a:p>
                  </a:txBody>
                  <a:tcPr marL="54864" marR="54864" marT="27432" marB="27432" anchor="ctr">
                    <a:solidFill>
                      <a:srgbClr val="0F2C5C"/>
                    </a:solidFill>
                  </a:tcPr>
                </a:tc>
              </a:tr>
              <a:tr h="905256">
                <a:tc>
                  <a:txBody>
                    <a:bodyPr/>
                    <a:lstStyle/>
                    <a:p>
                      <a:r>
                        <a:rPr sz="800" b="1">
                          <a:solidFill>
                            <a:srgbClr val="FFFFFF"/>
                          </a:solidFill>
                          <a:latin typeface="Sora"/>
                        </a:rPr>
                        <a:t>T6</a:t>
                      </a:r>
                    </a:p>
                  </a:txBody>
                  <a:tcPr marL="54864" marR="54864" marT="27432" marB="27432" anchor="ctr">
                    <a:solidFill>
                      <a:srgbClr val="C8102E"/>
                    </a:solidFill>
                  </a:tcPr>
                </a:tc>
                <a:tc>
                  <a:txBody>
                    <a:bodyPr/>
                    <a:lstStyle/>
                    <a:p>
                      <a:r>
                        <a:rPr sz="800" b="1">
                          <a:solidFill>
                            <a:srgbClr val="0F2C5C"/>
                          </a:solidFill>
                          <a:latin typeface="Sora"/>
                        </a:rPr>
                        <a:t>Brochure + WhatsApp option</a:t>
                      </a:r>
                    </a:p>
                  </a:txBody>
                  <a:tcPr marL="54864" marR="54864" marT="27432" marB="27432" anchor="ctr">
                    <a:solidFill>
                      <a:srgbClr val="F4F6FA"/>
                    </a:solidFill>
                  </a:tcPr>
                </a:tc>
                <a:tc>
                  <a:txBody>
                    <a:bodyPr/>
                    <a:lstStyle/>
                    <a:p>
                      <a:r>
                        <a:rPr sz="800" b="0">
                          <a:solidFill>
                            <a:srgbClr val="5A6472"/>
                          </a:solidFill>
                          <a:latin typeface="Sora"/>
                        </a:rPr>
                        <a:t>Course Researcher</a:t>
                      </a:r>
                    </a:p>
                  </a:txBody>
                  <a:tcPr marL="54864" marR="54864" marT="27432" marB="27432" anchor="ctr">
                    <a:solidFill>
                      <a:srgbClr val="F4F6FA"/>
                    </a:solidFill>
                  </a:tcPr>
                </a:tc>
                <a:tc>
                  <a:txBody>
                    <a:bodyPr/>
                    <a:lstStyle/>
                    <a:p>
                      <a:r>
                        <a:rPr sz="800" b="0">
                          <a:solidFill>
                            <a:srgbClr val="5A6472"/>
                          </a:solidFill>
                          <a:latin typeface="Sora"/>
                        </a:rPr>
                        <a:t>Course template</a:t>
                      </a:r>
                    </a:p>
                  </a:txBody>
                  <a:tcPr marL="54864" marR="54864" marT="27432" marB="27432" anchor="ctr">
                    <a:solidFill>
                      <a:srgbClr val="F4F6FA"/>
                    </a:solidFill>
                  </a:tcPr>
                </a:tc>
                <a:tc>
                  <a:txBody>
                    <a:bodyPr/>
                    <a:lstStyle/>
                    <a:p>
                      <a:r>
                        <a:rPr sz="800" b="0">
                          <a:solidFill>
                            <a:srgbClr val="5A6472"/>
                          </a:solidFill>
                          <a:latin typeface="Sora"/>
                        </a:rPr>
                        <a:t>516 file downloads vs 64 form starts on course pages [CSV]</a:t>
                      </a:r>
                    </a:p>
                  </a:txBody>
                  <a:tcPr marL="54864" marR="54864" marT="27432" marB="27432" anchor="ctr">
                    <a:solidFill>
                      <a:srgbClr val="F4F6FA"/>
                    </a:solidFill>
                  </a:tcPr>
                </a:tc>
                <a:tc>
                  <a:txBody>
                    <a:bodyPr/>
                    <a:lstStyle/>
                    <a:p>
                      <a:r>
                        <a:rPr sz="800" b="0">
                          <a:solidFill>
                            <a:srgbClr val="5A6472"/>
                          </a:solidFill>
                          <a:latin typeface="Sora"/>
                        </a:rPr>
                        <a:t>An optional send captures downloaders without gating</a:t>
                      </a:r>
                    </a:p>
                  </a:txBody>
                  <a:tcPr marL="54864" marR="54864" marT="27432" marB="27432" anchor="ctr">
                    <a:solidFill>
                      <a:srgbClr val="F4F6FA"/>
                    </a:solidFill>
                  </a:tcPr>
                </a:tc>
                <a:tc>
                  <a:txBody>
                    <a:bodyPr/>
                    <a:lstStyle/>
                    <a:p>
                      <a:r>
                        <a:rPr sz="800" b="0">
                          <a:solidFill>
                            <a:srgbClr val="5A6472"/>
                          </a:solidFill>
                          <a:latin typeface="Sora"/>
                        </a:rPr>
                        <a:t>Direct PDF</a:t>
                      </a:r>
                    </a:p>
                  </a:txBody>
                  <a:tcPr marL="54864" marR="54864" marT="27432" marB="27432" anchor="ctr">
                    <a:solidFill>
                      <a:srgbClr val="F4F6FA"/>
                    </a:solidFill>
                  </a:tcPr>
                </a:tc>
                <a:tc>
                  <a:txBody>
                    <a:bodyPr/>
                    <a:lstStyle/>
                    <a:p>
                      <a:r>
                        <a:rPr sz="800" b="0">
                          <a:solidFill>
                            <a:srgbClr val="0F2C5C"/>
                          </a:solidFill>
                          <a:latin typeface="Sora"/>
                        </a:rPr>
                        <a:t>Direct PDF + optional “send to WhatsApp”</a:t>
                      </a:r>
                    </a:p>
                  </a:txBody>
                  <a:tcPr marL="54864" marR="54864" marT="27432" marB="27432" anchor="ctr">
                    <a:solidFill>
                      <a:srgbClr val="F4F6FA"/>
                    </a:solidFill>
                  </a:tcPr>
                </a:tc>
                <a:tc>
                  <a:txBody>
                    <a:bodyPr/>
                    <a:lstStyle/>
                    <a:p>
                      <a:r>
                        <a:rPr sz="800" b="1">
                          <a:solidFill>
                            <a:srgbClr val="1E7B4F"/>
                          </a:solidFill>
                          <a:latin typeface="Sora"/>
                        </a:rPr>
                        <a:t>Leads</a:t>
                      </a:r>
                    </a:p>
                  </a:txBody>
                  <a:tcPr marL="54864" marR="54864" marT="27432" marB="27432" anchor="ctr">
                    <a:solidFill>
                      <a:srgbClr val="E6F3EC"/>
                    </a:solidFill>
                  </a:tcPr>
                </a:tc>
                <a:tc>
                  <a:txBody>
                    <a:bodyPr/>
                    <a:lstStyle/>
                    <a:p>
                      <a:r>
                        <a:rPr sz="800" b="0">
                          <a:solidFill>
                            <a:srgbClr val="5A6472"/>
                          </a:solidFill>
                          <a:latin typeface="Sora"/>
                        </a:rPr>
                        <a:t>Brochure clicks</a:t>
                      </a:r>
                    </a:p>
                  </a:txBody>
                  <a:tcPr marL="54864" marR="54864" marT="27432" marB="27432" anchor="ctr">
                    <a:solidFill>
                      <a:srgbClr val="F4F6FA"/>
                    </a:solidFill>
                  </a:tcPr>
                </a:tc>
                <a:tc>
                  <a:txBody>
                    <a:bodyPr/>
                    <a:lstStyle/>
                    <a:p>
                      <a:r>
                        <a:rPr sz="800" b="0">
                          <a:solidFill>
                            <a:srgbClr val="5A6472"/>
                          </a:solidFill>
                          <a:latin typeface="Sora"/>
                        </a:rPr>
                        <a:t>Brochure clicks must not drop</a:t>
                      </a:r>
                    </a:p>
                  </a:txBody>
                  <a:tcPr marL="54864" marR="54864" marT="27432" marB="27432" anchor="ctr">
                    <a:solidFill>
                      <a:srgbClr val="F4F6FA"/>
                    </a:solidFill>
                  </a:tcPr>
                </a:tc>
                <a:tc>
                  <a:txBody>
                    <a:bodyPr/>
                    <a:lstStyle/>
                    <a:p>
                      <a:r>
                        <a:rPr sz="800" b="1">
                          <a:solidFill>
                            <a:srgbClr val="0F2C5C"/>
                          </a:solidFill>
                          <a:latin typeface="Sora"/>
                        </a:rPr>
                        <a:t>S</a:t>
                      </a:r>
                    </a:p>
                  </a:txBody>
                  <a:tcPr marL="54864" marR="54864" marT="27432" marB="27432" anchor="ctr">
                    <a:solidFill>
                      <a:srgbClr val="F4F6FA"/>
                    </a:solidFill>
                  </a:tcPr>
                </a:tc>
              </a:tr>
              <a:tr h="905256">
                <a:tc>
                  <a:txBody>
                    <a:bodyPr/>
                    <a:lstStyle/>
                    <a:p>
                      <a:r>
                        <a:rPr sz="800" b="1">
                          <a:solidFill>
                            <a:srgbClr val="FFFFFF"/>
                          </a:solidFill>
                          <a:latin typeface="Sora"/>
                        </a:rPr>
                        <a:t>T7</a:t>
                      </a:r>
                    </a:p>
                  </a:txBody>
                  <a:tcPr marL="54864" marR="54864" marT="27432" marB="27432" anchor="ctr">
                    <a:solidFill>
                      <a:srgbClr val="C8102E"/>
                    </a:solidFill>
                  </a:tcPr>
                </a:tc>
                <a:tc>
                  <a:txBody>
                    <a:bodyPr/>
                    <a:lstStyle/>
                    <a:p>
                      <a:r>
                        <a:rPr sz="800" b="1">
                          <a:solidFill>
                            <a:srgbClr val="0F2C5C"/>
                          </a:solidFill>
                          <a:latin typeface="Sora"/>
                        </a:rPr>
                        <a:t>Programme prospectus</a:t>
                      </a:r>
                    </a:p>
                  </a:txBody>
                  <a:tcPr marL="54864" marR="54864" marT="27432" marB="27432" anchor="ctr">
                    <a:solidFill>
                      <a:srgbClr val="FFFFFF"/>
                    </a:solidFill>
                  </a:tcPr>
                </a:tc>
                <a:tc>
                  <a:txBody>
                    <a:bodyPr/>
                    <a:lstStyle/>
                    <a:p>
                      <a:r>
                        <a:rPr sz="800" b="0">
                          <a:solidFill>
                            <a:srgbClr val="5A6472"/>
                          </a:solidFill>
                          <a:latin typeface="Sora"/>
                        </a:rPr>
                        <a:t>Cost Checker (export mapping)</a:t>
                      </a:r>
                    </a:p>
                  </a:txBody>
                  <a:tcPr marL="54864" marR="54864" marT="27432" marB="27432" anchor="ctr">
                    <a:solidFill>
                      <a:srgbClr val="FFFFFF"/>
                    </a:solidFill>
                  </a:tcPr>
                </a:tc>
                <a:tc>
                  <a:txBody>
                    <a:bodyPr/>
                    <a:lstStyle/>
                    <a:p>
                      <a:r>
                        <a:rPr sz="800" b="0">
                          <a:solidFill>
                            <a:srgbClr val="5A6472"/>
                          </a:solidFill>
                          <a:latin typeface="Sora"/>
                        </a:rPr>
                        <a:t>/admissions/download-brochure</a:t>
                      </a:r>
                    </a:p>
                  </a:txBody>
                  <a:tcPr marL="54864" marR="54864" marT="27432" marB="27432" anchor="ctr">
                    <a:solidFill>
                      <a:srgbClr val="FFFFFF"/>
                    </a:solidFill>
                  </a:tcPr>
                </a:tc>
                <a:tc>
                  <a:txBody>
                    <a:bodyPr/>
                    <a:lstStyle/>
                    <a:p>
                      <a:r>
                        <a:rPr sz="800" b="0">
                          <a:solidFill>
                            <a:srgbClr val="5A6472"/>
                          </a:solidFill>
                          <a:latin typeface="Sora"/>
                        </a:rPr>
                        <a:t>2,746 Download_Brochure vs 4 form submits on page type [CSV]</a:t>
                      </a:r>
                    </a:p>
                  </a:txBody>
                  <a:tcPr marL="54864" marR="54864" marT="27432" marB="27432" anchor="ctr">
                    <a:solidFill>
                      <a:srgbClr val="FFFFFF"/>
                    </a:solidFill>
                  </a:tcPr>
                </a:tc>
                <a:tc>
                  <a:txBody>
                    <a:bodyPr/>
                    <a:lstStyle/>
                    <a:p>
                      <a:r>
                        <a:rPr sz="800" b="0">
                          <a:solidFill>
                            <a:srgbClr val="5A6472"/>
                          </a:solidFill>
                          <a:latin typeface="Sora"/>
                        </a:rPr>
                        <a:t>A tailored PDF + optional contact captures intent</a:t>
                      </a:r>
                    </a:p>
                  </a:txBody>
                  <a:tcPr marL="54864" marR="54864" marT="27432" marB="27432" anchor="ctr">
                    <a:solidFill>
                      <a:srgbClr val="FFFFFF"/>
                    </a:solidFill>
                  </a:tcPr>
                </a:tc>
                <a:tc>
                  <a:txBody>
                    <a:bodyPr/>
                    <a:lstStyle/>
                    <a:p>
                      <a:r>
                        <a:rPr sz="800" b="0">
                          <a:solidFill>
                            <a:srgbClr val="5A6472"/>
                          </a:solidFill>
                          <a:latin typeface="Sora"/>
                        </a:rPr>
                        <a:t>Free download + Enquire form</a:t>
                      </a:r>
                    </a:p>
                  </a:txBody>
                  <a:tcPr marL="54864" marR="54864" marT="27432" marB="27432" anchor="ctr">
                    <a:solidFill>
                      <a:srgbClr val="FFFFFF"/>
                    </a:solidFill>
                  </a:tcPr>
                </a:tc>
                <a:tc>
                  <a:txBody>
                    <a:bodyPr/>
                    <a:lstStyle/>
                    <a:p>
                      <a:r>
                        <a:rPr sz="800" b="0">
                          <a:solidFill>
                            <a:srgbClr val="0F2C5C"/>
                          </a:solidFill>
                          <a:latin typeface="Sora"/>
                        </a:rPr>
                        <a:t>Programme picker → tailored PDF + optional contact</a:t>
                      </a:r>
                    </a:p>
                  </a:txBody>
                  <a:tcPr marL="54864" marR="54864" marT="27432" marB="27432" anchor="ctr">
                    <a:solidFill>
                      <a:srgbClr val="FFFFFF"/>
                    </a:solidFill>
                  </a:tcPr>
                </a:tc>
                <a:tc>
                  <a:txBody>
                    <a:bodyPr/>
                    <a:lstStyle/>
                    <a:p>
                      <a:r>
                        <a:rPr sz="800" b="1">
                          <a:solidFill>
                            <a:srgbClr val="1E7B4F"/>
                          </a:solidFill>
                          <a:latin typeface="Sora"/>
                        </a:rPr>
                        <a:t>Leads</a:t>
                      </a:r>
                    </a:p>
                  </a:txBody>
                  <a:tcPr marL="54864" marR="54864" marT="27432" marB="27432" anchor="ctr">
                    <a:solidFill>
                      <a:srgbClr val="E6F3EC"/>
                    </a:solidFill>
                  </a:tcPr>
                </a:tc>
                <a:tc>
                  <a:txBody>
                    <a:bodyPr/>
                    <a:lstStyle/>
                    <a:p>
                      <a:r>
                        <a:rPr sz="800" b="0">
                          <a:solidFill>
                            <a:srgbClr val="5A6472"/>
                          </a:solidFill>
                          <a:latin typeface="Sora"/>
                        </a:rPr>
                        <a:t>Download_Brochure</a:t>
                      </a:r>
                    </a:p>
                  </a:txBody>
                  <a:tcPr marL="54864" marR="54864" marT="27432" marB="27432" anchor="ctr">
                    <a:solidFill>
                      <a:srgbClr val="FFFFFF"/>
                    </a:solidFill>
                  </a:tcPr>
                </a:tc>
                <a:tc>
                  <a:txBody>
                    <a:bodyPr/>
                    <a:lstStyle/>
                    <a:p>
                      <a:r>
                        <a:rPr sz="800" b="0">
                          <a:solidFill>
                            <a:srgbClr val="5A6472"/>
                          </a:solidFill>
                          <a:latin typeface="Sora"/>
                        </a:rPr>
                        <a:t>Download volume</a:t>
                      </a:r>
                    </a:p>
                  </a:txBody>
                  <a:tcPr marL="54864" marR="54864" marT="27432" marB="27432" anchor="ctr">
                    <a:solidFill>
                      <a:srgbClr val="FFFFFF"/>
                    </a:solidFill>
                  </a:tcPr>
                </a:tc>
                <a:tc>
                  <a:txBody>
                    <a:bodyPr/>
                    <a:lstStyle/>
                    <a:p>
                      <a:r>
                        <a:rPr sz="800" b="1">
                          <a:solidFill>
                            <a:srgbClr val="0F2C5C"/>
                          </a:solidFill>
                          <a:latin typeface="Sora"/>
                        </a:rPr>
                        <a:t>S</a:t>
                      </a:r>
                    </a:p>
                  </a:txBody>
                  <a:tcPr marL="54864" marR="54864" marT="27432" marB="27432" anchor="ctr">
                    <a:solidFill>
                      <a:srgbClr val="FFFFFF"/>
                    </a:solidFill>
                  </a:tcPr>
                </a:tc>
              </a:tr>
              <a:tr h="905256">
                <a:tc>
                  <a:txBody>
                    <a:bodyPr/>
                    <a:lstStyle/>
                    <a:p>
                      <a:r>
                        <a:rPr sz="800" b="1">
                          <a:solidFill>
                            <a:srgbClr val="FFFFFF"/>
                          </a:solidFill>
                          <a:latin typeface="Sora"/>
                        </a:rPr>
                        <a:t>T8</a:t>
                      </a:r>
                    </a:p>
                  </a:txBody>
                  <a:tcPr marL="54864" marR="54864" marT="27432" marB="27432" anchor="ctr">
                    <a:solidFill>
                      <a:srgbClr val="C8102E"/>
                    </a:solidFill>
                  </a:tcPr>
                </a:tc>
                <a:tc>
                  <a:txBody>
                    <a:bodyPr/>
                    <a:lstStyle/>
                    <a:p>
                      <a:r>
                        <a:rPr sz="800" b="1">
                          <a:solidFill>
                            <a:srgbClr val="0F2C5C"/>
                          </a:solidFill>
                          <a:latin typeface="Sora"/>
                        </a:rPr>
                        <a:t>Programme proof strip</a:t>
                      </a:r>
                    </a:p>
                  </a:txBody>
                  <a:tcPr marL="54864" marR="54864" marT="27432" marB="27432" anchor="ctr">
                    <a:solidFill>
                      <a:srgbClr val="F4F6FA"/>
                    </a:solidFill>
                  </a:tcPr>
                </a:tc>
                <a:tc>
                  <a:txBody>
                    <a:bodyPr/>
                    <a:lstStyle/>
                    <a:p>
                      <a:r>
                        <a:rPr sz="800" b="0">
                          <a:solidFill>
                            <a:srgbClr val="5A6472"/>
                          </a:solidFill>
                          <a:latin typeface="Sora"/>
                        </a:rPr>
                        <a:t>Proof Seeker, Course Researcher</a:t>
                      </a:r>
                    </a:p>
                  </a:txBody>
                  <a:tcPr marL="54864" marR="54864" marT="27432" marB="27432" anchor="ctr">
                    <a:solidFill>
                      <a:srgbClr val="F4F6FA"/>
                    </a:solidFill>
                  </a:tcPr>
                </a:tc>
                <a:tc>
                  <a:txBody>
                    <a:bodyPr/>
                    <a:lstStyle/>
                    <a:p>
                      <a:r>
                        <a:rPr sz="800" b="0">
                          <a:solidFill>
                            <a:srgbClr val="5A6472"/>
                          </a:solidFill>
                          <a:latin typeface="Sora"/>
                        </a:rPr>
                        <a:t>B.Tech CSE page</a:t>
                      </a:r>
                    </a:p>
                  </a:txBody>
                  <a:tcPr marL="54864" marR="54864" marT="27432" marB="27432" anchor="ctr">
                    <a:solidFill>
                      <a:srgbClr val="F4F6FA"/>
                    </a:solidFill>
                  </a:tcPr>
                </a:tc>
                <a:tc>
                  <a:txBody>
                    <a:bodyPr/>
                    <a:lstStyle/>
                    <a:p>
                      <a:r>
                        <a:rPr sz="800" b="0">
                          <a:solidFill>
                            <a:srgbClr val="5A6472"/>
                          </a:solidFill>
                          <a:latin typeface="Sora"/>
                        </a:rPr>
                        <a:t>NBA CSE only on awards page [audit]; awards 67.13% bounce [GA4]</a:t>
                      </a:r>
                    </a:p>
                  </a:txBody>
                  <a:tcPr marL="54864" marR="54864" marT="27432" marB="27432" anchor="ctr">
                    <a:solidFill>
                      <a:srgbClr val="F4F6FA"/>
                    </a:solidFill>
                  </a:tcPr>
                </a:tc>
                <a:tc>
                  <a:txBody>
                    <a:bodyPr/>
                    <a:lstStyle/>
                    <a:p>
                      <a:r>
                        <a:rPr sz="800" b="0">
                          <a:solidFill>
                            <a:srgbClr val="5A6472"/>
                          </a:solidFill>
                          <a:latin typeface="Sora"/>
                        </a:rPr>
                        <a:t>Verified programme proof beside the form lifts form starts</a:t>
                      </a:r>
                    </a:p>
                  </a:txBody>
                  <a:tcPr marL="54864" marR="54864" marT="27432" marB="27432" anchor="ctr">
                    <a:solidFill>
                      <a:srgbClr val="F4F6FA"/>
                    </a:solidFill>
                  </a:tcPr>
                </a:tc>
                <a:tc>
                  <a:txBody>
                    <a:bodyPr/>
                    <a:lstStyle/>
                    <a:p>
                      <a:r>
                        <a:rPr sz="800" b="0">
                          <a:solidFill>
                            <a:srgbClr val="5A6472"/>
                          </a:solidFill>
                          <a:latin typeface="Sora"/>
                        </a:rPr>
                        <a:t>Generic stat block</a:t>
                      </a:r>
                    </a:p>
                  </a:txBody>
                  <a:tcPr marL="54864" marR="54864" marT="27432" marB="27432" anchor="ctr">
                    <a:solidFill>
                      <a:srgbClr val="F4F6FA"/>
                    </a:solidFill>
                  </a:tcPr>
                </a:tc>
                <a:tc>
                  <a:txBody>
                    <a:bodyPr/>
                    <a:lstStyle/>
                    <a:p>
                      <a:r>
                        <a:rPr sz="800" b="0">
                          <a:solidFill>
                            <a:srgbClr val="0F2C5C"/>
                          </a:solidFill>
                          <a:latin typeface="Sora"/>
                        </a:rPr>
                        <a:t>NBA badge + dated named offers (MREI-confirmed)</a:t>
                      </a:r>
                    </a:p>
                  </a:txBody>
                  <a:tcPr marL="54864" marR="54864" marT="27432" marB="27432" anchor="ctr">
                    <a:solidFill>
                      <a:srgbClr val="F4F6FA"/>
                    </a:solidFill>
                  </a:tcPr>
                </a:tc>
                <a:tc>
                  <a:txBody>
                    <a:bodyPr/>
                    <a:lstStyle/>
                    <a:p>
                      <a:r>
                        <a:rPr sz="800" b="1">
                          <a:solidFill>
                            <a:srgbClr val="1E7B4F"/>
                          </a:solidFill>
                          <a:latin typeface="Sora"/>
                        </a:rPr>
                        <a:t>Leads</a:t>
                      </a:r>
                    </a:p>
                  </a:txBody>
                  <a:tcPr marL="54864" marR="54864" marT="27432" marB="27432" anchor="ctr">
                    <a:solidFill>
                      <a:srgbClr val="E6F3EC"/>
                    </a:solidFill>
                  </a:tcPr>
                </a:tc>
                <a:tc>
                  <a:txBody>
                    <a:bodyPr/>
                    <a:lstStyle/>
                    <a:p>
                      <a:r>
                        <a:rPr sz="800" b="0">
                          <a:solidFill>
                            <a:srgbClr val="5A6472"/>
                          </a:solidFill>
                          <a:latin typeface="Sora"/>
                        </a:rPr>
                        <a:t>form_start</a:t>
                      </a:r>
                    </a:p>
                  </a:txBody>
                  <a:tcPr marL="54864" marR="54864" marT="27432" marB="27432" anchor="ctr">
                    <a:solidFill>
                      <a:srgbClr val="F4F6FA"/>
                    </a:solidFill>
                  </a:tcPr>
                </a:tc>
                <a:tc>
                  <a:txBody>
                    <a:bodyPr/>
                    <a:lstStyle/>
                    <a:p>
                      <a:r>
                        <a:rPr sz="800" b="0">
                          <a:solidFill>
                            <a:srgbClr val="5A6472"/>
                          </a:solidFill>
                          <a:latin typeface="Sora"/>
                        </a:rPr>
                        <a:t>Engagement</a:t>
                      </a:r>
                    </a:p>
                  </a:txBody>
                  <a:tcPr marL="54864" marR="54864" marT="27432" marB="27432" anchor="ctr">
                    <a:solidFill>
                      <a:srgbClr val="F4F6FA"/>
                    </a:solidFill>
                  </a:tcPr>
                </a:tc>
                <a:tc>
                  <a:txBody>
                    <a:bodyPr/>
                    <a:lstStyle/>
                    <a:p>
                      <a:r>
                        <a:rPr sz="800" b="1">
                          <a:solidFill>
                            <a:srgbClr val="0F2C5C"/>
                          </a:solidFill>
                          <a:latin typeface="Sora"/>
                        </a:rPr>
                        <a:t>M</a:t>
                      </a:r>
                    </a:p>
                  </a:txBody>
                  <a:tcPr marL="54864" marR="54864" marT="27432" marB="27432" anchor="ctr">
                    <a:solidFill>
                      <a:srgbClr val="F4F6FA"/>
                    </a:solidFill>
                  </a:tcPr>
                </a:tc>
              </a:tr>
              <a:tr h="905256">
                <a:tc>
                  <a:txBody>
                    <a:bodyPr/>
                    <a:lstStyle/>
                    <a:p>
                      <a:r>
                        <a:rPr sz="800" b="1">
                          <a:solidFill>
                            <a:srgbClr val="FFFFFF"/>
                          </a:solidFill>
                          <a:latin typeface="Sora"/>
                        </a:rPr>
                        <a:t>T9</a:t>
                      </a:r>
                    </a:p>
                  </a:txBody>
                  <a:tcPr marL="54864" marR="54864" marT="27432" marB="27432" anchor="ctr">
                    <a:solidFill>
                      <a:srgbClr val="C8102E"/>
                    </a:solidFill>
                  </a:tcPr>
                </a:tc>
                <a:tc>
                  <a:txBody>
                    <a:bodyPr/>
                    <a:lstStyle/>
                    <a:p>
                      <a:r>
                        <a:rPr sz="800" b="1">
                          <a:solidFill>
                            <a:srgbClr val="0F2C5C"/>
                          </a:solidFill>
                          <a:latin typeface="Sora"/>
                        </a:rPr>
                        <a:t>Award → programme links</a:t>
                      </a:r>
                    </a:p>
                  </a:txBody>
                  <a:tcPr marL="54864" marR="54864" marT="27432" marB="27432" anchor="ctr">
                    <a:solidFill>
                      <a:srgbClr val="FFFFFF"/>
                    </a:solidFill>
                  </a:tcPr>
                </a:tc>
                <a:tc>
                  <a:txBody>
                    <a:bodyPr/>
                    <a:lstStyle/>
                    <a:p>
                      <a:r>
                        <a:rPr sz="800" b="0">
                          <a:solidFill>
                            <a:srgbClr val="5A6472"/>
                          </a:solidFill>
                          <a:latin typeface="Sora"/>
                        </a:rPr>
                        <a:t>Proof Seeker</a:t>
                      </a:r>
                    </a:p>
                  </a:txBody>
                  <a:tcPr marL="54864" marR="54864" marT="27432" marB="27432" anchor="ctr">
                    <a:solidFill>
                      <a:srgbClr val="FFFFFF"/>
                    </a:solidFill>
                  </a:tcPr>
                </a:tc>
                <a:tc>
                  <a:txBody>
                    <a:bodyPr/>
                    <a:lstStyle/>
                    <a:p>
                      <a:r>
                        <a:rPr sz="800" b="0">
                          <a:solidFill>
                            <a:srgbClr val="5A6472"/>
                          </a:solidFill>
                          <a:latin typeface="Sora"/>
                        </a:rPr>
                        <a:t>Awards &amp; recognitions</a:t>
                      </a:r>
                    </a:p>
                  </a:txBody>
                  <a:tcPr marL="54864" marR="54864" marT="27432" marB="27432" anchor="ctr">
                    <a:solidFill>
                      <a:srgbClr val="FFFFFF"/>
                    </a:solidFill>
                  </a:tcPr>
                </a:tc>
                <a:tc>
                  <a:txBody>
                    <a:bodyPr/>
                    <a:lstStyle/>
                    <a:p>
                      <a:r>
                        <a:rPr sz="800" b="0">
                          <a:solidFill>
                            <a:srgbClr val="5A6472"/>
                          </a:solidFill>
                          <a:latin typeface="Sora"/>
                        </a:rPr>
                        <a:t>~11% onward; 9 reach fees [GA4]</a:t>
                      </a:r>
                    </a:p>
                  </a:txBody>
                  <a:tcPr marL="54864" marR="54864" marT="27432" marB="27432" anchor="ctr">
                    <a:solidFill>
                      <a:srgbClr val="FFFFFF"/>
                    </a:solidFill>
                  </a:tcPr>
                </a:tc>
                <a:tc>
                  <a:txBody>
                    <a:bodyPr/>
                    <a:lstStyle/>
                    <a:p>
                      <a:r>
                        <a:rPr sz="800" b="0">
                          <a:solidFill>
                            <a:srgbClr val="5A6472"/>
                          </a:solidFill>
                          <a:latin typeface="Sora"/>
                        </a:rPr>
                        <a:t>Linking each accreditation to its programmes creates progression</a:t>
                      </a:r>
                    </a:p>
                  </a:txBody>
                  <a:tcPr marL="54864" marR="54864" marT="27432" marB="27432" anchor="ctr">
                    <a:solidFill>
                      <a:srgbClr val="FFFFFF"/>
                    </a:solidFill>
                  </a:tcPr>
                </a:tc>
                <a:tc>
                  <a:txBody>
                    <a:bodyPr/>
                    <a:lstStyle/>
                    <a:p>
                      <a:r>
                        <a:rPr sz="800" b="0">
                          <a:solidFill>
                            <a:srgbClr val="5A6472"/>
                          </a:solidFill>
                          <a:latin typeface="Sora"/>
                        </a:rPr>
                        <a:t>No programme links</a:t>
                      </a:r>
                    </a:p>
                  </a:txBody>
                  <a:tcPr marL="54864" marR="54864" marT="27432" marB="27432" anchor="ctr">
                    <a:solidFill>
                      <a:srgbClr val="FFFFFF"/>
                    </a:solidFill>
                  </a:tcPr>
                </a:tc>
                <a:tc>
                  <a:txBody>
                    <a:bodyPr/>
                    <a:lstStyle/>
                    <a:p>
                      <a:r>
                        <a:rPr sz="800" b="0">
                          <a:solidFill>
                            <a:srgbClr val="0F2C5C"/>
                          </a:solidFill>
                          <a:latin typeface="Sora"/>
                        </a:rPr>
                        <a:t>“Applies to: B.Tech CSE, Biotech, MBA →”</a:t>
                      </a:r>
                    </a:p>
                  </a:txBody>
                  <a:tcPr marL="54864" marR="54864" marT="27432" marB="27432" anchor="ctr">
                    <a:solidFill>
                      <a:srgbClr val="FFFFFF"/>
                    </a:solidFill>
                  </a:tcPr>
                </a:tc>
                <a:tc>
                  <a:txBody>
                    <a:bodyPr/>
                    <a:lstStyle/>
                    <a:p>
                      <a:r>
                        <a:rPr sz="800" b="1">
                          <a:solidFill>
                            <a:srgbClr val="1E7B4F"/>
                          </a:solidFill>
                          <a:latin typeface="Sora"/>
                        </a:rPr>
                        <a:t>Awards → programme</a:t>
                      </a:r>
                    </a:p>
                  </a:txBody>
                  <a:tcPr marL="54864" marR="54864" marT="27432" marB="27432" anchor="ctr">
                    <a:solidFill>
                      <a:srgbClr val="E6F3EC"/>
                    </a:solidFill>
                  </a:tcPr>
                </a:tc>
                <a:tc>
                  <a:txBody>
                    <a:bodyPr/>
                    <a:lstStyle/>
                    <a:p>
                      <a:r>
                        <a:rPr sz="800" b="0">
                          <a:solidFill>
                            <a:srgbClr val="5A6472"/>
                          </a:solidFill>
                          <a:latin typeface="Sora"/>
                        </a:rPr>
                        <a:t>Leads</a:t>
                      </a:r>
                    </a:p>
                  </a:txBody>
                  <a:tcPr marL="54864" marR="54864" marT="27432" marB="27432" anchor="ctr">
                    <a:solidFill>
                      <a:srgbClr val="FFFFFF"/>
                    </a:solidFill>
                  </a:tcPr>
                </a:tc>
                <a:tc>
                  <a:txBody>
                    <a:bodyPr/>
                    <a:lstStyle/>
                    <a:p>
                      <a:r>
                        <a:rPr sz="800" b="0">
                          <a:solidFill>
                            <a:srgbClr val="5A6472"/>
                          </a:solidFill>
                          <a:latin typeface="Sora"/>
                        </a:rPr>
                        <a:t>Bounce</a:t>
                      </a:r>
                    </a:p>
                  </a:txBody>
                  <a:tcPr marL="54864" marR="54864" marT="27432" marB="27432" anchor="ctr">
                    <a:solidFill>
                      <a:srgbClr val="FFFFFF"/>
                    </a:solidFill>
                  </a:tcPr>
                </a:tc>
                <a:tc>
                  <a:txBody>
                    <a:bodyPr/>
                    <a:lstStyle/>
                    <a:p>
                      <a:r>
                        <a:rPr sz="800" b="1">
                          <a:solidFill>
                            <a:srgbClr val="0F2C5C"/>
                          </a:solidFill>
                          <a:latin typeface="Sora"/>
                        </a:rPr>
                        <a:t>S</a:t>
                      </a:r>
                    </a:p>
                  </a:txBody>
                  <a:tcPr marL="54864" marR="54864" marT="27432" marB="27432" anchor="ctr">
                    <a:solidFill>
                      <a:srgbClr val="FFFFFF"/>
                    </a:solidFill>
                  </a:tcPr>
                </a:tc>
              </a:tr>
              <a:tr h="905256">
                <a:tc>
                  <a:txBody>
                    <a:bodyPr/>
                    <a:lstStyle/>
                    <a:p>
                      <a:r>
                        <a:rPr sz="800" b="1">
                          <a:solidFill>
                            <a:srgbClr val="FFFFFF"/>
                          </a:solidFill>
                          <a:latin typeface="Sora"/>
                        </a:rPr>
                        <a:t>T10</a:t>
                      </a:r>
                    </a:p>
                  </a:txBody>
                  <a:tcPr marL="54864" marR="54864" marT="27432" marB="27432" anchor="ctr">
                    <a:solidFill>
                      <a:srgbClr val="C8102E"/>
                    </a:solidFill>
                  </a:tcPr>
                </a:tc>
                <a:tc>
                  <a:txBody>
                    <a:bodyPr/>
                    <a:lstStyle/>
                    <a:p>
                      <a:r>
                        <a:rPr sz="800" b="1">
                          <a:solidFill>
                            <a:srgbClr val="0F2C5C"/>
                          </a:solidFill>
                          <a:latin typeface="Sora"/>
                        </a:rPr>
                        <a:t>In-article programme card</a:t>
                      </a:r>
                    </a:p>
                  </a:txBody>
                  <a:tcPr marL="54864" marR="54864" marT="27432" marB="27432" anchor="ctr">
                    <a:solidFill>
                      <a:srgbClr val="F4F6FA"/>
                    </a:solidFill>
                  </a:tcPr>
                </a:tc>
                <a:tc>
                  <a:txBody>
                    <a:bodyPr/>
                    <a:lstStyle/>
                    <a:p>
                      <a:r>
                        <a:rPr sz="800" b="0">
                          <a:solidFill>
                            <a:srgbClr val="5A6472"/>
                          </a:solidFill>
                          <a:latin typeface="Sora"/>
                        </a:rPr>
                        <a:t>Early Explorer</a:t>
                      </a:r>
                    </a:p>
                  </a:txBody>
                  <a:tcPr marL="54864" marR="54864" marT="27432" marB="27432" anchor="ctr">
                    <a:solidFill>
                      <a:srgbClr val="F4F6FA"/>
                    </a:solidFill>
                  </a:tcPr>
                </a:tc>
                <a:tc>
                  <a:txBody>
                    <a:bodyPr/>
                    <a:lstStyle/>
                    <a:p>
                      <a:r>
                        <a:rPr sz="800" b="0">
                          <a:solidFill>
                            <a:srgbClr val="5A6472"/>
                          </a:solidFill>
                          <a:latin typeface="Sora"/>
                        </a:rPr>
                        <a:t>Blog article template</a:t>
                      </a:r>
                    </a:p>
                  </a:txBody>
                  <a:tcPr marL="54864" marR="54864" marT="27432" marB="27432" anchor="ctr">
                    <a:solidFill>
                      <a:srgbClr val="F4F6FA"/>
                    </a:solidFill>
                  </a:tcPr>
                </a:tc>
                <a:tc>
                  <a:txBody>
                    <a:bodyPr/>
                    <a:lstStyle/>
                    <a:p>
                      <a:r>
                        <a:rPr sz="800" b="0">
                          <a:solidFill>
                            <a:srgbClr val="5A6472"/>
                          </a:solidFill>
                          <a:latin typeface="Sora"/>
                        </a:rPr>
                        <a:t>35 of 4,195 reach BPT [GA4]; 10 : 0–1 link ratio [audit]</a:t>
                      </a:r>
                    </a:p>
                  </a:txBody>
                  <a:tcPr marL="54864" marR="54864" marT="27432" marB="27432" anchor="ctr">
                    <a:solidFill>
                      <a:srgbClr val="F4F6FA"/>
                    </a:solidFill>
                  </a:tcPr>
                </a:tc>
                <a:tc>
                  <a:txBody>
                    <a:bodyPr/>
                    <a:lstStyle/>
                    <a:p>
                      <a:r>
                        <a:rPr sz="800" b="0">
                          <a:solidFill>
                            <a:srgbClr val="5A6472"/>
                          </a:solidFill>
                          <a:latin typeface="Sora"/>
                        </a:rPr>
                        <a:t>A matching-programme card moves readers onward</a:t>
                      </a:r>
                    </a:p>
                  </a:txBody>
                  <a:tcPr marL="54864" marR="54864" marT="27432" marB="27432" anchor="ctr">
                    <a:solidFill>
                      <a:srgbClr val="F4F6FA"/>
                    </a:solidFill>
                  </a:tcPr>
                </a:tc>
                <a:tc>
                  <a:txBody>
                    <a:bodyPr/>
                    <a:lstStyle/>
                    <a:p>
                      <a:r>
                        <a:rPr sz="800" b="0">
                          <a:solidFill>
                            <a:srgbClr val="5A6472"/>
                          </a:solidFill>
                          <a:latin typeface="Sora"/>
                        </a:rPr>
                        <a:t>“Also read” blog links</a:t>
                      </a:r>
                    </a:p>
                  </a:txBody>
                  <a:tcPr marL="54864" marR="54864" marT="27432" marB="27432" anchor="ctr">
                    <a:solidFill>
                      <a:srgbClr val="F4F6FA"/>
                    </a:solidFill>
                  </a:tcPr>
                </a:tc>
                <a:tc>
                  <a:txBody>
                    <a:bodyPr/>
                    <a:lstStyle/>
                    <a:p>
                      <a:r>
                        <a:rPr sz="800" b="0">
                          <a:solidFill>
                            <a:srgbClr val="0F2C5C"/>
                          </a:solidFill>
                          <a:latin typeface="Sora"/>
                        </a:rPr>
                        <a:t>Programme card mid + end of article</a:t>
                      </a:r>
                    </a:p>
                  </a:txBody>
                  <a:tcPr marL="54864" marR="54864" marT="27432" marB="27432" anchor="ctr">
                    <a:solidFill>
                      <a:srgbClr val="F4F6FA"/>
                    </a:solidFill>
                  </a:tcPr>
                </a:tc>
                <a:tc>
                  <a:txBody>
                    <a:bodyPr/>
                    <a:lstStyle/>
                    <a:p>
                      <a:r>
                        <a:rPr sz="800" b="1">
                          <a:solidFill>
                            <a:srgbClr val="1E7B4F"/>
                          </a:solidFill>
                          <a:latin typeface="Sora"/>
                        </a:rPr>
                        <a:t>Article → programme</a:t>
                      </a:r>
                    </a:p>
                  </a:txBody>
                  <a:tcPr marL="54864" marR="54864" marT="27432" marB="27432" anchor="ctr">
                    <a:solidFill>
                      <a:srgbClr val="E6F3EC"/>
                    </a:solidFill>
                  </a:tcPr>
                </a:tc>
                <a:tc>
                  <a:txBody>
                    <a:bodyPr/>
                    <a:lstStyle/>
                    <a:p>
                      <a:r>
                        <a:rPr sz="800" b="0">
                          <a:solidFill>
                            <a:srgbClr val="5A6472"/>
                          </a:solidFill>
                          <a:latin typeface="Sora"/>
                        </a:rPr>
                        <a:t>Leads; form_start</a:t>
                      </a:r>
                    </a:p>
                  </a:txBody>
                  <a:tcPr marL="54864" marR="54864" marT="27432" marB="27432" anchor="ctr">
                    <a:solidFill>
                      <a:srgbClr val="F4F6FA"/>
                    </a:solidFill>
                  </a:tcPr>
                </a:tc>
                <a:tc>
                  <a:txBody>
                    <a:bodyPr/>
                    <a:lstStyle/>
                    <a:p>
                      <a:r>
                        <a:rPr sz="800" b="0">
                          <a:solidFill>
                            <a:srgbClr val="5A6472"/>
                          </a:solidFill>
                          <a:latin typeface="Sora"/>
                        </a:rPr>
                        <a:t>Engagement</a:t>
                      </a:r>
                    </a:p>
                  </a:txBody>
                  <a:tcPr marL="54864" marR="54864" marT="27432" marB="27432" anchor="ctr">
                    <a:solidFill>
                      <a:srgbClr val="F4F6FA"/>
                    </a:solidFill>
                  </a:tcPr>
                </a:tc>
                <a:tc>
                  <a:txBody>
                    <a:bodyPr/>
                    <a:lstStyle/>
                    <a:p>
                      <a:r>
                        <a:rPr sz="800" b="1">
                          <a:solidFill>
                            <a:srgbClr val="0F2C5C"/>
                          </a:solidFill>
                          <a:latin typeface="Sora"/>
                        </a:rPr>
                        <a:t>S</a:t>
                      </a:r>
                    </a:p>
                  </a:txBody>
                  <a:tcPr marL="54864" marR="54864" marT="27432" marB="27432" anchor="ctr">
                    <a:solidFill>
                      <a:srgbClr val="F4F6FA"/>
                    </a:solidFill>
                  </a:tcPr>
                </a:tc>
              </a:tr>
            </a:tbl>
          </a:graphicData>
        </a:graphic>
      </p:graphicFrame>
      <p:sp>
        <p:nvSpPr>
          <p:cNvPr id="6" name="TextBox 5"/>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Evidence tags: [GA4] = explorations used in this deck, 13 Jun – 10 Sept 2026 · [CSV] = GA4 event export by page type · [audit] = live site, 24 Sept 2026. Effort: S = content/config, M = template change.</a:t>
            </a:r>
          </a:p>
        </p:txBody>
      </p:sp>
      <p:sp>
        <p:nvSpPr>
          <p:cNvPr id="7" name="Rounded Rectangle 6"/>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1064240" cy="182880"/>
          </a:xfrm>
          <a:prstGeom prst="rect">
            <a:avLst/>
          </a:prstGeom>
          <a:noFill/>
        </p:spPr>
        <p:txBody>
          <a:bodyPr wrap="square" lIns="0" rIns="0" tIns="0" bIns="0" anchor="t">
            <a:spAutoFit/>
          </a:bodyPr>
          <a:lstStyle/>
          <a:p>
            <a:pPr algn="l"/>
            <a:r>
              <a:rPr sz="900" b="1" i="0">
                <a:solidFill>
                  <a:srgbClr val="C8102E"/>
                </a:solidFill>
                <a:latin typeface="Sora"/>
              </a:rPr>
              <a:t>EXPERIMENTATION  ·  A/B TEST BACKLOG  (3/3)</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Every test starts from a behaviour we observed</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Primary KPI hierarchy: 1) leads  2) meaningful micro-conversion  3) progression. Tests run after Phase 0.</a:t>
            </a:r>
          </a:p>
        </p:txBody>
      </p:sp>
      <p:graphicFrame>
        <p:nvGraphicFramePr>
          <p:cNvPr id="5" name="Table 4"/>
          <p:cNvGraphicFramePr>
            <a:graphicFrameLocks noGrp="1"/>
          </p:cNvGraphicFramePr>
          <p:nvPr/>
        </p:nvGraphicFramePr>
        <p:xfrm>
          <a:off x="548640" y="1463040"/>
          <a:ext cx="11064240" cy="4846320"/>
        </p:xfrm>
        <a:graphic>
          <a:graphicData uri="http://schemas.openxmlformats.org/drawingml/2006/table">
            <a:tbl>
              <a:tblPr firstRow="1" bandRow="1">
                <a:tableStyleId>{5C22544A-7EE6-4342-B048-85BDC9FD1C3A}</a:tableStyleId>
              </a:tblPr>
              <a:tblGrid>
                <a:gridCol w="347472"/>
                <a:gridCol w="960120"/>
                <a:gridCol w="822960"/>
                <a:gridCol w="914400"/>
                <a:gridCol w="1508760"/>
                <a:gridCol w="1325880"/>
                <a:gridCol w="914400"/>
                <a:gridCol w="1371600"/>
                <a:gridCol w="777240"/>
                <a:gridCol w="868680"/>
                <a:gridCol w="822960"/>
                <a:gridCol w="429768"/>
              </a:tblGrid>
              <a:tr h="320040">
                <a:tc>
                  <a:txBody>
                    <a:bodyPr/>
                    <a:lstStyle/>
                    <a:p>
                      <a:r>
                        <a:rPr sz="750" b="1">
                          <a:solidFill>
                            <a:srgbClr val="FFFFFF"/>
                          </a:solidFill>
                          <a:latin typeface="Sora"/>
                        </a:rPr>
                        <a:t>#</a:t>
                      </a:r>
                    </a:p>
                  </a:txBody>
                  <a:tcPr marL="54864" marR="54864" marT="27432" marB="27432" anchor="ctr">
                    <a:solidFill>
                      <a:srgbClr val="0F2C5C"/>
                    </a:solidFill>
                  </a:tcPr>
                </a:tc>
                <a:tc>
                  <a:txBody>
                    <a:bodyPr/>
                    <a:lstStyle/>
                    <a:p>
                      <a:r>
                        <a:rPr sz="750" b="1">
                          <a:solidFill>
                            <a:srgbClr val="FFFFFF"/>
                          </a:solidFill>
                          <a:latin typeface="Sora"/>
                        </a:rPr>
                        <a:t>Test</a:t>
                      </a:r>
                    </a:p>
                  </a:txBody>
                  <a:tcPr marL="54864" marR="54864" marT="27432" marB="27432" anchor="ctr">
                    <a:solidFill>
                      <a:srgbClr val="0F2C5C"/>
                    </a:solidFill>
                  </a:tcPr>
                </a:tc>
                <a:tc>
                  <a:txBody>
                    <a:bodyPr/>
                    <a:lstStyle/>
                    <a:p>
                      <a:r>
                        <a:rPr sz="750" b="1">
                          <a:solidFill>
                            <a:srgbClr val="FFFFFF"/>
                          </a:solidFill>
                          <a:latin typeface="Sora"/>
                        </a:rPr>
                        <a:t>Persona</a:t>
                      </a:r>
                    </a:p>
                  </a:txBody>
                  <a:tcPr marL="54864" marR="54864" marT="27432" marB="27432" anchor="ctr">
                    <a:solidFill>
                      <a:srgbClr val="0F2C5C"/>
                    </a:solidFill>
                  </a:tcPr>
                </a:tc>
                <a:tc>
                  <a:txBody>
                    <a:bodyPr/>
                    <a:lstStyle/>
                    <a:p>
                      <a:r>
                        <a:rPr sz="750" b="1">
                          <a:solidFill>
                            <a:srgbClr val="FFFFFF"/>
                          </a:solidFill>
                          <a:latin typeface="Sora"/>
                        </a:rPr>
                        <a:t>URL / template</a:t>
                      </a:r>
                    </a:p>
                  </a:txBody>
                  <a:tcPr marL="54864" marR="54864" marT="27432" marB="27432" anchor="ctr">
                    <a:solidFill>
                      <a:srgbClr val="0F2C5C"/>
                    </a:solidFill>
                  </a:tcPr>
                </a:tc>
                <a:tc>
                  <a:txBody>
                    <a:bodyPr/>
                    <a:lstStyle/>
                    <a:p>
                      <a:r>
                        <a:rPr sz="750" b="1">
                          <a:solidFill>
                            <a:srgbClr val="FFFFFF"/>
                          </a:solidFill>
                          <a:latin typeface="Sora"/>
                        </a:rPr>
                        <a:t>Evidence</a:t>
                      </a:r>
                    </a:p>
                  </a:txBody>
                  <a:tcPr marL="54864" marR="54864" marT="27432" marB="27432" anchor="ctr">
                    <a:solidFill>
                      <a:srgbClr val="0F2C5C"/>
                    </a:solidFill>
                  </a:tcPr>
                </a:tc>
                <a:tc>
                  <a:txBody>
                    <a:bodyPr/>
                    <a:lstStyle/>
                    <a:p>
                      <a:r>
                        <a:rPr sz="750" b="1">
                          <a:solidFill>
                            <a:srgbClr val="FFFFFF"/>
                          </a:solidFill>
                          <a:latin typeface="Sora"/>
                        </a:rPr>
                        <a:t>Hypothesis</a:t>
                      </a:r>
                    </a:p>
                  </a:txBody>
                  <a:tcPr marL="54864" marR="54864" marT="27432" marB="27432" anchor="ctr">
                    <a:solidFill>
                      <a:srgbClr val="0F2C5C"/>
                    </a:solidFill>
                  </a:tcPr>
                </a:tc>
                <a:tc>
                  <a:txBody>
                    <a:bodyPr/>
                    <a:lstStyle/>
                    <a:p>
                      <a:r>
                        <a:rPr sz="750" b="1">
                          <a:solidFill>
                            <a:srgbClr val="FFFFFF"/>
                          </a:solidFill>
                          <a:latin typeface="Sora"/>
                        </a:rPr>
                        <a:t>Control</a:t>
                      </a:r>
                    </a:p>
                  </a:txBody>
                  <a:tcPr marL="54864" marR="54864" marT="27432" marB="27432" anchor="ctr">
                    <a:solidFill>
                      <a:srgbClr val="0F2C5C"/>
                    </a:solidFill>
                  </a:tcPr>
                </a:tc>
                <a:tc>
                  <a:txBody>
                    <a:bodyPr/>
                    <a:lstStyle/>
                    <a:p>
                      <a:r>
                        <a:rPr sz="750" b="1">
                          <a:solidFill>
                            <a:srgbClr val="FFFFFF"/>
                          </a:solidFill>
                          <a:latin typeface="Sora"/>
                        </a:rPr>
                        <a:t>Variant</a:t>
                      </a:r>
                    </a:p>
                  </a:txBody>
                  <a:tcPr marL="54864" marR="54864" marT="27432" marB="27432" anchor="ctr">
                    <a:solidFill>
                      <a:srgbClr val="0F2C5C"/>
                    </a:solidFill>
                  </a:tcPr>
                </a:tc>
                <a:tc>
                  <a:txBody>
                    <a:bodyPr/>
                    <a:lstStyle/>
                    <a:p>
                      <a:r>
                        <a:rPr sz="750" b="1">
                          <a:solidFill>
                            <a:srgbClr val="FFFFFF"/>
                          </a:solidFill>
                          <a:latin typeface="Sora"/>
                        </a:rPr>
                        <a:t>Primary KPI</a:t>
                      </a:r>
                    </a:p>
                  </a:txBody>
                  <a:tcPr marL="54864" marR="54864" marT="27432" marB="27432" anchor="ctr">
                    <a:solidFill>
                      <a:srgbClr val="0F2C5C"/>
                    </a:solidFill>
                  </a:tcPr>
                </a:tc>
                <a:tc>
                  <a:txBody>
                    <a:bodyPr/>
                    <a:lstStyle/>
                    <a:p>
                      <a:r>
                        <a:rPr sz="750" b="1">
                          <a:solidFill>
                            <a:srgbClr val="FFFFFF"/>
                          </a:solidFill>
                          <a:latin typeface="Sora"/>
                        </a:rPr>
                        <a:t>Secondary KPI</a:t>
                      </a:r>
                    </a:p>
                  </a:txBody>
                  <a:tcPr marL="54864" marR="54864" marT="27432" marB="27432" anchor="ctr">
                    <a:solidFill>
                      <a:srgbClr val="0F2C5C"/>
                    </a:solidFill>
                  </a:tcPr>
                </a:tc>
                <a:tc>
                  <a:txBody>
                    <a:bodyPr/>
                    <a:lstStyle/>
                    <a:p>
                      <a:r>
                        <a:rPr sz="750" b="1">
                          <a:solidFill>
                            <a:srgbClr val="FFFFFF"/>
                          </a:solidFill>
                          <a:latin typeface="Sora"/>
                        </a:rPr>
                        <a:t>Guardrail</a:t>
                      </a:r>
                    </a:p>
                  </a:txBody>
                  <a:tcPr marL="54864" marR="54864" marT="27432" marB="27432" anchor="ctr">
                    <a:solidFill>
                      <a:srgbClr val="0F2C5C"/>
                    </a:solidFill>
                  </a:tcPr>
                </a:tc>
                <a:tc>
                  <a:txBody>
                    <a:bodyPr/>
                    <a:lstStyle/>
                    <a:p>
                      <a:r>
                        <a:rPr sz="750" b="1">
                          <a:solidFill>
                            <a:srgbClr val="FFFFFF"/>
                          </a:solidFill>
                          <a:latin typeface="Sora"/>
                        </a:rPr>
                        <a:t>Effort</a:t>
                      </a:r>
                    </a:p>
                  </a:txBody>
                  <a:tcPr marL="54864" marR="54864" marT="27432" marB="27432" anchor="ctr">
                    <a:solidFill>
                      <a:srgbClr val="0F2C5C"/>
                    </a:solidFill>
                  </a:tcPr>
                </a:tc>
              </a:tr>
              <a:tr h="1131570">
                <a:tc>
                  <a:txBody>
                    <a:bodyPr/>
                    <a:lstStyle/>
                    <a:p>
                      <a:r>
                        <a:rPr sz="800" b="1">
                          <a:solidFill>
                            <a:srgbClr val="FFFFFF"/>
                          </a:solidFill>
                          <a:latin typeface="Sora"/>
                        </a:rPr>
                        <a:t>T11</a:t>
                      </a:r>
                    </a:p>
                  </a:txBody>
                  <a:tcPr marL="54864" marR="54864" marT="27432" marB="27432" anchor="ctr">
                    <a:solidFill>
                      <a:srgbClr val="C8102E"/>
                    </a:solidFill>
                  </a:tcPr>
                </a:tc>
                <a:tc>
                  <a:txBody>
                    <a:bodyPr/>
                    <a:lstStyle/>
                    <a:p>
                      <a:r>
                        <a:rPr sz="800" b="1">
                          <a:solidFill>
                            <a:srgbClr val="0F2C5C"/>
                          </a:solidFill>
                          <a:latin typeface="Sora"/>
                        </a:rPr>
                        <a:t>Exploratory CTA</a:t>
                      </a:r>
                    </a:p>
                  </a:txBody>
                  <a:tcPr marL="54864" marR="54864" marT="27432" marB="27432" anchor="ctr">
                    <a:solidFill>
                      <a:srgbClr val="F4F6FA"/>
                    </a:solidFill>
                  </a:tcPr>
                </a:tc>
                <a:tc>
                  <a:txBody>
                    <a:bodyPr/>
                    <a:lstStyle/>
                    <a:p>
                      <a:r>
                        <a:rPr sz="800" b="0">
                          <a:solidFill>
                            <a:srgbClr val="5A6472"/>
                          </a:solidFill>
                          <a:latin typeface="Sora"/>
                        </a:rPr>
                        <a:t>Early Explorer</a:t>
                      </a:r>
                    </a:p>
                  </a:txBody>
                  <a:tcPr marL="54864" marR="54864" marT="27432" marB="27432" anchor="ctr">
                    <a:solidFill>
                      <a:srgbClr val="F4F6FA"/>
                    </a:solidFill>
                  </a:tcPr>
                </a:tc>
                <a:tc>
                  <a:txBody>
                    <a:bodyPr/>
                    <a:lstStyle/>
                    <a:p>
                      <a:r>
                        <a:rPr sz="800" b="0">
                          <a:solidFill>
                            <a:srgbClr val="5A6472"/>
                          </a:solidFill>
                          <a:latin typeface="Sora"/>
                        </a:rPr>
                        <a:t>Blog template</a:t>
                      </a:r>
                    </a:p>
                  </a:txBody>
                  <a:tcPr marL="54864" marR="54864" marT="27432" marB="27432" anchor="ctr">
                    <a:solidFill>
                      <a:srgbClr val="F4F6FA"/>
                    </a:solidFill>
                  </a:tcPr>
                </a:tc>
                <a:tc>
                  <a:txBody>
                    <a:bodyPr/>
                    <a:lstStyle/>
                    <a:p>
                      <a:r>
                        <a:rPr sz="800" b="0">
                          <a:solidFill>
                            <a:srgbClr val="5A6472"/>
                          </a:solidFill>
                          <a:latin typeface="Sora"/>
                        </a:rPr>
                        <a:t>0 Apply, 0 phone on 32,318 blog landings [CSV]</a:t>
                      </a:r>
                    </a:p>
                  </a:txBody>
                  <a:tcPr marL="54864" marR="54864" marT="27432" marB="27432" anchor="ctr">
                    <a:solidFill>
                      <a:srgbClr val="F4F6FA"/>
                    </a:solidFill>
                  </a:tcPr>
                </a:tc>
                <a:tc>
                  <a:txBody>
                    <a:bodyPr/>
                    <a:lstStyle/>
                    <a:p>
                      <a:r>
                        <a:rPr sz="800" b="0">
                          <a:solidFill>
                            <a:srgbClr val="5A6472"/>
                          </a:solidFill>
                          <a:latin typeface="Sora"/>
                        </a:rPr>
                        <a:t>“Help me choose” fits intent better than Apply</a:t>
                      </a:r>
                    </a:p>
                  </a:txBody>
                  <a:tcPr marL="54864" marR="54864" marT="27432" marB="27432" anchor="ctr">
                    <a:solidFill>
                      <a:srgbClr val="F4F6FA"/>
                    </a:solidFill>
                  </a:tcPr>
                </a:tc>
                <a:tc>
                  <a:txBody>
                    <a:bodyPr/>
                    <a:lstStyle/>
                    <a:p>
                      <a:r>
                        <a:rPr sz="800" b="0">
                          <a:solidFill>
                            <a:srgbClr val="5A6472"/>
                          </a:solidFill>
                          <a:latin typeface="Sora"/>
                        </a:rPr>
                        <a:t>Sticky Apply / Enquire</a:t>
                      </a:r>
                    </a:p>
                  </a:txBody>
                  <a:tcPr marL="54864" marR="54864" marT="27432" marB="27432" anchor="ctr">
                    <a:solidFill>
                      <a:srgbClr val="F4F6FA"/>
                    </a:solidFill>
                  </a:tcPr>
                </a:tc>
                <a:tc>
                  <a:txBody>
                    <a:bodyPr/>
                    <a:lstStyle/>
                    <a:p>
                      <a:r>
                        <a:rPr sz="800" b="0">
                          <a:solidFill>
                            <a:srgbClr val="0F2C5C"/>
                          </a:solidFill>
                          <a:latin typeface="Sora"/>
                        </a:rPr>
                        <a:t>“Talk to a counsellor / course guide”</a:t>
                      </a:r>
                    </a:p>
                  </a:txBody>
                  <a:tcPr marL="54864" marR="54864" marT="27432" marB="27432" anchor="ctr">
                    <a:solidFill>
                      <a:srgbClr val="F4F6FA"/>
                    </a:solidFill>
                  </a:tcPr>
                </a:tc>
                <a:tc>
                  <a:txBody>
                    <a:bodyPr/>
                    <a:lstStyle/>
                    <a:p>
                      <a:r>
                        <a:rPr sz="800" b="1">
                          <a:solidFill>
                            <a:srgbClr val="1E7B4F"/>
                          </a:solidFill>
                          <a:latin typeface="Sora"/>
                        </a:rPr>
                        <a:t>form_start</a:t>
                      </a:r>
                    </a:p>
                  </a:txBody>
                  <a:tcPr marL="54864" marR="54864" marT="27432" marB="27432" anchor="ctr">
                    <a:solidFill>
                      <a:srgbClr val="E6F3EC"/>
                    </a:solidFill>
                  </a:tcPr>
                </a:tc>
                <a:tc>
                  <a:txBody>
                    <a:bodyPr/>
                    <a:lstStyle/>
                    <a:p>
                      <a:r>
                        <a:rPr sz="800" b="0">
                          <a:solidFill>
                            <a:srgbClr val="5A6472"/>
                          </a:solidFill>
                          <a:latin typeface="Sora"/>
                        </a:rPr>
                        <a:t>Leads</a:t>
                      </a:r>
                    </a:p>
                  </a:txBody>
                  <a:tcPr marL="54864" marR="54864" marT="27432" marB="27432" anchor="ctr">
                    <a:solidFill>
                      <a:srgbClr val="F4F6FA"/>
                    </a:solidFill>
                  </a:tcPr>
                </a:tc>
                <a:tc>
                  <a:txBody>
                    <a:bodyPr/>
                    <a:lstStyle/>
                    <a:p>
                      <a:r>
                        <a:rPr sz="800" b="0">
                          <a:solidFill>
                            <a:srgbClr val="5A6472"/>
                          </a:solidFill>
                          <a:latin typeface="Sora"/>
                        </a:rPr>
                        <a:t>CTA click-through</a:t>
                      </a:r>
                    </a:p>
                  </a:txBody>
                  <a:tcPr marL="54864" marR="54864" marT="27432" marB="27432" anchor="ctr">
                    <a:solidFill>
                      <a:srgbClr val="F4F6FA"/>
                    </a:solidFill>
                  </a:tcPr>
                </a:tc>
                <a:tc>
                  <a:txBody>
                    <a:bodyPr/>
                    <a:lstStyle/>
                    <a:p>
                      <a:r>
                        <a:rPr sz="800" b="1">
                          <a:solidFill>
                            <a:srgbClr val="0F2C5C"/>
                          </a:solidFill>
                          <a:latin typeface="Sora"/>
                        </a:rPr>
                        <a:t>S</a:t>
                      </a:r>
                    </a:p>
                  </a:txBody>
                  <a:tcPr marL="54864" marR="54864" marT="27432" marB="27432" anchor="ctr">
                    <a:solidFill>
                      <a:srgbClr val="F4F6FA"/>
                    </a:solidFill>
                  </a:tcPr>
                </a:tc>
              </a:tr>
              <a:tr h="1131570">
                <a:tc>
                  <a:txBody>
                    <a:bodyPr/>
                    <a:lstStyle/>
                    <a:p>
                      <a:r>
                        <a:rPr sz="800" b="1">
                          <a:solidFill>
                            <a:srgbClr val="FFFFFF"/>
                          </a:solidFill>
                          <a:latin typeface="Sora"/>
                        </a:rPr>
                        <a:t>T12</a:t>
                      </a:r>
                    </a:p>
                  </a:txBody>
                  <a:tcPr marL="54864" marR="54864" marT="27432" marB="27432" anchor="ctr">
                    <a:solidFill>
                      <a:srgbClr val="C8102E"/>
                    </a:solidFill>
                  </a:tcPr>
                </a:tc>
                <a:tc>
                  <a:txBody>
                    <a:bodyPr/>
                    <a:lstStyle/>
                    <a:p>
                      <a:r>
                        <a:rPr sz="800" b="1">
                          <a:solidFill>
                            <a:srgbClr val="0F2C5C"/>
                          </a:solidFill>
                          <a:latin typeface="Sora"/>
                        </a:rPr>
                        <a:t>Compare MRIIRS &amp; MRU</a:t>
                      </a:r>
                    </a:p>
                  </a:txBody>
                  <a:tcPr marL="54864" marR="54864" marT="27432" marB="27432" anchor="ctr">
                    <a:solidFill>
                      <a:srgbClr val="FFFFFF"/>
                    </a:solidFill>
                  </a:tcPr>
                </a:tc>
                <a:tc>
                  <a:txBody>
                    <a:bodyPr/>
                    <a:lstStyle/>
                    <a:p>
                      <a:r>
                        <a:rPr sz="800" b="0">
                          <a:solidFill>
                            <a:srgbClr val="5A6472"/>
                          </a:solidFill>
                          <a:latin typeface="Sora"/>
                        </a:rPr>
                        <a:t>Shortlister</a:t>
                      </a:r>
                    </a:p>
                  </a:txBody>
                  <a:tcPr marL="54864" marR="54864" marT="27432" marB="27432" anchor="ctr">
                    <a:solidFill>
                      <a:srgbClr val="FFFFFF"/>
                    </a:solidFill>
                  </a:tcPr>
                </a:tc>
                <a:tc>
                  <a:txBody>
                    <a:bodyPr/>
                    <a:lstStyle/>
                    <a:p>
                      <a:r>
                        <a:rPr sz="800" b="0">
                          <a:solidFill>
                            <a:srgbClr val="5A6472"/>
                          </a:solidFill>
                          <a:latin typeface="Sora"/>
                        </a:rPr>
                        <a:t>/mriirs, /mru</a:t>
                      </a:r>
                    </a:p>
                  </a:txBody>
                  <a:tcPr marL="54864" marR="54864" marT="27432" marB="27432" anchor="ctr">
                    <a:solidFill>
                      <a:srgbClr val="FFFFFF"/>
                    </a:solidFill>
                  </a:tcPr>
                </a:tc>
                <a:tc>
                  <a:txBody>
                    <a:bodyPr/>
                    <a:lstStyle/>
                    <a:p>
                      <a:r>
                        <a:rPr sz="800" b="0">
                          <a:solidFill>
                            <a:srgbClr val="5A6472"/>
                          </a:solidFill>
                          <a:latin typeface="Sora"/>
                        </a:rPr>
                        <a:t>/mru → /mriirs 166; 494 fee-page hops [GA4]</a:t>
                      </a:r>
                    </a:p>
                  </a:txBody>
                  <a:tcPr marL="54864" marR="54864" marT="27432" marB="27432" anchor="ctr">
                    <a:solidFill>
                      <a:srgbClr val="FFFFFF"/>
                    </a:solidFill>
                  </a:tcPr>
                </a:tc>
                <a:tc>
                  <a:txBody>
                    <a:bodyPr/>
                    <a:lstStyle/>
                    <a:p>
                      <a:r>
                        <a:rPr sz="800" b="0">
                          <a:solidFill>
                            <a:srgbClr val="5A6472"/>
                          </a:solidFill>
                          <a:latin typeface="Sora"/>
                        </a:rPr>
                        <a:t>A side-by-side route keeps comparers in the journey</a:t>
                      </a:r>
                    </a:p>
                  </a:txBody>
                  <a:tcPr marL="54864" marR="54864" marT="27432" marB="27432" anchor="ctr">
                    <a:solidFill>
                      <a:srgbClr val="FFFFFF"/>
                    </a:solidFill>
                  </a:tcPr>
                </a:tc>
                <a:tc>
                  <a:txBody>
                    <a:bodyPr/>
                    <a:lstStyle/>
                    <a:p>
                      <a:r>
                        <a:rPr sz="800" b="0">
                          <a:solidFill>
                            <a:srgbClr val="5A6472"/>
                          </a:solidFill>
                          <a:latin typeface="Sora"/>
                        </a:rPr>
                        <a:t>Current hub</a:t>
                      </a:r>
                    </a:p>
                  </a:txBody>
                  <a:tcPr marL="54864" marR="54864" marT="27432" marB="27432" anchor="ctr">
                    <a:solidFill>
                      <a:srgbClr val="FFFFFF"/>
                    </a:solidFill>
                  </a:tcPr>
                </a:tc>
                <a:tc>
                  <a:txBody>
                    <a:bodyPr/>
                    <a:lstStyle/>
                    <a:p>
                      <a:r>
                        <a:rPr sz="800" b="0">
                          <a:solidFill>
                            <a:srgbClr val="0F2C5C"/>
                          </a:solidFill>
                          <a:latin typeface="Sora"/>
                        </a:rPr>
                        <a:t>Hub + “Compare MRIIRS &amp; MRU” module</a:t>
                      </a:r>
                    </a:p>
                  </a:txBody>
                  <a:tcPr marL="54864" marR="54864" marT="27432" marB="27432" anchor="ctr">
                    <a:solidFill>
                      <a:srgbClr val="FFFFFF"/>
                    </a:solidFill>
                  </a:tcPr>
                </a:tc>
                <a:tc>
                  <a:txBody>
                    <a:bodyPr/>
                    <a:lstStyle/>
                    <a:p>
                      <a:r>
                        <a:rPr sz="800" b="1">
                          <a:solidFill>
                            <a:srgbClr val="1E7B4F"/>
                          </a:solidFill>
                          <a:latin typeface="Sora"/>
                        </a:rPr>
                        <a:t>Leads</a:t>
                      </a:r>
                    </a:p>
                  </a:txBody>
                  <a:tcPr marL="54864" marR="54864" marT="27432" marB="27432" anchor="ctr">
                    <a:solidFill>
                      <a:srgbClr val="E6F3EC"/>
                    </a:solidFill>
                  </a:tcPr>
                </a:tc>
                <a:tc>
                  <a:txBody>
                    <a:bodyPr/>
                    <a:lstStyle/>
                    <a:p>
                      <a:r>
                        <a:rPr sz="800" b="0">
                          <a:solidFill>
                            <a:srgbClr val="5A6472"/>
                          </a:solidFill>
                          <a:latin typeface="Sora"/>
                        </a:rPr>
                        <a:t>Cross-brand hops</a:t>
                      </a:r>
                    </a:p>
                  </a:txBody>
                  <a:tcPr marL="54864" marR="54864" marT="27432" marB="27432" anchor="ctr">
                    <a:solidFill>
                      <a:srgbClr val="FFFFFF"/>
                    </a:solidFill>
                  </a:tcPr>
                </a:tc>
                <a:tc>
                  <a:txBody>
                    <a:bodyPr/>
                    <a:lstStyle/>
                    <a:p>
                      <a:r>
                        <a:rPr sz="800" b="0">
                          <a:solidFill>
                            <a:srgbClr val="5A6472"/>
                          </a:solidFill>
                          <a:latin typeface="Sora"/>
                        </a:rPr>
                        <a:t>Apply-MRIIRS clicks (517)</a:t>
                      </a:r>
                    </a:p>
                  </a:txBody>
                  <a:tcPr marL="54864" marR="54864" marT="27432" marB="27432" anchor="ctr">
                    <a:solidFill>
                      <a:srgbClr val="FFFFFF"/>
                    </a:solidFill>
                  </a:tcPr>
                </a:tc>
                <a:tc>
                  <a:txBody>
                    <a:bodyPr/>
                    <a:lstStyle/>
                    <a:p>
                      <a:r>
                        <a:rPr sz="800" b="1">
                          <a:solidFill>
                            <a:srgbClr val="0F2C5C"/>
                          </a:solidFill>
                          <a:latin typeface="Sora"/>
                        </a:rPr>
                        <a:t>M</a:t>
                      </a:r>
                    </a:p>
                  </a:txBody>
                  <a:tcPr marL="54864" marR="54864" marT="27432" marB="27432" anchor="ctr">
                    <a:solidFill>
                      <a:srgbClr val="FFFFFF"/>
                    </a:solidFill>
                  </a:tcPr>
                </a:tc>
              </a:tr>
              <a:tr h="1131570">
                <a:tc>
                  <a:txBody>
                    <a:bodyPr/>
                    <a:lstStyle/>
                    <a:p>
                      <a:r>
                        <a:rPr sz="800" b="1">
                          <a:solidFill>
                            <a:srgbClr val="FFFFFF"/>
                          </a:solidFill>
                          <a:latin typeface="Sora"/>
                        </a:rPr>
                        <a:t>T13</a:t>
                      </a:r>
                    </a:p>
                  </a:txBody>
                  <a:tcPr marL="54864" marR="54864" marT="27432" marB="27432" anchor="ctr">
                    <a:solidFill>
                      <a:srgbClr val="C8102E"/>
                    </a:solidFill>
                  </a:tcPr>
                </a:tc>
                <a:tc>
                  <a:txBody>
                    <a:bodyPr/>
                    <a:lstStyle/>
                    <a:p>
                      <a:r>
                        <a:rPr sz="800" b="1">
                          <a:solidFill>
                            <a:srgbClr val="0F2C5C"/>
                          </a:solidFill>
                          <a:latin typeface="Sora"/>
                        </a:rPr>
                        <a:t>One contextual mobile sticky</a:t>
                      </a:r>
                    </a:p>
                  </a:txBody>
                  <a:tcPr marL="54864" marR="54864" marT="27432" marB="27432" anchor="ctr">
                    <a:solidFill>
                      <a:srgbClr val="F4F6FA"/>
                    </a:solidFill>
                  </a:tcPr>
                </a:tc>
                <a:tc>
                  <a:txBody>
                    <a:bodyPr/>
                    <a:lstStyle/>
                    <a:p>
                      <a:r>
                        <a:rPr sz="800" b="0">
                          <a:solidFill>
                            <a:srgbClr val="5A6472"/>
                          </a:solidFill>
                          <a:latin typeface="Sora"/>
                        </a:rPr>
                        <a:t>All (sitewide)</a:t>
                      </a:r>
                    </a:p>
                  </a:txBody>
                  <a:tcPr marL="54864" marR="54864" marT="27432" marB="27432" anchor="ctr">
                    <a:solidFill>
                      <a:srgbClr val="F4F6FA"/>
                    </a:solidFill>
                  </a:tcPr>
                </a:tc>
                <a:tc>
                  <a:txBody>
                    <a:bodyPr/>
                    <a:lstStyle/>
                    <a:p>
                      <a:r>
                        <a:rPr sz="800" b="0">
                          <a:solidFill>
                            <a:srgbClr val="5A6472"/>
                          </a:solidFill>
                          <a:latin typeface="Sora"/>
                        </a:rPr>
                        <a:t>All templates, mobile</a:t>
                      </a:r>
                    </a:p>
                  </a:txBody>
                  <a:tcPr marL="54864" marR="54864" marT="27432" marB="27432" anchor="ctr">
                    <a:solidFill>
                      <a:srgbClr val="F4F6FA"/>
                    </a:solidFill>
                  </a:tcPr>
                </a:tc>
                <a:tc>
                  <a:txBody>
                    <a:bodyPr/>
                    <a:lstStyle/>
                    <a:p>
                      <a:r>
                        <a:rPr sz="800" b="0">
                          <a:solidFill>
                            <a:srgbClr val="5A6472"/>
                          </a:solidFill>
                          <a:latin typeface="Sora"/>
                        </a:rPr>
                        <a:t>Fixed chrome 21–24% of screen; tabs clip content [audit]</a:t>
                      </a:r>
                    </a:p>
                  </a:txBody>
                  <a:tcPr marL="54864" marR="54864" marT="27432" marB="27432" anchor="ctr">
                    <a:solidFill>
                      <a:srgbClr val="F4F6FA"/>
                    </a:solidFill>
                  </a:tcPr>
                </a:tc>
                <a:tc>
                  <a:txBody>
                    <a:bodyPr/>
                    <a:lstStyle/>
                    <a:p>
                      <a:r>
                        <a:rPr sz="800" b="0">
                          <a:solidFill>
                            <a:srgbClr val="5A6472"/>
                          </a:solidFill>
                          <a:latin typeface="Sora"/>
                        </a:rPr>
                        <a:t>One template-specific action beats two generic tabs</a:t>
                      </a:r>
                    </a:p>
                  </a:txBody>
                  <a:tcPr marL="54864" marR="54864" marT="27432" marB="27432" anchor="ctr">
                    <a:solidFill>
                      <a:srgbClr val="F4F6FA"/>
                    </a:solidFill>
                  </a:tcPr>
                </a:tc>
                <a:tc>
                  <a:txBody>
                    <a:bodyPr/>
                    <a:lstStyle/>
                    <a:p>
                      <a:r>
                        <a:rPr sz="800" b="0">
                          <a:solidFill>
                            <a:srgbClr val="5A6472"/>
                          </a:solidFill>
                          <a:latin typeface="Sora"/>
                        </a:rPr>
                        <a:t>Apply + Enquire tabs + chat teaser</a:t>
                      </a:r>
                    </a:p>
                  </a:txBody>
                  <a:tcPr marL="54864" marR="54864" marT="27432" marB="27432" anchor="ctr">
                    <a:solidFill>
                      <a:srgbClr val="F4F6FA"/>
                    </a:solidFill>
                  </a:tcPr>
                </a:tc>
                <a:tc>
                  <a:txBody>
                    <a:bodyPr/>
                    <a:lstStyle/>
                    <a:p>
                      <a:r>
                        <a:rPr sz="800" b="0">
                          <a:solidFill>
                            <a:srgbClr val="0F2C5C"/>
                          </a:solidFill>
                          <a:latin typeface="Sora"/>
                        </a:rPr>
                        <a:t>Single bottom CTA by template: fee = call, course = brochure, hub = apply</a:t>
                      </a:r>
                    </a:p>
                  </a:txBody>
                  <a:tcPr marL="54864" marR="54864" marT="27432" marB="27432" anchor="ctr">
                    <a:solidFill>
                      <a:srgbClr val="F4F6FA"/>
                    </a:solidFill>
                  </a:tcPr>
                </a:tc>
                <a:tc>
                  <a:txBody>
                    <a:bodyPr/>
                    <a:lstStyle/>
                    <a:p>
                      <a:r>
                        <a:rPr sz="800" b="1">
                          <a:solidFill>
                            <a:srgbClr val="1E7B4F"/>
                          </a:solidFill>
                          <a:latin typeface="Sora"/>
                        </a:rPr>
                        <a:t>Leads</a:t>
                      </a:r>
                    </a:p>
                  </a:txBody>
                  <a:tcPr marL="54864" marR="54864" marT="27432" marB="27432" anchor="ctr">
                    <a:solidFill>
                      <a:srgbClr val="E6F3EC"/>
                    </a:solidFill>
                  </a:tcPr>
                </a:tc>
                <a:tc>
                  <a:txBody>
                    <a:bodyPr/>
                    <a:lstStyle/>
                    <a:p>
                      <a:r>
                        <a:rPr sz="800" b="0">
                          <a:solidFill>
                            <a:srgbClr val="5A6472"/>
                          </a:solidFill>
                          <a:latin typeface="Sora"/>
                        </a:rPr>
                        <a:t>form_start; phone</a:t>
                      </a:r>
                    </a:p>
                  </a:txBody>
                  <a:tcPr marL="54864" marR="54864" marT="27432" marB="27432" anchor="ctr">
                    <a:solidFill>
                      <a:srgbClr val="F4F6FA"/>
                    </a:solidFill>
                  </a:tcPr>
                </a:tc>
                <a:tc>
                  <a:txBody>
                    <a:bodyPr/>
                    <a:lstStyle/>
                    <a:p>
                      <a:r>
                        <a:rPr sz="800" b="0">
                          <a:solidFill>
                            <a:srgbClr val="5A6472"/>
                          </a:solidFill>
                          <a:latin typeface="Sora"/>
                        </a:rPr>
                        <a:t>Total CTA clicks</a:t>
                      </a:r>
                    </a:p>
                  </a:txBody>
                  <a:tcPr marL="54864" marR="54864" marT="27432" marB="27432" anchor="ctr">
                    <a:solidFill>
                      <a:srgbClr val="F4F6FA"/>
                    </a:solidFill>
                  </a:tcPr>
                </a:tc>
                <a:tc>
                  <a:txBody>
                    <a:bodyPr/>
                    <a:lstStyle/>
                    <a:p>
                      <a:r>
                        <a:rPr sz="800" b="1">
                          <a:solidFill>
                            <a:srgbClr val="0F2C5C"/>
                          </a:solidFill>
                          <a:latin typeface="Sora"/>
                        </a:rPr>
                        <a:t>M</a:t>
                      </a:r>
                    </a:p>
                  </a:txBody>
                  <a:tcPr marL="54864" marR="54864" marT="27432" marB="27432" anchor="ctr">
                    <a:solidFill>
                      <a:srgbClr val="F4F6FA"/>
                    </a:solidFill>
                  </a:tcPr>
                </a:tc>
              </a:tr>
              <a:tr h="1131570">
                <a:tc>
                  <a:txBody>
                    <a:bodyPr/>
                    <a:lstStyle/>
                    <a:p>
                      <a:r>
                        <a:rPr sz="800" b="1">
                          <a:solidFill>
                            <a:srgbClr val="FFFFFF"/>
                          </a:solidFill>
                          <a:latin typeface="Sora"/>
                        </a:rPr>
                        <a:t>T14</a:t>
                      </a:r>
                    </a:p>
                  </a:txBody>
                  <a:tcPr marL="54864" marR="54864" marT="27432" marB="27432" anchor="ctr">
                    <a:solidFill>
                      <a:srgbClr val="C8102E"/>
                    </a:solidFill>
                  </a:tcPr>
                </a:tc>
                <a:tc>
                  <a:txBody>
                    <a:bodyPr/>
                    <a:lstStyle/>
                    <a:p>
                      <a:r>
                        <a:rPr sz="800" b="1">
                          <a:solidFill>
                            <a:srgbClr val="0F2C5C"/>
                          </a:solidFill>
                          <a:latin typeface="Sora"/>
                        </a:rPr>
                        <a:t>Homepage intent router</a:t>
                      </a:r>
                    </a:p>
                  </a:txBody>
                  <a:tcPr marL="54864" marR="54864" marT="27432" marB="27432" anchor="ctr">
                    <a:solidFill>
                      <a:srgbClr val="FFFFFF"/>
                    </a:solidFill>
                  </a:tcPr>
                </a:tc>
                <a:tc>
                  <a:txBody>
                    <a:bodyPr/>
                    <a:lstStyle/>
                    <a:p>
                      <a:r>
                        <a:rPr sz="800" b="0">
                          <a:solidFill>
                            <a:srgbClr val="5A6472"/>
                          </a:solidFill>
                          <a:latin typeface="Sora"/>
                        </a:rPr>
                        <a:t>Unassigned → all</a:t>
                      </a:r>
                    </a:p>
                  </a:txBody>
                  <a:tcPr marL="54864" marR="54864" marT="27432" marB="27432" anchor="ctr">
                    <a:solidFill>
                      <a:srgbClr val="FFFFFF"/>
                    </a:solidFill>
                  </a:tcPr>
                </a:tc>
                <a:tc>
                  <a:txBody>
                    <a:bodyPr/>
                    <a:lstStyle/>
                    <a:p>
                      <a:r>
                        <a:rPr sz="800" b="0">
                          <a:solidFill>
                            <a:srgbClr val="5A6472"/>
                          </a:solidFill>
                          <a:latin typeface="Sora"/>
                        </a:rPr>
                        <a:t>Homepage</a:t>
                      </a:r>
                    </a:p>
                  </a:txBody>
                  <a:tcPr marL="54864" marR="54864" marT="27432" marB="27432" anchor="ctr">
                    <a:solidFill>
                      <a:srgbClr val="FFFFFF"/>
                    </a:solidFill>
                  </a:tcPr>
                </a:tc>
                <a:tc>
                  <a:txBody>
                    <a:bodyPr/>
                    <a:lstStyle/>
                    <a:p>
                      <a:r>
                        <a:rPr sz="800" b="0">
                          <a:solidFill>
                            <a:srgbClr val="5A6472"/>
                          </a:solidFill>
                          <a:latin typeface="Sora"/>
                        </a:rPr>
                        <a:t>36% of landings, 60% of form submits, persona unknown [CSV]</a:t>
                      </a:r>
                    </a:p>
                  </a:txBody>
                  <a:tcPr marL="54864" marR="54864" marT="27432" marB="27432" anchor="ctr">
                    <a:solidFill>
                      <a:srgbClr val="FFFFFF"/>
                    </a:solidFill>
                  </a:tcPr>
                </a:tc>
                <a:tc>
                  <a:txBody>
                    <a:bodyPr/>
                    <a:lstStyle/>
                    <a:p>
                      <a:r>
                        <a:rPr sz="800" b="0">
                          <a:solidFill>
                            <a:srgbClr val="5A6472"/>
                          </a:solidFill>
                          <a:latin typeface="Sora"/>
                        </a:rPr>
                        <a:t>A 3-way router routes faster and makes persona measurable</a:t>
                      </a:r>
                    </a:p>
                  </a:txBody>
                  <a:tcPr marL="54864" marR="54864" marT="27432" marB="27432" anchor="ctr">
                    <a:solidFill>
                      <a:srgbClr val="FFFFFF"/>
                    </a:solidFill>
                  </a:tcPr>
                </a:tc>
                <a:tc>
                  <a:txBody>
                    <a:bodyPr/>
                    <a:lstStyle/>
                    <a:p>
                      <a:r>
                        <a:rPr sz="800" b="0">
                          <a:solidFill>
                            <a:srgbClr val="5A6472"/>
                          </a:solidFill>
                          <a:latin typeface="Sora"/>
                        </a:rPr>
                        <a:t>“Find a Program” search</a:t>
                      </a:r>
                    </a:p>
                  </a:txBody>
                  <a:tcPr marL="54864" marR="54864" marT="27432" marB="27432" anchor="ctr">
                    <a:solidFill>
                      <a:srgbClr val="FFFFFF"/>
                    </a:solidFill>
                  </a:tcPr>
                </a:tc>
                <a:tc>
                  <a:txBody>
                    <a:bodyPr/>
                    <a:lstStyle/>
                    <a:p>
                      <a:r>
                        <a:rPr sz="800" b="0">
                          <a:solidFill>
                            <a:srgbClr val="0F2C5C"/>
                          </a:solidFill>
                          <a:latin typeface="Sora"/>
                        </a:rPr>
                        <a:t>“I know my course / checking fees / comparing campuses” + search</a:t>
                      </a:r>
                    </a:p>
                  </a:txBody>
                  <a:tcPr marL="54864" marR="54864" marT="27432" marB="27432" anchor="ctr">
                    <a:solidFill>
                      <a:srgbClr val="FFFFFF"/>
                    </a:solidFill>
                  </a:tcPr>
                </a:tc>
                <a:tc>
                  <a:txBody>
                    <a:bodyPr/>
                    <a:lstStyle/>
                    <a:p>
                      <a:r>
                        <a:rPr sz="800" b="1">
                          <a:solidFill>
                            <a:srgbClr val="1E7B4F"/>
                          </a:solidFill>
                          <a:latin typeface="Sora"/>
                        </a:rPr>
                        <a:t>Leads</a:t>
                      </a:r>
                    </a:p>
                  </a:txBody>
                  <a:tcPr marL="54864" marR="54864" marT="27432" marB="27432" anchor="ctr">
                    <a:solidFill>
                      <a:srgbClr val="E6F3EC"/>
                    </a:solidFill>
                  </a:tcPr>
                </a:tc>
                <a:tc>
                  <a:txBody>
                    <a:bodyPr/>
                    <a:lstStyle/>
                    <a:p>
                      <a:r>
                        <a:rPr sz="800" b="0">
                          <a:solidFill>
                            <a:srgbClr val="5A6472"/>
                          </a:solidFill>
                          <a:latin typeface="Sora"/>
                        </a:rPr>
                        <a:t>Router-path progression</a:t>
                      </a:r>
                    </a:p>
                  </a:txBody>
                  <a:tcPr marL="54864" marR="54864" marT="27432" marB="27432" anchor="ctr">
                    <a:solidFill>
                      <a:srgbClr val="FFFFFF"/>
                    </a:solidFill>
                  </a:tcPr>
                </a:tc>
                <a:tc>
                  <a:txBody>
                    <a:bodyPr/>
                    <a:lstStyle/>
                    <a:p>
                      <a:r>
                        <a:rPr sz="800" b="0">
                          <a:solidFill>
                            <a:srgbClr val="5A6472"/>
                          </a:solidFill>
                          <a:latin typeface="Sora"/>
                        </a:rPr>
                        <a:t>Homepage form_submit</a:t>
                      </a:r>
                    </a:p>
                  </a:txBody>
                  <a:tcPr marL="54864" marR="54864" marT="27432" marB="27432" anchor="ctr">
                    <a:solidFill>
                      <a:srgbClr val="FFFFFF"/>
                    </a:solidFill>
                  </a:tcPr>
                </a:tc>
                <a:tc>
                  <a:txBody>
                    <a:bodyPr/>
                    <a:lstStyle/>
                    <a:p>
                      <a:r>
                        <a:rPr sz="800" b="1">
                          <a:solidFill>
                            <a:srgbClr val="0F2C5C"/>
                          </a:solidFill>
                          <a:latin typeface="Sora"/>
                        </a:rPr>
                        <a:t>M</a:t>
                      </a:r>
                    </a:p>
                  </a:txBody>
                  <a:tcPr marL="54864" marR="54864" marT="27432" marB="27432" anchor="ctr">
                    <a:solidFill>
                      <a:srgbClr val="FFFFFF"/>
                    </a:solidFill>
                  </a:tcPr>
                </a:tc>
              </a:tr>
            </a:tbl>
          </a:graphicData>
        </a:graphic>
      </p:graphicFrame>
      <p:sp>
        <p:nvSpPr>
          <p:cNvPr id="6" name="TextBox 5"/>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Evidence tags: [GA4] = explorations used in this deck, 13 Jun – 10 Sept 2026 · [CSV] = GA4 event export by page type · [audit] = live site, 24 Sept 2026. Effort: S = content/config, M = template change.</a:t>
            </a:r>
          </a:p>
        </p:txBody>
      </p:sp>
      <p:sp>
        <p:nvSpPr>
          <p:cNvPr id="7" name="Rounded Rectangle 6"/>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F2C5C"/>
        </a:solidFill>
        <a:effectLst/>
      </p:bgPr>
    </p:bg>
    <p:spTree>
      <p:nvGrpSpPr>
        <p:cNvPr id="1" name=""/>
        <p:cNvGrpSpPr/>
        <p:nvPr/>
      </p:nvGrpSpPr>
      <p:grpSpPr/>
      <p:sp>
        <p:nvSpPr>
          <p:cNvPr id="2" name="TextBox 1"/>
          <p:cNvSpPr txBox="1"/>
          <p:nvPr/>
        </p:nvSpPr>
        <p:spPr>
          <a:xfrm>
            <a:off x="822960" y="2514600"/>
            <a:ext cx="2743200" cy="457200"/>
          </a:xfrm>
          <a:prstGeom prst="rect">
            <a:avLst/>
          </a:prstGeom>
          <a:noFill/>
        </p:spPr>
        <p:txBody>
          <a:bodyPr wrap="square" lIns="0" rIns="0" tIns="0" bIns="0" anchor="t">
            <a:spAutoFit/>
          </a:bodyPr>
          <a:lstStyle/>
          <a:p>
            <a:pPr algn="l"/>
            <a:r>
              <a:rPr sz="1600" b="1" i="0">
                <a:solidFill>
                  <a:srgbClr val="C8102E"/>
                </a:solidFill>
                <a:latin typeface="Sora"/>
              </a:rPr>
              <a:t>APPENDIX</a:t>
            </a:r>
          </a:p>
        </p:txBody>
      </p:sp>
      <p:sp>
        <p:nvSpPr>
          <p:cNvPr id="3" name="TextBox 2"/>
          <p:cNvSpPr txBox="1"/>
          <p:nvPr/>
        </p:nvSpPr>
        <p:spPr>
          <a:xfrm>
            <a:off x="822960" y="2926080"/>
            <a:ext cx="10058400" cy="731520"/>
          </a:xfrm>
          <a:prstGeom prst="rect">
            <a:avLst/>
          </a:prstGeom>
          <a:noFill/>
        </p:spPr>
        <p:txBody>
          <a:bodyPr wrap="square" lIns="0" rIns="0" tIns="0" bIns="0" anchor="t">
            <a:spAutoFit/>
          </a:bodyPr>
          <a:lstStyle/>
          <a:p>
            <a:pPr algn="l"/>
            <a:r>
              <a:rPr sz="3400" b="1" i="0">
                <a:solidFill>
                  <a:srgbClr val="FFFFFF"/>
                </a:solidFill>
                <a:latin typeface="Sora"/>
              </a:rPr>
              <a:t>Supporting material</a:t>
            </a:r>
          </a:p>
        </p:txBody>
      </p:sp>
      <p:sp>
        <p:nvSpPr>
          <p:cNvPr id="4" name="TextBox 3"/>
          <p:cNvSpPr txBox="1"/>
          <p:nvPr/>
        </p:nvSpPr>
        <p:spPr>
          <a:xfrm>
            <a:off x="822960" y="3703320"/>
            <a:ext cx="9601200" cy="548640"/>
          </a:xfrm>
          <a:prstGeom prst="rect">
            <a:avLst/>
          </a:prstGeom>
          <a:noFill/>
        </p:spPr>
        <p:txBody>
          <a:bodyPr wrap="square" lIns="0" rIns="0" tIns="0" bIns="0" anchor="t">
            <a:spAutoFit/>
          </a:bodyPr>
          <a:lstStyle/>
          <a:p>
            <a:pPr algn="l"/>
            <a:r>
              <a:rPr sz="1400" b="0" i="0">
                <a:solidFill>
                  <a:srgbClr val="CADCFC"/>
                </a:solidFill>
                <a:latin typeface="Sora"/>
              </a:rPr>
              <a:t>Benchmarks and slides retained from earlier versions of this deck.</a:t>
            </a: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sp>
        <p:nvSpPr>
          <p:cNvPr id="480" name="Google Shape;480;p29"/>
          <p:cNvSpPr txBox="1"/>
          <p:nvPr/>
        </p:nvSpPr>
        <p:spPr>
          <a:xfrm>
            <a:off x="376705" y="18610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C8102E"/>
                </a:solidFill>
                <a:latin typeface="Sora"/>
                <a:ea typeface="Calibri"/>
                <a:cs typeface="Calibri"/>
                <a:sym typeface="Calibri"/>
              </a:rPr>
              <a:t>APPENDIX  ·  PERSONA VERDICTS, FOLD 1–2</a:t>
            </a:r>
            <a:endParaRPr b="0" i="0" sz="1300" u="none" cap="none" strike="noStrike">
              <a:solidFill>
                <a:schemeClr val="dk1"/>
              </a:solidFill>
              <a:latin typeface="Calibri"/>
              <a:ea typeface="Calibri"/>
              <a:cs typeface="Calibri"/>
              <a:sym typeface="Calibri"/>
            </a:endParaRPr>
          </a:p>
        </p:txBody>
      </p:sp>
      <p:sp>
        <p:nvSpPr>
          <p:cNvPr id="481" name="Google Shape;481;p29"/>
          <p:cNvSpPr txBox="1"/>
          <p:nvPr/>
        </p:nvSpPr>
        <p:spPr>
          <a:xfrm>
            <a:off x="376700" y="524425"/>
            <a:ext cx="7221900" cy="61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320"/>
              </a:buClr>
              <a:buSzPts val="2700"/>
              <a:buFont typeface="Cambria"/>
              <a:buNone/>
            </a:pPr>
            <a:r>
              <a:rPr b="1" i="0" lang="en-US" sz="2700" u="none" cap="none" strike="noStrike">
                <a:solidFill>
                  <a:srgbClr val="0F2C5C"/>
                </a:solidFill>
                <a:latin typeface="Sora"/>
                <a:ea typeface="Cambria"/>
                <a:cs typeface="Cambria"/>
                <a:sym typeface="Cambria"/>
              </a:rPr>
              <a:t>What each persona actually gets, in fold 1–2</a:t>
            </a:r>
            <a:endParaRPr b="0" i="0" sz="2700" u="none" cap="none" strike="noStrike">
              <a:solidFill>
                <a:schemeClr val="dk1"/>
              </a:solidFill>
              <a:latin typeface="Calibri"/>
              <a:ea typeface="Calibri"/>
              <a:cs typeface="Calibri"/>
              <a:sym typeface="Calibri"/>
            </a:endParaRPr>
          </a:p>
        </p:txBody>
      </p:sp>
      <p:graphicFrame>
        <p:nvGraphicFramePr>
          <p:cNvPr id="482" name="Google Shape;482;p29"/>
          <p:cNvGraphicFramePr/>
          <p:nvPr/>
        </p:nvGraphicFramePr>
        <p:xfrm>
          <a:off x="376832" y="1522283"/>
          <a:ext cx="3000000" cy="3000000"/>
        </p:xfrm>
        <a:graphic>
          <a:graphicData uri="http://schemas.openxmlformats.org/drawingml/2006/table">
            <a:tbl>
              <a:tblPr>
                <a:noFill/>
                <a:tableStyleId>{AF987E92-83FC-4B9D-A84D-E1139F2F7CFC}</a:tableStyleId>
              </a:tblPr>
              <a:tblGrid>
                <a:gridCol w="1756225"/>
                <a:gridCol w="1088175"/>
              </a:tblGrid>
              <a:tr h="4481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Persona</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solidFill>
                      <a:srgbClr val="2F3C7E"/>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Verdict</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solidFill>
                      <a:srgbClr val="2F3C7E"/>
                    </a:solidFill>
                  </a:tcPr>
                </a:tc>
              </a:tr>
              <a:tr h="693425">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Course Researcher</a:t>
                      </a:r>
                      <a:endParaRPr sz="1200" u="none" cap="none" strike="noStrike">
                        <a:latin typeface="Calibri"/>
                        <a:ea typeface="Calibri"/>
                        <a:cs typeface="Calibri"/>
                        <a:sym typeface="Calibri"/>
                      </a:endParaRPr>
                    </a:p>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Wants curriculum &amp; specialization detail</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B8860B"/>
                        </a:buClr>
                        <a:buSzPts val="1200"/>
                        <a:buFont typeface="Calibri"/>
                        <a:buNone/>
                      </a:pPr>
                      <a:r>
                        <a:rPr b="1" lang="en-US" sz="1200" u="none" cap="none" strike="noStrike">
                          <a:solidFill>
                            <a:srgbClr val="B8860B"/>
                          </a:solidFill>
                          <a:latin typeface="Calibri"/>
                          <a:ea typeface="Calibri"/>
                          <a:cs typeface="Calibri"/>
                          <a:sym typeface="Calibri"/>
                        </a:rPr>
                        <a:t>Partial</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93425">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Proof Seeker</a:t>
                      </a:r>
                      <a:endParaRPr sz="1200" u="none" cap="none" strike="noStrike">
                        <a:latin typeface="Calibri"/>
                        <a:ea typeface="Calibri"/>
                        <a:cs typeface="Calibri"/>
                        <a:sym typeface="Calibri"/>
                      </a:endParaRPr>
                    </a:p>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Wants rankings, placement outcomes, credibility</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1200"/>
                        <a:buFont typeface="Calibri"/>
                        <a:buNone/>
                      </a:pPr>
                      <a:r>
                        <a:rPr b="1" lang="en-US" sz="1200" u="none" cap="none" strike="noStrike">
                          <a:solidFill>
                            <a:srgbClr val="C0392B"/>
                          </a:solidFill>
                          <a:latin typeface="Calibri"/>
                          <a:ea typeface="Calibri"/>
                          <a:cs typeface="Calibri"/>
                          <a:sym typeface="Calibri"/>
                        </a:rPr>
                        <a:t>Weak</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93425">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Early Explorer</a:t>
                      </a:r>
                      <a:endParaRPr sz="1200" u="none" cap="none" strike="noStrike">
                        <a:latin typeface="Calibri"/>
                        <a:ea typeface="Calibri"/>
                        <a:cs typeface="Calibri"/>
                        <a:sym typeface="Calibri"/>
                      </a:endParaRPr>
                    </a:p>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Browsing broadly, low commitment</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1200"/>
                        <a:buFont typeface="Calibri"/>
                        <a:buNone/>
                      </a:pPr>
                      <a:r>
                        <a:rPr b="1" lang="en-US" sz="1200" u="none" cap="none" strike="noStrike">
                          <a:solidFill>
                            <a:srgbClr val="C0392B"/>
                          </a:solidFill>
                          <a:latin typeface="Calibri"/>
                          <a:ea typeface="Calibri"/>
                          <a:cs typeface="Calibri"/>
                          <a:sym typeface="Calibri"/>
                        </a:rPr>
                        <a:t>Weak</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93425">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Cost Checker</a:t>
                      </a:r>
                      <a:endParaRPr sz="1200" u="none" cap="none" strike="noStrike">
                        <a:latin typeface="Calibri"/>
                        <a:ea typeface="Calibri"/>
                        <a:cs typeface="Calibri"/>
                        <a:sym typeface="Calibri"/>
                      </a:endParaRPr>
                    </a:p>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Wants the fee number, fast</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B8860B"/>
                        </a:buClr>
                        <a:buSzPts val="1200"/>
                        <a:buFont typeface="Calibri"/>
                        <a:buNone/>
                      </a:pPr>
                      <a:r>
                        <a:rPr b="1" lang="en-US" sz="1200" u="none" cap="none" strike="noStrike">
                          <a:solidFill>
                            <a:srgbClr val="B8860B"/>
                          </a:solidFill>
                          <a:latin typeface="Calibri"/>
                          <a:ea typeface="Calibri"/>
                          <a:cs typeface="Calibri"/>
                          <a:sym typeface="Calibri"/>
                        </a:rPr>
                        <a:t>Partial</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r h="693425">
                <a:tc>
                  <a:txBody>
                    <a:bodyPr/>
                    <a:lstStyle/>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University Shortlister</a:t>
                      </a:r>
                      <a:endParaRPr sz="1200" u="none" cap="none" strike="noStrike">
                        <a:latin typeface="Calibri"/>
                        <a:ea typeface="Calibri"/>
                        <a:cs typeface="Calibri"/>
                        <a:sym typeface="Calibri"/>
                      </a:endParaRPr>
                    </a:p>
                    <a:p>
                      <a:pPr indent="0" lvl="0" marL="0" marR="0" rtl="0" algn="l">
                        <a:spcBef>
                          <a:spcPts val="0"/>
                        </a:spcBef>
                        <a:spcAft>
                          <a:spcPts val="0"/>
                        </a:spcAft>
                        <a:buClr>
                          <a:srgbClr val="2B2320"/>
                        </a:buClr>
                        <a:buSzPts val="1200"/>
                        <a:buFont typeface="Calibri"/>
                        <a:buNone/>
                      </a:pPr>
                      <a:r>
                        <a:rPr lang="en-US" sz="1200" u="none" cap="none" strike="noStrike">
                          <a:solidFill>
                            <a:srgbClr val="2B2320"/>
                          </a:solidFill>
                          <a:latin typeface="Calibri"/>
                          <a:ea typeface="Calibri"/>
                          <a:cs typeface="Calibri"/>
                          <a:sym typeface="Calibri"/>
                        </a:rPr>
                        <a:t>Comparing options, wants quick facts</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c>
                  <a:txBody>
                    <a:bodyPr/>
                    <a:lstStyle/>
                    <a:p>
                      <a:pPr indent="0" lvl="0" marL="0" marR="0" rtl="0" algn="ctr">
                        <a:spcBef>
                          <a:spcPts val="0"/>
                        </a:spcBef>
                        <a:spcAft>
                          <a:spcPts val="0"/>
                        </a:spcAft>
                        <a:buClr>
                          <a:srgbClr val="B8860B"/>
                        </a:buClr>
                        <a:buSzPts val="1200"/>
                        <a:buFont typeface="Calibri"/>
                        <a:buNone/>
                      </a:pPr>
                      <a:r>
                        <a:rPr b="1" lang="en-US" sz="1200" u="none" cap="none" strike="noStrike">
                          <a:solidFill>
                            <a:srgbClr val="B8860B"/>
                          </a:solidFill>
                          <a:latin typeface="Calibri"/>
                          <a:ea typeface="Calibri"/>
                          <a:cs typeface="Calibri"/>
                          <a:sym typeface="Calibri"/>
                        </a:rPr>
                        <a:t>Partial</a:t>
                      </a:r>
                      <a:endParaRPr sz="1200" u="none" cap="none" strike="noStrike">
                        <a:latin typeface="Calibri"/>
                        <a:ea typeface="Calibri"/>
                        <a:cs typeface="Calibri"/>
                        <a:sym typeface="Calibri"/>
                      </a:endParaRPr>
                    </a:p>
                  </a:txBody>
                  <a:tcPr marT="76200" marB="76200" marR="101600" marL="101600" anchor="ctr">
                    <a:lnL cap="flat" cmpd="sng" w="9525">
                      <a:solidFill>
                        <a:srgbClr val="E5E0DF"/>
                      </a:solidFill>
                      <a:prstDash val="solid"/>
                      <a:round/>
                      <a:headEnd len="sm" w="sm" type="none"/>
                      <a:tailEnd len="sm" w="sm" type="none"/>
                    </a:lnL>
                    <a:lnR cap="flat" cmpd="sng" w="9525">
                      <a:solidFill>
                        <a:srgbClr val="E5E0DF"/>
                      </a:solidFill>
                      <a:prstDash val="solid"/>
                      <a:round/>
                      <a:headEnd len="sm" w="sm" type="none"/>
                      <a:tailEnd len="sm" w="sm" type="none"/>
                    </a:lnR>
                    <a:lnT cap="flat" cmpd="sng" w="9525">
                      <a:solidFill>
                        <a:srgbClr val="E5E0DF"/>
                      </a:solidFill>
                      <a:prstDash val="solid"/>
                      <a:round/>
                      <a:headEnd len="sm" w="sm" type="none"/>
                      <a:tailEnd len="sm" w="sm" type="none"/>
                    </a:lnT>
                    <a:lnB cap="flat" cmpd="sng" w="9525">
                      <a:solidFill>
                        <a:srgbClr val="E5E0DF"/>
                      </a:solidFill>
                      <a:prstDash val="solid"/>
                      <a:round/>
                      <a:headEnd len="sm" w="sm" type="none"/>
                      <a:tailEnd len="sm" w="sm" type="none"/>
                    </a:lnB>
                  </a:tcPr>
                </a:tc>
              </a:tr>
            </a:tbl>
          </a:graphicData>
        </a:graphic>
      </p:graphicFrame>
      <p:sp>
        <p:nvSpPr>
          <p:cNvPr id="483" name="Google Shape;483;p29"/>
          <p:cNvSpPr/>
          <p:nvPr/>
        </p:nvSpPr>
        <p:spPr>
          <a:xfrm>
            <a:off x="376857" y="5848803"/>
            <a:ext cx="8147700" cy="613200"/>
          </a:xfrm>
          <a:prstGeom prst="roundRect">
            <a:avLst>
              <a:gd fmla="val 16000" name="adj"/>
            </a:avLst>
          </a:prstGeom>
          <a:solidFill>
            <a:srgbClr val="FCF6F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9"/>
          <p:cNvSpPr txBox="1"/>
          <p:nvPr/>
        </p:nvSpPr>
        <p:spPr>
          <a:xfrm>
            <a:off x="542013" y="5848803"/>
            <a:ext cx="7817100" cy="61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320"/>
              </a:buClr>
              <a:buSzPts val="1200"/>
              <a:buFont typeface="Calibri"/>
              <a:buNone/>
            </a:pPr>
            <a:r>
              <a:rPr b="0" i="1" lang="en-US" sz="1200" u="none" cap="none" strike="noStrike">
                <a:solidFill>
                  <a:srgbClr val="2B2320"/>
                </a:solidFill>
                <a:latin typeface="Calibri"/>
                <a:ea typeface="Calibri"/>
                <a:cs typeface="Calibri"/>
                <a:sym typeface="Calibri"/>
              </a:rPr>
              <a:t>CTA inventory: up to 4 same-intent “apply / enquire” prompts live above the fold (ribbon, nav, form, sticky tab) — none differentiated by the persona reading them.</a:t>
            </a:r>
            <a:endParaRPr b="0" i="0" sz="1200" u="none" cap="none" strike="noStrike">
              <a:solidFill>
                <a:schemeClr val="dk1"/>
              </a:solidFill>
              <a:latin typeface="Calibri"/>
              <a:ea typeface="Calibri"/>
              <a:cs typeface="Calibri"/>
              <a:sym typeface="Calibri"/>
            </a:endParaRPr>
          </a:p>
        </p:txBody>
      </p:sp>
      <p:pic>
        <p:nvPicPr>
          <p:cNvPr id="485" name="Google Shape;485;p29"/>
          <p:cNvPicPr preferRelativeResize="0"/>
          <p:nvPr/>
        </p:nvPicPr>
        <p:blipFill rotWithShape="1">
          <a:blip r:embed="rId3">
            <a:alphaModFix/>
          </a:blip>
          <a:srcRect b="2390" l="1627" r="1540" t="16860"/>
          <a:stretch/>
        </p:blipFill>
        <p:spPr>
          <a:xfrm>
            <a:off x="3348500" y="1474038"/>
            <a:ext cx="8843502" cy="4155663"/>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4" name="Shape 884"/>
        <p:cNvGrpSpPr/>
        <p:nvPr/>
      </p:nvGrpSpPr>
      <p:grpSpPr>
        <a:xfrm>
          <a:off x="0" y="0"/>
          <a:ext cx="0" cy="0"/>
          <a:chOff x="0" y="0"/>
          <a:chExt cx="0" cy="0"/>
        </a:xfrm>
      </p:grpSpPr>
      <p:sp>
        <p:nvSpPr>
          <p:cNvPr id="885" name="Google Shape;885;p49"/>
          <p:cNvSpPr txBox="1"/>
          <p:nvPr/>
        </p:nvSpPr>
        <p:spPr>
          <a:xfrm>
            <a:off x="548640" y="411480"/>
            <a:ext cx="9601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C8102E"/>
                </a:solidFill>
                <a:latin typeface="Sora"/>
                <a:ea typeface="Sora"/>
                <a:cs typeface="Sora"/>
                <a:sym typeface="Sora"/>
              </a:rPr>
              <a:t>COMPETITIVE BENCHMARKING — HOMEPAGE TEMPLATE</a:t>
            </a:r>
            <a:endParaRPr sz="1500"/>
          </a:p>
        </p:txBody>
      </p:sp>
      <p:sp>
        <p:nvSpPr>
          <p:cNvPr id="886" name="Google Shape;886;p49"/>
          <p:cNvSpPr txBox="1"/>
          <p:nvPr/>
        </p:nvSpPr>
        <p:spPr>
          <a:xfrm>
            <a:off x="548640" y="713232"/>
            <a:ext cx="110643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F2C5C"/>
                </a:solidFill>
                <a:latin typeface="Sora"/>
                <a:ea typeface="Sora"/>
                <a:cs typeface="Sora"/>
                <a:sym typeface="Sora"/>
              </a:rPr>
              <a:t>This is the homepage — so the bar is all six competitors, measured</a:t>
            </a:r>
            <a:endParaRPr sz="1500"/>
          </a:p>
        </p:txBody>
      </p:sp>
      <p:sp>
        <p:nvSpPr>
          <p:cNvPr id="887" name="Google Shape;887;p49"/>
          <p:cNvSpPr txBox="1"/>
          <p:nvPr/>
        </p:nvSpPr>
        <p:spPr>
          <a:xfrm>
            <a:off x="548640" y="1234440"/>
            <a:ext cx="110643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A6472"/>
                </a:solidFill>
                <a:latin typeface="Sora"/>
                <a:ea typeface="Sora"/>
                <a:cs typeface="Sora"/>
                <a:sym typeface="Sora"/>
              </a:rPr>
              <a:t>Same instrument, same viewport, run live across every named competitor's homepage</a:t>
            </a:r>
            <a:endParaRPr sz="1500"/>
          </a:p>
        </p:txBody>
      </p:sp>
      <p:graphicFrame>
        <p:nvGraphicFramePr>
          <p:cNvPr id="888" name="Google Shape;888;p49"/>
          <p:cNvGraphicFramePr/>
          <p:nvPr/>
        </p:nvGraphicFramePr>
        <p:xfrm>
          <a:off x="548640" y="1691640"/>
          <a:ext cx="3000000" cy="3000000"/>
        </p:xfrm>
        <a:graphic>
          <a:graphicData uri="http://schemas.openxmlformats.org/drawingml/2006/table">
            <a:tbl>
              <a:tblPr bandRow="1" firstRow="1">
                <a:noFill/>
                <a:tableStyleId>{AF987E92-83FC-4B9D-A84D-E1139F2F7CFC}</a:tableStyleId>
              </a:tblPr>
              <a:tblGrid>
                <a:gridCol w="2560325"/>
                <a:gridCol w="1188725"/>
                <a:gridCol w="1188725"/>
                <a:gridCol w="1188725"/>
                <a:gridCol w="1188725"/>
              </a:tblGrid>
              <a:tr h="520075">
                <a:tc>
                  <a:txBody>
                    <a:bodyPr/>
                    <a:lstStyle/>
                    <a:p>
                      <a:pPr indent="0" lvl="0" marL="0" marR="0" rtl="0" algn="l">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Site</a:t>
                      </a:r>
                      <a:endParaRPr sz="1500"/>
                    </a:p>
                  </a:txBody>
                  <a:tcPr marT="36575" marB="36575" marR="73175" marL="731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Tap targets &lt;44px</a:t>
                      </a:r>
                      <a:endParaRPr sz="1500"/>
                    </a:p>
                  </a:txBody>
                  <a:tcPr marT="36575" marB="36575" marR="73175" marL="731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Type sizes</a:t>
                      </a:r>
                      <a:endParaRPr sz="1500"/>
                    </a:p>
                  </a:txBody>
                  <a:tcPr marT="36575" marB="36575" marR="73175" marL="731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Text colours</a:t>
                      </a:r>
                      <a:endParaRPr sz="1500"/>
                    </a:p>
                  </a:txBody>
                  <a:tcPr marT="36575" marB="36575" marR="73175" marL="73175" anchor="ctr">
                    <a:solidFill>
                      <a:srgbClr val="0F2C5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Sora"/>
                          <a:ea typeface="Sora"/>
                          <a:cs typeface="Sora"/>
                          <a:sym typeface="Sora"/>
                        </a:rPr>
                        <a:t>Contrast fails</a:t>
                      </a:r>
                      <a:endParaRPr sz="1500"/>
                    </a:p>
                  </a:txBody>
                  <a:tcPr marT="36575" marB="36575" marR="73175" marL="73175" anchor="ctr">
                    <a:solidFill>
                      <a:srgbClr val="0F2C5C"/>
                    </a:solidFill>
                  </a:tcPr>
                </a:tc>
              </a:tr>
              <a:tr h="5200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MREI (manavrachna.edu.in)</a:t>
                      </a:r>
                      <a:endParaRPr sz="1500"/>
                    </a:p>
                  </a:txBody>
                  <a:tcPr marT="36575" marB="36575" marR="73175" marL="73175" anchor="ctr">
                    <a:solidFill>
                      <a:srgbClr val="E8EEF7"/>
                    </a:solidFill>
                  </a:tcPr>
                </a:tc>
                <a:tc>
                  <a:txBody>
                    <a:bodyPr/>
                    <a:lstStyle/>
                    <a:p>
                      <a:pPr indent="0" lvl="0" marL="0" marR="0" rtl="0" algn="ctr">
                        <a:lnSpc>
                          <a:spcPct val="100000"/>
                        </a:lnSpc>
                        <a:spcBef>
                          <a:spcPts val="0"/>
                        </a:spcBef>
                        <a:spcAft>
                          <a:spcPts val="0"/>
                        </a:spcAft>
                        <a:buNone/>
                      </a:pPr>
                      <a:r>
                        <a:rPr b="1" lang="en-US" sz="1200" u="none" cap="none" strike="noStrike">
                          <a:solidFill>
                            <a:srgbClr val="C8102E"/>
                          </a:solidFill>
                          <a:latin typeface="Sora"/>
                          <a:ea typeface="Sora"/>
                          <a:cs typeface="Sora"/>
                          <a:sym typeface="Sora"/>
                        </a:rPr>
                        <a:t>76%</a:t>
                      </a:r>
                      <a:endParaRPr sz="1500"/>
                    </a:p>
                  </a:txBody>
                  <a:tcPr marT="36575" marB="36575" marR="73175" marL="73175" anchor="ctr">
                    <a:solidFill>
                      <a:srgbClr val="E8EEF7"/>
                    </a:solidFill>
                  </a:tcPr>
                </a:tc>
                <a:tc>
                  <a:txBody>
                    <a:bodyPr/>
                    <a:lstStyle/>
                    <a:p>
                      <a:pPr indent="0" lvl="0" marL="0" marR="0" rtl="0" algn="ctr">
                        <a:lnSpc>
                          <a:spcPct val="100000"/>
                        </a:lnSpc>
                        <a:spcBef>
                          <a:spcPts val="0"/>
                        </a:spcBef>
                        <a:spcAft>
                          <a:spcPts val="0"/>
                        </a:spcAft>
                        <a:buNone/>
                      </a:pPr>
                      <a:r>
                        <a:rPr b="1" lang="en-US" sz="1200" u="none" cap="none" strike="noStrike">
                          <a:solidFill>
                            <a:srgbClr val="C8102E"/>
                          </a:solidFill>
                          <a:latin typeface="Sora"/>
                          <a:ea typeface="Sora"/>
                          <a:cs typeface="Sora"/>
                          <a:sym typeface="Sora"/>
                        </a:rPr>
                        <a:t>15</a:t>
                      </a:r>
                      <a:endParaRPr sz="1500"/>
                    </a:p>
                  </a:txBody>
                  <a:tcPr marT="36575" marB="36575" marR="73175" marL="73175" anchor="ctr">
                    <a:solidFill>
                      <a:srgbClr val="E8EEF7"/>
                    </a:solidFill>
                  </a:tcPr>
                </a:tc>
                <a:tc>
                  <a:txBody>
                    <a:bodyPr/>
                    <a:lstStyle/>
                    <a:p>
                      <a:pPr indent="0" lvl="0" marL="0" marR="0" rtl="0" algn="ctr">
                        <a:lnSpc>
                          <a:spcPct val="100000"/>
                        </a:lnSpc>
                        <a:spcBef>
                          <a:spcPts val="0"/>
                        </a:spcBef>
                        <a:spcAft>
                          <a:spcPts val="0"/>
                        </a:spcAft>
                        <a:buNone/>
                      </a:pPr>
                      <a:r>
                        <a:rPr b="1" lang="en-US" sz="1200" u="none" cap="none" strike="noStrike">
                          <a:solidFill>
                            <a:srgbClr val="C8102E"/>
                          </a:solidFill>
                          <a:latin typeface="Sora"/>
                          <a:ea typeface="Sora"/>
                          <a:cs typeface="Sora"/>
                          <a:sym typeface="Sora"/>
                        </a:rPr>
                        <a:t>7</a:t>
                      </a:r>
                      <a:endParaRPr sz="1500"/>
                    </a:p>
                  </a:txBody>
                  <a:tcPr marT="36575" marB="36575" marR="73175" marL="73175" anchor="ctr">
                    <a:solidFill>
                      <a:srgbClr val="E8EEF7"/>
                    </a:solidFill>
                  </a:tcPr>
                </a:tc>
                <a:tc>
                  <a:txBody>
                    <a:bodyPr/>
                    <a:lstStyle/>
                    <a:p>
                      <a:pPr indent="0" lvl="0" marL="0" marR="0" rtl="0" algn="ctr">
                        <a:lnSpc>
                          <a:spcPct val="100000"/>
                        </a:lnSpc>
                        <a:spcBef>
                          <a:spcPts val="0"/>
                        </a:spcBef>
                        <a:spcAft>
                          <a:spcPts val="0"/>
                        </a:spcAft>
                        <a:buNone/>
                      </a:pPr>
                      <a:r>
                        <a:rPr b="1" lang="en-US" sz="1200" u="none" cap="none" strike="noStrike">
                          <a:solidFill>
                            <a:srgbClr val="C8102E"/>
                          </a:solidFill>
                          <a:latin typeface="Sora"/>
                          <a:ea typeface="Sora"/>
                          <a:cs typeface="Sora"/>
                          <a:sym typeface="Sora"/>
                        </a:rPr>
                        <a:t>24%</a:t>
                      </a:r>
                      <a:endParaRPr sz="1500"/>
                    </a:p>
                  </a:txBody>
                  <a:tcPr marT="36575" marB="36575" marR="73175" marL="73175" anchor="ctr">
                    <a:solidFill>
                      <a:srgbClr val="E8EEF7"/>
                    </a:solidFill>
                  </a:tcPr>
                </a:tc>
              </a:tr>
              <a:tr h="5200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Sharda</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77%</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12</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8</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16%</a:t>
                      </a:r>
                      <a:endParaRPr sz="1500"/>
                    </a:p>
                  </a:txBody>
                  <a:tcPr marT="36575" marB="36575" marR="73175" marL="73175" anchor="ctr">
                    <a:solidFill>
                      <a:srgbClr val="FFFFFF"/>
                    </a:solidFill>
                  </a:tcPr>
                </a:tc>
              </a:tr>
              <a:tr h="5200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Chandigarh University</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75%</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13</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12</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44%</a:t>
                      </a:r>
                      <a:endParaRPr sz="1500"/>
                    </a:p>
                  </a:txBody>
                  <a:tcPr marT="36575" marB="36575" marR="73175" marL="73175" anchor="ctr">
                    <a:solidFill>
                      <a:srgbClr val="F7F8FA"/>
                    </a:solidFill>
                  </a:tcPr>
                </a:tc>
              </a:tr>
              <a:tr h="5200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LPU Online</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67%</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10</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9</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18%</a:t>
                      </a:r>
                      <a:endParaRPr sz="1500"/>
                    </a:p>
                  </a:txBody>
                  <a:tcPr marT="36575" marB="36575" marR="73175" marL="73175" anchor="ctr">
                    <a:solidFill>
                      <a:srgbClr val="FFFFFF"/>
                    </a:solidFill>
                  </a:tcPr>
                </a:tc>
              </a:tr>
              <a:tr h="5200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Bennett</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62%</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16</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11</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2%</a:t>
                      </a:r>
                      <a:endParaRPr sz="1500"/>
                    </a:p>
                  </a:txBody>
                  <a:tcPr marT="36575" marB="36575" marR="73175" marL="73175" anchor="ctr">
                    <a:solidFill>
                      <a:srgbClr val="F7F8FA"/>
                    </a:solidFill>
                  </a:tcPr>
                </a:tc>
              </a:tr>
              <a:tr h="5200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Amity Online</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54%</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22</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19</a:t>
                      </a:r>
                      <a:endParaRPr sz="1500"/>
                    </a:p>
                  </a:txBody>
                  <a:tcPr marT="36575" marB="36575" marR="73175" marL="73175" anchor="ctr">
                    <a:solidFill>
                      <a:srgbClr val="FFFFFF"/>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2%</a:t>
                      </a:r>
                      <a:endParaRPr sz="1500"/>
                    </a:p>
                  </a:txBody>
                  <a:tcPr marT="36575" marB="36575" marR="73175" marL="73175" anchor="ctr">
                    <a:solidFill>
                      <a:srgbClr val="FFFFFF"/>
                    </a:solidFill>
                  </a:tcPr>
                </a:tc>
              </a:tr>
              <a:tr h="520075">
                <a:tc>
                  <a:txBody>
                    <a:bodyPr/>
                    <a:lstStyle/>
                    <a:p>
                      <a:pPr indent="0" lvl="0" marL="0" marR="0" rtl="0" algn="l">
                        <a:lnSpc>
                          <a:spcPct val="100000"/>
                        </a:lnSpc>
                        <a:spcBef>
                          <a:spcPts val="0"/>
                        </a:spcBef>
                        <a:spcAft>
                          <a:spcPts val="0"/>
                        </a:spcAft>
                        <a:buNone/>
                      </a:pPr>
                      <a:r>
                        <a:rPr b="1" lang="en-US" sz="1200" u="none" cap="none" strike="noStrike">
                          <a:solidFill>
                            <a:srgbClr val="0F2C5C"/>
                          </a:solidFill>
                          <a:latin typeface="Sora"/>
                          <a:ea typeface="Sora"/>
                          <a:cs typeface="Sora"/>
                          <a:sym typeface="Sora"/>
                        </a:rPr>
                        <a:t>Galgotias</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53%</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20</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14</a:t>
                      </a:r>
                      <a:endParaRPr sz="1500"/>
                    </a:p>
                  </a:txBody>
                  <a:tcPr marT="36575" marB="36575" marR="73175" marL="73175" anchor="ctr">
                    <a:solidFill>
                      <a:srgbClr val="F7F8FA"/>
                    </a:solidFill>
                  </a:tcPr>
                </a:tc>
                <a:tc>
                  <a:txBody>
                    <a:bodyPr/>
                    <a:lstStyle/>
                    <a:p>
                      <a:pPr indent="0" lvl="0" marL="0" marR="0" rtl="0" algn="ctr">
                        <a:lnSpc>
                          <a:spcPct val="100000"/>
                        </a:lnSpc>
                        <a:spcBef>
                          <a:spcPts val="0"/>
                        </a:spcBef>
                        <a:spcAft>
                          <a:spcPts val="0"/>
                        </a:spcAft>
                        <a:buNone/>
                      </a:pPr>
                      <a:r>
                        <a:rPr b="0" lang="en-US" sz="1200" u="none" cap="none" strike="noStrike">
                          <a:solidFill>
                            <a:srgbClr val="5A6472"/>
                          </a:solidFill>
                          <a:latin typeface="Sora"/>
                          <a:ea typeface="Sora"/>
                          <a:cs typeface="Sora"/>
                          <a:sym typeface="Sora"/>
                        </a:rPr>
                        <a:t>9%</a:t>
                      </a:r>
                      <a:endParaRPr sz="1500"/>
                    </a:p>
                  </a:txBody>
                  <a:tcPr marT="36575" marB="36575" marR="73175" marL="73175" anchor="ctr">
                    <a:solidFill>
                      <a:srgbClr val="F7F8FA"/>
                    </a:solidFill>
                  </a:tcPr>
                </a:tc>
              </a:tr>
            </a:tbl>
          </a:graphicData>
        </a:graphic>
      </p:graphicFrame>
      <p:sp>
        <p:nvSpPr>
          <p:cNvPr id="889" name="Google Shape;889;p49"/>
          <p:cNvSpPr/>
          <p:nvPr/>
        </p:nvSpPr>
        <p:spPr>
          <a:xfrm>
            <a:off x="8183879" y="1691640"/>
            <a:ext cx="3456300" cy="4160400"/>
          </a:xfrm>
          <a:prstGeom prst="roundRect">
            <a:avLst>
              <a:gd fmla="val 8000" name="adj"/>
            </a:avLst>
          </a:prstGeom>
          <a:solidFill>
            <a:srgbClr val="E8EE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890" name="Google Shape;890;p49"/>
          <p:cNvSpPr txBox="1"/>
          <p:nvPr/>
        </p:nvSpPr>
        <p:spPr>
          <a:xfrm>
            <a:off x="8412479" y="1874519"/>
            <a:ext cx="3017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C8102E"/>
                </a:solidFill>
                <a:latin typeface="Sora"/>
                <a:ea typeface="Sora"/>
                <a:cs typeface="Sora"/>
                <a:sym typeface="Sora"/>
              </a:rPr>
              <a:t>WHY THIS MATTERS HERE</a:t>
            </a:r>
            <a:endParaRPr sz="1500"/>
          </a:p>
        </p:txBody>
      </p:sp>
      <p:sp>
        <p:nvSpPr>
          <p:cNvPr id="891" name="Google Shape;891;p49"/>
          <p:cNvSpPr txBox="1"/>
          <p:nvPr/>
        </p:nvSpPr>
        <p:spPr>
          <a:xfrm>
            <a:off x="8412479" y="2212848"/>
            <a:ext cx="30177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0F2C5C"/>
                </a:solidFill>
                <a:latin typeface="Sora"/>
                <a:ea typeface="Sora"/>
                <a:cs typeface="Sora"/>
                <a:sym typeface="Sora"/>
              </a:rPr>
              <a:t>The institution root is the closest thing MREI has to a homepage — it's the page a shortlister compares across universities. These fundamentals are visible in that comparison.</a:t>
            </a:r>
            <a:endParaRPr sz="1500"/>
          </a:p>
        </p:txBody>
      </p:sp>
      <p:sp>
        <p:nvSpPr>
          <p:cNvPr id="892" name="Google Shape;892;p49"/>
          <p:cNvSpPr txBox="1"/>
          <p:nvPr/>
        </p:nvSpPr>
        <p:spPr>
          <a:xfrm>
            <a:off x="8412479" y="3931920"/>
            <a:ext cx="30177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0F2C5C"/>
                </a:solidFill>
                <a:latin typeface="Sora"/>
                <a:ea typeface="Sora"/>
                <a:cs typeface="Sora"/>
                <a:sym typeface="Sora"/>
              </a:rPr>
              <a:t>MREI ties for worst on tap-target ergonomics despite running a leaner page than most competitors here — there's no complexity excuse.</a:t>
            </a:r>
            <a:endParaRPr sz="1500"/>
          </a:p>
        </p:txBody>
      </p:sp>
      <p:sp>
        <p:nvSpPr>
          <p:cNvPr id="893" name="Google Shape;893;p49"/>
          <p:cNvSpPr txBox="1"/>
          <p:nvPr/>
        </p:nvSpPr>
        <p:spPr>
          <a:xfrm>
            <a:off x="548640" y="6355080"/>
            <a:ext cx="11064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96A1B0"/>
                </a:solidFill>
                <a:latin typeface="Sora"/>
                <a:ea typeface="Sora"/>
                <a:cs typeface="Sora"/>
                <a:sym typeface="Sora"/>
              </a:rPr>
              <a:t>Source: live capture, 390px mobile viewport, 21–22 Sept 2026.</a:t>
            </a:r>
            <a:endParaRPr sz="1500"/>
          </a:p>
        </p:txBody>
      </p:sp>
      <p:sp>
        <p:nvSpPr>
          <p:cNvPr id="894" name="Rounded Rectangle 893"/>
          <p:cNvSpPr/>
          <p:nvPr/>
        </p:nvSpPr>
        <p:spPr>
          <a:xfrm>
            <a:off x="10908792" y="18288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509760" cy="182880"/>
          </a:xfrm>
          <a:prstGeom prst="rect">
            <a:avLst/>
          </a:prstGeom>
          <a:noFill/>
        </p:spPr>
        <p:txBody>
          <a:bodyPr wrap="square" lIns="0" rIns="0" tIns="0" bIns="0" anchor="t">
            <a:spAutoFit/>
          </a:bodyPr>
          <a:lstStyle/>
          <a:p>
            <a:pPr algn="l"/>
            <a:r>
              <a:rPr sz="900" b="1" i="0">
                <a:solidFill>
                  <a:srgbClr val="C8102E"/>
                </a:solidFill>
                <a:latin typeface="Sora"/>
              </a:rPr>
              <a:t>THE ANSWER, UP FRONT</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The traffic is there. The next step isn’t — and neither is the lead event.</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Where the constraint sits, what we would do first, and what the target means in numbers</a:t>
            </a:r>
          </a:p>
        </p:txBody>
      </p:sp>
      <p:sp>
        <p:nvSpPr>
          <p:cNvPr id="5" name="TextBox 4"/>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 MREI Regular Website, 11 Jun – 10 Sept 2026 (sessions, paths) · GA4 event export by page type (event counts) · Live site audit, 24 Sept 2026. Value maths on “Leads = sessions × reach × capture”.</a:t>
            </a:r>
          </a:p>
        </p:txBody>
      </p:sp>
      <p:sp>
        <p:nvSpPr>
          <p:cNvPr id="6" name="Rounded Rectangle 5"/>
          <p:cNvSpPr/>
          <p:nvPr/>
        </p:nvSpPr>
        <p:spPr>
          <a:xfrm>
            <a:off x="548640" y="1572768"/>
            <a:ext cx="3566160" cy="3913632"/>
          </a:xfrm>
          <a:prstGeom prst="roundRect">
            <a:avLst>
              <a:gd name="adj" fmla="val 4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55648"/>
            <a:ext cx="3108960" cy="201168"/>
          </a:xfrm>
          <a:prstGeom prst="rect">
            <a:avLst/>
          </a:prstGeom>
          <a:noFill/>
        </p:spPr>
        <p:txBody>
          <a:bodyPr wrap="square" lIns="0" rIns="0" tIns="0" bIns="0" anchor="t">
            <a:spAutoFit/>
          </a:bodyPr>
          <a:lstStyle/>
          <a:p>
            <a:pPr algn="l"/>
            <a:r>
              <a:rPr sz="850" b="1" i="0">
                <a:solidFill>
                  <a:srgbClr val="C8102E"/>
                </a:solidFill>
                <a:latin typeface="Sora"/>
              </a:rPr>
              <a:t>01  WHERE THE CONSTRAINT IS</a:t>
            </a:r>
          </a:p>
        </p:txBody>
      </p:sp>
      <p:sp>
        <p:nvSpPr>
          <p:cNvPr id="8" name="Rounded Rectangle 7"/>
          <p:cNvSpPr/>
          <p:nvPr/>
        </p:nvSpPr>
        <p:spPr>
          <a:xfrm>
            <a:off x="777240" y="2048256"/>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
        <p:nvSpPr>
          <p:cNvPr id="9" name="TextBox 8"/>
          <p:cNvSpPr txBox="1"/>
          <p:nvPr/>
        </p:nvSpPr>
        <p:spPr>
          <a:xfrm>
            <a:off x="777240" y="2359152"/>
            <a:ext cx="3108960" cy="566928"/>
          </a:xfrm>
          <a:prstGeom prst="rect">
            <a:avLst/>
          </a:prstGeom>
          <a:noFill/>
        </p:spPr>
        <p:txBody>
          <a:bodyPr wrap="square" lIns="0" rIns="0" tIns="0" bIns="0" anchor="t">
            <a:spAutoFit/>
          </a:bodyPr>
          <a:lstStyle/>
          <a:p>
            <a:pPr algn="l"/>
            <a:r>
              <a:rPr sz="3400" b="1" i="0">
                <a:solidFill>
                  <a:srgbClr val="C8102E"/>
                </a:solidFill>
                <a:latin typeface="Sora"/>
              </a:rPr>
              <a:t>0.6%</a:t>
            </a:r>
          </a:p>
        </p:txBody>
      </p:sp>
      <p:sp>
        <p:nvSpPr>
          <p:cNvPr id="10" name="TextBox 9"/>
          <p:cNvSpPr txBox="1"/>
          <p:nvPr/>
        </p:nvSpPr>
        <p:spPr>
          <a:xfrm>
            <a:off x="777240" y="2999232"/>
            <a:ext cx="3108960" cy="365760"/>
          </a:xfrm>
          <a:prstGeom prst="rect">
            <a:avLst/>
          </a:prstGeom>
          <a:noFill/>
        </p:spPr>
        <p:txBody>
          <a:bodyPr wrap="square" lIns="0" rIns="0" tIns="0" bIns="0" anchor="t">
            <a:spAutoFit/>
          </a:bodyPr>
          <a:lstStyle/>
          <a:p>
            <a:pPr algn="l"/>
            <a:r>
              <a:rPr sz="1000" b="1" i="0">
                <a:solidFill>
                  <a:srgbClr val="0F2C5C"/>
                </a:solidFill>
                <a:latin typeface="Sora"/>
              </a:rPr>
              <a:t>of sessions reach any page built to capture a lead</a:t>
            </a:r>
          </a:p>
        </p:txBody>
      </p:sp>
      <p:sp>
        <p:nvSpPr>
          <p:cNvPr id="11" name="TextBox 10"/>
          <p:cNvSpPr txBox="1"/>
          <p:nvPr/>
        </p:nvSpPr>
        <p:spPr>
          <a:xfrm>
            <a:off x="777240" y="3456432"/>
            <a:ext cx="3108960" cy="1920240"/>
          </a:xfrm>
          <a:prstGeom prst="rect">
            <a:avLst/>
          </a:prstGeom>
          <a:noFill/>
        </p:spPr>
        <p:txBody>
          <a:bodyPr wrap="square" lIns="0" rIns="0" tIns="0" bIns="0" anchor="t">
            <a:spAutoFit/>
          </a:bodyPr>
          <a:lstStyle/>
          <a:p>
            <a:pPr algn="l"/>
            <a:r>
              <a:rPr sz="1050" b="0" i="0">
                <a:solidFill>
                  <a:srgbClr val="5A6472"/>
                </a:solidFill>
                <a:latin typeface="Sora"/>
              </a:rPr>
              <a:t>Organic is 67.4% of sessions and they engage (68.4%). Course, fee, blog and proof templates take 43% of landings but fire 12% of form submits. Each answers its visitor’s question, then offers no next step: after 6,964 returns from the fee page, 6 users continue.</a:t>
            </a:r>
          </a:p>
        </p:txBody>
      </p:sp>
      <p:sp>
        <p:nvSpPr>
          <p:cNvPr id="12" name="Rounded Rectangle 11"/>
          <p:cNvSpPr/>
          <p:nvPr/>
        </p:nvSpPr>
        <p:spPr>
          <a:xfrm>
            <a:off x="4297679" y="1572768"/>
            <a:ext cx="3566160" cy="3913632"/>
          </a:xfrm>
          <a:prstGeom prst="roundRect">
            <a:avLst>
              <a:gd name="adj" fmla="val 4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79" y="1755648"/>
            <a:ext cx="3108960" cy="201168"/>
          </a:xfrm>
          <a:prstGeom prst="rect">
            <a:avLst/>
          </a:prstGeom>
          <a:noFill/>
        </p:spPr>
        <p:txBody>
          <a:bodyPr wrap="square" lIns="0" rIns="0" tIns="0" bIns="0" anchor="t">
            <a:spAutoFit/>
          </a:bodyPr>
          <a:lstStyle/>
          <a:p>
            <a:pPr algn="l"/>
            <a:r>
              <a:rPr sz="850" b="1" i="0">
                <a:solidFill>
                  <a:srgbClr val="C8102E"/>
                </a:solidFill>
                <a:latin typeface="Sora"/>
              </a:rPr>
              <a:t>02  WHAT HAS TO HAPPEN FIRST</a:t>
            </a:r>
          </a:p>
        </p:txBody>
      </p:sp>
      <p:sp>
        <p:nvSpPr>
          <p:cNvPr id="14" name="Rounded Rectangle 13"/>
          <p:cNvSpPr/>
          <p:nvPr/>
        </p:nvSpPr>
        <p:spPr>
          <a:xfrm>
            <a:off x="4526279" y="2048256"/>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
        <p:nvSpPr>
          <p:cNvPr id="15" name="TextBox 14"/>
          <p:cNvSpPr txBox="1"/>
          <p:nvPr/>
        </p:nvSpPr>
        <p:spPr>
          <a:xfrm>
            <a:off x="4526279" y="2359152"/>
            <a:ext cx="3108960" cy="566928"/>
          </a:xfrm>
          <a:prstGeom prst="rect">
            <a:avLst/>
          </a:prstGeom>
          <a:noFill/>
        </p:spPr>
        <p:txBody>
          <a:bodyPr wrap="square" lIns="0" rIns="0" tIns="0" bIns="0" anchor="t">
            <a:spAutoFit/>
          </a:bodyPr>
          <a:lstStyle/>
          <a:p>
            <a:pPr algn="l"/>
            <a:r>
              <a:rPr sz="3400" b="1" i="0">
                <a:solidFill>
                  <a:srgbClr val="C8102E"/>
                </a:solidFill>
                <a:latin typeface="Sora"/>
              </a:rPr>
              <a:t>0</a:t>
            </a:r>
          </a:p>
        </p:txBody>
      </p:sp>
      <p:sp>
        <p:nvSpPr>
          <p:cNvPr id="16" name="TextBox 15"/>
          <p:cNvSpPr txBox="1"/>
          <p:nvPr/>
        </p:nvSpPr>
        <p:spPr>
          <a:xfrm>
            <a:off x="4526279" y="2999232"/>
            <a:ext cx="3108960" cy="365760"/>
          </a:xfrm>
          <a:prstGeom prst="rect">
            <a:avLst/>
          </a:prstGeom>
          <a:noFill/>
        </p:spPr>
        <p:txBody>
          <a:bodyPr wrap="square" lIns="0" rIns="0" tIns="0" bIns="0" anchor="t">
            <a:spAutoFit/>
          </a:bodyPr>
          <a:lstStyle/>
          <a:p>
            <a:pPr algn="l"/>
            <a:r>
              <a:rPr sz="1000" b="1" i="0">
                <a:solidFill>
                  <a:srgbClr val="0F2C5C"/>
                </a:solidFill>
                <a:latin typeface="Sora"/>
              </a:rPr>
              <a:t>lead events configured in GA4 today</a:t>
            </a:r>
          </a:p>
        </p:txBody>
      </p:sp>
      <p:sp>
        <p:nvSpPr>
          <p:cNvPr id="17" name="TextBox 16"/>
          <p:cNvSpPr txBox="1"/>
          <p:nvPr/>
        </p:nvSpPr>
        <p:spPr>
          <a:xfrm>
            <a:off x="4526279" y="3456432"/>
            <a:ext cx="3108960" cy="1920240"/>
          </a:xfrm>
          <a:prstGeom prst="rect">
            <a:avLst/>
          </a:prstGeom>
          <a:noFill/>
        </p:spPr>
        <p:txBody>
          <a:bodyPr wrap="square" lIns="0" rIns="0" tIns="0" bIns="0" anchor="t">
            <a:spAutoFit/>
          </a:bodyPr>
          <a:lstStyle/>
          <a:p>
            <a:pPr algn="l"/>
            <a:r>
              <a:rPr sz="1050" b="0" i="0">
                <a:solidFill>
                  <a:srgbClr val="5A6472"/>
                </a:solidFill>
                <a:latin typeface="Sora"/>
              </a:rPr>
              <a:t>form_submit exceeds form_start on course pages (209 vs 64) and file_download fires on any file. Every conversion figure here is directional until generate_lead exists. Weeks 1–2: instrumentation, plus five verified defects such as the Fee Calculator redirecting home.</a:t>
            </a:r>
          </a:p>
        </p:txBody>
      </p:sp>
      <p:sp>
        <p:nvSpPr>
          <p:cNvPr id="18" name="Rounded Rectangle 17"/>
          <p:cNvSpPr/>
          <p:nvPr/>
        </p:nvSpPr>
        <p:spPr>
          <a:xfrm>
            <a:off x="8046719" y="1572768"/>
            <a:ext cx="3566160" cy="3913632"/>
          </a:xfrm>
          <a:prstGeom prst="roundRect">
            <a:avLst>
              <a:gd name="adj" fmla="val 4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755648"/>
            <a:ext cx="3108960" cy="201168"/>
          </a:xfrm>
          <a:prstGeom prst="rect">
            <a:avLst/>
          </a:prstGeom>
          <a:noFill/>
        </p:spPr>
        <p:txBody>
          <a:bodyPr wrap="square" lIns="0" rIns="0" tIns="0" bIns="0" anchor="t">
            <a:spAutoFit/>
          </a:bodyPr>
          <a:lstStyle/>
          <a:p>
            <a:pPr algn="l"/>
            <a:r>
              <a:rPr sz="850" b="1" i="0">
                <a:solidFill>
                  <a:srgbClr val="FF8095"/>
                </a:solidFill>
                <a:latin typeface="Sora"/>
              </a:rPr>
              <a:t>03  WHAT WE WOULD DO</a:t>
            </a:r>
          </a:p>
        </p:txBody>
      </p:sp>
      <p:sp>
        <p:nvSpPr>
          <p:cNvPr id="20" name="Rounded Rectangle 19"/>
          <p:cNvSpPr/>
          <p:nvPr/>
        </p:nvSpPr>
        <p:spPr>
          <a:xfrm>
            <a:off x="8275319" y="2048256"/>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21" name="TextBox 20"/>
          <p:cNvSpPr txBox="1"/>
          <p:nvPr/>
        </p:nvSpPr>
        <p:spPr>
          <a:xfrm>
            <a:off x="8275319" y="2359152"/>
            <a:ext cx="3108960" cy="566928"/>
          </a:xfrm>
          <a:prstGeom prst="rect">
            <a:avLst/>
          </a:prstGeom>
          <a:noFill/>
        </p:spPr>
        <p:txBody>
          <a:bodyPr wrap="square" lIns="0" rIns="0" tIns="0" bIns="0" anchor="t">
            <a:spAutoFit/>
          </a:bodyPr>
          <a:lstStyle/>
          <a:p>
            <a:pPr algn="l"/>
            <a:r>
              <a:rPr sz="3400" b="1" i="0">
                <a:solidFill>
                  <a:srgbClr val="FFFFFF"/>
                </a:solidFill>
                <a:latin typeface="Sora"/>
              </a:rPr>
              <a:t>2×</a:t>
            </a:r>
          </a:p>
        </p:txBody>
      </p:sp>
      <p:sp>
        <p:nvSpPr>
          <p:cNvPr id="22" name="TextBox 21"/>
          <p:cNvSpPr txBox="1"/>
          <p:nvPr/>
        </p:nvSpPr>
        <p:spPr>
          <a:xfrm>
            <a:off x="8275319" y="2999232"/>
            <a:ext cx="3108960" cy="365760"/>
          </a:xfrm>
          <a:prstGeom prst="rect">
            <a:avLst/>
          </a:prstGeom>
          <a:noFill/>
        </p:spPr>
        <p:txBody>
          <a:bodyPr wrap="square" lIns="0" rIns="0" tIns="0" bIns="0" anchor="t">
            <a:spAutoFit/>
          </a:bodyPr>
          <a:lstStyle/>
          <a:p>
            <a:pPr algn="l"/>
            <a:r>
              <a:rPr sz="1000" b="1" i="0">
                <a:solidFill>
                  <a:srgbClr val="FFFFFF"/>
                </a:solidFill>
                <a:latin typeface="Sora"/>
              </a:rPr>
              <a:t>organic leads = 1.33 traffic × 1.50 conversion</a:t>
            </a:r>
          </a:p>
        </p:txBody>
      </p:sp>
      <p:sp>
        <p:nvSpPr>
          <p:cNvPr id="23" name="TextBox 22"/>
          <p:cNvSpPr txBox="1"/>
          <p:nvPr/>
        </p:nvSpPr>
        <p:spPr>
          <a:xfrm>
            <a:off x="8275319" y="3456432"/>
            <a:ext cx="3108960" cy="1920240"/>
          </a:xfrm>
          <a:prstGeom prst="rect">
            <a:avLst/>
          </a:prstGeom>
          <a:noFill/>
        </p:spPr>
        <p:txBody>
          <a:bodyPr wrap="square" lIns="0" rIns="0" tIns="0" bIns="0" anchor="t">
            <a:spAutoFit/>
          </a:bodyPr>
          <a:lstStyle/>
          <a:p>
            <a:pPr algn="l"/>
            <a:r>
              <a:rPr sz="1050" b="0" i="0">
                <a:solidFill>
                  <a:srgbClr val="D8DFE8"/>
                </a:solidFill>
                <a:latin typeface="Sora"/>
              </a:rPr>
              <a:t>Put the next step where each question is answered: a fee summary on the course page, one fee card plus a call on the fee page, a programme link in every article. Illustratively, the CRO half needs ~590 more organic sessions a quarter to reach a capture point — under 1 in 100 of those already landing on these templates.</a:t>
            </a:r>
          </a:p>
        </p:txBody>
      </p:sp>
      <p:sp>
        <p:nvSpPr>
          <p:cNvPr id="24" name="Rounded Rectangle 23"/>
          <p:cNvSpPr/>
          <p:nvPr/>
        </p:nvSpPr>
        <p:spPr>
          <a:xfrm>
            <a:off x="548640" y="5650992"/>
            <a:ext cx="11064240" cy="658368"/>
          </a:xfrm>
          <a:prstGeom prst="roundRect">
            <a:avLst>
              <a:gd name="adj" fmla="val 12000"/>
            </a:avLst>
          </a:prstGeom>
          <a:solidFill>
            <a:srgbClr val="E5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24144"/>
            <a:ext cx="10607040" cy="512064"/>
          </a:xfrm>
          <a:prstGeom prst="rect">
            <a:avLst/>
          </a:prstGeom>
          <a:noFill/>
        </p:spPr>
        <p:txBody>
          <a:bodyPr wrap="square" lIns="0" rIns="0" tIns="0" bIns="0" anchor="ctr">
            <a:spAutoFit/>
          </a:bodyPr>
          <a:lstStyle/>
          <a:p>
            <a:pPr algn="l"/>
            <a:r>
              <a:rPr sz="850" b="1" i="0">
                <a:solidFill>
                  <a:srgbClr val="1E7B34"/>
                </a:solidFill>
                <a:latin typeface="Sora"/>
              </a:rPr>
              <a:t>WHAT ALREADY WORKS  </a:t>
            </a:r>
            <a:r>
              <a:rPr sz="1050" b="0" i="0">
                <a:solidFill>
                  <a:srgbClr val="0F2C5C"/>
                </a:solidFill>
                <a:latin typeface="Sora"/>
              </a:rPr>
              <a:t>The /mriirs and /mru hubs: 76.1% engagement, 3.33 views per session and 517 of 613 Apply-MRIIRS clicks. We protect this template and copy its pattern — self-segment in one step, route onward — onto the pages that leak.</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509760" cy="182880"/>
          </a:xfrm>
          <a:prstGeom prst="rect">
            <a:avLst/>
          </a:prstGeom>
          <a:noFill/>
        </p:spPr>
        <p:txBody>
          <a:bodyPr wrap="square" lIns="0" rIns="0" tIns="0" bIns="0" anchor="t">
            <a:spAutoFit/>
          </a:bodyPr>
          <a:lstStyle/>
          <a:p>
            <a:pPr algn="l"/>
            <a:r>
              <a:rPr sz="900" b="1" i="0">
                <a:solidFill>
                  <a:srgbClr val="C8102E"/>
                </a:solidFill>
                <a:latin typeface="Sora"/>
              </a:rPr>
              <a:t>THE OPPORTUNITY  ·  FUNNEL ECONOMICS</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Leads = sessions × reach × capture. The leak is the middle term.</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Where a unit of CRO effort buys the most leads — with the assumptions on the slide, not in a footnote</a:t>
            </a:r>
          </a:p>
        </p:txBody>
      </p:sp>
      <p:sp>
        <p:nvSpPr>
          <p:cNvPr id="5" name="TextBox 4"/>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 MREI Regular Website, 11 Jun – 8 Sept 2026 (organic sessions) · GA4 event export by page type (landing shares, event counts) · lead-event status as stated in this deck.</a:t>
            </a:r>
          </a:p>
        </p:txBody>
      </p:sp>
      <p:sp>
        <p:nvSpPr>
          <p:cNvPr id="6" name="Rounded Rectangle 5"/>
          <p:cNvSpPr/>
          <p:nvPr/>
        </p:nvSpPr>
        <p:spPr>
          <a:xfrm>
            <a:off x="548640" y="1536192"/>
            <a:ext cx="2468880" cy="1261872"/>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45920"/>
            <a:ext cx="2194560" cy="182880"/>
          </a:xfrm>
          <a:prstGeom prst="rect">
            <a:avLst/>
          </a:prstGeom>
          <a:noFill/>
        </p:spPr>
        <p:txBody>
          <a:bodyPr wrap="square" lIns="0" rIns="0" tIns="0" bIns="0" anchor="t">
            <a:spAutoFit/>
          </a:bodyPr>
          <a:lstStyle/>
          <a:p>
            <a:pPr algn="l"/>
            <a:r>
              <a:rPr sz="750" b="1" i="0">
                <a:solidFill>
                  <a:srgbClr val="96A1B0"/>
                </a:solidFill>
                <a:latin typeface="Sora"/>
              </a:rPr>
              <a:t>ORGANIC SESSIONS</a:t>
            </a:r>
          </a:p>
        </p:txBody>
      </p:sp>
      <p:sp>
        <p:nvSpPr>
          <p:cNvPr id="8" name="TextBox 7"/>
          <p:cNvSpPr txBox="1"/>
          <p:nvPr/>
        </p:nvSpPr>
        <p:spPr>
          <a:xfrm>
            <a:off x="713232" y="1865376"/>
            <a:ext cx="2194560" cy="457200"/>
          </a:xfrm>
          <a:prstGeom prst="rect">
            <a:avLst/>
          </a:prstGeom>
          <a:noFill/>
        </p:spPr>
        <p:txBody>
          <a:bodyPr wrap="square" lIns="0" rIns="0" tIns="0" bIns="0" anchor="t">
            <a:spAutoFit/>
          </a:bodyPr>
          <a:lstStyle/>
          <a:p>
            <a:pPr algn="l"/>
            <a:r>
              <a:rPr sz="2600" b="1" i="0">
                <a:solidFill>
                  <a:srgbClr val="0F2C5C"/>
                </a:solidFill>
                <a:latin typeface="Sora"/>
              </a:rPr>
              <a:t>1,96,542</a:t>
            </a:r>
          </a:p>
        </p:txBody>
      </p:sp>
      <p:sp>
        <p:nvSpPr>
          <p:cNvPr id="9" name="TextBox 8"/>
          <p:cNvSpPr txBox="1"/>
          <p:nvPr/>
        </p:nvSpPr>
        <p:spPr>
          <a:xfrm>
            <a:off x="713232" y="2359152"/>
            <a:ext cx="2194560" cy="182880"/>
          </a:xfrm>
          <a:prstGeom prst="rect">
            <a:avLst/>
          </a:prstGeom>
          <a:noFill/>
        </p:spPr>
        <p:txBody>
          <a:bodyPr wrap="square" lIns="0" rIns="0" tIns="0" bIns="0" anchor="t">
            <a:spAutoFit/>
          </a:bodyPr>
          <a:lstStyle/>
          <a:p>
            <a:pPr algn="l"/>
            <a:r>
              <a:rPr sz="800" b="0" i="0">
                <a:solidFill>
                  <a:srgbClr val="5A6472"/>
                </a:solidFill>
                <a:latin typeface="Sora"/>
              </a:rPr>
              <a:t>per 90 days · SEO’s term: +33% target</a:t>
            </a:r>
          </a:p>
        </p:txBody>
      </p:sp>
      <p:sp>
        <p:nvSpPr>
          <p:cNvPr id="10" name="Rounded Rectangle 9"/>
          <p:cNvSpPr/>
          <p:nvPr/>
        </p:nvSpPr>
        <p:spPr>
          <a:xfrm>
            <a:off x="713232" y="2560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
        <p:nvSpPr>
          <p:cNvPr id="11" name="TextBox 10"/>
          <p:cNvSpPr txBox="1"/>
          <p:nvPr/>
        </p:nvSpPr>
        <p:spPr>
          <a:xfrm>
            <a:off x="3035808" y="1874519"/>
            <a:ext cx="329184" cy="457200"/>
          </a:xfrm>
          <a:prstGeom prst="rect">
            <a:avLst/>
          </a:prstGeom>
          <a:noFill/>
        </p:spPr>
        <p:txBody>
          <a:bodyPr wrap="square" lIns="0" rIns="0" tIns="0" bIns="0" anchor="t">
            <a:spAutoFit/>
          </a:bodyPr>
          <a:lstStyle/>
          <a:p>
            <a:pPr algn="ctr"/>
            <a:r>
              <a:rPr sz="2200" b="1" i="0">
                <a:solidFill>
                  <a:srgbClr val="96A1B0"/>
                </a:solidFill>
                <a:latin typeface="Sora"/>
              </a:rPr>
              <a:t>×</a:t>
            </a:r>
          </a:p>
        </p:txBody>
      </p:sp>
      <p:sp>
        <p:nvSpPr>
          <p:cNvPr id="12" name="Rounded Rectangle 11"/>
          <p:cNvSpPr/>
          <p:nvPr/>
        </p:nvSpPr>
        <p:spPr>
          <a:xfrm>
            <a:off x="3383280" y="1536192"/>
            <a:ext cx="2468880" cy="1261872"/>
          </a:xfrm>
          <a:prstGeom prst="roundRect">
            <a:avLst>
              <a:gd name="adj" fmla="val 6000"/>
            </a:avLst>
          </a:prstGeom>
          <a:solidFill>
            <a:srgbClr val="FB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645920"/>
            <a:ext cx="2194560" cy="182880"/>
          </a:xfrm>
          <a:prstGeom prst="rect">
            <a:avLst/>
          </a:prstGeom>
          <a:noFill/>
        </p:spPr>
        <p:txBody>
          <a:bodyPr wrap="square" lIns="0" rIns="0" tIns="0" bIns="0" anchor="t">
            <a:spAutoFit/>
          </a:bodyPr>
          <a:lstStyle/>
          <a:p>
            <a:pPr algn="l"/>
            <a:r>
              <a:rPr sz="750" b="1" i="0">
                <a:solidFill>
                  <a:srgbClr val="96A1B0"/>
                </a:solidFill>
                <a:latin typeface="Sora"/>
              </a:rPr>
              <a:t>REACH A CAPTURE POINT</a:t>
            </a:r>
          </a:p>
        </p:txBody>
      </p:sp>
      <p:sp>
        <p:nvSpPr>
          <p:cNvPr id="14" name="TextBox 13"/>
          <p:cNvSpPr txBox="1"/>
          <p:nvPr/>
        </p:nvSpPr>
        <p:spPr>
          <a:xfrm>
            <a:off x="3547872" y="1865376"/>
            <a:ext cx="2194560" cy="457200"/>
          </a:xfrm>
          <a:prstGeom prst="rect">
            <a:avLst/>
          </a:prstGeom>
          <a:noFill/>
        </p:spPr>
        <p:txBody>
          <a:bodyPr wrap="square" lIns="0" rIns="0" tIns="0" bIns="0" anchor="t">
            <a:spAutoFit/>
          </a:bodyPr>
          <a:lstStyle/>
          <a:p>
            <a:pPr algn="l"/>
            <a:r>
              <a:rPr sz="2600" b="1" i="0">
                <a:solidFill>
                  <a:srgbClr val="C8102E"/>
                </a:solidFill>
                <a:latin typeface="Sora"/>
              </a:rPr>
              <a:t>0.6%</a:t>
            </a:r>
          </a:p>
        </p:txBody>
      </p:sp>
      <p:sp>
        <p:nvSpPr>
          <p:cNvPr id="15" name="TextBox 14"/>
          <p:cNvSpPr txBox="1"/>
          <p:nvPr/>
        </p:nvSpPr>
        <p:spPr>
          <a:xfrm>
            <a:off x="3547872" y="2359152"/>
            <a:ext cx="2194560" cy="182880"/>
          </a:xfrm>
          <a:prstGeom prst="rect">
            <a:avLst/>
          </a:prstGeom>
          <a:noFill/>
        </p:spPr>
        <p:txBody>
          <a:bodyPr wrap="square" lIns="0" rIns="0" tIns="0" bIns="0" anchor="t">
            <a:spAutoFit/>
          </a:bodyPr>
          <a:lstStyle/>
          <a:p>
            <a:pPr algn="l"/>
            <a:r>
              <a:rPr sz="800" b="0" i="0">
                <a:solidFill>
                  <a:srgbClr val="5A6472"/>
                </a:solidFill>
                <a:latin typeface="Sora"/>
              </a:rPr>
              <a:t>of sessions today · the leak</a:t>
            </a:r>
          </a:p>
        </p:txBody>
      </p:sp>
      <p:sp>
        <p:nvSpPr>
          <p:cNvPr id="16" name="Rounded Rectangle 15"/>
          <p:cNvSpPr/>
          <p:nvPr/>
        </p:nvSpPr>
        <p:spPr>
          <a:xfrm>
            <a:off x="3547872" y="2560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
        <p:nvSpPr>
          <p:cNvPr id="17" name="TextBox 16"/>
          <p:cNvSpPr txBox="1"/>
          <p:nvPr/>
        </p:nvSpPr>
        <p:spPr>
          <a:xfrm>
            <a:off x="5870448" y="1874519"/>
            <a:ext cx="329184" cy="457200"/>
          </a:xfrm>
          <a:prstGeom prst="rect">
            <a:avLst/>
          </a:prstGeom>
          <a:noFill/>
        </p:spPr>
        <p:txBody>
          <a:bodyPr wrap="square" lIns="0" rIns="0" tIns="0" bIns="0" anchor="t">
            <a:spAutoFit/>
          </a:bodyPr>
          <a:lstStyle/>
          <a:p>
            <a:pPr algn="ctr"/>
            <a:r>
              <a:rPr sz="2200" b="1" i="0">
                <a:solidFill>
                  <a:srgbClr val="96A1B0"/>
                </a:solidFill>
                <a:latin typeface="Sora"/>
              </a:rPr>
              <a:t>×</a:t>
            </a:r>
          </a:p>
        </p:txBody>
      </p:sp>
      <p:sp>
        <p:nvSpPr>
          <p:cNvPr id="18" name="Rounded Rectangle 17"/>
          <p:cNvSpPr/>
          <p:nvPr/>
        </p:nvSpPr>
        <p:spPr>
          <a:xfrm>
            <a:off x="6217920" y="1536192"/>
            <a:ext cx="2468880" cy="1261872"/>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1645920"/>
            <a:ext cx="2194560" cy="182880"/>
          </a:xfrm>
          <a:prstGeom prst="rect">
            <a:avLst/>
          </a:prstGeom>
          <a:noFill/>
        </p:spPr>
        <p:txBody>
          <a:bodyPr wrap="square" lIns="0" rIns="0" tIns="0" bIns="0" anchor="t">
            <a:spAutoFit/>
          </a:bodyPr>
          <a:lstStyle/>
          <a:p>
            <a:pPr algn="l"/>
            <a:r>
              <a:rPr sz="750" b="1" i="0">
                <a:solidFill>
                  <a:srgbClr val="96A1B0"/>
                </a:solidFill>
                <a:latin typeface="Sora"/>
              </a:rPr>
              <a:t>CAPTURE RATE</a:t>
            </a:r>
          </a:p>
        </p:txBody>
      </p:sp>
      <p:sp>
        <p:nvSpPr>
          <p:cNvPr id="20" name="TextBox 19"/>
          <p:cNvSpPr txBox="1"/>
          <p:nvPr/>
        </p:nvSpPr>
        <p:spPr>
          <a:xfrm>
            <a:off x="6382512" y="1865376"/>
            <a:ext cx="2194560" cy="457200"/>
          </a:xfrm>
          <a:prstGeom prst="rect">
            <a:avLst/>
          </a:prstGeom>
          <a:noFill/>
        </p:spPr>
        <p:txBody>
          <a:bodyPr wrap="square" lIns="0" rIns="0" tIns="0" bIns="0" anchor="t">
            <a:spAutoFit/>
          </a:bodyPr>
          <a:lstStyle/>
          <a:p>
            <a:pPr algn="l"/>
            <a:r>
              <a:rPr sz="2600" b="1" i="0">
                <a:solidFill>
                  <a:srgbClr val="0F2C5C"/>
                </a:solidFill>
                <a:latin typeface="Sora"/>
              </a:rPr>
              <a:t>?</a:t>
            </a:r>
          </a:p>
        </p:txBody>
      </p:sp>
      <p:sp>
        <p:nvSpPr>
          <p:cNvPr id="21" name="TextBox 20"/>
          <p:cNvSpPr txBox="1"/>
          <p:nvPr/>
        </p:nvSpPr>
        <p:spPr>
          <a:xfrm>
            <a:off x="6382512" y="2359152"/>
            <a:ext cx="2194560" cy="182880"/>
          </a:xfrm>
          <a:prstGeom prst="rect">
            <a:avLst/>
          </a:prstGeom>
          <a:noFill/>
        </p:spPr>
        <p:txBody>
          <a:bodyPr wrap="square" lIns="0" rIns="0" tIns="0" bIns="0" anchor="t">
            <a:spAutoFit/>
          </a:bodyPr>
          <a:lstStyle/>
          <a:p>
            <a:pPr algn="l"/>
            <a:r>
              <a:rPr sz="800" b="0" i="0">
                <a:solidFill>
                  <a:srgbClr val="5A6472"/>
                </a:solidFill>
                <a:latin typeface="Sora"/>
              </a:rPr>
              <a:t>no lead event to measure it</a:t>
            </a:r>
          </a:p>
        </p:txBody>
      </p:sp>
      <p:sp>
        <p:nvSpPr>
          <p:cNvPr id="22" name="Rounded Rectangle 21"/>
          <p:cNvSpPr/>
          <p:nvPr/>
        </p:nvSpPr>
        <p:spPr>
          <a:xfrm>
            <a:off x="6382512" y="2560320"/>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
        <p:nvSpPr>
          <p:cNvPr id="23" name="TextBox 22"/>
          <p:cNvSpPr txBox="1"/>
          <p:nvPr/>
        </p:nvSpPr>
        <p:spPr>
          <a:xfrm>
            <a:off x="8705088" y="1874519"/>
            <a:ext cx="329184" cy="457200"/>
          </a:xfrm>
          <a:prstGeom prst="rect">
            <a:avLst/>
          </a:prstGeom>
          <a:noFill/>
        </p:spPr>
        <p:txBody>
          <a:bodyPr wrap="square" lIns="0" rIns="0" tIns="0" bIns="0" anchor="t">
            <a:spAutoFit/>
          </a:bodyPr>
          <a:lstStyle/>
          <a:p>
            <a:pPr algn="ctr"/>
            <a:r>
              <a:rPr sz="2200" b="1" i="0">
                <a:solidFill>
                  <a:srgbClr val="96A1B0"/>
                </a:solidFill>
                <a:latin typeface="Sora"/>
              </a:rPr>
              <a:t>=</a:t>
            </a:r>
          </a:p>
        </p:txBody>
      </p:sp>
      <p:sp>
        <p:nvSpPr>
          <p:cNvPr id="24" name="Rounded Rectangle 23"/>
          <p:cNvSpPr/>
          <p:nvPr/>
        </p:nvSpPr>
        <p:spPr>
          <a:xfrm>
            <a:off x="9052560" y="1536192"/>
            <a:ext cx="2468880" cy="1261872"/>
          </a:xfrm>
          <a:prstGeom prst="roundRect">
            <a:avLst>
              <a:gd name="adj" fmla="val 6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17152" y="1645920"/>
            <a:ext cx="2194560" cy="182880"/>
          </a:xfrm>
          <a:prstGeom prst="rect">
            <a:avLst/>
          </a:prstGeom>
          <a:noFill/>
        </p:spPr>
        <p:txBody>
          <a:bodyPr wrap="square" lIns="0" rIns="0" tIns="0" bIns="0" anchor="t">
            <a:spAutoFit/>
          </a:bodyPr>
          <a:lstStyle/>
          <a:p>
            <a:pPr algn="l"/>
            <a:r>
              <a:rPr sz="750" b="1" i="0">
                <a:solidFill>
                  <a:srgbClr val="CADCFC"/>
                </a:solidFill>
                <a:latin typeface="Sora"/>
              </a:rPr>
              <a:t>LEADS</a:t>
            </a:r>
          </a:p>
        </p:txBody>
      </p:sp>
      <p:sp>
        <p:nvSpPr>
          <p:cNvPr id="26" name="TextBox 25"/>
          <p:cNvSpPr txBox="1"/>
          <p:nvPr/>
        </p:nvSpPr>
        <p:spPr>
          <a:xfrm>
            <a:off x="9217152" y="1865376"/>
            <a:ext cx="2194560" cy="457200"/>
          </a:xfrm>
          <a:prstGeom prst="rect">
            <a:avLst/>
          </a:prstGeom>
          <a:noFill/>
        </p:spPr>
        <p:txBody>
          <a:bodyPr wrap="square" lIns="0" rIns="0" tIns="0" bIns="0" anchor="t">
            <a:spAutoFit/>
          </a:bodyPr>
          <a:lstStyle/>
          <a:p>
            <a:pPr algn="l"/>
            <a:r>
              <a:rPr sz="2600" b="1" i="0">
                <a:solidFill>
                  <a:srgbClr val="FFFFFF"/>
                </a:solidFill>
                <a:latin typeface="Sora"/>
              </a:rPr>
              <a:t>—</a:t>
            </a:r>
          </a:p>
        </p:txBody>
      </p:sp>
      <p:sp>
        <p:nvSpPr>
          <p:cNvPr id="27" name="TextBox 26"/>
          <p:cNvSpPr txBox="1"/>
          <p:nvPr/>
        </p:nvSpPr>
        <p:spPr>
          <a:xfrm>
            <a:off x="9217152" y="2359152"/>
            <a:ext cx="2194560" cy="182880"/>
          </a:xfrm>
          <a:prstGeom prst="rect">
            <a:avLst/>
          </a:prstGeom>
          <a:noFill/>
        </p:spPr>
        <p:txBody>
          <a:bodyPr wrap="square" lIns="0" rIns="0" tIns="0" bIns="0" anchor="t">
            <a:spAutoFit/>
          </a:bodyPr>
          <a:lstStyle/>
          <a:p>
            <a:pPr algn="l"/>
            <a:r>
              <a:rPr sz="800" b="0" i="0">
                <a:solidFill>
                  <a:srgbClr val="D8DFE8"/>
                </a:solidFill>
                <a:latin typeface="Sora"/>
              </a:rPr>
              <a:t>not measurable today</a:t>
            </a:r>
          </a:p>
        </p:txBody>
      </p:sp>
      <p:sp>
        <p:nvSpPr>
          <p:cNvPr id="28" name="Rounded Rectangle 27"/>
          <p:cNvSpPr/>
          <p:nvPr/>
        </p:nvSpPr>
        <p:spPr>
          <a:xfrm>
            <a:off x="9217152" y="2560320"/>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
        <p:nvSpPr>
          <p:cNvPr id="29" name="TextBox 28"/>
          <p:cNvSpPr txBox="1"/>
          <p:nvPr/>
        </p:nvSpPr>
        <p:spPr>
          <a:xfrm>
            <a:off x="640080" y="3017520"/>
            <a:ext cx="1965960" cy="182880"/>
          </a:xfrm>
          <a:prstGeom prst="rect">
            <a:avLst/>
          </a:prstGeom>
          <a:noFill/>
        </p:spPr>
        <p:txBody>
          <a:bodyPr wrap="square" lIns="0" rIns="0" tIns="0" bIns="0" anchor="t">
            <a:spAutoFit/>
          </a:bodyPr>
          <a:lstStyle/>
          <a:p>
            <a:pPr algn="l"/>
            <a:r>
              <a:rPr sz="750" b="1" i="0">
                <a:solidFill>
                  <a:srgbClr val="96A1B0"/>
                </a:solidFill>
                <a:latin typeface="Sora"/>
              </a:rPr>
              <a:t>LEVER</a:t>
            </a:r>
          </a:p>
        </p:txBody>
      </p:sp>
      <p:sp>
        <p:nvSpPr>
          <p:cNvPr id="30" name="TextBox 29"/>
          <p:cNvSpPr txBox="1"/>
          <p:nvPr/>
        </p:nvSpPr>
        <p:spPr>
          <a:xfrm>
            <a:off x="2788920" y="3017520"/>
            <a:ext cx="2148839" cy="182880"/>
          </a:xfrm>
          <a:prstGeom prst="rect">
            <a:avLst/>
          </a:prstGeom>
          <a:noFill/>
        </p:spPr>
        <p:txBody>
          <a:bodyPr wrap="square" lIns="0" rIns="0" tIns="0" bIns="0" anchor="t">
            <a:spAutoFit/>
          </a:bodyPr>
          <a:lstStyle/>
          <a:p>
            <a:pPr algn="l"/>
            <a:r>
              <a:rPr sz="750" b="1" i="0">
                <a:solidFill>
                  <a:srgbClr val="96A1B0"/>
                </a:solidFill>
                <a:latin typeface="Sora"/>
              </a:rPr>
              <a:t>TODAY</a:t>
            </a:r>
          </a:p>
        </p:txBody>
      </p:sp>
      <p:sp>
        <p:nvSpPr>
          <p:cNvPr id="31" name="TextBox 30"/>
          <p:cNvSpPr txBox="1"/>
          <p:nvPr/>
        </p:nvSpPr>
        <p:spPr>
          <a:xfrm>
            <a:off x="5120640" y="3017520"/>
            <a:ext cx="2148839" cy="182880"/>
          </a:xfrm>
          <a:prstGeom prst="rect">
            <a:avLst/>
          </a:prstGeom>
          <a:noFill/>
        </p:spPr>
        <p:txBody>
          <a:bodyPr wrap="square" lIns="0" rIns="0" tIns="0" bIns="0" anchor="t">
            <a:spAutoFit/>
          </a:bodyPr>
          <a:lstStyle/>
          <a:p>
            <a:pPr algn="l"/>
            <a:r>
              <a:rPr sz="750" b="1" i="0">
                <a:solidFill>
                  <a:srgbClr val="96A1B0"/>
                </a:solidFill>
                <a:latin typeface="Sora"/>
              </a:rPr>
              <a:t>REALISTIC MOVE</a:t>
            </a:r>
          </a:p>
        </p:txBody>
      </p:sp>
      <p:sp>
        <p:nvSpPr>
          <p:cNvPr id="32" name="TextBox 31"/>
          <p:cNvSpPr txBox="1"/>
          <p:nvPr/>
        </p:nvSpPr>
        <p:spPr>
          <a:xfrm>
            <a:off x="7452360" y="3017520"/>
            <a:ext cx="1051560" cy="182880"/>
          </a:xfrm>
          <a:prstGeom prst="rect">
            <a:avLst/>
          </a:prstGeom>
          <a:noFill/>
        </p:spPr>
        <p:txBody>
          <a:bodyPr wrap="square" lIns="0" rIns="0" tIns="0" bIns="0" anchor="t">
            <a:spAutoFit/>
          </a:bodyPr>
          <a:lstStyle/>
          <a:p>
            <a:pPr algn="l"/>
            <a:r>
              <a:rPr sz="750" b="1" i="0">
                <a:solidFill>
                  <a:srgbClr val="96A1B0"/>
                </a:solidFill>
                <a:latin typeface="Sora"/>
              </a:rPr>
              <a:t>EFFORT</a:t>
            </a:r>
          </a:p>
        </p:txBody>
      </p:sp>
      <p:sp>
        <p:nvSpPr>
          <p:cNvPr id="33" name="TextBox 32"/>
          <p:cNvSpPr txBox="1"/>
          <p:nvPr/>
        </p:nvSpPr>
        <p:spPr>
          <a:xfrm>
            <a:off x="8686800" y="3017520"/>
            <a:ext cx="2834639" cy="182880"/>
          </a:xfrm>
          <a:prstGeom prst="rect">
            <a:avLst/>
          </a:prstGeom>
          <a:noFill/>
        </p:spPr>
        <p:txBody>
          <a:bodyPr wrap="square" lIns="0" rIns="0" tIns="0" bIns="0" anchor="t">
            <a:spAutoFit/>
          </a:bodyPr>
          <a:lstStyle/>
          <a:p>
            <a:pPr algn="l"/>
            <a:r>
              <a:rPr sz="750" b="1" i="0">
                <a:solidFill>
                  <a:srgbClr val="96A1B0"/>
                </a:solidFill>
                <a:latin typeface="Sora"/>
              </a:rPr>
              <a:t>RANK · WHY</a:t>
            </a:r>
          </a:p>
        </p:txBody>
      </p:sp>
      <p:sp>
        <p:nvSpPr>
          <p:cNvPr id="34" name="Rounded Rectangle 33"/>
          <p:cNvSpPr/>
          <p:nvPr/>
        </p:nvSpPr>
        <p:spPr>
          <a:xfrm>
            <a:off x="548640" y="3255263"/>
            <a:ext cx="11064240" cy="457200"/>
          </a:xfrm>
          <a:prstGeom prst="roundRect">
            <a:avLst>
              <a:gd name="adj" fmla="val 10000"/>
            </a:avLst>
          </a:prstGeom>
          <a:solidFill>
            <a:srgbClr val="FB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300983"/>
            <a:ext cx="1947672" cy="384048"/>
          </a:xfrm>
          <a:prstGeom prst="rect">
            <a:avLst/>
          </a:prstGeom>
          <a:noFill/>
        </p:spPr>
        <p:txBody>
          <a:bodyPr wrap="square" lIns="0" rIns="0" tIns="0" bIns="0" anchor="ctr">
            <a:spAutoFit/>
          </a:bodyPr>
          <a:lstStyle/>
          <a:p>
            <a:pPr algn="l"/>
            <a:r>
              <a:rPr sz="900" b="1" i="0">
                <a:solidFill>
                  <a:srgbClr val="0F2C5C"/>
                </a:solidFill>
                <a:latin typeface="Sora"/>
              </a:rPr>
              <a:t>Reach a capture point</a:t>
            </a:r>
          </a:p>
        </p:txBody>
      </p:sp>
      <p:sp>
        <p:nvSpPr>
          <p:cNvPr id="36" name="TextBox 35"/>
          <p:cNvSpPr txBox="1"/>
          <p:nvPr/>
        </p:nvSpPr>
        <p:spPr>
          <a:xfrm>
            <a:off x="2807208" y="3300983"/>
            <a:ext cx="2130551" cy="384048"/>
          </a:xfrm>
          <a:prstGeom prst="rect">
            <a:avLst/>
          </a:prstGeom>
          <a:noFill/>
        </p:spPr>
        <p:txBody>
          <a:bodyPr wrap="square" lIns="0" rIns="0" tIns="0" bIns="0" anchor="ctr">
            <a:spAutoFit/>
          </a:bodyPr>
          <a:lstStyle/>
          <a:p>
            <a:pPr algn="l"/>
            <a:r>
              <a:rPr sz="850" b="0" i="0">
                <a:solidFill>
                  <a:srgbClr val="0F2C5C"/>
                </a:solidFill>
                <a:latin typeface="Sora"/>
              </a:rPr>
              <a:t>0.6% of sessions reach a lead page; 6 continue after the CSE–fee round-trip</a:t>
            </a:r>
          </a:p>
        </p:txBody>
      </p:sp>
      <p:sp>
        <p:nvSpPr>
          <p:cNvPr id="37" name="TextBox 36"/>
          <p:cNvSpPr txBox="1"/>
          <p:nvPr/>
        </p:nvSpPr>
        <p:spPr>
          <a:xfrm>
            <a:off x="5138928" y="3300983"/>
            <a:ext cx="2130551" cy="384048"/>
          </a:xfrm>
          <a:prstGeom prst="rect">
            <a:avLst/>
          </a:prstGeom>
          <a:noFill/>
        </p:spPr>
        <p:txBody>
          <a:bodyPr wrap="square" lIns="0" rIns="0" tIns="0" bIns="0" anchor="ctr">
            <a:spAutoFit/>
          </a:bodyPr>
          <a:lstStyle/>
          <a:p>
            <a:pPr algn="l"/>
            <a:r>
              <a:rPr sz="850" b="0" i="0">
                <a:solidFill>
                  <a:srgbClr val="0F2C5C"/>
                </a:solidFill>
                <a:latin typeface="Sora"/>
              </a:rPr>
              <a:t>Bring the next step onto course, fee and blog pages: 0.6% → 0.9%</a:t>
            </a:r>
          </a:p>
        </p:txBody>
      </p:sp>
      <p:sp>
        <p:nvSpPr>
          <p:cNvPr id="38" name="TextBox 37"/>
          <p:cNvSpPr txBox="1"/>
          <p:nvPr/>
        </p:nvSpPr>
        <p:spPr>
          <a:xfrm>
            <a:off x="7470648" y="3300983"/>
            <a:ext cx="1033272" cy="384048"/>
          </a:xfrm>
          <a:prstGeom prst="rect">
            <a:avLst/>
          </a:prstGeom>
          <a:noFill/>
        </p:spPr>
        <p:txBody>
          <a:bodyPr wrap="square" lIns="0" rIns="0" tIns="0" bIns="0" anchor="ctr">
            <a:spAutoFit/>
          </a:bodyPr>
          <a:lstStyle/>
          <a:p>
            <a:pPr algn="l"/>
            <a:r>
              <a:rPr sz="850" b="0" i="0">
                <a:solidFill>
                  <a:srgbClr val="0F2C5C"/>
                </a:solidFill>
                <a:latin typeface="Sora"/>
              </a:rPr>
              <a:t>Medium · template</a:t>
            </a:r>
          </a:p>
        </p:txBody>
      </p:sp>
      <p:sp>
        <p:nvSpPr>
          <p:cNvPr id="39" name="TextBox 38"/>
          <p:cNvSpPr txBox="1"/>
          <p:nvPr/>
        </p:nvSpPr>
        <p:spPr>
          <a:xfrm>
            <a:off x="8705088" y="3300983"/>
            <a:ext cx="2816351" cy="384048"/>
          </a:xfrm>
          <a:prstGeom prst="rect">
            <a:avLst/>
          </a:prstGeom>
          <a:noFill/>
        </p:spPr>
        <p:txBody>
          <a:bodyPr wrap="square" lIns="0" rIns="0" tIns="0" bIns="0" anchor="ctr">
            <a:spAutoFit/>
          </a:bodyPr>
          <a:lstStyle/>
          <a:p>
            <a:pPr algn="l"/>
            <a:r>
              <a:rPr sz="850" b="0" i="0">
                <a:solidFill>
                  <a:srgbClr val="0F2C5C"/>
                </a:solidFill>
                <a:latin typeface="Sora"/>
              </a:rPr>
              <a:t>1 · Leak and lever: 43% of landings meet no next step</a:t>
            </a:r>
          </a:p>
        </p:txBody>
      </p:sp>
      <p:sp>
        <p:nvSpPr>
          <p:cNvPr id="40" name="Rounded Rectangle 39"/>
          <p:cNvSpPr/>
          <p:nvPr/>
        </p:nvSpPr>
        <p:spPr>
          <a:xfrm>
            <a:off x="548640" y="3767327"/>
            <a:ext cx="11064240" cy="457200"/>
          </a:xfrm>
          <a:prstGeom prst="roundRect">
            <a:avLst>
              <a:gd name="adj" fmla="val 1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3813047"/>
            <a:ext cx="1947672" cy="384048"/>
          </a:xfrm>
          <a:prstGeom prst="rect">
            <a:avLst/>
          </a:prstGeom>
          <a:noFill/>
        </p:spPr>
        <p:txBody>
          <a:bodyPr wrap="square" lIns="0" rIns="0" tIns="0" bIns="0" anchor="ctr">
            <a:spAutoFit/>
          </a:bodyPr>
          <a:lstStyle/>
          <a:p>
            <a:pPr algn="l"/>
            <a:r>
              <a:rPr sz="900" b="1" i="0">
                <a:solidFill>
                  <a:srgbClr val="0F2C5C"/>
                </a:solidFill>
                <a:latin typeface="Sora"/>
              </a:rPr>
              <a:t>Capture intent already shown</a:t>
            </a:r>
          </a:p>
        </p:txBody>
      </p:sp>
      <p:sp>
        <p:nvSpPr>
          <p:cNvPr id="42" name="TextBox 41"/>
          <p:cNvSpPr txBox="1"/>
          <p:nvPr/>
        </p:nvSpPr>
        <p:spPr>
          <a:xfrm>
            <a:off x="2807208" y="3813047"/>
            <a:ext cx="2130551" cy="384048"/>
          </a:xfrm>
          <a:prstGeom prst="rect">
            <a:avLst/>
          </a:prstGeom>
          <a:noFill/>
        </p:spPr>
        <p:txBody>
          <a:bodyPr wrap="square" lIns="0" rIns="0" tIns="0" bIns="0" anchor="ctr">
            <a:spAutoFit/>
          </a:bodyPr>
          <a:lstStyle/>
          <a:p>
            <a:pPr algn="l"/>
            <a:r>
              <a:rPr sz="850" b="0" i="0">
                <a:solidFill>
                  <a:srgbClr val="0F2C5C"/>
                </a:solidFill>
                <a:latin typeface="Sora"/>
              </a:rPr>
              <a:t>483 brochure downloads vs 47 Apply on CSE; 82 calls vs 31 submits on fee pages</a:t>
            </a:r>
          </a:p>
        </p:txBody>
      </p:sp>
      <p:sp>
        <p:nvSpPr>
          <p:cNvPr id="43" name="TextBox 42"/>
          <p:cNvSpPr txBox="1"/>
          <p:nvPr/>
        </p:nvSpPr>
        <p:spPr>
          <a:xfrm>
            <a:off x="5138928" y="3813047"/>
            <a:ext cx="2130551" cy="384048"/>
          </a:xfrm>
          <a:prstGeom prst="rect">
            <a:avLst/>
          </a:prstGeom>
          <a:noFill/>
        </p:spPr>
        <p:txBody>
          <a:bodyPr wrap="square" lIns="0" rIns="0" tIns="0" bIns="0" anchor="ctr">
            <a:spAutoFit/>
          </a:bodyPr>
          <a:lstStyle/>
          <a:p>
            <a:pPr algn="l"/>
            <a:r>
              <a:rPr sz="850" b="0" i="0">
                <a:solidFill>
                  <a:srgbClr val="0F2C5C"/>
                </a:solidFill>
                <a:latin typeface="Sora"/>
              </a:rPr>
              <a:t>Record who acts: optional WhatsApp send, callback beside the fee</a:t>
            </a:r>
          </a:p>
        </p:txBody>
      </p:sp>
      <p:sp>
        <p:nvSpPr>
          <p:cNvPr id="44" name="TextBox 43"/>
          <p:cNvSpPr txBox="1"/>
          <p:nvPr/>
        </p:nvSpPr>
        <p:spPr>
          <a:xfrm>
            <a:off x="7470648" y="3813047"/>
            <a:ext cx="1033272" cy="384048"/>
          </a:xfrm>
          <a:prstGeom prst="rect">
            <a:avLst/>
          </a:prstGeom>
          <a:noFill/>
        </p:spPr>
        <p:txBody>
          <a:bodyPr wrap="square" lIns="0" rIns="0" tIns="0" bIns="0" anchor="ctr">
            <a:spAutoFit/>
          </a:bodyPr>
          <a:lstStyle/>
          <a:p>
            <a:pPr algn="l"/>
            <a:r>
              <a:rPr sz="850" b="0" i="0">
                <a:solidFill>
                  <a:srgbClr val="0F2C5C"/>
                </a:solidFill>
                <a:latin typeface="Sora"/>
              </a:rPr>
              <a:t>Low · config</a:t>
            </a:r>
          </a:p>
        </p:txBody>
      </p:sp>
      <p:sp>
        <p:nvSpPr>
          <p:cNvPr id="45" name="TextBox 44"/>
          <p:cNvSpPr txBox="1"/>
          <p:nvPr/>
        </p:nvSpPr>
        <p:spPr>
          <a:xfrm>
            <a:off x="8705088" y="3813047"/>
            <a:ext cx="2816351" cy="384048"/>
          </a:xfrm>
          <a:prstGeom prst="rect">
            <a:avLst/>
          </a:prstGeom>
          <a:noFill/>
        </p:spPr>
        <p:txBody>
          <a:bodyPr wrap="square" lIns="0" rIns="0" tIns="0" bIns="0" anchor="ctr">
            <a:spAutoFit/>
          </a:bodyPr>
          <a:lstStyle/>
          <a:p>
            <a:pPr algn="l"/>
            <a:r>
              <a:rPr sz="850" b="0" i="0">
                <a:solidFill>
                  <a:srgbClr val="0F2C5C"/>
                </a:solidFill>
                <a:latin typeface="Sora"/>
              </a:rPr>
              <a:t>2 · Intent is already expressed — we just don’t know who</a:t>
            </a:r>
          </a:p>
        </p:txBody>
      </p:sp>
      <p:sp>
        <p:nvSpPr>
          <p:cNvPr id="46" name="Rounded Rectangle 45"/>
          <p:cNvSpPr/>
          <p:nvPr/>
        </p:nvSpPr>
        <p:spPr>
          <a:xfrm>
            <a:off x="548640" y="4279392"/>
            <a:ext cx="11064240" cy="457200"/>
          </a:xfrm>
          <a:prstGeom prst="roundRect">
            <a:avLst>
              <a:gd name="adj" fmla="val 1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4325112"/>
            <a:ext cx="1947672" cy="384048"/>
          </a:xfrm>
          <a:prstGeom prst="rect">
            <a:avLst/>
          </a:prstGeom>
          <a:noFill/>
        </p:spPr>
        <p:txBody>
          <a:bodyPr wrap="square" lIns="0" rIns="0" tIns="0" bIns="0" anchor="ctr">
            <a:spAutoFit/>
          </a:bodyPr>
          <a:lstStyle/>
          <a:p>
            <a:pPr algn="l"/>
            <a:r>
              <a:rPr sz="900" b="1" i="0">
                <a:solidFill>
                  <a:srgbClr val="0F2C5C"/>
                </a:solidFill>
                <a:latin typeface="Sora"/>
              </a:rPr>
              <a:t>Capture rate on forms</a:t>
            </a:r>
          </a:p>
        </p:txBody>
      </p:sp>
      <p:sp>
        <p:nvSpPr>
          <p:cNvPr id="48" name="TextBox 47"/>
          <p:cNvSpPr txBox="1"/>
          <p:nvPr/>
        </p:nvSpPr>
        <p:spPr>
          <a:xfrm>
            <a:off x="2807208" y="4325112"/>
            <a:ext cx="2130551" cy="384048"/>
          </a:xfrm>
          <a:prstGeom prst="rect">
            <a:avLst/>
          </a:prstGeom>
          <a:noFill/>
        </p:spPr>
        <p:txBody>
          <a:bodyPr wrap="square" lIns="0" rIns="0" tIns="0" bIns="0" anchor="ctr">
            <a:spAutoFit/>
          </a:bodyPr>
          <a:lstStyle/>
          <a:p>
            <a:pPr algn="l"/>
            <a:r>
              <a:rPr sz="850" b="0" i="0">
                <a:solidFill>
                  <a:srgbClr val="0F2C5C"/>
                </a:solidFill>
                <a:latin typeface="Sora"/>
              </a:rPr>
              <a:t>Unknown — form_submit is not a clean lead</a:t>
            </a:r>
          </a:p>
        </p:txBody>
      </p:sp>
      <p:sp>
        <p:nvSpPr>
          <p:cNvPr id="49" name="TextBox 48"/>
          <p:cNvSpPr txBox="1"/>
          <p:nvPr/>
        </p:nvSpPr>
        <p:spPr>
          <a:xfrm>
            <a:off x="5138928" y="4325112"/>
            <a:ext cx="2130551" cy="384048"/>
          </a:xfrm>
          <a:prstGeom prst="rect">
            <a:avLst/>
          </a:prstGeom>
          <a:noFill/>
        </p:spPr>
        <p:txBody>
          <a:bodyPr wrap="square" lIns="0" rIns="0" tIns="0" bIns="0" anchor="ctr">
            <a:spAutoFit/>
          </a:bodyPr>
          <a:lstStyle/>
          <a:p>
            <a:pPr algn="l"/>
            <a:r>
              <a:rPr sz="850" b="0" i="0">
                <a:solidFill>
                  <a:srgbClr val="0F2C5C"/>
                </a:solidFill>
                <a:latin typeface="Sora"/>
              </a:rPr>
              <a:t>Set after Phase 0 gives a baseline</a:t>
            </a:r>
          </a:p>
        </p:txBody>
      </p:sp>
      <p:sp>
        <p:nvSpPr>
          <p:cNvPr id="50" name="TextBox 49"/>
          <p:cNvSpPr txBox="1"/>
          <p:nvPr/>
        </p:nvSpPr>
        <p:spPr>
          <a:xfrm>
            <a:off x="7470648" y="4325112"/>
            <a:ext cx="1033272" cy="384048"/>
          </a:xfrm>
          <a:prstGeom prst="rect">
            <a:avLst/>
          </a:prstGeom>
          <a:noFill/>
        </p:spPr>
        <p:txBody>
          <a:bodyPr wrap="square" lIns="0" rIns="0" tIns="0" bIns="0" anchor="ctr">
            <a:spAutoFit/>
          </a:bodyPr>
          <a:lstStyle/>
          <a:p>
            <a:pPr algn="l"/>
            <a:r>
              <a:rPr sz="850" b="0" i="0">
                <a:solidFill>
                  <a:srgbClr val="0F2C5C"/>
                </a:solidFill>
                <a:latin typeface="Sora"/>
              </a:rPr>
              <a:t>Low–medium</a:t>
            </a:r>
          </a:p>
        </p:txBody>
      </p:sp>
      <p:sp>
        <p:nvSpPr>
          <p:cNvPr id="51" name="TextBox 50"/>
          <p:cNvSpPr txBox="1"/>
          <p:nvPr/>
        </p:nvSpPr>
        <p:spPr>
          <a:xfrm>
            <a:off x="8705088" y="4325112"/>
            <a:ext cx="2816351" cy="384048"/>
          </a:xfrm>
          <a:prstGeom prst="rect">
            <a:avLst/>
          </a:prstGeom>
          <a:noFill/>
        </p:spPr>
        <p:txBody>
          <a:bodyPr wrap="square" lIns="0" rIns="0" tIns="0" bIns="0" anchor="ctr">
            <a:spAutoFit/>
          </a:bodyPr>
          <a:lstStyle/>
          <a:p>
            <a:pPr algn="l"/>
            <a:r>
              <a:rPr sz="850" b="0" i="0">
                <a:solidFill>
                  <a:srgbClr val="0F2C5C"/>
                </a:solidFill>
                <a:latin typeface="Sora"/>
              </a:rPr>
              <a:t>3 · Cannot be ranked until it is measured</a:t>
            </a:r>
          </a:p>
        </p:txBody>
      </p:sp>
      <p:sp>
        <p:nvSpPr>
          <p:cNvPr id="52" name="Rounded Rectangle 51"/>
          <p:cNvSpPr/>
          <p:nvPr/>
        </p:nvSpPr>
        <p:spPr>
          <a:xfrm>
            <a:off x="548640" y="4791456"/>
            <a:ext cx="11064240" cy="457200"/>
          </a:xfrm>
          <a:prstGeom prst="roundRect">
            <a:avLst>
              <a:gd name="adj" fmla="val 1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8368" y="4837176"/>
            <a:ext cx="1947672" cy="384048"/>
          </a:xfrm>
          <a:prstGeom prst="rect">
            <a:avLst/>
          </a:prstGeom>
          <a:noFill/>
        </p:spPr>
        <p:txBody>
          <a:bodyPr wrap="square" lIns="0" rIns="0" tIns="0" bIns="0" anchor="ctr">
            <a:spAutoFit/>
          </a:bodyPr>
          <a:lstStyle/>
          <a:p>
            <a:pPr algn="l"/>
            <a:r>
              <a:rPr sz="900" b="1" i="0">
                <a:solidFill>
                  <a:srgbClr val="0F2C5C"/>
                </a:solidFill>
                <a:latin typeface="Sora"/>
              </a:rPr>
              <a:t>Organic traffic</a:t>
            </a:r>
          </a:p>
        </p:txBody>
      </p:sp>
      <p:sp>
        <p:nvSpPr>
          <p:cNvPr id="54" name="TextBox 53"/>
          <p:cNvSpPr txBox="1"/>
          <p:nvPr/>
        </p:nvSpPr>
        <p:spPr>
          <a:xfrm>
            <a:off x="2807208" y="4837176"/>
            <a:ext cx="2130551" cy="384048"/>
          </a:xfrm>
          <a:prstGeom prst="rect">
            <a:avLst/>
          </a:prstGeom>
          <a:noFill/>
        </p:spPr>
        <p:txBody>
          <a:bodyPr wrap="square" lIns="0" rIns="0" tIns="0" bIns="0" anchor="ctr">
            <a:spAutoFit/>
          </a:bodyPr>
          <a:lstStyle/>
          <a:p>
            <a:pPr algn="l"/>
            <a:r>
              <a:rPr sz="850" b="0" i="0">
                <a:solidFill>
                  <a:srgbClr val="0F2C5C"/>
                </a:solidFill>
                <a:latin typeface="Sora"/>
              </a:rPr>
              <a:t>1,96,542 sessions / 90 days</a:t>
            </a:r>
          </a:p>
        </p:txBody>
      </p:sp>
      <p:sp>
        <p:nvSpPr>
          <p:cNvPr id="55" name="TextBox 54"/>
          <p:cNvSpPr txBox="1"/>
          <p:nvPr/>
        </p:nvSpPr>
        <p:spPr>
          <a:xfrm>
            <a:off x="5138928" y="4837176"/>
            <a:ext cx="2130551" cy="384048"/>
          </a:xfrm>
          <a:prstGeom prst="rect">
            <a:avLst/>
          </a:prstGeom>
          <a:noFill/>
        </p:spPr>
        <p:txBody>
          <a:bodyPr wrap="square" lIns="0" rIns="0" tIns="0" bIns="0" anchor="ctr">
            <a:spAutoFit/>
          </a:bodyPr>
          <a:lstStyle/>
          <a:p>
            <a:pPr algn="l"/>
            <a:r>
              <a:rPr sz="850" b="0" i="0">
                <a:solidFill>
                  <a:srgbClr val="0F2C5C"/>
                </a:solidFill>
                <a:latin typeface="Sora"/>
              </a:rPr>
              <a:t>+33% via the SEO programme</a:t>
            </a:r>
          </a:p>
        </p:txBody>
      </p:sp>
      <p:sp>
        <p:nvSpPr>
          <p:cNvPr id="56" name="TextBox 55"/>
          <p:cNvSpPr txBox="1"/>
          <p:nvPr/>
        </p:nvSpPr>
        <p:spPr>
          <a:xfrm>
            <a:off x="7470648" y="4837176"/>
            <a:ext cx="1033272" cy="384048"/>
          </a:xfrm>
          <a:prstGeom prst="rect">
            <a:avLst/>
          </a:prstGeom>
          <a:noFill/>
        </p:spPr>
        <p:txBody>
          <a:bodyPr wrap="square" lIns="0" rIns="0" tIns="0" bIns="0" anchor="ctr">
            <a:spAutoFit/>
          </a:bodyPr>
          <a:lstStyle/>
          <a:p>
            <a:pPr algn="l"/>
            <a:r>
              <a:rPr sz="850" b="0" i="0">
                <a:solidFill>
                  <a:srgbClr val="0F2C5C"/>
                </a:solidFill>
                <a:latin typeface="Sora"/>
              </a:rPr>
              <a:t>High · slow</a:t>
            </a:r>
          </a:p>
        </p:txBody>
      </p:sp>
      <p:sp>
        <p:nvSpPr>
          <p:cNvPr id="57" name="TextBox 56"/>
          <p:cNvSpPr txBox="1"/>
          <p:nvPr/>
        </p:nvSpPr>
        <p:spPr>
          <a:xfrm>
            <a:off x="8705088" y="4837176"/>
            <a:ext cx="2816351" cy="384048"/>
          </a:xfrm>
          <a:prstGeom prst="rect">
            <a:avLst/>
          </a:prstGeom>
          <a:noFill/>
        </p:spPr>
        <p:txBody>
          <a:bodyPr wrap="square" lIns="0" rIns="0" tIns="0" bIns="0" anchor="ctr">
            <a:spAutoFit/>
          </a:bodyPr>
          <a:lstStyle/>
          <a:p>
            <a:pPr algn="l"/>
            <a:r>
              <a:rPr sz="850" b="0" i="0">
                <a:solidFill>
                  <a:srgbClr val="0F2C5C"/>
                </a:solidFill>
                <a:latin typeface="Sora"/>
              </a:rPr>
              <a:t>Out of scope here — compounds with every CRO gain</a:t>
            </a:r>
          </a:p>
        </p:txBody>
      </p:sp>
      <p:sp>
        <p:nvSpPr>
          <p:cNvPr id="58" name="Rounded Rectangle 57"/>
          <p:cNvSpPr/>
          <p:nvPr/>
        </p:nvSpPr>
        <p:spPr>
          <a:xfrm>
            <a:off x="548640" y="5376672"/>
            <a:ext cx="11064240" cy="932688"/>
          </a:xfrm>
          <a:prstGeom prst="roundRect">
            <a:avLst>
              <a:gd name="adj" fmla="val 8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77240" y="548640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60" name="TextBox 59"/>
          <p:cNvSpPr txBox="1"/>
          <p:nvPr/>
        </p:nvSpPr>
        <p:spPr>
          <a:xfrm>
            <a:off x="777240" y="5742432"/>
            <a:ext cx="10607040" cy="512064"/>
          </a:xfrm>
          <a:prstGeom prst="rect">
            <a:avLst/>
          </a:prstGeom>
          <a:noFill/>
        </p:spPr>
        <p:txBody>
          <a:bodyPr wrap="square" lIns="0" rIns="0" tIns="0" bIns="0" anchor="t">
            <a:spAutoFit/>
          </a:bodyPr>
          <a:lstStyle/>
          <a:p>
            <a:pPr algn="l"/>
            <a:r>
              <a:rPr sz="950" b="0" i="0">
                <a:solidFill>
                  <a:srgbClr val="FFFFFF"/>
                </a:solidFill>
                <a:latin typeface="Sora"/>
              </a:rPr>
              <a:t>Worked illustration: holding capture rate flat, +50% leads needs reach to rise from 0.6% to 0.9% of organic sessions — 1,179 → ~1,770 a quarter. That is ~590 more sessions, or 0.7% of the ~84,500 organic sessions that land on course, fee, blog and proof templates. Assumes the site-wide 0.6% and the export’s 43% landing share both hold for organic traffic.</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509760" cy="182880"/>
          </a:xfrm>
          <a:prstGeom prst="rect">
            <a:avLst/>
          </a:prstGeom>
          <a:noFill/>
        </p:spPr>
        <p:txBody>
          <a:bodyPr wrap="square" lIns="0" rIns="0" tIns="0" bIns="0" anchor="t">
            <a:spAutoFit/>
          </a:bodyPr>
          <a:lstStyle/>
          <a:p>
            <a:pPr algn="l"/>
            <a:r>
              <a:rPr sz="900" b="1" i="0">
                <a:solidFill>
                  <a:srgbClr val="C8102E"/>
                </a:solidFill>
                <a:latin typeface="Sora"/>
              </a:rPr>
              <a:t>THE FIVE JOURNEYS  ·  INTENT × JOURNEY MATRIX</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Five questions, scored where they land</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Does the page answer this visitor’s question at each point of the visit? The unanswered cells are the backlog</a:t>
            </a:r>
          </a:p>
        </p:txBody>
      </p:sp>
      <p:sp>
        <p:nvSpPr>
          <p:cNvPr id="5" name="TextBox 4"/>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Live site audit, 24 Sept 2026 (390px mobile) · GA4 explorations and landing pages, 13 Jun – 10 Sept 2026 (figures as used in this deck). Priority = sessions × intent value (closeness to a lead).</a:t>
            </a:r>
          </a:p>
        </p:txBody>
      </p:sp>
      <p:sp>
        <p:nvSpPr>
          <p:cNvPr id="6" name="Rounded Rectangle 5"/>
          <p:cNvSpPr/>
          <p:nvPr/>
        </p:nvSpPr>
        <p:spPr>
          <a:xfrm>
            <a:off x="10908792" y="274320"/>
            <a:ext cx="731520" cy="201168"/>
          </a:xfrm>
          <a:prstGeom prst="roundRect">
            <a:avLst>
              <a:gd name="adj" fmla="val 50000"/>
            </a:avLst>
          </a:prstGeom>
          <a:solidFill>
            <a:srgbClr val="E5F1EA"/>
          </a:solidFill>
          <a:ln w="635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MEASURED</a:t>
            </a:r>
          </a:p>
        </p:txBody>
      </p:sp>
      <p:sp>
        <p:nvSpPr>
          <p:cNvPr id="7" name="TextBox 6"/>
          <p:cNvSpPr txBox="1"/>
          <p:nvPr/>
        </p:nvSpPr>
        <p:spPr>
          <a:xfrm>
            <a:off x="621792" y="1517904"/>
            <a:ext cx="2240279" cy="182880"/>
          </a:xfrm>
          <a:prstGeom prst="rect">
            <a:avLst/>
          </a:prstGeom>
          <a:noFill/>
        </p:spPr>
        <p:txBody>
          <a:bodyPr wrap="square" lIns="0" rIns="0" tIns="0" bIns="0" anchor="t">
            <a:spAutoFit/>
          </a:bodyPr>
          <a:lstStyle/>
          <a:p>
            <a:pPr algn="l"/>
            <a:r>
              <a:rPr sz="700" b="1" i="0">
                <a:solidFill>
                  <a:srgbClr val="96A1B0"/>
                </a:solidFill>
                <a:latin typeface="Sora"/>
              </a:rPr>
              <a:t>PERSONA · QUESTION</a:t>
            </a:r>
          </a:p>
        </p:txBody>
      </p:sp>
      <p:sp>
        <p:nvSpPr>
          <p:cNvPr id="8" name="TextBox 7"/>
          <p:cNvSpPr txBox="1"/>
          <p:nvPr/>
        </p:nvSpPr>
        <p:spPr>
          <a:xfrm>
            <a:off x="2953512" y="1517904"/>
            <a:ext cx="685800" cy="182880"/>
          </a:xfrm>
          <a:prstGeom prst="rect">
            <a:avLst/>
          </a:prstGeom>
          <a:noFill/>
        </p:spPr>
        <p:txBody>
          <a:bodyPr wrap="square" lIns="0" rIns="0" tIns="0" bIns="0" anchor="t">
            <a:spAutoFit/>
          </a:bodyPr>
          <a:lstStyle/>
          <a:p>
            <a:pPr algn="l"/>
            <a:r>
              <a:rPr sz="700" b="1" i="0">
                <a:solidFill>
                  <a:srgbClr val="96A1B0"/>
                </a:solidFill>
                <a:latin typeface="Sora"/>
              </a:rPr>
              <a:t>SESSIONS</a:t>
            </a:r>
          </a:p>
        </p:txBody>
      </p:sp>
      <p:sp>
        <p:nvSpPr>
          <p:cNvPr id="9" name="TextBox 8"/>
          <p:cNvSpPr txBox="1"/>
          <p:nvPr/>
        </p:nvSpPr>
        <p:spPr>
          <a:xfrm>
            <a:off x="3730752" y="1517904"/>
            <a:ext cx="960119" cy="182880"/>
          </a:xfrm>
          <a:prstGeom prst="rect">
            <a:avLst/>
          </a:prstGeom>
          <a:noFill/>
        </p:spPr>
        <p:txBody>
          <a:bodyPr wrap="square" lIns="0" rIns="0" tIns="0" bIns="0" anchor="t">
            <a:spAutoFit/>
          </a:bodyPr>
          <a:lstStyle/>
          <a:p>
            <a:pPr algn="l"/>
            <a:r>
              <a:rPr sz="700" b="1" i="0">
                <a:solidFill>
                  <a:srgbClr val="96A1B0"/>
                </a:solidFill>
                <a:latin typeface="Sora"/>
              </a:rPr>
              <a:t>LANDS ON</a:t>
            </a:r>
          </a:p>
        </p:txBody>
      </p:sp>
      <p:sp>
        <p:nvSpPr>
          <p:cNvPr id="10" name="TextBox 9"/>
          <p:cNvSpPr txBox="1"/>
          <p:nvPr/>
        </p:nvSpPr>
        <p:spPr>
          <a:xfrm>
            <a:off x="4782312" y="1517904"/>
            <a:ext cx="1508760" cy="182880"/>
          </a:xfrm>
          <a:prstGeom prst="rect">
            <a:avLst/>
          </a:prstGeom>
          <a:noFill/>
        </p:spPr>
        <p:txBody>
          <a:bodyPr wrap="square" lIns="0" rIns="0" tIns="0" bIns="0" anchor="t">
            <a:spAutoFit/>
          </a:bodyPr>
          <a:lstStyle/>
          <a:p>
            <a:pPr algn="l"/>
            <a:r>
              <a:rPr sz="700" b="1" i="0">
                <a:solidFill>
                  <a:srgbClr val="96A1B0"/>
                </a:solidFill>
                <a:latin typeface="Sora"/>
              </a:rPr>
              <a:t>1 · FIRST FOLD</a:t>
            </a:r>
          </a:p>
        </p:txBody>
      </p:sp>
      <p:sp>
        <p:nvSpPr>
          <p:cNvPr id="11" name="TextBox 10"/>
          <p:cNvSpPr txBox="1"/>
          <p:nvPr/>
        </p:nvSpPr>
        <p:spPr>
          <a:xfrm>
            <a:off x="6382512" y="1517904"/>
            <a:ext cx="1508760" cy="182880"/>
          </a:xfrm>
          <a:prstGeom prst="rect">
            <a:avLst/>
          </a:prstGeom>
          <a:noFill/>
        </p:spPr>
        <p:txBody>
          <a:bodyPr wrap="square" lIns="0" rIns="0" tIns="0" bIns="0" anchor="t">
            <a:spAutoFit/>
          </a:bodyPr>
          <a:lstStyle/>
          <a:p>
            <a:pPr algn="l"/>
            <a:r>
              <a:rPr sz="700" b="1" i="0">
                <a:solidFill>
                  <a:srgbClr val="96A1B0"/>
                </a:solidFill>
                <a:latin typeface="Sora"/>
              </a:rPr>
              <a:t>2 · THE ANSWER</a:t>
            </a:r>
          </a:p>
        </p:txBody>
      </p:sp>
      <p:sp>
        <p:nvSpPr>
          <p:cNvPr id="12" name="TextBox 11"/>
          <p:cNvSpPr txBox="1"/>
          <p:nvPr/>
        </p:nvSpPr>
        <p:spPr>
          <a:xfrm>
            <a:off x="7982712" y="1517904"/>
            <a:ext cx="1508760" cy="182880"/>
          </a:xfrm>
          <a:prstGeom prst="rect">
            <a:avLst/>
          </a:prstGeom>
          <a:noFill/>
        </p:spPr>
        <p:txBody>
          <a:bodyPr wrap="square" lIns="0" rIns="0" tIns="0" bIns="0" anchor="t">
            <a:spAutoFit/>
          </a:bodyPr>
          <a:lstStyle/>
          <a:p>
            <a:pPr algn="l"/>
            <a:r>
              <a:rPr sz="700" b="1" i="0">
                <a:solidFill>
                  <a:srgbClr val="96A1B0"/>
                </a:solidFill>
                <a:latin typeface="Sora"/>
              </a:rPr>
              <a:t>3 · THE NEXT STEP</a:t>
            </a:r>
          </a:p>
        </p:txBody>
      </p:sp>
      <p:sp>
        <p:nvSpPr>
          <p:cNvPr id="13" name="TextBox 12"/>
          <p:cNvSpPr txBox="1"/>
          <p:nvPr/>
        </p:nvSpPr>
        <p:spPr>
          <a:xfrm>
            <a:off x="9582912" y="1517904"/>
            <a:ext cx="1508760" cy="182880"/>
          </a:xfrm>
          <a:prstGeom prst="rect">
            <a:avLst/>
          </a:prstGeom>
          <a:noFill/>
        </p:spPr>
        <p:txBody>
          <a:bodyPr wrap="square" lIns="0" rIns="0" tIns="0" bIns="0" anchor="t">
            <a:spAutoFit/>
          </a:bodyPr>
          <a:lstStyle/>
          <a:p>
            <a:pPr algn="l"/>
            <a:r>
              <a:rPr sz="700" b="1" i="0">
                <a:solidFill>
                  <a:srgbClr val="96A1B0"/>
                </a:solidFill>
                <a:latin typeface="Sora"/>
              </a:rPr>
              <a:t>4 · A CAPTURE THAT FITS</a:t>
            </a:r>
          </a:p>
        </p:txBody>
      </p:sp>
      <p:sp>
        <p:nvSpPr>
          <p:cNvPr id="14" name="TextBox 13"/>
          <p:cNvSpPr txBox="1"/>
          <p:nvPr/>
        </p:nvSpPr>
        <p:spPr>
          <a:xfrm>
            <a:off x="11183112" y="1517904"/>
            <a:ext cx="411480" cy="182880"/>
          </a:xfrm>
          <a:prstGeom prst="rect">
            <a:avLst/>
          </a:prstGeom>
          <a:noFill/>
        </p:spPr>
        <p:txBody>
          <a:bodyPr wrap="square" lIns="0" rIns="0" tIns="0" bIns="0" anchor="t">
            <a:spAutoFit/>
          </a:bodyPr>
          <a:lstStyle/>
          <a:p>
            <a:pPr algn="l"/>
            <a:r>
              <a:rPr sz="700" b="1" i="0">
                <a:solidFill>
                  <a:srgbClr val="96A1B0"/>
                </a:solidFill>
                <a:latin typeface="Sora"/>
              </a:rPr>
              <a:t>RANK</a:t>
            </a:r>
          </a:p>
        </p:txBody>
      </p:sp>
      <p:sp>
        <p:nvSpPr>
          <p:cNvPr id="15" name="Rounded Rectangle 14"/>
          <p:cNvSpPr/>
          <p:nvPr/>
        </p:nvSpPr>
        <p:spPr>
          <a:xfrm>
            <a:off x="548640" y="1755648"/>
            <a:ext cx="1106424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1865376"/>
            <a:ext cx="2148840" cy="219456"/>
          </a:xfrm>
          <a:prstGeom prst="rect">
            <a:avLst/>
          </a:prstGeom>
          <a:noFill/>
        </p:spPr>
        <p:txBody>
          <a:bodyPr wrap="square" lIns="0" rIns="0" tIns="0" bIns="0" anchor="t">
            <a:spAutoFit/>
          </a:bodyPr>
          <a:lstStyle/>
          <a:p>
            <a:pPr algn="l"/>
            <a:r>
              <a:rPr sz="1000" b="1" i="0">
                <a:solidFill>
                  <a:srgbClr val="0F2C5C"/>
                </a:solidFill>
                <a:latin typeface="Sora"/>
              </a:rPr>
              <a:t>Course Researcher</a:t>
            </a:r>
          </a:p>
        </p:txBody>
      </p:sp>
      <p:sp>
        <p:nvSpPr>
          <p:cNvPr id="17" name="TextBox 16"/>
          <p:cNvSpPr txBox="1"/>
          <p:nvPr/>
        </p:nvSpPr>
        <p:spPr>
          <a:xfrm>
            <a:off x="658368" y="2121408"/>
            <a:ext cx="2148840" cy="274320"/>
          </a:xfrm>
          <a:prstGeom prst="rect">
            <a:avLst/>
          </a:prstGeom>
          <a:noFill/>
        </p:spPr>
        <p:txBody>
          <a:bodyPr wrap="square" lIns="0" rIns="0" tIns="0" bIns="0" anchor="t">
            <a:spAutoFit/>
          </a:bodyPr>
          <a:lstStyle/>
          <a:p>
            <a:pPr algn="l"/>
            <a:r>
              <a:rPr sz="850" b="0" i="1">
                <a:solidFill>
                  <a:srgbClr val="5A6472"/>
                </a:solidFill>
                <a:latin typeface="Sora"/>
              </a:rPr>
              <a:t>“Is this course worth it?”</a:t>
            </a:r>
          </a:p>
        </p:txBody>
      </p:sp>
      <p:sp>
        <p:nvSpPr>
          <p:cNvPr id="18" name="TextBox 17"/>
          <p:cNvSpPr txBox="1"/>
          <p:nvPr/>
        </p:nvSpPr>
        <p:spPr>
          <a:xfrm>
            <a:off x="2916936" y="1865376"/>
            <a:ext cx="731520" cy="219456"/>
          </a:xfrm>
          <a:prstGeom prst="rect">
            <a:avLst/>
          </a:prstGeom>
          <a:noFill/>
        </p:spPr>
        <p:txBody>
          <a:bodyPr wrap="square" lIns="0" rIns="0" tIns="0" bIns="0" anchor="t">
            <a:spAutoFit/>
          </a:bodyPr>
          <a:lstStyle/>
          <a:p>
            <a:pPr algn="l"/>
            <a:r>
              <a:rPr sz="1000" b="1" i="0">
                <a:solidFill>
                  <a:srgbClr val="0F2C5C"/>
                </a:solidFill>
                <a:latin typeface="Sora"/>
              </a:rPr>
              <a:t>53,812</a:t>
            </a:r>
          </a:p>
        </p:txBody>
      </p:sp>
      <p:sp>
        <p:nvSpPr>
          <p:cNvPr id="19" name="TextBox 18"/>
          <p:cNvSpPr txBox="1"/>
          <p:nvPr/>
        </p:nvSpPr>
        <p:spPr>
          <a:xfrm>
            <a:off x="3694176" y="1865376"/>
            <a:ext cx="960120" cy="457200"/>
          </a:xfrm>
          <a:prstGeom prst="rect">
            <a:avLst/>
          </a:prstGeom>
          <a:noFill/>
        </p:spPr>
        <p:txBody>
          <a:bodyPr wrap="square" lIns="0" rIns="0" tIns="0" bIns="0" anchor="t">
            <a:spAutoFit/>
          </a:bodyPr>
          <a:lstStyle/>
          <a:p>
            <a:pPr algn="l"/>
            <a:r>
              <a:rPr sz="850" b="0" i="0">
                <a:solidFill>
                  <a:srgbClr val="0F2C5C"/>
                </a:solidFill>
                <a:latin typeface="Sora"/>
              </a:rPr>
              <a:t>B.Tech CSE</a:t>
            </a:r>
          </a:p>
        </p:txBody>
      </p:sp>
      <p:sp>
        <p:nvSpPr>
          <p:cNvPr id="20" name="Rounded Rectangle 19"/>
          <p:cNvSpPr/>
          <p:nvPr/>
        </p:nvSpPr>
        <p:spPr>
          <a:xfrm>
            <a:off x="4764024" y="1847088"/>
            <a:ext cx="1417320" cy="182880"/>
          </a:xfrm>
          <a:prstGeom prst="roundRect">
            <a:avLst>
              <a:gd name="adj" fmla="val 5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B26B00"/>
                </a:solidFill>
                <a:latin typeface="Sora"/>
              </a:rPr>
              <a:t>BELOW THE FOLD</a:t>
            </a:r>
          </a:p>
        </p:txBody>
      </p:sp>
      <p:sp>
        <p:nvSpPr>
          <p:cNvPr id="21" name="TextBox 20"/>
          <p:cNvSpPr txBox="1"/>
          <p:nvPr/>
        </p:nvSpPr>
        <p:spPr>
          <a:xfrm>
            <a:off x="4764024" y="2084831"/>
            <a:ext cx="1481328" cy="365760"/>
          </a:xfrm>
          <a:prstGeom prst="rect">
            <a:avLst/>
          </a:prstGeom>
          <a:noFill/>
        </p:spPr>
        <p:txBody>
          <a:bodyPr wrap="square" lIns="0" rIns="0" tIns="0" bIns="0" anchor="t">
            <a:spAutoFit/>
          </a:bodyPr>
          <a:lstStyle/>
          <a:p>
            <a:pPr algn="l"/>
            <a:r>
              <a:rPr sz="720" b="0" i="0">
                <a:solidFill>
                  <a:srgbClr val="5A6472"/>
                </a:solidFill>
                <a:latin typeface="Sora"/>
              </a:rPr>
              <a:t>Campaign block before any CSE content</a:t>
            </a:r>
          </a:p>
        </p:txBody>
      </p:sp>
      <p:sp>
        <p:nvSpPr>
          <p:cNvPr id="22" name="Rounded Rectangle 21"/>
          <p:cNvSpPr/>
          <p:nvPr/>
        </p:nvSpPr>
        <p:spPr>
          <a:xfrm>
            <a:off x="6364224" y="1847088"/>
            <a:ext cx="1417320" cy="182880"/>
          </a:xfrm>
          <a:prstGeom prst="roundRect">
            <a:avLst>
              <a:gd name="adj" fmla="val 5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B26B00"/>
                </a:solidFill>
                <a:latin typeface="Sora"/>
              </a:rPr>
              <a:t>BELOW THE FOLD</a:t>
            </a:r>
          </a:p>
        </p:txBody>
      </p:sp>
      <p:sp>
        <p:nvSpPr>
          <p:cNvPr id="23" name="TextBox 22"/>
          <p:cNvSpPr txBox="1"/>
          <p:nvPr/>
        </p:nvSpPr>
        <p:spPr>
          <a:xfrm>
            <a:off x="6364224" y="2084831"/>
            <a:ext cx="1481328" cy="365760"/>
          </a:xfrm>
          <a:prstGeom prst="rect">
            <a:avLst/>
          </a:prstGeom>
          <a:noFill/>
        </p:spPr>
        <p:txBody>
          <a:bodyPr wrap="square" lIns="0" rIns="0" tIns="0" bIns="0" anchor="t">
            <a:spAutoFit/>
          </a:bodyPr>
          <a:lstStyle/>
          <a:p>
            <a:pPr algn="l"/>
            <a:r>
              <a:rPr sz="720" b="0" i="0">
                <a:solidFill>
                  <a:srgbClr val="5A6472"/>
                </a:solidFill>
                <a:latin typeface="Sora"/>
              </a:rPr>
              <a:t>Fee ~13 screens down, year 1 only</a:t>
            </a:r>
          </a:p>
        </p:txBody>
      </p:sp>
      <p:sp>
        <p:nvSpPr>
          <p:cNvPr id="24" name="Rounded Rectangle 23"/>
          <p:cNvSpPr/>
          <p:nvPr/>
        </p:nvSpPr>
        <p:spPr>
          <a:xfrm>
            <a:off x="7964424" y="1847088"/>
            <a:ext cx="1417320" cy="182880"/>
          </a:xfrm>
          <a:prstGeom prst="roundRect">
            <a:avLst>
              <a:gd name="adj" fmla="val 50000"/>
            </a:avLst>
          </a:prstGeom>
          <a:solidFill>
            <a:srgbClr val="FBE7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C8102E"/>
                </a:solidFill>
                <a:latin typeface="Sora"/>
              </a:rPr>
              <a:t>NOT ANSWERED</a:t>
            </a:r>
          </a:p>
        </p:txBody>
      </p:sp>
      <p:sp>
        <p:nvSpPr>
          <p:cNvPr id="25" name="TextBox 24"/>
          <p:cNvSpPr txBox="1"/>
          <p:nvPr/>
        </p:nvSpPr>
        <p:spPr>
          <a:xfrm>
            <a:off x="7964424" y="2084831"/>
            <a:ext cx="1481328" cy="365760"/>
          </a:xfrm>
          <a:prstGeom prst="rect">
            <a:avLst/>
          </a:prstGeom>
          <a:noFill/>
        </p:spPr>
        <p:txBody>
          <a:bodyPr wrap="square" lIns="0" rIns="0" tIns="0" bIns="0" anchor="t">
            <a:spAutoFit/>
          </a:bodyPr>
          <a:lstStyle/>
          <a:p>
            <a:pPr algn="l"/>
            <a:r>
              <a:rPr sz="720" b="0" i="0">
                <a:solidFill>
                  <a:srgbClr val="5A6472"/>
                </a:solidFill>
                <a:latin typeface="Sora"/>
              </a:rPr>
              <a:t>6 continue after the fee round-trip</a:t>
            </a:r>
          </a:p>
        </p:txBody>
      </p:sp>
      <p:sp>
        <p:nvSpPr>
          <p:cNvPr id="26" name="Rounded Rectangle 25"/>
          <p:cNvSpPr/>
          <p:nvPr/>
        </p:nvSpPr>
        <p:spPr>
          <a:xfrm>
            <a:off x="9564624" y="1847088"/>
            <a:ext cx="1417320" cy="18288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FFFFFF"/>
                </a:solidFill>
                <a:latin typeface="Sora"/>
              </a:rPr>
              <a:t>ANSWERED WRONGLY</a:t>
            </a:r>
          </a:p>
        </p:txBody>
      </p:sp>
      <p:sp>
        <p:nvSpPr>
          <p:cNvPr id="27" name="TextBox 26"/>
          <p:cNvSpPr txBox="1"/>
          <p:nvPr/>
        </p:nvSpPr>
        <p:spPr>
          <a:xfrm>
            <a:off x="9564624" y="2084831"/>
            <a:ext cx="1481328" cy="365760"/>
          </a:xfrm>
          <a:prstGeom prst="rect">
            <a:avLst/>
          </a:prstGeom>
          <a:noFill/>
        </p:spPr>
        <p:txBody>
          <a:bodyPr wrap="square" lIns="0" rIns="0" tIns="0" bIns="0" anchor="t">
            <a:spAutoFit/>
          </a:bodyPr>
          <a:lstStyle/>
          <a:p>
            <a:pPr algn="l"/>
            <a:r>
              <a:rPr sz="720" b="0" i="0">
                <a:solidFill>
                  <a:srgbClr val="5A6472"/>
                </a:solidFill>
                <a:latin typeface="Sora"/>
              </a:rPr>
              <a:t>Brochure is an anonymous PDF</a:t>
            </a:r>
          </a:p>
        </p:txBody>
      </p:sp>
      <p:sp>
        <p:nvSpPr>
          <p:cNvPr id="28" name="Rounded Rectangle 27"/>
          <p:cNvSpPr/>
          <p:nvPr/>
        </p:nvSpPr>
        <p:spPr>
          <a:xfrm>
            <a:off x="11155680" y="1938528"/>
            <a:ext cx="347472" cy="347472"/>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155680" y="1938528"/>
            <a:ext cx="347472" cy="347472"/>
          </a:xfrm>
          <a:prstGeom prst="rect">
            <a:avLst/>
          </a:prstGeom>
          <a:noFill/>
        </p:spPr>
        <p:txBody>
          <a:bodyPr wrap="square" lIns="0" rIns="0" tIns="0" bIns="0" anchor="ctr">
            <a:spAutoFit/>
          </a:bodyPr>
          <a:lstStyle/>
          <a:p>
            <a:pPr algn="ctr"/>
            <a:r>
              <a:rPr sz="1100" b="1" i="0">
                <a:solidFill>
                  <a:srgbClr val="FFFFFF"/>
                </a:solidFill>
                <a:latin typeface="Sora"/>
              </a:rPr>
              <a:t>1</a:t>
            </a:r>
          </a:p>
        </p:txBody>
      </p:sp>
      <p:sp>
        <p:nvSpPr>
          <p:cNvPr id="30" name="Rounded Rectangle 29"/>
          <p:cNvSpPr/>
          <p:nvPr/>
        </p:nvSpPr>
        <p:spPr>
          <a:xfrm>
            <a:off x="548640" y="2523744"/>
            <a:ext cx="11064240" cy="713232"/>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2633472"/>
            <a:ext cx="2148840" cy="219456"/>
          </a:xfrm>
          <a:prstGeom prst="rect">
            <a:avLst/>
          </a:prstGeom>
          <a:noFill/>
        </p:spPr>
        <p:txBody>
          <a:bodyPr wrap="square" lIns="0" rIns="0" tIns="0" bIns="0" anchor="t">
            <a:spAutoFit/>
          </a:bodyPr>
          <a:lstStyle/>
          <a:p>
            <a:pPr algn="l"/>
            <a:r>
              <a:rPr sz="1000" b="1" i="0">
                <a:solidFill>
                  <a:srgbClr val="0F2C5C"/>
                </a:solidFill>
                <a:latin typeface="Sora"/>
              </a:rPr>
              <a:t>Cost Checker</a:t>
            </a:r>
          </a:p>
        </p:txBody>
      </p:sp>
      <p:sp>
        <p:nvSpPr>
          <p:cNvPr id="32" name="TextBox 31"/>
          <p:cNvSpPr txBox="1"/>
          <p:nvPr/>
        </p:nvSpPr>
        <p:spPr>
          <a:xfrm>
            <a:off x="658368" y="2889503"/>
            <a:ext cx="2148840" cy="274320"/>
          </a:xfrm>
          <a:prstGeom prst="rect">
            <a:avLst/>
          </a:prstGeom>
          <a:noFill/>
        </p:spPr>
        <p:txBody>
          <a:bodyPr wrap="square" lIns="0" rIns="0" tIns="0" bIns="0" anchor="t">
            <a:spAutoFit/>
          </a:bodyPr>
          <a:lstStyle/>
          <a:p>
            <a:pPr algn="l"/>
            <a:r>
              <a:rPr sz="850" b="0" i="1">
                <a:solidFill>
                  <a:srgbClr val="5A6472"/>
                </a:solidFill>
                <a:latin typeface="Sora"/>
              </a:rPr>
              <a:t>“What does it cost — can I get in?”</a:t>
            </a:r>
          </a:p>
        </p:txBody>
      </p:sp>
      <p:sp>
        <p:nvSpPr>
          <p:cNvPr id="33" name="TextBox 32"/>
          <p:cNvSpPr txBox="1"/>
          <p:nvPr/>
        </p:nvSpPr>
        <p:spPr>
          <a:xfrm>
            <a:off x="2916936" y="2633472"/>
            <a:ext cx="731520" cy="219456"/>
          </a:xfrm>
          <a:prstGeom prst="rect">
            <a:avLst/>
          </a:prstGeom>
          <a:noFill/>
        </p:spPr>
        <p:txBody>
          <a:bodyPr wrap="square" lIns="0" rIns="0" tIns="0" bIns="0" anchor="t">
            <a:spAutoFit/>
          </a:bodyPr>
          <a:lstStyle/>
          <a:p>
            <a:pPr algn="l"/>
            <a:r>
              <a:rPr sz="1000" b="1" i="0">
                <a:solidFill>
                  <a:srgbClr val="0F2C5C"/>
                </a:solidFill>
                <a:latin typeface="Sora"/>
              </a:rPr>
              <a:t>23,219</a:t>
            </a:r>
          </a:p>
        </p:txBody>
      </p:sp>
      <p:sp>
        <p:nvSpPr>
          <p:cNvPr id="34" name="TextBox 33"/>
          <p:cNvSpPr txBox="1"/>
          <p:nvPr/>
        </p:nvSpPr>
        <p:spPr>
          <a:xfrm>
            <a:off x="3694176" y="2633472"/>
            <a:ext cx="960120" cy="457200"/>
          </a:xfrm>
          <a:prstGeom prst="rect">
            <a:avLst/>
          </a:prstGeom>
          <a:noFill/>
        </p:spPr>
        <p:txBody>
          <a:bodyPr wrap="square" lIns="0" rIns="0" tIns="0" bIns="0" anchor="t">
            <a:spAutoFit/>
          </a:bodyPr>
          <a:lstStyle/>
          <a:p>
            <a:pPr algn="l"/>
            <a:r>
              <a:rPr sz="850" b="0" i="0">
                <a:solidFill>
                  <a:srgbClr val="0F2C5C"/>
                </a:solidFill>
                <a:latin typeface="Sora"/>
              </a:rPr>
              <a:t>Fee structure</a:t>
            </a:r>
          </a:p>
        </p:txBody>
      </p:sp>
      <p:sp>
        <p:nvSpPr>
          <p:cNvPr id="35" name="Rounded Rectangle 34"/>
          <p:cNvSpPr/>
          <p:nvPr/>
        </p:nvSpPr>
        <p:spPr>
          <a:xfrm>
            <a:off x="4764024" y="2615184"/>
            <a:ext cx="1417320" cy="182880"/>
          </a:xfrm>
          <a:prstGeom prst="roundRect">
            <a:avLst>
              <a:gd name="adj" fmla="val 5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B26B00"/>
                </a:solidFill>
                <a:latin typeface="Sora"/>
              </a:rPr>
              <a:t>NEEDS A CLICK</a:t>
            </a:r>
          </a:p>
        </p:txBody>
      </p:sp>
      <p:sp>
        <p:nvSpPr>
          <p:cNvPr id="36" name="TextBox 35"/>
          <p:cNvSpPr txBox="1"/>
          <p:nvPr/>
        </p:nvSpPr>
        <p:spPr>
          <a:xfrm>
            <a:off x="4764024" y="2852927"/>
            <a:ext cx="1481328" cy="365760"/>
          </a:xfrm>
          <a:prstGeom prst="rect">
            <a:avLst/>
          </a:prstGeom>
          <a:noFill/>
        </p:spPr>
        <p:txBody>
          <a:bodyPr wrap="square" lIns="0" rIns="0" tIns="0" bIns="0" anchor="t">
            <a:spAutoFit/>
          </a:bodyPr>
          <a:lstStyle/>
          <a:p>
            <a:pPr algn="l"/>
            <a:r>
              <a:rPr sz="720" b="0" i="0">
                <a:solidFill>
                  <a:srgbClr val="5A6472"/>
                </a:solidFill>
                <a:latin typeface="Sora"/>
              </a:rPr>
              <a:t>Search box; 15-column table</a:t>
            </a:r>
          </a:p>
        </p:txBody>
      </p:sp>
      <p:sp>
        <p:nvSpPr>
          <p:cNvPr id="37" name="Rounded Rectangle 36"/>
          <p:cNvSpPr/>
          <p:nvPr/>
        </p:nvSpPr>
        <p:spPr>
          <a:xfrm>
            <a:off x="6364224" y="2615184"/>
            <a:ext cx="1417320" cy="18288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FFFFFF"/>
                </a:solidFill>
                <a:latin typeface="Sora"/>
              </a:rPr>
              <a:t>ANSWERED WRONGLY</a:t>
            </a:r>
          </a:p>
        </p:txBody>
      </p:sp>
      <p:sp>
        <p:nvSpPr>
          <p:cNvPr id="38" name="TextBox 37"/>
          <p:cNvSpPr txBox="1"/>
          <p:nvPr/>
        </p:nvSpPr>
        <p:spPr>
          <a:xfrm>
            <a:off x="6364224" y="2852927"/>
            <a:ext cx="1481328" cy="365760"/>
          </a:xfrm>
          <a:prstGeom prst="rect">
            <a:avLst/>
          </a:prstGeom>
          <a:noFill/>
        </p:spPr>
        <p:txBody>
          <a:bodyPr wrap="square" lIns="0" rIns="0" tIns="0" bIns="0" anchor="t">
            <a:spAutoFit/>
          </a:bodyPr>
          <a:lstStyle/>
          <a:p>
            <a:pPr algn="l"/>
            <a:r>
              <a:rPr sz="720" b="0" i="0">
                <a:solidFill>
                  <a:srgbClr val="5A6472"/>
                </a:solidFill>
                <a:latin typeface="Sora"/>
              </a:rPr>
              <a:t>Search misreturns; total in column 15</a:t>
            </a:r>
          </a:p>
        </p:txBody>
      </p:sp>
      <p:sp>
        <p:nvSpPr>
          <p:cNvPr id="39" name="Rounded Rectangle 38"/>
          <p:cNvSpPr/>
          <p:nvPr/>
        </p:nvSpPr>
        <p:spPr>
          <a:xfrm>
            <a:off x="7964424" y="2615184"/>
            <a:ext cx="1417320" cy="182880"/>
          </a:xfrm>
          <a:prstGeom prst="roundRect">
            <a:avLst>
              <a:gd name="adj" fmla="val 50000"/>
            </a:avLst>
          </a:prstGeom>
          <a:solidFill>
            <a:srgbClr val="FBE7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C8102E"/>
                </a:solidFill>
                <a:latin typeface="Sora"/>
              </a:rPr>
              <a:t>NOT ANSWERED</a:t>
            </a:r>
          </a:p>
        </p:txBody>
      </p:sp>
      <p:sp>
        <p:nvSpPr>
          <p:cNvPr id="40" name="TextBox 39"/>
          <p:cNvSpPr txBox="1"/>
          <p:nvPr/>
        </p:nvSpPr>
        <p:spPr>
          <a:xfrm>
            <a:off x="7964424" y="2852927"/>
            <a:ext cx="1481328" cy="365760"/>
          </a:xfrm>
          <a:prstGeom prst="rect">
            <a:avLst/>
          </a:prstGeom>
          <a:noFill/>
        </p:spPr>
        <p:txBody>
          <a:bodyPr wrap="square" lIns="0" rIns="0" tIns="0" bIns="0" anchor="t">
            <a:spAutoFit/>
          </a:bodyPr>
          <a:lstStyle/>
          <a:p>
            <a:pPr algn="l"/>
            <a:r>
              <a:rPr sz="720" b="0" i="0">
                <a:solidFill>
                  <a:srgbClr val="5A6472"/>
                </a:solidFill>
                <a:latin typeface="Sora"/>
              </a:rPr>
              <a:t>Calculator → homepage; eligibility 7–201</a:t>
            </a:r>
          </a:p>
        </p:txBody>
      </p:sp>
      <p:sp>
        <p:nvSpPr>
          <p:cNvPr id="41" name="Rounded Rectangle 40"/>
          <p:cNvSpPr/>
          <p:nvPr/>
        </p:nvSpPr>
        <p:spPr>
          <a:xfrm>
            <a:off x="9564624" y="2615184"/>
            <a:ext cx="1417320" cy="182880"/>
          </a:xfrm>
          <a:prstGeom prst="roundRect">
            <a:avLst>
              <a:gd name="adj" fmla="val 50000"/>
            </a:avLst>
          </a:prstGeom>
          <a:solidFill>
            <a:srgbClr val="FBE7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C8102E"/>
                </a:solidFill>
                <a:latin typeface="Sora"/>
              </a:rPr>
              <a:t>NOT ANSWERED</a:t>
            </a:r>
          </a:p>
        </p:txBody>
      </p:sp>
      <p:sp>
        <p:nvSpPr>
          <p:cNvPr id="42" name="TextBox 41"/>
          <p:cNvSpPr txBox="1"/>
          <p:nvPr/>
        </p:nvSpPr>
        <p:spPr>
          <a:xfrm>
            <a:off x="9564624" y="2852927"/>
            <a:ext cx="1481328" cy="365760"/>
          </a:xfrm>
          <a:prstGeom prst="rect">
            <a:avLst/>
          </a:prstGeom>
          <a:noFill/>
        </p:spPr>
        <p:txBody>
          <a:bodyPr wrap="square" lIns="0" rIns="0" tIns="0" bIns="0" anchor="t">
            <a:spAutoFit/>
          </a:bodyPr>
          <a:lstStyle/>
          <a:p>
            <a:pPr algn="l"/>
            <a:r>
              <a:rPr sz="720" b="0" i="0">
                <a:solidFill>
                  <a:srgbClr val="5A6472"/>
                </a:solidFill>
                <a:latin typeface="Sora"/>
              </a:rPr>
              <a:t>Footer number only; 82 calls vs 31 submits</a:t>
            </a:r>
          </a:p>
        </p:txBody>
      </p:sp>
      <p:sp>
        <p:nvSpPr>
          <p:cNvPr id="43" name="Rounded Rectangle 42"/>
          <p:cNvSpPr/>
          <p:nvPr/>
        </p:nvSpPr>
        <p:spPr>
          <a:xfrm>
            <a:off x="11155680" y="2706624"/>
            <a:ext cx="347472" cy="347472"/>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155680" y="2706624"/>
            <a:ext cx="347472" cy="347472"/>
          </a:xfrm>
          <a:prstGeom prst="rect">
            <a:avLst/>
          </a:prstGeom>
          <a:noFill/>
        </p:spPr>
        <p:txBody>
          <a:bodyPr wrap="square" lIns="0" rIns="0" tIns="0" bIns="0" anchor="ctr">
            <a:spAutoFit/>
          </a:bodyPr>
          <a:lstStyle/>
          <a:p>
            <a:pPr algn="ctr"/>
            <a:r>
              <a:rPr sz="1100" b="1" i="0">
                <a:solidFill>
                  <a:srgbClr val="FFFFFF"/>
                </a:solidFill>
                <a:latin typeface="Sora"/>
              </a:rPr>
              <a:t>2</a:t>
            </a:r>
          </a:p>
        </p:txBody>
      </p:sp>
      <p:sp>
        <p:nvSpPr>
          <p:cNvPr id="45" name="Rounded Rectangle 44"/>
          <p:cNvSpPr/>
          <p:nvPr/>
        </p:nvSpPr>
        <p:spPr>
          <a:xfrm>
            <a:off x="548640" y="3291839"/>
            <a:ext cx="1106424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 y="3401568"/>
            <a:ext cx="2148840" cy="219456"/>
          </a:xfrm>
          <a:prstGeom prst="rect">
            <a:avLst/>
          </a:prstGeom>
          <a:noFill/>
        </p:spPr>
        <p:txBody>
          <a:bodyPr wrap="square" lIns="0" rIns="0" tIns="0" bIns="0" anchor="t">
            <a:spAutoFit/>
          </a:bodyPr>
          <a:lstStyle/>
          <a:p>
            <a:pPr algn="l"/>
            <a:r>
              <a:rPr sz="1000" b="1" i="0">
                <a:solidFill>
                  <a:srgbClr val="0F2C5C"/>
                </a:solidFill>
                <a:latin typeface="Sora"/>
              </a:rPr>
              <a:t>Proof Seeker</a:t>
            </a:r>
          </a:p>
        </p:txBody>
      </p:sp>
      <p:sp>
        <p:nvSpPr>
          <p:cNvPr id="47" name="TextBox 46"/>
          <p:cNvSpPr txBox="1"/>
          <p:nvPr/>
        </p:nvSpPr>
        <p:spPr>
          <a:xfrm>
            <a:off x="658368" y="3657599"/>
            <a:ext cx="2148840" cy="274320"/>
          </a:xfrm>
          <a:prstGeom prst="rect">
            <a:avLst/>
          </a:prstGeom>
          <a:noFill/>
        </p:spPr>
        <p:txBody>
          <a:bodyPr wrap="square" lIns="0" rIns="0" tIns="0" bIns="0" anchor="t">
            <a:spAutoFit/>
          </a:bodyPr>
          <a:lstStyle/>
          <a:p>
            <a:pPr algn="l"/>
            <a:r>
              <a:rPr sz="850" b="0" i="1">
                <a:solidFill>
                  <a:srgbClr val="5A6472"/>
                </a:solidFill>
                <a:latin typeface="Sora"/>
              </a:rPr>
              <a:t>“Should I believe them?”</a:t>
            </a:r>
          </a:p>
        </p:txBody>
      </p:sp>
      <p:sp>
        <p:nvSpPr>
          <p:cNvPr id="48" name="TextBox 47"/>
          <p:cNvSpPr txBox="1"/>
          <p:nvPr/>
        </p:nvSpPr>
        <p:spPr>
          <a:xfrm>
            <a:off x="2916936" y="3401568"/>
            <a:ext cx="731520" cy="219456"/>
          </a:xfrm>
          <a:prstGeom prst="rect">
            <a:avLst/>
          </a:prstGeom>
          <a:noFill/>
        </p:spPr>
        <p:txBody>
          <a:bodyPr wrap="square" lIns="0" rIns="0" tIns="0" bIns="0" anchor="t">
            <a:spAutoFit/>
          </a:bodyPr>
          <a:lstStyle/>
          <a:p>
            <a:pPr algn="l"/>
            <a:r>
              <a:rPr sz="1000" b="1" i="0">
                <a:solidFill>
                  <a:srgbClr val="0F2C5C"/>
                </a:solidFill>
                <a:latin typeface="Sora"/>
              </a:rPr>
              <a:t>27,579</a:t>
            </a:r>
          </a:p>
        </p:txBody>
      </p:sp>
      <p:sp>
        <p:nvSpPr>
          <p:cNvPr id="49" name="TextBox 48"/>
          <p:cNvSpPr txBox="1"/>
          <p:nvPr/>
        </p:nvSpPr>
        <p:spPr>
          <a:xfrm>
            <a:off x="3694176" y="3401568"/>
            <a:ext cx="960120" cy="457200"/>
          </a:xfrm>
          <a:prstGeom prst="rect">
            <a:avLst/>
          </a:prstGeom>
          <a:noFill/>
        </p:spPr>
        <p:txBody>
          <a:bodyPr wrap="square" lIns="0" rIns="0" tIns="0" bIns="0" anchor="t">
            <a:spAutoFit/>
          </a:bodyPr>
          <a:lstStyle/>
          <a:p>
            <a:pPr algn="l"/>
            <a:r>
              <a:rPr sz="850" b="0" i="0">
                <a:solidFill>
                  <a:srgbClr val="0F2C5C"/>
                </a:solidFill>
                <a:latin typeface="Sora"/>
              </a:rPr>
              <a:t>Awards</a:t>
            </a:r>
          </a:p>
        </p:txBody>
      </p:sp>
      <p:sp>
        <p:nvSpPr>
          <p:cNvPr id="50" name="Rounded Rectangle 49"/>
          <p:cNvSpPr/>
          <p:nvPr/>
        </p:nvSpPr>
        <p:spPr>
          <a:xfrm>
            <a:off x="4764024" y="3383279"/>
            <a:ext cx="1417320" cy="182880"/>
          </a:xfrm>
          <a:prstGeom prst="roundRect">
            <a:avLst>
              <a:gd name="adj" fmla="val 50000"/>
            </a:avLst>
          </a:prstGeom>
          <a:solidFill>
            <a:srgbClr val="E5F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1E7B34"/>
                </a:solidFill>
                <a:latin typeface="Sora"/>
              </a:rPr>
              <a:t>IN THE FOLD</a:t>
            </a:r>
          </a:p>
        </p:txBody>
      </p:sp>
      <p:sp>
        <p:nvSpPr>
          <p:cNvPr id="51" name="TextBox 50"/>
          <p:cNvSpPr txBox="1"/>
          <p:nvPr/>
        </p:nvSpPr>
        <p:spPr>
          <a:xfrm>
            <a:off x="4764024" y="3621023"/>
            <a:ext cx="1481328" cy="365760"/>
          </a:xfrm>
          <a:prstGeom prst="rect">
            <a:avLst/>
          </a:prstGeom>
          <a:noFill/>
        </p:spPr>
        <p:txBody>
          <a:bodyPr wrap="square" lIns="0" rIns="0" tIns="0" bIns="0" anchor="t">
            <a:spAutoFit/>
          </a:bodyPr>
          <a:lstStyle/>
          <a:p>
            <a:pPr algn="l"/>
            <a:r>
              <a:rPr sz="720" b="0" i="0">
                <a:solidFill>
                  <a:srgbClr val="5A6472"/>
                </a:solidFill>
                <a:latin typeface="Sora"/>
              </a:rPr>
              <a:t>Real rankings and awards</a:t>
            </a:r>
          </a:p>
        </p:txBody>
      </p:sp>
      <p:sp>
        <p:nvSpPr>
          <p:cNvPr id="52" name="Rounded Rectangle 51"/>
          <p:cNvSpPr/>
          <p:nvPr/>
        </p:nvSpPr>
        <p:spPr>
          <a:xfrm>
            <a:off x="6364224" y="3383279"/>
            <a:ext cx="1417320" cy="182880"/>
          </a:xfrm>
          <a:prstGeom prst="roundRect">
            <a:avLst>
              <a:gd name="adj" fmla="val 50000"/>
            </a:avLst>
          </a:prstGeom>
          <a:solidFill>
            <a:srgbClr val="FBE7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C8102E"/>
                </a:solidFill>
                <a:latin typeface="Sora"/>
              </a:rPr>
              <a:t>NOT ANSWERED</a:t>
            </a:r>
          </a:p>
        </p:txBody>
      </p:sp>
      <p:sp>
        <p:nvSpPr>
          <p:cNvPr id="53" name="TextBox 52"/>
          <p:cNvSpPr txBox="1"/>
          <p:nvPr/>
        </p:nvSpPr>
        <p:spPr>
          <a:xfrm>
            <a:off x="6364224" y="3621023"/>
            <a:ext cx="1481328" cy="365760"/>
          </a:xfrm>
          <a:prstGeom prst="rect">
            <a:avLst/>
          </a:prstGeom>
          <a:noFill/>
        </p:spPr>
        <p:txBody>
          <a:bodyPr wrap="square" lIns="0" rIns="0" tIns="0" bIns="0" anchor="t">
            <a:spAutoFit/>
          </a:bodyPr>
          <a:lstStyle/>
          <a:p>
            <a:pPr algn="l"/>
            <a:r>
              <a:rPr sz="720" b="0" i="0">
                <a:solidFill>
                  <a:srgbClr val="5A6472"/>
                </a:solidFill>
                <a:latin typeface="Sora"/>
              </a:rPr>
              <a:t>NBA for CSE absent from the CSE page</a:t>
            </a:r>
          </a:p>
        </p:txBody>
      </p:sp>
      <p:sp>
        <p:nvSpPr>
          <p:cNvPr id="54" name="Rounded Rectangle 53"/>
          <p:cNvSpPr/>
          <p:nvPr/>
        </p:nvSpPr>
        <p:spPr>
          <a:xfrm>
            <a:off x="7964424" y="3383279"/>
            <a:ext cx="1417320" cy="182880"/>
          </a:xfrm>
          <a:prstGeom prst="roundRect">
            <a:avLst>
              <a:gd name="adj" fmla="val 50000"/>
            </a:avLst>
          </a:prstGeom>
          <a:solidFill>
            <a:srgbClr val="FBE7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C8102E"/>
                </a:solidFill>
                <a:latin typeface="Sora"/>
              </a:rPr>
              <a:t>NOT ANSWERED</a:t>
            </a:r>
          </a:p>
        </p:txBody>
      </p:sp>
      <p:sp>
        <p:nvSpPr>
          <p:cNvPr id="55" name="TextBox 54"/>
          <p:cNvSpPr txBox="1"/>
          <p:nvPr/>
        </p:nvSpPr>
        <p:spPr>
          <a:xfrm>
            <a:off x="7964424" y="3621023"/>
            <a:ext cx="1481328" cy="365760"/>
          </a:xfrm>
          <a:prstGeom prst="rect">
            <a:avLst/>
          </a:prstGeom>
          <a:noFill/>
        </p:spPr>
        <p:txBody>
          <a:bodyPr wrap="square" lIns="0" rIns="0" tIns="0" bIns="0" anchor="t">
            <a:spAutoFit/>
          </a:bodyPr>
          <a:lstStyle/>
          <a:p>
            <a:pPr algn="l"/>
            <a:r>
              <a:rPr sz="720" b="0" i="0">
                <a:solidFill>
                  <a:srgbClr val="5A6472"/>
                </a:solidFill>
                <a:latin typeface="Sora"/>
              </a:rPr>
              <a:t>~11% move on; 9 reach fees</a:t>
            </a:r>
          </a:p>
        </p:txBody>
      </p:sp>
      <p:sp>
        <p:nvSpPr>
          <p:cNvPr id="56" name="Rounded Rectangle 55"/>
          <p:cNvSpPr/>
          <p:nvPr/>
        </p:nvSpPr>
        <p:spPr>
          <a:xfrm>
            <a:off x="9564624" y="3383279"/>
            <a:ext cx="1417320" cy="18288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FFFFFF"/>
                </a:solidFill>
                <a:latin typeface="Sora"/>
              </a:rPr>
              <a:t>ANSWERED WRONGLY</a:t>
            </a:r>
          </a:p>
        </p:txBody>
      </p:sp>
      <p:sp>
        <p:nvSpPr>
          <p:cNvPr id="57" name="TextBox 56"/>
          <p:cNvSpPr txBox="1"/>
          <p:nvPr/>
        </p:nvSpPr>
        <p:spPr>
          <a:xfrm>
            <a:off x="9564624" y="3621023"/>
            <a:ext cx="1481328" cy="365760"/>
          </a:xfrm>
          <a:prstGeom prst="rect">
            <a:avLst/>
          </a:prstGeom>
          <a:noFill/>
        </p:spPr>
        <p:txBody>
          <a:bodyPr wrap="square" lIns="0" rIns="0" tIns="0" bIns="0" anchor="t">
            <a:spAutoFit/>
          </a:bodyPr>
          <a:lstStyle/>
          <a:p>
            <a:pPr algn="l"/>
            <a:r>
              <a:rPr sz="720" b="0" i="0">
                <a:solidFill>
                  <a:srgbClr val="5A6472"/>
                </a:solidFill>
                <a:latin typeface="Sora"/>
              </a:rPr>
              <a:t>Generic Apply / Enquire</a:t>
            </a:r>
          </a:p>
        </p:txBody>
      </p:sp>
      <p:sp>
        <p:nvSpPr>
          <p:cNvPr id="58" name="Rounded Rectangle 57"/>
          <p:cNvSpPr/>
          <p:nvPr/>
        </p:nvSpPr>
        <p:spPr>
          <a:xfrm>
            <a:off x="11155680" y="3474720"/>
            <a:ext cx="347472" cy="347472"/>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155680" y="3474720"/>
            <a:ext cx="347472" cy="347472"/>
          </a:xfrm>
          <a:prstGeom prst="rect">
            <a:avLst/>
          </a:prstGeom>
          <a:noFill/>
        </p:spPr>
        <p:txBody>
          <a:bodyPr wrap="square" lIns="0" rIns="0" tIns="0" bIns="0" anchor="ctr">
            <a:spAutoFit/>
          </a:bodyPr>
          <a:lstStyle/>
          <a:p>
            <a:pPr algn="ctr"/>
            <a:r>
              <a:rPr sz="1100" b="1" i="0">
                <a:solidFill>
                  <a:srgbClr val="FFFFFF"/>
                </a:solidFill>
                <a:latin typeface="Sora"/>
              </a:rPr>
              <a:t>3</a:t>
            </a:r>
          </a:p>
        </p:txBody>
      </p:sp>
      <p:sp>
        <p:nvSpPr>
          <p:cNvPr id="60" name="Rounded Rectangle 59"/>
          <p:cNvSpPr/>
          <p:nvPr/>
        </p:nvSpPr>
        <p:spPr>
          <a:xfrm>
            <a:off x="548640" y="4059935"/>
            <a:ext cx="11064240" cy="713232"/>
          </a:xfrm>
          <a:prstGeom prst="roundRect">
            <a:avLst>
              <a:gd name="adj" fmla="val 6000"/>
            </a:avLst>
          </a:prstGeom>
          <a:solidFill>
            <a:srgbClr val="FFFFFF"/>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8368" y="4169663"/>
            <a:ext cx="2148840" cy="219456"/>
          </a:xfrm>
          <a:prstGeom prst="rect">
            <a:avLst/>
          </a:prstGeom>
          <a:noFill/>
        </p:spPr>
        <p:txBody>
          <a:bodyPr wrap="square" lIns="0" rIns="0" tIns="0" bIns="0" anchor="t">
            <a:spAutoFit/>
          </a:bodyPr>
          <a:lstStyle/>
          <a:p>
            <a:pPr algn="l"/>
            <a:r>
              <a:rPr sz="1000" b="1" i="0">
                <a:solidFill>
                  <a:srgbClr val="0F2C5C"/>
                </a:solidFill>
                <a:latin typeface="Sora"/>
              </a:rPr>
              <a:t>Early Explorer</a:t>
            </a:r>
          </a:p>
        </p:txBody>
      </p:sp>
      <p:sp>
        <p:nvSpPr>
          <p:cNvPr id="62" name="TextBox 61"/>
          <p:cNvSpPr txBox="1"/>
          <p:nvPr/>
        </p:nvSpPr>
        <p:spPr>
          <a:xfrm>
            <a:off x="658368" y="4425696"/>
            <a:ext cx="2148840" cy="274320"/>
          </a:xfrm>
          <a:prstGeom prst="rect">
            <a:avLst/>
          </a:prstGeom>
          <a:noFill/>
        </p:spPr>
        <p:txBody>
          <a:bodyPr wrap="square" lIns="0" rIns="0" tIns="0" bIns="0" anchor="t">
            <a:spAutoFit/>
          </a:bodyPr>
          <a:lstStyle/>
          <a:p>
            <a:pPr algn="l"/>
            <a:r>
              <a:rPr sz="850" b="0" i="1">
                <a:solidFill>
                  <a:srgbClr val="5A6472"/>
                </a:solidFill>
                <a:latin typeface="Sora"/>
              </a:rPr>
              <a:t>“What should I study?”</a:t>
            </a:r>
          </a:p>
        </p:txBody>
      </p:sp>
      <p:sp>
        <p:nvSpPr>
          <p:cNvPr id="63" name="TextBox 62"/>
          <p:cNvSpPr txBox="1"/>
          <p:nvPr/>
        </p:nvSpPr>
        <p:spPr>
          <a:xfrm>
            <a:off x="2916936" y="4169663"/>
            <a:ext cx="731520" cy="219456"/>
          </a:xfrm>
          <a:prstGeom prst="rect">
            <a:avLst/>
          </a:prstGeom>
          <a:noFill/>
        </p:spPr>
        <p:txBody>
          <a:bodyPr wrap="square" lIns="0" rIns="0" tIns="0" bIns="0" anchor="t">
            <a:spAutoFit/>
          </a:bodyPr>
          <a:lstStyle/>
          <a:p>
            <a:pPr algn="l"/>
            <a:r>
              <a:rPr sz="1000" b="1" i="0">
                <a:solidFill>
                  <a:srgbClr val="0F2C5C"/>
                </a:solidFill>
                <a:latin typeface="Sora"/>
              </a:rPr>
              <a:t>22,813</a:t>
            </a:r>
          </a:p>
        </p:txBody>
      </p:sp>
      <p:sp>
        <p:nvSpPr>
          <p:cNvPr id="64" name="TextBox 63"/>
          <p:cNvSpPr txBox="1"/>
          <p:nvPr/>
        </p:nvSpPr>
        <p:spPr>
          <a:xfrm>
            <a:off x="3694176" y="4169663"/>
            <a:ext cx="960120" cy="457200"/>
          </a:xfrm>
          <a:prstGeom prst="rect">
            <a:avLst/>
          </a:prstGeom>
          <a:noFill/>
        </p:spPr>
        <p:txBody>
          <a:bodyPr wrap="square" lIns="0" rIns="0" tIns="0" bIns="0" anchor="t">
            <a:spAutoFit/>
          </a:bodyPr>
          <a:lstStyle/>
          <a:p>
            <a:pPr algn="l"/>
            <a:r>
              <a:rPr sz="850" b="0" i="0">
                <a:solidFill>
                  <a:srgbClr val="0F2C5C"/>
                </a:solidFill>
                <a:latin typeface="Sora"/>
              </a:rPr>
              <a:t>Blog article</a:t>
            </a:r>
          </a:p>
        </p:txBody>
      </p:sp>
      <p:sp>
        <p:nvSpPr>
          <p:cNvPr id="65" name="Rounded Rectangle 64"/>
          <p:cNvSpPr/>
          <p:nvPr/>
        </p:nvSpPr>
        <p:spPr>
          <a:xfrm>
            <a:off x="4764024" y="4151375"/>
            <a:ext cx="1417320" cy="182880"/>
          </a:xfrm>
          <a:prstGeom prst="roundRect">
            <a:avLst>
              <a:gd name="adj" fmla="val 50000"/>
            </a:avLst>
          </a:prstGeom>
          <a:solidFill>
            <a:srgbClr val="E5F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1E7B34"/>
                </a:solidFill>
                <a:latin typeface="Sora"/>
              </a:rPr>
              <a:t>IN THE FOLD</a:t>
            </a:r>
          </a:p>
        </p:txBody>
      </p:sp>
      <p:sp>
        <p:nvSpPr>
          <p:cNvPr id="66" name="TextBox 65"/>
          <p:cNvSpPr txBox="1"/>
          <p:nvPr/>
        </p:nvSpPr>
        <p:spPr>
          <a:xfrm>
            <a:off x="4764024" y="4389120"/>
            <a:ext cx="1481328" cy="365760"/>
          </a:xfrm>
          <a:prstGeom prst="rect">
            <a:avLst/>
          </a:prstGeom>
          <a:noFill/>
        </p:spPr>
        <p:txBody>
          <a:bodyPr wrap="square" lIns="0" rIns="0" tIns="0" bIns="0" anchor="t">
            <a:spAutoFit/>
          </a:bodyPr>
          <a:lstStyle/>
          <a:p>
            <a:pPr algn="l"/>
            <a:r>
              <a:rPr sz="720" b="0" i="0">
                <a:solidFill>
                  <a:srgbClr val="5A6472"/>
                </a:solidFill>
                <a:latin typeface="Sora"/>
              </a:rPr>
              <a:t>Article answers the exam question</a:t>
            </a:r>
          </a:p>
        </p:txBody>
      </p:sp>
      <p:sp>
        <p:nvSpPr>
          <p:cNvPr id="67" name="Rounded Rectangle 66"/>
          <p:cNvSpPr/>
          <p:nvPr/>
        </p:nvSpPr>
        <p:spPr>
          <a:xfrm>
            <a:off x="6364224" y="4151375"/>
            <a:ext cx="1417320" cy="182880"/>
          </a:xfrm>
          <a:prstGeom prst="roundRect">
            <a:avLst>
              <a:gd name="adj" fmla="val 5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B26B00"/>
                </a:solidFill>
                <a:latin typeface="Sora"/>
              </a:rPr>
              <a:t>NEEDS A CLICK</a:t>
            </a:r>
          </a:p>
        </p:txBody>
      </p:sp>
      <p:sp>
        <p:nvSpPr>
          <p:cNvPr id="68" name="TextBox 67"/>
          <p:cNvSpPr txBox="1"/>
          <p:nvPr/>
        </p:nvSpPr>
        <p:spPr>
          <a:xfrm>
            <a:off x="6364224" y="4389120"/>
            <a:ext cx="1481328" cy="365760"/>
          </a:xfrm>
          <a:prstGeom prst="rect">
            <a:avLst/>
          </a:prstGeom>
          <a:noFill/>
        </p:spPr>
        <p:txBody>
          <a:bodyPr wrap="square" lIns="0" rIns="0" tIns="0" bIns="0" anchor="t">
            <a:spAutoFit/>
          </a:bodyPr>
          <a:lstStyle/>
          <a:p>
            <a:pPr algn="l"/>
            <a:r>
              <a:rPr sz="720" b="0" i="0">
                <a:solidFill>
                  <a:srgbClr val="5A6472"/>
                </a:solidFill>
                <a:latin typeface="Sora"/>
              </a:rPr>
              <a:t>0–1 programme links per article</a:t>
            </a:r>
          </a:p>
        </p:txBody>
      </p:sp>
      <p:sp>
        <p:nvSpPr>
          <p:cNvPr id="69" name="Rounded Rectangle 68"/>
          <p:cNvSpPr/>
          <p:nvPr/>
        </p:nvSpPr>
        <p:spPr>
          <a:xfrm>
            <a:off x="7964424" y="4151375"/>
            <a:ext cx="1417320" cy="18288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FFFFFF"/>
                </a:solidFill>
                <a:latin typeface="Sora"/>
              </a:rPr>
              <a:t>ANSWERED WRONGLY</a:t>
            </a:r>
          </a:p>
        </p:txBody>
      </p:sp>
      <p:sp>
        <p:nvSpPr>
          <p:cNvPr id="70" name="TextBox 69"/>
          <p:cNvSpPr txBox="1"/>
          <p:nvPr/>
        </p:nvSpPr>
        <p:spPr>
          <a:xfrm>
            <a:off x="7964424" y="4389120"/>
            <a:ext cx="1481328" cy="365760"/>
          </a:xfrm>
          <a:prstGeom prst="rect">
            <a:avLst/>
          </a:prstGeom>
          <a:noFill/>
        </p:spPr>
        <p:txBody>
          <a:bodyPr wrap="square" lIns="0" rIns="0" tIns="0" bIns="0" anchor="t">
            <a:spAutoFit/>
          </a:bodyPr>
          <a:lstStyle/>
          <a:p>
            <a:pPr algn="l"/>
            <a:r>
              <a:rPr sz="720" b="0" i="0">
                <a:solidFill>
                  <a:srgbClr val="5A6472"/>
                </a:solidFill>
                <a:latin typeface="Sora"/>
              </a:rPr>
              <a:t>“Also Read” → more posts; home</a:t>
            </a:r>
          </a:p>
        </p:txBody>
      </p:sp>
      <p:sp>
        <p:nvSpPr>
          <p:cNvPr id="71" name="Rounded Rectangle 70"/>
          <p:cNvSpPr/>
          <p:nvPr/>
        </p:nvSpPr>
        <p:spPr>
          <a:xfrm>
            <a:off x="9564624" y="4151375"/>
            <a:ext cx="1417320" cy="182880"/>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FFFFFF"/>
                </a:solidFill>
                <a:latin typeface="Sora"/>
              </a:rPr>
              <a:t>ANSWERED WRONGLY</a:t>
            </a:r>
          </a:p>
        </p:txBody>
      </p:sp>
      <p:sp>
        <p:nvSpPr>
          <p:cNvPr id="72" name="TextBox 71"/>
          <p:cNvSpPr txBox="1"/>
          <p:nvPr/>
        </p:nvSpPr>
        <p:spPr>
          <a:xfrm>
            <a:off x="9564624" y="4389120"/>
            <a:ext cx="1481328" cy="365760"/>
          </a:xfrm>
          <a:prstGeom prst="rect">
            <a:avLst/>
          </a:prstGeom>
          <a:noFill/>
        </p:spPr>
        <p:txBody>
          <a:bodyPr wrap="square" lIns="0" rIns="0" tIns="0" bIns="0" anchor="t">
            <a:spAutoFit/>
          </a:bodyPr>
          <a:lstStyle/>
          <a:p>
            <a:pPr algn="l"/>
            <a:r>
              <a:rPr sz="720" b="0" i="0">
                <a:solidFill>
                  <a:srgbClr val="5A6472"/>
                </a:solidFill>
                <a:latin typeface="Sora"/>
              </a:rPr>
              <a:t>Apply Now to an undecided reader</a:t>
            </a:r>
          </a:p>
        </p:txBody>
      </p:sp>
      <p:sp>
        <p:nvSpPr>
          <p:cNvPr id="73" name="Rounded Rectangle 72"/>
          <p:cNvSpPr/>
          <p:nvPr/>
        </p:nvSpPr>
        <p:spPr>
          <a:xfrm>
            <a:off x="11155680" y="4242816"/>
            <a:ext cx="347472" cy="347472"/>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1155680" y="4242816"/>
            <a:ext cx="347472" cy="347472"/>
          </a:xfrm>
          <a:prstGeom prst="rect">
            <a:avLst/>
          </a:prstGeom>
          <a:noFill/>
        </p:spPr>
        <p:txBody>
          <a:bodyPr wrap="square" lIns="0" rIns="0" tIns="0" bIns="0" anchor="ctr">
            <a:spAutoFit/>
          </a:bodyPr>
          <a:lstStyle/>
          <a:p>
            <a:pPr algn="ctr"/>
            <a:r>
              <a:rPr sz="1100" b="1" i="0">
                <a:solidFill>
                  <a:srgbClr val="FFFFFF"/>
                </a:solidFill>
                <a:latin typeface="Sora"/>
              </a:rPr>
              <a:t>4</a:t>
            </a:r>
          </a:p>
        </p:txBody>
      </p:sp>
      <p:sp>
        <p:nvSpPr>
          <p:cNvPr id="75" name="Rounded Rectangle 74"/>
          <p:cNvSpPr/>
          <p:nvPr/>
        </p:nvSpPr>
        <p:spPr>
          <a:xfrm>
            <a:off x="548640" y="4828031"/>
            <a:ext cx="11064240" cy="713232"/>
          </a:xfrm>
          <a:prstGeom prst="roundRect">
            <a:avLst>
              <a:gd name="adj" fmla="val 6000"/>
            </a:avLst>
          </a:prstGeom>
          <a:solidFill>
            <a:srgbClr val="F4F6FA"/>
          </a:solidFill>
          <a:ln w="9525">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58368" y="4937759"/>
            <a:ext cx="2148840" cy="219456"/>
          </a:xfrm>
          <a:prstGeom prst="rect">
            <a:avLst/>
          </a:prstGeom>
          <a:noFill/>
        </p:spPr>
        <p:txBody>
          <a:bodyPr wrap="square" lIns="0" rIns="0" tIns="0" bIns="0" anchor="t">
            <a:spAutoFit/>
          </a:bodyPr>
          <a:lstStyle/>
          <a:p>
            <a:pPr algn="l"/>
            <a:r>
              <a:rPr sz="1000" b="1" i="0">
                <a:solidFill>
                  <a:srgbClr val="0F2C5C"/>
                </a:solidFill>
                <a:latin typeface="Sora"/>
              </a:rPr>
              <a:t>University Shortlister</a:t>
            </a:r>
          </a:p>
        </p:txBody>
      </p:sp>
      <p:sp>
        <p:nvSpPr>
          <p:cNvPr id="77" name="TextBox 76"/>
          <p:cNvSpPr txBox="1"/>
          <p:nvPr/>
        </p:nvSpPr>
        <p:spPr>
          <a:xfrm>
            <a:off x="658368" y="5193792"/>
            <a:ext cx="2148840" cy="274320"/>
          </a:xfrm>
          <a:prstGeom prst="rect">
            <a:avLst/>
          </a:prstGeom>
          <a:noFill/>
        </p:spPr>
        <p:txBody>
          <a:bodyPr wrap="square" lIns="0" rIns="0" tIns="0" bIns="0" anchor="t">
            <a:spAutoFit/>
          </a:bodyPr>
          <a:lstStyle/>
          <a:p>
            <a:pPr algn="l"/>
            <a:r>
              <a:rPr sz="850" b="0" i="1">
                <a:solidFill>
                  <a:srgbClr val="5A6472"/>
                </a:solidFill>
                <a:latin typeface="Sora"/>
              </a:rPr>
              <a:t>“Is this university right?”</a:t>
            </a:r>
          </a:p>
        </p:txBody>
      </p:sp>
      <p:sp>
        <p:nvSpPr>
          <p:cNvPr id="78" name="TextBox 77"/>
          <p:cNvSpPr txBox="1"/>
          <p:nvPr/>
        </p:nvSpPr>
        <p:spPr>
          <a:xfrm>
            <a:off x="2916936" y="4937759"/>
            <a:ext cx="731520" cy="219456"/>
          </a:xfrm>
          <a:prstGeom prst="rect">
            <a:avLst/>
          </a:prstGeom>
          <a:noFill/>
        </p:spPr>
        <p:txBody>
          <a:bodyPr wrap="square" lIns="0" rIns="0" tIns="0" bIns="0" anchor="t">
            <a:spAutoFit/>
          </a:bodyPr>
          <a:lstStyle/>
          <a:p>
            <a:pPr algn="l"/>
            <a:r>
              <a:rPr sz="1000" b="1" i="0">
                <a:solidFill>
                  <a:srgbClr val="0F2C5C"/>
                </a:solidFill>
                <a:latin typeface="Sora"/>
              </a:rPr>
              <a:t>18,752</a:t>
            </a:r>
          </a:p>
        </p:txBody>
      </p:sp>
      <p:sp>
        <p:nvSpPr>
          <p:cNvPr id="79" name="TextBox 78"/>
          <p:cNvSpPr txBox="1"/>
          <p:nvPr/>
        </p:nvSpPr>
        <p:spPr>
          <a:xfrm>
            <a:off x="3694176" y="4937759"/>
            <a:ext cx="960120" cy="457200"/>
          </a:xfrm>
          <a:prstGeom prst="rect">
            <a:avLst/>
          </a:prstGeom>
          <a:noFill/>
        </p:spPr>
        <p:txBody>
          <a:bodyPr wrap="square" lIns="0" rIns="0" tIns="0" bIns="0" anchor="t">
            <a:spAutoFit/>
          </a:bodyPr>
          <a:lstStyle/>
          <a:p>
            <a:pPr algn="l"/>
            <a:r>
              <a:rPr sz="850" b="0" i="0">
                <a:solidFill>
                  <a:srgbClr val="0F2C5C"/>
                </a:solidFill>
                <a:latin typeface="Sora"/>
              </a:rPr>
              <a:t>/mriirs, /mru</a:t>
            </a:r>
          </a:p>
        </p:txBody>
      </p:sp>
      <p:sp>
        <p:nvSpPr>
          <p:cNvPr id="80" name="Rounded Rectangle 79"/>
          <p:cNvSpPr/>
          <p:nvPr/>
        </p:nvSpPr>
        <p:spPr>
          <a:xfrm>
            <a:off x="4764024" y="4919471"/>
            <a:ext cx="1417320" cy="182880"/>
          </a:xfrm>
          <a:prstGeom prst="roundRect">
            <a:avLst>
              <a:gd name="adj" fmla="val 50000"/>
            </a:avLst>
          </a:prstGeom>
          <a:solidFill>
            <a:srgbClr val="E5F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1E7B34"/>
                </a:solidFill>
                <a:latin typeface="Sora"/>
              </a:rPr>
              <a:t>IN THE FOLD</a:t>
            </a:r>
          </a:p>
        </p:txBody>
      </p:sp>
      <p:sp>
        <p:nvSpPr>
          <p:cNvPr id="81" name="TextBox 80"/>
          <p:cNvSpPr txBox="1"/>
          <p:nvPr/>
        </p:nvSpPr>
        <p:spPr>
          <a:xfrm>
            <a:off x="4764024" y="5157216"/>
            <a:ext cx="1481328" cy="365760"/>
          </a:xfrm>
          <a:prstGeom prst="rect">
            <a:avLst/>
          </a:prstGeom>
          <a:noFill/>
        </p:spPr>
        <p:txBody>
          <a:bodyPr wrap="square" lIns="0" rIns="0" tIns="0" bIns="0" anchor="t">
            <a:spAutoFit/>
          </a:bodyPr>
          <a:lstStyle/>
          <a:p>
            <a:pPr algn="l"/>
            <a:r>
              <a:rPr sz="720" b="0" i="0">
                <a:solidFill>
                  <a:srgbClr val="5A6472"/>
                </a:solidFill>
                <a:latin typeface="Sora"/>
              </a:rPr>
              <a:t>Find a Program + NAAC up front</a:t>
            </a:r>
          </a:p>
        </p:txBody>
      </p:sp>
      <p:sp>
        <p:nvSpPr>
          <p:cNvPr id="82" name="Rounded Rectangle 81"/>
          <p:cNvSpPr/>
          <p:nvPr/>
        </p:nvSpPr>
        <p:spPr>
          <a:xfrm>
            <a:off x="6364224" y="4919471"/>
            <a:ext cx="1417320" cy="182880"/>
          </a:xfrm>
          <a:prstGeom prst="roundRect">
            <a:avLst>
              <a:gd name="adj" fmla="val 50000"/>
            </a:avLst>
          </a:prstGeom>
          <a:solidFill>
            <a:srgbClr val="E5F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1E7B34"/>
                </a:solidFill>
                <a:latin typeface="Sora"/>
              </a:rPr>
              <a:t>IN THE FOLD</a:t>
            </a:r>
          </a:p>
        </p:txBody>
      </p:sp>
      <p:sp>
        <p:nvSpPr>
          <p:cNvPr id="83" name="TextBox 82"/>
          <p:cNvSpPr txBox="1"/>
          <p:nvPr/>
        </p:nvSpPr>
        <p:spPr>
          <a:xfrm>
            <a:off x="6364224" y="5157216"/>
            <a:ext cx="1481328" cy="365760"/>
          </a:xfrm>
          <a:prstGeom prst="rect">
            <a:avLst/>
          </a:prstGeom>
          <a:noFill/>
        </p:spPr>
        <p:txBody>
          <a:bodyPr wrap="square" lIns="0" rIns="0" tIns="0" bIns="0" anchor="t">
            <a:spAutoFit/>
          </a:bodyPr>
          <a:lstStyle/>
          <a:p>
            <a:pPr algn="l"/>
            <a:r>
              <a:rPr sz="720" b="0" i="0">
                <a:solidFill>
                  <a:srgbClr val="5A6472"/>
                </a:solidFill>
                <a:latin typeface="Sora"/>
              </a:rPr>
              <a:t>UG / PG / Doctoral hub</a:t>
            </a:r>
          </a:p>
        </p:txBody>
      </p:sp>
      <p:sp>
        <p:nvSpPr>
          <p:cNvPr id="84" name="Rounded Rectangle 83"/>
          <p:cNvSpPr/>
          <p:nvPr/>
        </p:nvSpPr>
        <p:spPr>
          <a:xfrm>
            <a:off x="7964424" y="4919471"/>
            <a:ext cx="1417320" cy="182880"/>
          </a:xfrm>
          <a:prstGeom prst="roundRect">
            <a:avLst>
              <a:gd name="adj" fmla="val 50000"/>
            </a:avLst>
          </a:prstGeom>
          <a:solidFill>
            <a:srgbClr val="E5F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1E7B34"/>
                </a:solidFill>
                <a:latin typeface="Sora"/>
              </a:rPr>
              <a:t>IN THE FOLD</a:t>
            </a:r>
          </a:p>
        </p:txBody>
      </p:sp>
      <p:sp>
        <p:nvSpPr>
          <p:cNvPr id="85" name="TextBox 84"/>
          <p:cNvSpPr txBox="1"/>
          <p:nvPr/>
        </p:nvSpPr>
        <p:spPr>
          <a:xfrm>
            <a:off x="7964424" y="5157216"/>
            <a:ext cx="1481328" cy="365760"/>
          </a:xfrm>
          <a:prstGeom prst="rect">
            <a:avLst/>
          </a:prstGeom>
          <a:noFill/>
        </p:spPr>
        <p:txBody>
          <a:bodyPr wrap="square" lIns="0" rIns="0" tIns="0" bIns="0" anchor="t">
            <a:spAutoFit/>
          </a:bodyPr>
          <a:lstStyle/>
          <a:p>
            <a:pPr algn="l"/>
            <a:r>
              <a:rPr sz="720" b="0" i="0">
                <a:solidFill>
                  <a:srgbClr val="5A6472"/>
                </a:solidFill>
                <a:latin typeface="Sora"/>
              </a:rPr>
              <a:t>Hub routes onward: UG 2,452</a:t>
            </a:r>
          </a:p>
        </p:txBody>
      </p:sp>
      <p:sp>
        <p:nvSpPr>
          <p:cNvPr id="86" name="Rounded Rectangle 85"/>
          <p:cNvSpPr/>
          <p:nvPr/>
        </p:nvSpPr>
        <p:spPr>
          <a:xfrm>
            <a:off x="9564624" y="4919471"/>
            <a:ext cx="1417320" cy="182880"/>
          </a:xfrm>
          <a:prstGeom prst="roundRect">
            <a:avLst>
              <a:gd name="adj" fmla="val 50000"/>
            </a:avLst>
          </a:prstGeom>
          <a:solidFill>
            <a:srgbClr val="FBE7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50" b="1">
                <a:solidFill>
                  <a:srgbClr val="C8102E"/>
                </a:solidFill>
                <a:latin typeface="Sora"/>
              </a:rPr>
              <a:t>NOT ANSWERED</a:t>
            </a:r>
          </a:p>
        </p:txBody>
      </p:sp>
      <p:sp>
        <p:nvSpPr>
          <p:cNvPr id="87" name="TextBox 86"/>
          <p:cNvSpPr txBox="1"/>
          <p:nvPr/>
        </p:nvSpPr>
        <p:spPr>
          <a:xfrm>
            <a:off x="9564624" y="5157216"/>
            <a:ext cx="1481328" cy="365760"/>
          </a:xfrm>
          <a:prstGeom prst="rect">
            <a:avLst/>
          </a:prstGeom>
          <a:noFill/>
        </p:spPr>
        <p:txBody>
          <a:bodyPr wrap="square" lIns="0" rIns="0" tIns="0" bIns="0" anchor="t">
            <a:spAutoFit/>
          </a:bodyPr>
          <a:lstStyle/>
          <a:p>
            <a:pPr algn="l"/>
            <a:r>
              <a:rPr sz="720" b="0" i="0">
                <a:solidFill>
                  <a:srgbClr val="5A6472"/>
                </a:solidFill>
                <a:latin typeface="Sora"/>
              </a:rPr>
              <a:t>No compare route; 673 loop home</a:t>
            </a:r>
          </a:p>
        </p:txBody>
      </p:sp>
      <p:sp>
        <p:nvSpPr>
          <p:cNvPr id="88" name="Rounded Rectangle 87"/>
          <p:cNvSpPr/>
          <p:nvPr/>
        </p:nvSpPr>
        <p:spPr>
          <a:xfrm>
            <a:off x="11155680" y="5010912"/>
            <a:ext cx="347472"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155680" y="5010912"/>
            <a:ext cx="347472" cy="347472"/>
          </a:xfrm>
          <a:prstGeom prst="rect">
            <a:avLst/>
          </a:prstGeom>
          <a:noFill/>
        </p:spPr>
        <p:txBody>
          <a:bodyPr wrap="square" lIns="0" rIns="0" tIns="0" bIns="0" anchor="ctr">
            <a:spAutoFit/>
          </a:bodyPr>
          <a:lstStyle/>
          <a:p>
            <a:pPr algn="ctr"/>
            <a:r>
              <a:rPr sz="1100" b="1" i="0">
                <a:solidFill>
                  <a:srgbClr val="FFFFFF"/>
                </a:solidFill>
                <a:latin typeface="Sora"/>
              </a:rPr>
              <a:t>5</a:t>
            </a:r>
          </a:p>
        </p:txBody>
      </p:sp>
      <p:sp>
        <p:nvSpPr>
          <p:cNvPr id="90" name="TextBox 89"/>
          <p:cNvSpPr txBox="1"/>
          <p:nvPr/>
        </p:nvSpPr>
        <p:spPr>
          <a:xfrm>
            <a:off x="548640" y="5650992"/>
            <a:ext cx="11064240" cy="731520"/>
          </a:xfrm>
          <a:prstGeom prst="rect">
            <a:avLst/>
          </a:prstGeom>
          <a:noFill/>
        </p:spPr>
        <p:txBody>
          <a:bodyPr wrap="square" lIns="0" rIns="0" tIns="0" bIns="0" anchor="t">
            <a:spAutoFit/>
          </a:bodyPr>
          <a:lstStyle/>
          <a:p>
            <a:pPr algn="l"/>
            <a:r>
              <a:rPr sz="900" b="1" i="0">
                <a:solidFill>
                  <a:srgbClr val="0F2C5C"/>
                </a:solidFill>
                <a:latin typeface="Sora"/>
              </a:rPr>
              <a:t>How to read it  </a:t>
            </a:r>
            <a:r>
              <a:rPr sz="900" b="0" i="0">
                <a:solidFill>
                  <a:srgbClr val="5A6472"/>
                </a:solidFill>
                <a:latin typeface="Sora"/>
              </a:rPr>
              <a:t>Same template, different verdicts: the fee answer exists on the CSE page, but thirteen screens down it fails the Course Researcher. Rank 1–2 carry the first wave of fixes and tests; the Early Explorer waits for blog traffic to be validated; the Shortlister row is the pattern to copy — its only gap is people still comparing MRIIRS and MRU.</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509760" cy="182880"/>
          </a:xfrm>
          <a:prstGeom prst="rect">
            <a:avLst/>
          </a:prstGeom>
          <a:noFill/>
        </p:spPr>
        <p:txBody>
          <a:bodyPr wrap="square" lIns="0" rIns="0" tIns="0" bIns="0" anchor="t">
            <a:spAutoFit/>
          </a:bodyPr>
          <a:lstStyle/>
          <a:p>
            <a:pPr algn="l"/>
            <a:r>
              <a:rPr sz="900" b="1" i="0">
                <a:solidFill>
                  <a:srgbClr val="C8102E"/>
                </a:solidFill>
                <a:latin typeface="Sora"/>
              </a:rPr>
              <a:t>WHAT THE SITE SHOULD DO  ·  PERSONALISATION</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Three rules, not thirty — each ships with a holdout</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No login needed: signals the session already carries. A rule stays only if it beats the default</a:t>
            </a:r>
          </a:p>
        </p:txBody>
      </p:sp>
      <p:sp>
        <p:nvSpPr>
          <p:cNvPr id="5" name="TextBox 4"/>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(figures as used in this deck). Holdout share and metrics are proposals, to agree with MREI.</a:t>
            </a:r>
          </a:p>
        </p:txBody>
      </p:sp>
      <p:sp>
        <p:nvSpPr>
          <p:cNvPr id="6" name="Rounded Rectangle 5"/>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7" name="TextBox 6"/>
          <p:cNvSpPr txBox="1"/>
          <p:nvPr/>
        </p:nvSpPr>
        <p:spPr>
          <a:xfrm>
            <a:off x="685800" y="1554480"/>
            <a:ext cx="2148839" cy="182880"/>
          </a:xfrm>
          <a:prstGeom prst="rect">
            <a:avLst/>
          </a:prstGeom>
          <a:noFill/>
        </p:spPr>
        <p:txBody>
          <a:bodyPr wrap="square" lIns="0" rIns="0" tIns="0" bIns="0" anchor="t">
            <a:spAutoFit/>
          </a:bodyPr>
          <a:lstStyle/>
          <a:p>
            <a:pPr algn="l"/>
            <a:r>
              <a:rPr sz="750" b="1" i="0">
                <a:solidFill>
                  <a:srgbClr val="96A1B0"/>
                </a:solidFill>
                <a:latin typeface="Sora"/>
              </a:rPr>
              <a:t>SIGNAL</a:t>
            </a:r>
          </a:p>
        </p:txBody>
      </p:sp>
      <p:sp>
        <p:nvSpPr>
          <p:cNvPr id="8" name="TextBox 7"/>
          <p:cNvSpPr txBox="1"/>
          <p:nvPr/>
        </p:nvSpPr>
        <p:spPr>
          <a:xfrm>
            <a:off x="3017520" y="1554480"/>
            <a:ext cx="1783080" cy="182880"/>
          </a:xfrm>
          <a:prstGeom prst="rect">
            <a:avLst/>
          </a:prstGeom>
          <a:noFill/>
        </p:spPr>
        <p:txBody>
          <a:bodyPr wrap="square" lIns="0" rIns="0" tIns="0" bIns="0" anchor="t">
            <a:spAutoFit/>
          </a:bodyPr>
          <a:lstStyle/>
          <a:p>
            <a:pPr algn="l"/>
            <a:r>
              <a:rPr sz="750" b="1" i="0">
                <a:solidFill>
                  <a:srgbClr val="96A1B0"/>
                </a:solidFill>
                <a:latin typeface="Sora"/>
              </a:rPr>
              <a:t>INFERRED INTENT</a:t>
            </a:r>
          </a:p>
        </p:txBody>
      </p:sp>
      <p:sp>
        <p:nvSpPr>
          <p:cNvPr id="9" name="TextBox 8"/>
          <p:cNvSpPr txBox="1"/>
          <p:nvPr/>
        </p:nvSpPr>
        <p:spPr>
          <a:xfrm>
            <a:off x="4983480" y="1554480"/>
            <a:ext cx="2880360" cy="182880"/>
          </a:xfrm>
          <a:prstGeom prst="rect">
            <a:avLst/>
          </a:prstGeom>
          <a:noFill/>
        </p:spPr>
        <p:txBody>
          <a:bodyPr wrap="square" lIns="0" rIns="0" tIns="0" bIns="0" anchor="t">
            <a:spAutoFit/>
          </a:bodyPr>
          <a:lstStyle/>
          <a:p>
            <a:pPr algn="l"/>
            <a:r>
              <a:rPr sz="750" b="1" i="0">
                <a:solidFill>
                  <a:srgbClr val="96A1B0"/>
                </a:solidFill>
                <a:latin typeface="Sora"/>
              </a:rPr>
              <a:t>WHAT THE PAGE SHOWS</a:t>
            </a:r>
          </a:p>
        </p:txBody>
      </p:sp>
      <p:sp>
        <p:nvSpPr>
          <p:cNvPr id="10" name="TextBox 9"/>
          <p:cNvSpPr txBox="1"/>
          <p:nvPr/>
        </p:nvSpPr>
        <p:spPr>
          <a:xfrm>
            <a:off x="8046720" y="1554480"/>
            <a:ext cx="2057400" cy="182880"/>
          </a:xfrm>
          <a:prstGeom prst="rect">
            <a:avLst/>
          </a:prstGeom>
          <a:noFill/>
        </p:spPr>
        <p:txBody>
          <a:bodyPr wrap="square" lIns="0" rIns="0" tIns="0" bIns="0" anchor="t">
            <a:spAutoFit/>
          </a:bodyPr>
          <a:lstStyle/>
          <a:p>
            <a:pPr algn="l"/>
            <a:r>
              <a:rPr sz="750" b="1" i="0">
                <a:solidFill>
                  <a:srgbClr val="96A1B0"/>
                </a:solidFill>
                <a:latin typeface="Sora"/>
              </a:rPr>
              <a:t>HOLDOUT · MEASURE</a:t>
            </a:r>
          </a:p>
        </p:txBody>
      </p:sp>
      <p:sp>
        <p:nvSpPr>
          <p:cNvPr id="11" name="TextBox 10"/>
          <p:cNvSpPr txBox="1"/>
          <p:nvPr/>
        </p:nvSpPr>
        <p:spPr>
          <a:xfrm>
            <a:off x="10287000" y="1554480"/>
            <a:ext cx="1280160" cy="182880"/>
          </a:xfrm>
          <a:prstGeom prst="rect">
            <a:avLst/>
          </a:prstGeom>
          <a:noFill/>
        </p:spPr>
        <p:txBody>
          <a:bodyPr wrap="square" lIns="0" rIns="0" tIns="0" bIns="0" anchor="t">
            <a:spAutoFit/>
          </a:bodyPr>
          <a:lstStyle/>
          <a:p>
            <a:pPr algn="l"/>
            <a:r>
              <a:rPr sz="750" b="1" i="0">
                <a:solidFill>
                  <a:srgbClr val="96A1B0"/>
                </a:solidFill>
                <a:latin typeface="Sora"/>
              </a:rPr>
              <a:t>WHY WE THINK SO</a:t>
            </a:r>
          </a:p>
        </p:txBody>
      </p:sp>
      <p:sp>
        <p:nvSpPr>
          <p:cNvPr id="12" name="Rounded Rectangle 11"/>
          <p:cNvSpPr/>
          <p:nvPr/>
        </p:nvSpPr>
        <p:spPr>
          <a:xfrm>
            <a:off x="548640" y="1810512"/>
            <a:ext cx="11064240" cy="932688"/>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3232" y="1975104"/>
            <a:ext cx="384048" cy="384048"/>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75104"/>
            <a:ext cx="384048" cy="384048"/>
          </a:xfrm>
          <a:prstGeom prst="rect">
            <a:avLst/>
          </a:prstGeom>
          <a:noFill/>
        </p:spPr>
        <p:txBody>
          <a:bodyPr wrap="square" lIns="0" rIns="0" tIns="0" bIns="0" anchor="ctr">
            <a:spAutoFit/>
          </a:bodyPr>
          <a:lstStyle/>
          <a:p>
            <a:pPr algn="ctr"/>
            <a:r>
              <a:rPr sz="900" b="1" i="0">
                <a:solidFill>
                  <a:srgbClr val="FFFFFF"/>
                </a:solidFill>
                <a:latin typeface="Sora"/>
              </a:rPr>
              <a:t>R1</a:t>
            </a:r>
          </a:p>
        </p:txBody>
      </p:sp>
      <p:sp>
        <p:nvSpPr>
          <p:cNvPr id="15" name="TextBox 14"/>
          <p:cNvSpPr txBox="1"/>
          <p:nvPr/>
        </p:nvSpPr>
        <p:spPr>
          <a:xfrm>
            <a:off x="1207008" y="1956816"/>
            <a:ext cx="1600200" cy="731520"/>
          </a:xfrm>
          <a:prstGeom prst="rect">
            <a:avLst/>
          </a:prstGeom>
          <a:noFill/>
        </p:spPr>
        <p:txBody>
          <a:bodyPr wrap="square" lIns="0" rIns="0" tIns="0" bIns="0" anchor="t">
            <a:spAutoFit/>
          </a:bodyPr>
          <a:lstStyle/>
          <a:p>
            <a:pPr algn="l"/>
            <a:r>
              <a:rPr sz="1000" b="1" i="0">
                <a:solidFill>
                  <a:srgbClr val="0F2C5C"/>
                </a:solidFill>
                <a:latin typeface="Sora"/>
              </a:rPr>
              <a:t>Fee page entered from a course page (referrer)</a:t>
            </a:r>
          </a:p>
        </p:txBody>
      </p:sp>
      <p:sp>
        <p:nvSpPr>
          <p:cNvPr id="16" name="TextBox 15"/>
          <p:cNvSpPr txBox="1"/>
          <p:nvPr/>
        </p:nvSpPr>
        <p:spPr>
          <a:xfrm>
            <a:off x="3017520" y="1956816"/>
            <a:ext cx="1691639" cy="822960"/>
          </a:xfrm>
          <a:prstGeom prst="rect">
            <a:avLst/>
          </a:prstGeom>
          <a:noFill/>
        </p:spPr>
        <p:txBody>
          <a:bodyPr wrap="square" lIns="0" rIns="0" tIns="0" bIns="0" anchor="t">
            <a:spAutoFit/>
          </a:bodyPr>
          <a:lstStyle/>
          <a:p>
            <a:pPr algn="l"/>
            <a:r>
              <a:rPr sz="1000" b="1" i="1">
                <a:solidFill>
                  <a:srgbClr val="C8102E"/>
                </a:solidFill>
                <a:latin typeface="Sora"/>
              </a:rPr>
              <a:t>“What does this programme cost?”</a:t>
            </a:r>
          </a:p>
        </p:txBody>
      </p:sp>
      <p:sp>
        <p:nvSpPr>
          <p:cNvPr id="17" name="TextBox 16"/>
          <p:cNvSpPr txBox="1"/>
          <p:nvPr/>
        </p:nvSpPr>
        <p:spPr>
          <a:xfrm>
            <a:off x="4983480" y="1956816"/>
            <a:ext cx="2788920" cy="822960"/>
          </a:xfrm>
          <a:prstGeom prst="rect">
            <a:avLst/>
          </a:prstGeom>
          <a:noFill/>
        </p:spPr>
        <p:txBody>
          <a:bodyPr wrap="square" lIns="0" rIns="0" tIns="0" bIns="0" anchor="t">
            <a:spAutoFit/>
          </a:bodyPr>
          <a:lstStyle/>
          <a:p>
            <a:pPr algn="l"/>
            <a:r>
              <a:rPr sz="1000" b="0" i="0">
                <a:solidFill>
                  <a:srgbClr val="0F2C5C"/>
                </a:solidFill>
                <a:latin typeface="Sora"/>
              </a:rPr>
              <a:t>Opens on that programme’s fee card — total, installments, variants — with “Back to B.Tech CSE”</a:t>
            </a:r>
          </a:p>
        </p:txBody>
      </p:sp>
      <p:sp>
        <p:nvSpPr>
          <p:cNvPr id="18" name="TextBox 17"/>
          <p:cNvSpPr txBox="1"/>
          <p:nvPr/>
        </p:nvSpPr>
        <p:spPr>
          <a:xfrm>
            <a:off x="8046720" y="1956816"/>
            <a:ext cx="1965960" cy="822960"/>
          </a:xfrm>
          <a:prstGeom prst="rect">
            <a:avLst/>
          </a:prstGeom>
          <a:noFill/>
        </p:spPr>
        <p:txBody>
          <a:bodyPr wrap="square" lIns="0" rIns="0" tIns="0" bIns="0" anchor="t">
            <a:spAutoFit/>
          </a:bodyPr>
          <a:lstStyle/>
          <a:p>
            <a:pPr algn="l"/>
            <a:r>
              <a:rPr sz="1000" b="0" i="0">
                <a:solidFill>
                  <a:srgbClr val="0F2C5C"/>
                </a:solidFill>
                <a:latin typeface="Sora"/>
              </a:rPr>
              <a:t>10% see the generic page · leads on fee page · guard: fee→home exits</a:t>
            </a:r>
          </a:p>
        </p:txBody>
      </p:sp>
      <p:sp>
        <p:nvSpPr>
          <p:cNvPr id="19" name="TextBox 18"/>
          <p:cNvSpPr txBox="1"/>
          <p:nvPr/>
        </p:nvSpPr>
        <p:spPr>
          <a:xfrm>
            <a:off x="10287000" y="1956816"/>
            <a:ext cx="1188720" cy="822960"/>
          </a:xfrm>
          <a:prstGeom prst="rect">
            <a:avLst/>
          </a:prstGeom>
          <a:noFill/>
        </p:spPr>
        <p:txBody>
          <a:bodyPr wrap="square" lIns="0" rIns="0" tIns="0" bIns="0" anchor="t">
            <a:spAutoFit/>
          </a:bodyPr>
          <a:lstStyle/>
          <a:p>
            <a:pPr algn="l"/>
            <a:r>
              <a:rPr sz="850" b="0" i="0">
                <a:solidFill>
                  <a:srgbClr val="5A6472"/>
                </a:solidFill>
                <a:latin typeface="Sora"/>
              </a:rPr>
              <a:t>70% of MRIIRS fee entries come from CSE; 7,070 go back</a:t>
            </a:r>
          </a:p>
        </p:txBody>
      </p:sp>
      <p:sp>
        <p:nvSpPr>
          <p:cNvPr id="20" name="Rounded Rectangle 19"/>
          <p:cNvSpPr/>
          <p:nvPr/>
        </p:nvSpPr>
        <p:spPr>
          <a:xfrm>
            <a:off x="548640" y="2852928"/>
            <a:ext cx="11064240" cy="932688"/>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3232" y="3017520"/>
            <a:ext cx="384048" cy="384048"/>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017520"/>
            <a:ext cx="384048" cy="384048"/>
          </a:xfrm>
          <a:prstGeom prst="rect">
            <a:avLst/>
          </a:prstGeom>
          <a:noFill/>
        </p:spPr>
        <p:txBody>
          <a:bodyPr wrap="square" lIns="0" rIns="0" tIns="0" bIns="0" anchor="ctr">
            <a:spAutoFit/>
          </a:bodyPr>
          <a:lstStyle/>
          <a:p>
            <a:pPr algn="ctr"/>
            <a:r>
              <a:rPr sz="900" b="1" i="0">
                <a:solidFill>
                  <a:srgbClr val="FFFFFF"/>
                </a:solidFill>
                <a:latin typeface="Sora"/>
              </a:rPr>
              <a:t>R2</a:t>
            </a:r>
          </a:p>
        </p:txBody>
      </p:sp>
      <p:sp>
        <p:nvSpPr>
          <p:cNvPr id="23" name="TextBox 22"/>
          <p:cNvSpPr txBox="1"/>
          <p:nvPr/>
        </p:nvSpPr>
        <p:spPr>
          <a:xfrm>
            <a:off x="1207008" y="2999232"/>
            <a:ext cx="1600200" cy="731520"/>
          </a:xfrm>
          <a:prstGeom prst="rect">
            <a:avLst/>
          </a:prstGeom>
          <a:noFill/>
        </p:spPr>
        <p:txBody>
          <a:bodyPr wrap="square" lIns="0" rIns="0" tIns="0" bIns="0" anchor="t">
            <a:spAutoFit/>
          </a:bodyPr>
          <a:lstStyle/>
          <a:p>
            <a:pPr algn="l"/>
            <a:r>
              <a:rPr sz="1000" b="1" i="0">
                <a:solidFill>
                  <a:srgbClr val="0F2C5C"/>
                </a:solidFill>
                <a:latin typeface="Sora"/>
              </a:rPr>
              <a:t>Viewed an MRIIRS and an MRU page in one session</a:t>
            </a:r>
          </a:p>
        </p:txBody>
      </p:sp>
      <p:sp>
        <p:nvSpPr>
          <p:cNvPr id="24" name="TextBox 23"/>
          <p:cNvSpPr txBox="1"/>
          <p:nvPr/>
        </p:nvSpPr>
        <p:spPr>
          <a:xfrm>
            <a:off x="3017520" y="2999232"/>
            <a:ext cx="1691639" cy="822960"/>
          </a:xfrm>
          <a:prstGeom prst="rect">
            <a:avLst/>
          </a:prstGeom>
          <a:noFill/>
        </p:spPr>
        <p:txBody>
          <a:bodyPr wrap="square" lIns="0" rIns="0" tIns="0" bIns="0" anchor="t">
            <a:spAutoFit/>
          </a:bodyPr>
          <a:lstStyle/>
          <a:p>
            <a:pPr algn="l"/>
            <a:r>
              <a:rPr sz="1000" b="1" i="1">
                <a:solidFill>
                  <a:srgbClr val="C8102E"/>
                </a:solidFill>
                <a:latin typeface="Sora"/>
              </a:rPr>
              <a:t>“Which Manav Rachna is right for me?”</a:t>
            </a:r>
          </a:p>
        </p:txBody>
      </p:sp>
      <p:sp>
        <p:nvSpPr>
          <p:cNvPr id="25" name="TextBox 24"/>
          <p:cNvSpPr txBox="1"/>
          <p:nvPr/>
        </p:nvSpPr>
        <p:spPr>
          <a:xfrm>
            <a:off x="4983480" y="2999232"/>
            <a:ext cx="2788920" cy="822960"/>
          </a:xfrm>
          <a:prstGeom prst="rect">
            <a:avLst/>
          </a:prstGeom>
          <a:noFill/>
        </p:spPr>
        <p:txBody>
          <a:bodyPr wrap="square" lIns="0" rIns="0" tIns="0" bIns="0" anchor="t">
            <a:spAutoFit/>
          </a:bodyPr>
          <a:lstStyle/>
          <a:p>
            <a:pPr algn="l"/>
            <a:r>
              <a:rPr sz="1000" b="0" i="0">
                <a:solidFill>
                  <a:srgbClr val="0F2C5C"/>
                </a:solidFill>
                <a:latin typeface="Sora"/>
              </a:rPr>
              <a:t>“Compare MRIIRS &amp; MRU” and a counsellor option on the next page, instead of a second Apply</a:t>
            </a:r>
          </a:p>
        </p:txBody>
      </p:sp>
      <p:sp>
        <p:nvSpPr>
          <p:cNvPr id="26" name="TextBox 25"/>
          <p:cNvSpPr txBox="1"/>
          <p:nvPr/>
        </p:nvSpPr>
        <p:spPr>
          <a:xfrm>
            <a:off x="8046720" y="2999232"/>
            <a:ext cx="1965960" cy="822960"/>
          </a:xfrm>
          <a:prstGeom prst="rect">
            <a:avLst/>
          </a:prstGeom>
          <a:noFill/>
        </p:spPr>
        <p:txBody>
          <a:bodyPr wrap="square" lIns="0" rIns="0" tIns="0" bIns="0" anchor="t">
            <a:spAutoFit/>
          </a:bodyPr>
          <a:lstStyle/>
          <a:p>
            <a:pPr algn="l"/>
            <a:r>
              <a:rPr sz="1000" b="0" i="0">
                <a:solidFill>
                  <a:srgbClr val="0F2C5C"/>
                </a:solidFill>
                <a:latin typeface="Sora"/>
              </a:rPr>
              <a:t>10% holdout · leads · guard: Apply-MRIIRS clicks</a:t>
            </a:r>
          </a:p>
        </p:txBody>
      </p:sp>
      <p:sp>
        <p:nvSpPr>
          <p:cNvPr id="27" name="TextBox 26"/>
          <p:cNvSpPr txBox="1"/>
          <p:nvPr/>
        </p:nvSpPr>
        <p:spPr>
          <a:xfrm>
            <a:off x="10287000" y="2999232"/>
            <a:ext cx="1188720" cy="822960"/>
          </a:xfrm>
          <a:prstGeom prst="rect">
            <a:avLst/>
          </a:prstGeom>
          <a:noFill/>
        </p:spPr>
        <p:txBody>
          <a:bodyPr wrap="square" lIns="0" rIns="0" tIns="0" bIns="0" anchor="t">
            <a:spAutoFit/>
          </a:bodyPr>
          <a:lstStyle/>
          <a:p>
            <a:pPr algn="l"/>
            <a:r>
              <a:rPr sz="850" b="0" i="0">
                <a:solidFill>
                  <a:srgbClr val="5A6472"/>
                </a:solidFill>
                <a:latin typeface="Sora"/>
              </a:rPr>
              <a:t>494 fee-page hops; 166 /mru → /mriirs</a:t>
            </a:r>
          </a:p>
        </p:txBody>
      </p:sp>
      <p:sp>
        <p:nvSpPr>
          <p:cNvPr id="28" name="Rounded Rectangle 27"/>
          <p:cNvSpPr/>
          <p:nvPr/>
        </p:nvSpPr>
        <p:spPr>
          <a:xfrm>
            <a:off x="548640" y="3895344"/>
            <a:ext cx="11064240" cy="932688"/>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13232" y="4059935"/>
            <a:ext cx="384048" cy="384048"/>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4059935"/>
            <a:ext cx="384048" cy="384048"/>
          </a:xfrm>
          <a:prstGeom prst="rect">
            <a:avLst/>
          </a:prstGeom>
          <a:noFill/>
        </p:spPr>
        <p:txBody>
          <a:bodyPr wrap="square" lIns="0" rIns="0" tIns="0" bIns="0" anchor="ctr">
            <a:spAutoFit/>
          </a:bodyPr>
          <a:lstStyle/>
          <a:p>
            <a:pPr algn="ctr"/>
            <a:r>
              <a:rPr sz="900" b="1" i="0">
                <a:solidFill>
                  <a:srgbClr val="FFFFFF"/>
                </a:solidFill>
                <a:latin typeface="Sora"/>
              </a:rPr>
              <a:t>R3</a:t>
            </a:r>
          </a:p>
        </p:txBody>
      </p:sp>
      <p:sp>
        <p:nvSpPr>
          <p:cNvPr id="31" name="TextBox 30"/>
          <p:cNvSpPr txBox="1"/>
          <p:nvPr/>
        </p:nvSpPr>
        <p:spPr>
          <a:xfrm>
            <a:off x="1207008" y="4041648"/>
            <a:ext cx="1600200" cy="731520"/>
          </a:xfrm>
          <a:prstGeom prst="rect">
            <a:avLst/>
          </a:prstGeom>
          <a:noFill/>
        </p:spPr>
        <p:txBody>
          <a:bodyPr wrap="square" lIns="0" rIns="0" tIns="0" bIns="0" anchor="t">
            <a:spAutoFit/>
          </a:bodyPr>
          <a:lstStyle/>
          <a:p>
            <a:pPr algn="l"/>
            <a:r>
              <a:rPr sz="1000" b="1" i="0">
                <a:solidFill>
                  <a:srgbClr val="0F2C5C"/>
                </a:solidFill>
                <a:latin typeface="Sora"/>
              </a:rPr>
              <a:t>Landed on a blog article mapped to a programme</a:t>
            </a:r>
          </a:p>
        </p:txBody>
      </p:sp>
      <p:sp>
        <p:nvSpPr>
          <p:cNvPr id="32" name="TextBox 31"/>
          <p:cNvSpPr txBox="1"/>
          <p:nvPr/>
        </p:nvSpPr>
        <p:spPr>
          <a:xfrm>
            <a:off x="3017520" y="4041648"/>
            <a:ext cx="1691639" cy="822960"/>
          </a:xfrm>
          <a:prstGeom prst="rect">
            <a:avLst/>
          </a:prstGeom>
          <a:noFill/>
        </p:spPr>
        <p:txBody>
          <a:bodyPr wrap="square" lIns="0" rIns="0" tIns="0" bIns="0" anchor="t">
            <a:spAutoFit/>
          </a:bodyPr>
          <a:lstStyle/>
          <a:p>
            <a:pPr algn="l"/>
            <a:r>
              <a:rPr sz="1000" b="1" i="1">
                <a:solidFill>
                  <a:srgbClr val="C8102E"/>
                </a:solidFill>
                <a:latin typeface="Sora"/>
              </a:rPr>
              <a:t>“What should I study?” — not ready to apply</a:t>
            </a:r>
          </a:p>
        </p:txBody>
      </p:sp>
      <p:sp>
        <p:nvSpPr>
          <p:cNvPr id="33" name="TextBox 32"/>
          <p:cNvSpPr txBox="1"/>
          <p:nvPr/>
        </p:nvSpPr>
        <p:spPr>
          <a:xfrm>
            <a:off x="4983480" y="4041648"/>
            <a:ext cx="2788920" cy="822960"/>
          </a:xfrm>
          <a:prstGeom prst="rect">
            <a:avLst/>
          </a:prstGeom>
          <a:noFill/>
        </p:spPr>
        <p:txBody>
          <a:bodyPr wrap="square" lIns="0" rIns="0" tIns="0" bIns="0" anchor="t">
            <a:spAutoFit/>
          </a:bodyPr>
          <a:lstStyle/>
          <a:p>
            <a:pPr algn="l"/>
            <a:r>
              <a:rPr sz="1000" b="0" i="0">
                <a:solidFill>
                  <a:srgbClr val="0F2C5C"/>
                </a:solidFill>
                <a:latin typeface="Sora"/>
              </a:rPr>
              <a:t>The matching programme card and “Talk to a course guide” replace the sticky Apply Now</a:t>
            </a:r>
          </a:p>
        </p:txBody>
      </p:sp>
      <p:sp>
        <p:nvSpPr>
          <p:cNvPr id="34" name="TextBox 33"/>
          <p:cNvSpPr txBox="1"/>
          <p:nvPr/>
        </p:nvSpPr>
        <p:spPr>
          <a:xfrm>
            <a:off x="8046720" y="4041648"/>
            <a:ext cx="1965960" cy="822960"/>
          </a:xfrm>
          <a:prstGeom prst="rect">
            <a:avLst/>
          </a:prstGeom>
          <a:noFill/>
        </p:spPr>
        <p:txBody>
          <a:bodyPr wrap="square" lIns="0" rIns="0" tIns="0" bIns="0" anchor="t">
            <a:spAutoFit/>
          </a:bodyPr>
          <a:lstStyle/>
          <a:p>
            <a:pPr algn="l"/>
            <a:r>
              <a:rPr sz="1000" b="0" i="0">
                <a:solidFill>
                  <a:srgbClr val="0F2C5C"/>
                </a:solidFill>
                <a:latin typeface="Sora"/>
              </a:rPr>
              <a:t>10% holdout · article → programme · guard: engagement</a:t>
            </a:r>
          </a:p>
        </p:txBody>
      </p:sp>
      <p:sp>
        <p:nvSpPr>
          <p:cNvPr id="35" name="TextBox 34"/>
          <p:cNvSpPr txBox="1"/>
          <p:nvPr/>
        </p:nvSpPr>
        <p:spPr>
          <a:xfrm>
            <a:off x="10287000" y="4041648"/>
            <a:ext cx="1188720" cy="822960"/>
          </a:xfrm>
          <a:prstGeom prst="rect">
            <a:avLst/>
          </a:prstGeom>
          <a:noFill/>
        </p:spPr>
        <p:txBody>
          <a:bodyPr wrap="square" lIns="0" rIns="0" tIns="0" bIns="0" anchor="t">
            <a:spAutoFit/>
          </a:bodyPr>
          <a:lstStyle/>
          <a:p>
            <a:pPr algn="l"/>
            <a:r>
              <a:rPr sz="850" b="0" i="0">
                <a:solidFill>
                  <a:srgbClr val="5A6472"/>
                </a:solidFill>
                <a:latin typeface="Sora"/>
              </a:rPr>
              <a:t>35 of 4,195 NEET/BPT readers reach BPT</a:t>
            </a:r>
          </a:p>
        </p:txBody>
      </p:sp>
      <p:sp>
        <p:nvSpPr>
          <p:cNvPr id="36" name="Rounded Rectangle 35"/>
          <p:cNvSpPr/>
          <p:nvPr/>
        </p:nvSpPr>
        <p:spPr>
          <a:xfrm>
            <a:off x="548640" y="5074920"/>
            <a:ext cx="11064240" cy="822960"/>
          </a:xfrm>
          <a:prstGeom prst="roundRect">
            <a:avLst>
              <a:gd name="adj" fmla="val 8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166360"/>
            <a:ext cx="10607040" cy="640080"/>
          </a:xfrm>
          <a:prstGeom prst="rect">
            <a:avLst/>
          </a:prstGeom>
          <a:noFill/>
        </p:spPr>
        <p:txBody>
          <a:bodyPr wrap="square" lIns="0" rIns="0" tIns="0" bIns="0" anchor="ctr">
            <a:spAutoFit/>
          </a:bodyPr>
          <a:lstStyle/>
          <a:p>
            <a:pPr algn="l"/>
            <a:r>
              <a:rPr sz="850" b="1" i="0">
                <a:solidFill>
                  <a:srgbClr val="FF8095"/>
                </a:solidFill>
                <a:latin typeface="Sora"/>
              </a:rPr>
              <a:t>THE LOOP  </a:t>
            </a:r>
            <a:r>
              <a:rPr sz="1000" b="0" i="0">
                <a:solidFill>
                  <a:srgbClr val="FFFFFF"/>
                </a:solidFill>
                <a:latin typeface="Sora"/>
              </a:rPr>
              <a:t>signal → one session profile → rule → surface → result feeds the profile. All three need Phase 0 events to be read. R1 is a URL parameter, so it can ship with test T4. Rules using city or campaign wait until consent handling is in place.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509760" cy="182880"/>
          </a:xfrm>
          <a:prstGeom prst="rect">
            <a:avLst/>
          </a:prstGeom>
          <a:noFill/>
        </p:spPr>
        <p:txBody>
          <a:bodyPr wrap="square" lIns="0" rIns="0" tIns="0" bIns="0" anchor="t">
            <a:spAutoFit/>
          </a:bodyPr>
          <a:lstStyle/>
          <a:p>
            <a:pPr algn="l"/>
            <a:r>
              <a:rPr sz="900" b="1" i="0">
                <a:solidFill>
                  <a:srgbClr val="C8102E"/>
                </a:solidFill>
                <a:latin typeface="Sora"/>
              </a:rPr>
              <a:t>EXPERIMENTATION  ·  HOW THE PROGRAMME RUNS</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Six live at most, one per template, decided by rules agreed up front</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The fourteen tests are a backlog, not a launch plan — this is the order and the rules</a:t>
            </a:r>
          </a:p>
        </p:txBody>
      </p:sp>
      <p:sp>
        <p:nvSpPr>
          <p:cNvPr id="5" name="TextBox 4"/>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A/B test backlog (T1–T14) in this deck. Thresholds, holdouts and freeze dates are proposals, to agree with MREI before the first launch.</a:t>
            </a:r>
          </a:p>
        </p:txBody>
      </p:sp>
      <p:sp>
        <p:nvSpPr>
          <p:cNvPr id="6" name="Rounded Rectangle 5"/>
          <p:cNvSpPr/>
          <p:nvPr/>
        </p:nvSpPr>
        <p:spPr>
          <a:xfrm>
            <a:off x="10771632" y="274320"/>
            <a:ext cx="868680" cy="201168"/>
          </a:xfrm>
          <a:prstGeom prst="roundRect">
            <a:avLst>
              <a:gd name="adj" fmla="val 50000"/>
            </a:avLst>
          </a:prstGeom>
          <a:solidFill>
            <a:srgbClr val="E8EEF7"/>
          </a:solidFill>
          <a:ln w="635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7" name="TextBox 6"/>
          <p:cNvSpPr txBox="1"/>
          <p:nvPr/>
        </p:nvSpPr>
        <p:spPr>
          <a:xfrm>
            <a:off x="548640" y="1536192"/>
            <a:ext cx="5669280" cy="201168"/>
          </a:xfrm>
          <a:prstGeom prst="rect">
            <a:avLst/>
          </a:prstGeom>
          <a:noFill/>
        </p:spPr>
        <p:txBody>
          <a:bodyPr wrap="square" lIns="0" rIns="0" tIns="0" bIns="0" anchor="t">
            <a:spAutoFit/>
          </a:bodyPr>
          <a:lstStyle/>
          <a:p>
            <a:pPr algn="l"/>
            <a:r>
              <a:rPr sz="800" b="1" i="0">
                <a:solidFill>
                  <a:srgbClr val="C8102E"/>
                </a:solidFill>
                <a:latin typeface="Sora"/>
              </a:rPr>
              <a:t>WAVE 1 — AFTER PHASE 0 SETS THE BASELINE</a:t>
            </a:r>
          </a:p>
        </p:txBody>
      </p:sp>
      <p:sp>
        <p:nvSpPr>
          <p:cNvPr id="8" name="Rounded Rectangle 7"/>
          <p:cNvSpPr/>
          <p:nvPr/>
        </p:nvSpPr>
        <p:spPr>
          <a:xfrm>
            <a:off x="548640" y="1810512"/>
            <a:ext cx="5760720" cy="374904"/>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1325880" cy="338328"/>
          </a:xfrm>
          <a:prstGeom prst="rect">
            <a:avLst/>
          </a:prstGeom>
          <a:noFill/>
        </p:spPr>
        <p:txBody>
          <a:bodyPr wrap="square" lIns="0" rIns="0" tIns="0" bIns="0" anchor="ctr">
            <a:spAutoFit/>
          </a:bodyPr>
          <a:lstStyle/>
          <a:p>
            <a:pPr algn="l"/>
            <a:r>
              <a:rPr sz="850" b="0" i="0">
                <a:solidFill>
                  <a:srgbClr val="5A6472"/>
                </a:solidFill>
                <a:latin typeface="Sora"/>
              </a:rPr>
              <a:t>Fee structure</a:t>
            </a:r>
          </a:p>
        </p:txBody>
      </p:sp>
      <p:sp>
        <p:nvSpPr>
          <p:cNvPr id="10" name="TextBox 9"/>
          <p:cNvSpPr txBox="1"/>
          <p:nvPr/>
        </p:nvSpPr>
        <p:spPr>
          <a:xfrm>
            <a:off x="2011680" y="1828800"/>
            <a:ext cx="411480" cy="338328"/>
          </a:xfrm>
          <a:prstGeom prst="rect">
            <a:avLst/>
          </a:prstGeom>
          <a:noFill/>
        </p:spPr>
        <p:txBody>
          <a:bodyPr wrap="square" lIns="0" rIns="0" tIns="0" bIns="0" anchor="ctr">
            <a:spAutoFit/>
          </a:bodyPr>
          <a:lstStyle/>
          <a:p>
            <a:pPr algn="l"/>
            <a:r>
              <a:rPr sz="900" b="1" i="0">
                <a:solidFill>
                  <a:srgbClr val="C8102E"/>
                </a:solidFill>
                <a:latin typeface="Sora"/>
              </a:rPr>
              <a:t>T1</a:t>
            </a:r>
          </a:p>
        </p:txBody>
      </p:sp>
      <p:sp>
        <p:nvSpPr>
          <p:cNvPr id="11" name="TextBox 10"/>
          <p:cNvSpPr txBox="1"/>
          <p:nvPr/>
        </p:nvSpPr>
        <p:spPr>
          <a:xfrm>
            <a:off x="2423160" y="1828800"/>
            <a:ext cx="1874519" cy="338328"/>
          </a:xfrm>
          <a:prstGeom prst="rect">
            <a:avLst/>
          </a:prstGeom>
          <a:noFill/>
        </p:spPr>
        <p:txBody>
          <a:bodyPr wrap="square" lIns="0" rIns="0" tIns="0" bIns="0" anchor="ctr">
            <a:spAutoFit/>
          </a:bodyPr>
          <a:lstStyle/>
          <a:p>
            <a:pPr algn="l"/>
            <a:r>
              <a:rPr sz="850" b="1" i="0">
                <a:solidFill>
                  <a:srgbClr val="0F2C5C"/>
                </a:solidFill>
                <a:latin typeface="Sora"/>
              </a:rPr>
              <a:t>Fee selector → one fee card</a:t>
            </a:r>
          </a:p>
        </p:txBody>
      </p:sp>
      <p:sp>
        <p:nvSpPr>
          <p:cNvPr id="12" name="TextBox 11"/>
          <p:cNvSpPr txBox="1"/>
          <p:nvPr/>
        </p:nvSpPr>
        <p:spPr>
          <a:xfrm>
            <a:off x="4315968" y="1828800"/>
            <a:ext cx="1920240" cy="338328"/>
          </a:xfrm>
          <a:prstGeom prst="rect">
            <a:avLst/>
          </a:prstGeom>
          <a:noFill/>
        </p:spPr>
        <p:txBody>
          <a:bodyPr wrap="square" lIns="0" rIns="0" tIns="0" bIns="0" anchor="ctr">
            <a:spAutoFit/>
          </a:bodyPr>
          <a:lstStyle/>
          <a:p>
            <a:pPr algn="l"/>
            <a:r>
              <a:rPr sz="750" b="0" i="0">
                <a:solidFill>
                  <a:srgbClr val="5A6472"/>
                </a:solidFill>
                <a:latin typeface="Sora"/>
              </a:rPr>
              <a:t>Highest-intent visitor; defect-level findability</a:t>
            </a:r>
          </a:p>
        </p:txBody>
      </p:sp>
      <p:sp>
        <p:nvSpPr>
          <p:cNvPr id="13" name="Rounded Rectangle 12"/>
          <p:cNvSpPr/>
          <p:nvPr/>
        </p:nvSpPr>
        <p:spPr>
          <a:xfrm>
            <a:off x="548640" y="2240280"/>
            <a:ext cx="5760720" cy="374904"/>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258568"/>
            <a:ext cx="1325880" cy="338328"/>
          </a:xfrm>
          <a:prstGeom prst="rect">
            <a:avLst/>
          </a:prstGeom>
          <a:noFill/>
        </p:spPr>
        <p:txBody>
          <a:bodyPr wrap="square" lIns="0" rIns="0" tIns="0" bIns="0" anchor="ctr">
            <a:spAutoFit/>
          </a:bodyPr>
          <a:lstStyle/>
          <a:p>
            <a:pPr algn="l"/>
            <a:r>
              <a:rPr sz="850" b="0" i="0">
                <a:solidFill>
                  <a:srgbClr val="5A6472"/>
                </a:solidFill>
                <a:latin typeface="Sora"/>
              </a:rPr>
              <a:t>Course template</a:t>
            </a:r>
          </a:p>
        </p:txBody>
      </p:sp>
      <p:sp>
        <p:nvSpPr>
          <p:cNvPr id="15" name="TextBox 14"/>
          <p:cNvSpPr txBox="1"/>
          <p:nvPr/>
        </p:nvSpPr>
        <p:spPr>
          <a:xfrm>
            <a:off x="2011680" y="2258568"/>
            <a:ext cx="411480" cy="338328"/>
          </a:xfrm>
          <a:prstGeom prst="rect">
            <a:avLst/>
          </a:prstGeom>
          <a:noFill/>
        </p:spPr>
        <p:txBody>
          <a:bodyPr wrap="square" lIns="0" rIns="0" tIns="0" bIns="0" anchor="ctr">
            <a:spAutoFit/>
          </a:bodyPr>
          <a:lstStyle/>
          <a:p>
            <a:pPr algn="l"/>
            <a:r>
              <a:rPr sz="900" b="1" i="0">
                <a:solidFill>
                  <a:srgbClr val="C8102E"/>
                </a:solidFill>
                <a:latin typeface="Sora"/>
              </a:rPr>
              <a:t>T5</a:t>
            </a:r>
          </a:p>
        </p:txBody>
      </p:sp>
      <p:sp>
        <p:nvSpPr>
          <p:cNvPr id="16" name="TextBox 15"/>
          <p:cNvSpPr txBox="1"/>
          <p:nvPr/>
        </p:nvSpPr>
        <p:spPr>
          <a:xfrm>
            <a:off x="2423160" y="2258568"/>
            <a:ext cx="1874519" cy="338328"/>
          </a:xfrm>
          <a:prstGeom prst="rect">
            <a:avLst/>
          </a:prstGeom>
          <a:noFill/>
        </p:spPr>
        <p:txBody>
          <a:bodyPr wrap="square" lIns="0" rIns="0" tIns="0" bIns="0" anchor="ctr">
            <a:spAutoFit/>
          </a:bodyPr>
          <a:lstStyle/>
          <a:p>
            <a:pPr algn="l"/>
            <a:r>
              <a:rPr sz="850" b="1" i="0">
                <a:solidFill>
                  <a:srgbClr val="0F2C5C"/>
                </a:solidFill>
                <a:latin typeface="Sora"/>
              </a:rPr>
              <a:t>Fee summary at decision height</a:t>
            </a:r>
          </a:p>
        </p:txBody>
      </p:sp>
      <p:sp>
        <p:nvSpPr>
          <p:cNvPr id="17" name="TextBox 16"/>
          <p:cNvSpPr txBox="1"/>
          <p:nvPr/>
        </p:nvSpPr>
        <p:spPr>
          <a:xfrm>
            <a:off x="4315968" y="2258568"/>
            <a:ext cx="1920240" cy="338328"/>
          </a:xfrm>
          <a:prstGeom prst="rect">
            <a:avLst/>
          </a:prstGeom>
          <a:noFill/>
        </p:spPr>
        <p:txBody>
          <a:bodyPr wrap="square" lIns="0" rIns="0" tIns="0" bIns="0" anchor="ctr">
            <a:spAutoFit/>
          </a:bodyPr>
          <a:lstStyle/>
          <a:p>
            <a:pPr algn="l"/>
            <a:r>
              <a:rPr sz="750" b="0" i="0">
                <a:solidFill>
                  <a:srgbClr val="5A6472"/>
                </a:solidFill>
                <a:latin typeface="Sora"/>
              </a:rPr>
              <a:t>Largest persona; 84.3% leave for the fee</a:t>
            </a:r>
          </a:p>
        </p:txBody>
      </p:sp>
      <p:sp>
        <p:nvSpPr>
          <p:cNvPr id="18" name="Rounded Rectangle 17"/>
          <p:cNvSpPr/>
          <p:nvPr/>
        </p:nvSpPr>
        <p:spPr>
          <a:xfrm>
            <a:off x="548640" y="2670048"/>
            <a:ext cx="5760720" cy="374904"/>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688336"/>
            <a:ext cx="1325880" cy="338328"/>
          </a:xfrm>
          <a:prstGeom prst="rect">
            <a:avLst/>
          </a:prstGeom>
          <a:noFill/>
        </p:spPr>
        <p:txBody>
          <a:bodyPr wrap="square" lIns="0" rIns="0" tIns="0" bIns="0" anchor="ctr">
            <a:spAutoFit/>
          </a:bodyPr>
          <a:lstStyle/>
          <a:p>
            <a:pPr algn="l"/>
            <a:r>
              <a:rPr sz="850" b="0" i="0">
                <a:solidFill>
                  <a:srgbClr val="5A6472"/>
                </a:solidFill>
                <a:latin typeface="Sora"/>
              </a:rPr>
              <a:t>Brochure page</a:t>
            </a:r>
          </a:p>
        </p:txBody>
      </p:sp>
      <p:sp>
        <p:nvSpPr>
          <p:cNvPr id="20" name="TextBox 19"/>
          <p:cNvSpPr txBox="1"/>
          <p:nvPr/>
        </p:nvSpPr>
        <p:spPr>
          <a:xfrm>
            <a:off x="2011680" y="2688336"/>
            <a:ext cx="411480" cy="338328"/>
          </a:xfrm>
          <a:prstGeom prst="rect">
            <a:avLst/>
          </a:prstGeom>
          <a:noFill/>
        </p:spPr>
        <p:txBody>
          <a:bodyPr wrap="square" lIns="0" rIns="0" tIns="0" bIns="0" anchor="ctr">
            <a:spAutoFit/>
          </a:bodyPr>
          <a:lstStyle/>
          <a:p>
            <a:pPr algn="l"/>
            <a:r>
              <a:rPr sz="900" b="1" i="0">
                <a:solidFill>
                  <a:srgbClr val="C8102E"/>
                </a:solidFill>
                <a:latin typeface="Sora"/>
              </a:rPr>
              <a:t>T7</a:t>
            </a:r>
          </a:p>
        </p:txBody>
      </p:sp>
      <p:sp>
        <p:nvSpPr>
          <p:cNvPr id="21" name="TextBox 20"/>
          <p:cNvSpPr txBox="1"/>
          <p:nvPr/>
        </p:nvSpPr>
        <p:spPr>
          <a:xfrm>
            <a:off x="2423160" y="2688336"/>
            <a:ext cx="1874519" cy="338328"/>
          </a:xfrm>
          <a:prstGeom prst="rect">
            <a:avLst/>
          </a:prstGeom>
          <a:noFill/>
        </p:spPr>
        <p:txBody>
          <a:bodyPr wrap="square" lIns="0" rIns="0" tIns="0" bIns="0" anchor="ctr">
            <a:spAutoFit/>
          </a:bodyPr>
          <a:lstStyle/>
          <a:p>
            <a:pPr algn="l"/>
            <a:r>
              <a:rPr sz="850" b="1" i="0">
                <a:solidFill>
                  <a:srgbClr val="0F2C5C"/>
                </a:solidFill>
                <a:latin typeface="Sora"/>
              </a:rPr>
              <a:t>Programme prospectus</a:t>
            </a:r>
          </a:p>
        </p:txBody>
      </p:sp>
      <p:sp>
        <p:nvSpPr>
          <p:cNvPr id="22" name="TextBox 21"/>
          <p:cNvSpPr txBox="1"/>
          <p:nvPr/>
        </p:nvSpPr>
        <p:spPr>
          <a:xfrm>
            <a:off x="4315968" y="2688336"/>
            <a:ext cx="1920240" cy="338328"/>
          </a:xfrm>
          <a:prstGeom prst="rect">
            <a:avLst/>
          </a:prstGeom>
          <a:noFill/>
        </p:spPr>
        <p:txBody>
          <a:bodyPr wrap="square" lIns="0" rIns="0" tIns="0" bIns="0" anchor="ctr">
            <a:spAutoFit/>
          </a:bodyPr>
          <a:lstStyle/>
          <a:p>
            <a:pPr algn="l"/>
            <a:r>
              <a:rPr sz="750" b="0" i="0">
                <a:solidFill>
                  <a:srgbClr val="5A6472"/>
                </a:solidFill>
                <a:latin typeface="Sora"/>
              </a:rPr>
              <a:t>2,746 downloads, 4 form submits</a:t>
            </a:r>
          </a:p>
        </p:txBody>
      </p:sp>
      <p:sp>
        <p:nvSpPr>
          <p:cNvPr id="23" name="Rounded Rectangle 22"/>
          <p:cNvSpPr/>
          <p:nvPr/>
        </p:nvSpPr>
        <p:spPr>
          <a:xfrm>
            <a:off x="548640" y="3099815"/>
            <a:ext cx="5760720" cy="374904"/>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118103"/>
            <a:ext cx="1325880" cy="338328"/>
          </a:xfrm>
          <a:prstGeom prst="rect">
            <a:avLst/>
          </a:prstGeom>
          <a:noFill/>
        </p:spPr>
        <p:txBody>
          <a:bodyPr wrap="square" lIns="0" rIns="0" tIns="0" bIns="0" anchor="ctr">
            <a:spAutoFit/>
          </a:bodyPr>
          <a:lstStyle/>
          <a:p>
            <a:pPr algn="l"/>
            <a:r>
              <a:rPr sz="850" b="0" i="0">
                <a:solidFill>
                  <a:srgbClr val="5A6472"/>
                </a:solidFill>
                <a:latin typeface="Sora"/>
              </a:rPr>
              <a:t>Awards</a:t>
            </a:r>
          </a:p>
        </p:txBody>
      </p:sp>
      <p:sp>
        <p:nvSpPr>
          <p:cNvPr id="25" name="TextBox 24"/>
          <p:cNvSpPr txBox="1"/>
          <p:nvPr/>
        </p:nvSpPr>
        <p:spPr>
          <a:xfrm>
            <a:off x="2011680" y="3118103"/>
            <a:ext cx="411480" cy="338328"/>
          </a:xfrm>
          <a:prstGeom prst="rect">
            <a:avLst/>
          </a:prstGeom>
          <a:noFill/>
        </p:spPr>
        <p:txBody>
          <a:bodyPr wrap="square" lIns="0" rIns="0" tIns="0" bIns="0" anchor="ctr">
            <a:spAutoFit/>
          </a:bodyPr>
          <a:lstStyle/>
          <a:p>
            <a:pPr algn="l"/>
            <a:r>
              <a:rPr sz="900" b="1" i="0">
                <a:solidFill>
                  <a:srgbClr val="C8102E"/>
                </a:solidFill>
                <a:latin typeface="Sora"/>
              </a:rPr>
              <a:t>T9</a:t>
            </a:r>
          </a:p>
        </p:txBody>
      </p:sp>
      <p:sp>
        <p:nvSpPr>
          <p:cNvPr id="26" name="TextBox 25"/>
          <p:cNvSpPr txBox="1"/>
          <p:nvPr/>
        </p:nvSpPr>
        <p:spPr>
          <a:xfrm>
            <a:off x="2423160" y="3118103"/>
            <a:ext cx="1874519" cy="338328"/>
          </a:xfrm>
          <a:prstGeom prst="rect">
            <a:avLst/>
          </a:prstGeom>
          <a:noFill/>
        </p:spPr>
        <p:txBody>
          <a:bodyPr wrap="square" lIns="0" rIns="0" tIns="0" bIns="0" anchor="ctr">
            <a:spAutoFit/>
          </a:bodyPr>
          <a:lstStyle/>
          <a:p>
            <a:pPr algn="l"/>
            <a:r>
              <a:rPr sz="850" b="1" i="0">
                <a:solidFill>
                  <a:srgbClr val="0F2C5C"/>
                </a:solidFill>
                <a:latin typeface="Sora"/>
              </a:rPr>
              <a:t>Award → programme links</a:t>
            </a:r>
          </a:p>
        </p:txBody>
      </p:sp>
      <p:sp>
        <p:nvSpPr>
          <p:cNvPr id="27" name="TextBox 26"/>
          <p:cNvSpPr txBox="1"/>
          <p:nvPr/>
        </p:nvSpPr>
        <p:spPr>
          <a:xfrm>
            <a:off x="4315968" y="3118103"/>
            <a:ext cx="1920240" cy="338328"/>
          </a:xfrm>
          <a:prstGeom prst="rect">
            <a:avLst/>
          </a:prstGeom>
          <a:noFill/>
        </p:spPr>
        <p:txBody>
          <a:bodyPr wrap="square" lIns="0" rIns="0" tIns="0" bIns="0" anchor="ctr">
            <a:spAutoFit/>
          </a:bodyPr>
          <a:lstStyle/>
          <a:p>
            <a:pPr algn="l"/>
            <a:r>
              <a:rPr sz="750" b="0" i="0">
                <a:solidFill>
                  <a:srgbClr val="5A6472"/>
                </a:solidFill>
                <a:latin typeface="Sora"/>
              </a:rPr>
              <a:t>S effort; 67% bounce today</a:t>
            </a:r>
          </a:p>
        </p:txBody>
      </p:sp>
      <p:sp>
        <p:nvSpPr>
          <p:cNvPr id="28" name="Rounded Rectangle 27"/>
          <p:cNvSpPr/>
          <p:nvPr/>
        </p:nvSpPr>
        <p:spPr>
          <a:xfrm>
            <a:off x="548640" y="3529584"/>
            <a:ext cx="5760720" cy="374904"/>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547872"/>
            <a:ext cx="1325880" cy="338328"/>
          </a:xfrm>
          <a:prstGeom prst="rect">
            <a:avLst/>
          </a:prstGeom>
          <a:noFill/>
        </p:spPr>
        <p:txBody>
          <a:bodyPr wrap="square" lIns="0" rIns="0" tIns="0" bIns="0" anchor="ctr">
            <a:spAutoFit/>
          </a:bodyPr>
          <a:lstStyle/>
          <a:p>
            <a:pPr algn="l"/>
            <a:r>
              <a:rPr sz="850" b="0" i="0">
                <a:solidFill>
                  <a:srgbClr val="5A6472"/>
                </a:solidFill>
                <a:latin typeface="Sora"/>
              </a:rPr>
              <a:t>Institution root</a:t>
            </a:r>
          </a:p>
        </p:txBody>
      </p:sp>
      <p:sp>
        <p:nvSpPr>
          <p:cNvPr id="30" name="TextBox 29"/>
          <p:cNvSpPr txBox="1"/>
          <p:nvPr/>
        </p:nvSpPr>
        <p:spPr>
          <a:xfrm>
            <a:off x="2011680" y="3547872"/>
            <a:ext cx="411480" cy="338328"/>
          </a:xfrm>
          <a:prstGeom prst="rect">
            <a:avLst/>
          </a:prstGeom>
          <a:noFill/>
        </p:spPr>
        <p:txBody>
          <a:bodyPr wrap="square" lIns="0" rIns="0" tIns="0" bIns="0" anchor="ctr">
            <a:spAutoFit/>
          </a:bodyPr>
          <a:lstStyle/>
          <a:p>
            <a:pPr algn="l"/>
            <a:r>
              <a:rPr sz="900" b="1" i="0">
                <a:solidFill>
                  <a:srgbClr val="C8102E"/>
                </a:solidFill>
                <a:latin typeface="Sora"/>
              </a:rPr>
              <a:t>T12</a:t>
            </a:r>
          </a:p>
        </p:txBody>
      </p:sp>
      <p:sp>
        <p:nvSpPr>
          <p:cNvPr id="31" name="TextBox 30"/>
          <p:cNvSpPr txBox="1"/>
          <p:nvPr/>
        </p:nvSpPr>
        <p:spPr>
          <a:xfrm>
            <a:off x="2423160" y="3547872"/>
            <a:ext cx="1874519" cy="338328"/>
          </a:xfrm>
          <a:prstGeom prst="rect">
            <a:avLst/>
          </a:prstGeom>
          <a:noFill/>
        </p:spPr>
        <p:txBody>
          <a:bodyPr wrap="square" lIns="0" rIns="0" tIns="0" bIns="0" anchor="ctr">
            <a:spAutoFit/>
          </a:bodyPr>
          <a:lstStyle/>
          <a:p>
            <a:pPr algn="l"/>
            <a:r>
              <a:rPr sz="850" b="1" i="0">
                <a:solidFill>
                  <a:srgbClr val="0F2C5C"/>
                </a:solidFill>
                <a:latin typeface="Sora"/>
              </a:rPr>
              <a:t>Compare MRIIRS &amp; MRU</a:t>
            </a:r>
          </a:p>
        </p:txBody>
      </p:sp>
      <p:sp>
        <p:nvSpPr>
          <p:cNvPr id="32" name="TextBox 31"/>
          <p:cNvSpPr txBox="1"/>
          <p:nvPr/>
        </p:nvSpPr>
        <p:spPr>
          <a:xfrm>
            <a:off x="4315968" y="3547872"/>
            <a:ext cx="1920240" cy="338328"/>
          </a:xfrm>
          <a:prstGeom prst="rect">
            <a:avLst/>
          </a:prstGeom>
          <a:noFill/>
        </p:spPr>
        <p:txBody>
          <a:bodyPr wrap="square" lIns="0" rIns="0" tIns="0" bIns="0" anchor="ctr">
            <a:spAutoFit/>
          </a:bodyPr>
          <a:lstStyle/>
          <a:p>
            <a:pPr algn="l"/>
            <a:r>
              <a:rPr sz="750" b="0" i="0">
                <a:solidFill>
                  <a:srgbClr val="5A6472"/>
                </a:solidFill>
                <a:latin typeface="Sora"/>
              </a:rPr>
              <a:t>Adds to the benchmark, doesn’t replace it</a:t>
            </a:r>
          </a:p>
        </p:txBody>
      </p:sp>
      <p:sp>
        <p:nvSpPr>
          <p:cNvPr id="33" name="Rounded Rectangle 32"/>
          <p:cNvSpPr/>
          <p:nvPr/>
        </p:nvSpPr>
        <p:spPr>
          <a:xfrm>
            <a:off x="548640" y="3959352"/>
            <a:ext cx="5760720" cy="374904"/>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977639"/>
            <a:ext cx="1325880" cy="338328"/>
          </a:xfrm>
          <a:prstGeom prst="rect">
            <a:avLst/>
          </a:prstGeom>
          <a:noFill/>
        </p:spPr>
        <p:txBody>
          <a:bodyPr wrap="square" lIns="0" rIns="0" tIns="0" bIns="0" anchor="ctr">
            <a:spAutoFit/>
          </a:bodyPr>
          <a:lstStyle/>
          <a:p>
            <a:pPr algn="l"/>
            <a:r>
              <a:rPr sz="850" b="0" i="0">
                <a:solidFill>
                  <a:srgbClr val="5A6472"/>
                </a:solidFill>
                <a:latin typeface="Sora"/>
              </a:rPr>
              <a:t>Homepage</a:t>
            </a:r>
          </a:p>
        </p:txBody>
      </p:sp>
      <p:sp>
        <p:nvSpPr>
          <p:cNvPr id="35" name="TextBox 34"/>
          <p:cNvSpPr txBox="1"/>
          <p:nvPr/>
        </p:nvSpPr>
        <p:spPr>
          <a:xfrm>
            <a:off x="2011680" y="3977639"/>
            <a:ext cx="411480" cy="338328"/>
          </a:xfrm>
          <a:prstGeom prst="rect">
            <a:avLst/>
          </a:prstGeom>
          <a:noFill/>
        </p:spPr>
        <p:txBody>
          <a:bodyPr wrap="square" lIns="0" rIns="0" tIns="0" bIns="0" anchor="ctr">
            <a:spAutoFit/>
          </a:bodyPr>
          <a:lstStyle/>
          <a:p>
            <a:pPr algn="l"/>
            <a:r>
              <a:rPr sz="900" b="1" i="0">
                <a:solidFill>
                  <a:srgbClr val="C8102E"/>
                </a:solidFill>
                <a:latin typeface="Sora"/>
              </a:rPr>
              <a:t>T14</a:t>
            </a:r>
          </a:p>
        </p:txBody>
      </p:sp>
      <p:sp>
        <p:nvSpPr>
          <p:cNvPr id="36" name="TextBox 35"/>
          <p:cNvSpPr txBox="1"/>
          <p:nvPr/>
        </p:nvSpPr>
        <p:spPr>
          <a:xfrm>
            <a:off x="2423160" y="3977639"/>
            <a:ext cx="1874519" cy="338328"/>
          </a:xfrm>
          <a:prstGeom prst="rect">
            <a:avLst/>
          </a:prstGeom>
          <a:noFill/>
        </p:spPr>
        <p:txBody>
          <a:bodyPr wrap="square" lIns="0" rIns="0" tIns="0" bIns="0" anchor="ctr">
            <a:spAutoFit/>
          </a:bodyPr>
          <a:lstStyle/>
          <a:p>
            <a:pPr algn="l"/>
            <a:r>
              <a:rPr sz="850" b="1" i="0">
                <a:solidFill>
                  <a:srgbClr val="0F2C5C"/>
                </a:solidFill>
                <a:latin typeface="Sora"/>
              </a:rPr>
              <a:t>Three-way intent router</a:t>
            </a:r>
          </a:p>
        </p:txBody>
      </p:sp>
      <p:sp>
        <p:nvSpPr>
          <p:cNvPr id="37" name="TextBox 36"/>
          <p:cNvSpPr txBox="1"/>
          <p:nvPr/>
        </p:nvSpPr>
        <p:spPr>
          <a:xfrm>
            <a:off x="4315968" y="3977639"/>
            <a:ext cx="1920240" cy="338328"/>
          </a:xfrm>
          <a:prstGeom prst="rect">
            <a:avLst/>
          </a:prstGeom>
          <a:noFill/>
        </p:spPr>
        <p:txBody>
          <a:bodyPr wrap="square" lIns="0" rIns="0" tIns="0" bIns="0" anchor="ctr">
            <a:spAutoFit/>
          </a:bodyPr>
          <a:lstStyle/>
          <a:p>
            <a:pPr algn="l"/>
            <a:r>
              <a:rPr sz="750" b="0" i="0">
                <a:solidFill>
                  <a:srgbClr val="5A6472"/>
                </a:solidFill>
                <a:latin typeface="Sora"/>
              </a:rPr>
              <a:t>36% of landings, persona unknown</a:t>
            </a:r>
          </a:p>
        </p:txBody>
      </p:sp>
      <p:sp>
        <p:nvSpPr>
          <p:cNvPr id="38" name="TextBox 37"/>
          <p:cNvSpPr txBox="1"/>
          <p:nvPr/>
        </p:nvSpPr>
        <p:spPr>
          <a:xfrm>
            <a:off x="548640" y="4462272"/>
            <a:ext cx="5760720" cy="201168"/>
          </a:xfrm>
          <a:prstGeom prst="rect">
            <a:avLst/>
          </a:prstGeom>
          <a:noFill/>
        </p:spPr>
        <p:txBody>
          <a:bodyPr wrap="square" lIns="0" rIns="0" tIns="0" bIns="0" anchor="t">
            <a:spAutoFit/>
          </a:bodyPr>
          <a:lstStyle/>
          <a:p>
            <a:pPr algn="l"/>
            <a:r>
              <a:rPr sz="800" b="1" i="0">
                <a:solidFill>
                  <a:srgbClr val="C8102E"/>
                </a:solidFill>
                <a:latin typeface="Sora"/>
              </a:rPr>
              <a:t>WAVE 2 — AS WAVE 1 DECIDES</a:t>
            </a:r>
          </a:p>
        </p:txBody>
      </p:sp>
      <p:sp>
        <p:nvSpPr>
          <p:cNvPr id="39" name="TextBox 38"/>
          <p:cNvSpPr txBox="1"/>
          <p:nvPr/>
        </p:nvSpPr>
        <p:spPr>
          <a:xfrm>
            <a:off x="548640" y="4700016"/>
            <a:ext cx="5760720" cy="1600200"/>
          </a:xfrm>
          <a:prstGeom prst="rect">
            <a:avLst/>
          </a:prstGeom>
          <a:noFill/>
        </p:spPr>
        <p:txBody>
          <a:bodyPr wrap="square" lIns="0" rIns="0" tIns="0" bIns="0" anchor="t">
            <a:spAutoFit/>
          </a:bodyPr>
          <a:lstStyle/>
          <a:p>
            <a:pPr algn="l">
              <a:spcAft>
                <a:spcPts val="400"/>
              </a:spcAft>
            </a:pPr>
            <a:r>
              <a:rPr sz="900" b="1" i="0">
                <a:solidFill>
                  <a:srgbClr val="0F2C5C"/>
                </a:solidFill>
                <a:latin typeface="Sora"/>
              </a:rPr>
              <a:t>T2, T3 </a:t>
            </a:r>
            <a:r>
              <a:rPr sz="900" b="0" i="0">
                <a:solidFill>
                  <a:srgbClr val="5A6472"/>
                </a:solidFill>
                <a:latin typeface="Sora"/>
              </a:rPr>
              <a:t>fee page, after T1 · </a:t>
            </a:r>
            <a:r>
              <a:rPr sz="900" b="1" i="0">
                <a:solidFill>
                  <a:srgbClr val="0F2C5C"/>
                </a:solidFill>
                <a:latin typeface="Sora"/>
              </a:rPr>
              <a:t>T4, T6 </a:t>
            </a:r>
            <a:r>
              <a:rPr sz="900" b="0" i="0">
                <a:solidFill>
                  <a:srgbClr val="5A6472"/>
                </a:solidFill>
                <a:latin typeface="Sora"/>
              </a:rPr>
              <a:t>course page, after T5</a:t>
            </a:r>
          </a:p>
          <a:p>
            <a:pPr algn="l">
              <a:spcAft>
                <a:spcPts val="400"/>
              </a:spcAft>
            </a:pPr>
            <a:r>
              <a:rPr sz="900" b="1" i="0">
                <a:solidFill>
                  <a:srgbClr val="0F2C5C"/>
                </a:solidFill>
                <a:latin typeface="Sora"/>
              </a:rPr>
              <a:t>T8 </a:t>
            </a:r>
            <a:r>
              <a:rPr sz="900" b="0" i="0">
                <a:solidFill>
                  <a:srgbClr val="5A6472"/>
                </a:solidFill>
                <a:latin typeface="Sora"/>
              </a:rPr>
              <a:t>only once MREI confirms the proof claims</a:t>
            </a:r>
          </a:p>
          <a:p>
            <a:pPr algn="l">
              <a:spcAft>
                <a:spcPts val="400"/>
              </a:spcAft>
            </a:pPr>
            <a:r>
              <a:rPr sz="900" b="1" i="0">
                <a:solidFill>
                  <a:srgbClr val="0F2C5C"/>
                </a:solidFill>
                <a:latin typeface="Sora"/>
              </a:rPr>
              <a:t>T10, T11 </a:t>
            </a:r>
            <a:r>
              <a:rPr sz="900" b="0" i="0">
                <a:solidFill>
                  <a:srgbClr val="5A6472"/>
                </a:solidFill>
                <a:latin typeface="Sora"/>
              </a:rPr>
              <a:t>only once blog traffic and scroll tracking are validated</a:t>
            </a:r>
          </a:p>
          <a:p>
            <a:pPr algn="l">
              <a:spcAft>
                <a:spcPts val="400"/>
              </a:spcAft>
            </a:pPr>
            <a:r>
              <a:rPr sz="900" b="1" i="0">
                <a:solidFill>
                  <a:srgbClr val="0F2C5C"/>
                </a:solidFill>
                <a:latin typeface="Sora"/>
              </a:rPr>
              <a:t>T13 </a:t>
            </a:r>
            <a:r>
              <a:rPr sz="900" b="0" i="0">
                <a:solidFill>
                  <a:srgbClr val="5A6472"/>
                </a:solidFill>
                <a:latin typeface="Sora"/>
              </a:rPr>
              <a:t>sitewide sticky — runs alone, because it touches every template</a:t>
            </a:r>
          </a:p>
        </p:txBody>
      </p:sp>
      <p:sp>
        <p:nvSpPr>
          <p:cNvPr id="40" name="Rounded Rectangle 39"/>
          <p:cNvSpPr/>
          <p:nvPr/>
        </p:nvSpPr>
        <p:spPr>
          <a:xfrm>
            <a:off x="6583680" y="1536192"/>
            <a:ext cx="5029200" cy="2331720"/>
          </a:xfrm>
          <a:prstGeom prst="roundRect">
            <a:avLst>
              <a:gd name="adj" fmla="val 5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12280" y="1682496"/>
            <a:ext cx="4572000" cy="201168"/>
          </a:xfrm>
          <a:prstGeom prst="rect">
            <a:avLst/>
          </a:prstGeom>
          <a:noFill/>
        </p:spPr>
        <p:txBody>
          <a:bodyPr wrap="square" lIns="0" rIns="0" tIns="0" bIns="0" anchor="t">
            <a:spAutoFit/>
          </a:bodyPr>
          <a:lstStyle/>
          <a:p>
            <a:pPr algn="l"/>
            <a:r>
              <a:rPr sz="800" b="1" i="0">
                <a:solidFill>
                  <a:srgbClr val="FF8095"/>
                </a:solidFill>
                <a:latin typeface="Sora"/>
              </a:rPr>
              <a:t>DECISION RULES — AGREED BEFORE LAUNCH</a:t>
            </a:r>
          </a:p>
        </p:txBody>
      </p:sp>
      <p:sp>
        <p:nvSpPr>
          <p:cNvPr id="42" name="TextBox 41"/>
          <p:cNvSpPr txBox="1"/>
          <p:nvPr/>
        </p:nvSpPr>
        <p:spPr>
          <a:xfrm>
            <a:off x="6812280" y="1956816"/>
            <a:ext cx="4572000" cy="2286000"/>
          </a:xfrm>
          <a:prstGeom prst="rect">
            <a:avLst/>
          </a:prstGeom>
          <a:noFill/>
        </p:spPr>
        <p:txBody>
          <a:bodyPr wrap="square" lIns="0" rIns="0" tIns="0" bIns="0" anchor="t">
            <a:spAutoFit/>
          </a:bodyPr>
          <a:lstStyle/>
          <a:p>
            <a:pPr algn="l">
              <a:spcAft>
                <a:spcPts val="500"/>
              </a:spcAft>
            </a:pPr>
            <a:r>
              <a:rPr sz="1000" b="0" i="0">
                <a:solidFill>
                  <a:srgbClr val="FFFFFF"/>
                </a:solidFill>
                <a:latin typeface="Sora"/>
              </a:rPr>
              <a:t>One primary metric, one guardrail and a minimum detectable effect per test, sized from the Phase 0 baseline.</a:t>
            </a:r>
          </a:p>
          <a:p>
            <a:pPr algn="l">
              <a:spcAft>
                <a:spcPts val="500"/>
              </a:spcAft>
            </a:pPr>
            <a:r>
              <a:rPr sz="1000" b="0" i="0">
                <a:solidFill>
                  <a:srgbClr val="FFFFFF"/>
                </a:solidFill>
                <a:latin typeface="Sora"/>
              </a:rPr>
              <a:t>Run at least two full weeks and to the pre-set sample — no peeking.</a:t>
            </a:r>
          </a:p>
          <a:p>
            <a:pPr algn="l">
              <a:spcAft>
                <a:spcPts val="500"/>
              </a:spcAft>
            </a:pPr>
            <a:r>
              <a:rPr sz="1000" b="0" i="0">
                <a:solidFill>
                  <a:srgbClr val="FFFFFF"/>
                </a:solidFill>
                <a:latin typeface="Sora"/>
              </a:rPr>
              <a:t>Scale if the primary metric wins at 95% confidence and the guardrail holds within −5%.</a:t>
            </a:r>
          </a:p>
          <a:p>
            <a:pPr algn="l">
              <a:spcAft>
                <a:spcPts val="500"/>
              </a:spcAft>
            </a:pPr>
            <a:r>
              <a:rPr sz="1000" b="0" i="0">
                <a:solidFill>
                  <a:srgbClr val="FFFFFF"/>
                </a:solidFill>
                <a:latin typeface="Sora"/>
              </a:rPr>
              <a:t>Stop early only on a guardrail breach. A loss is written up as carefully as a win.</a:t>
            </a:r>
          </a:p>
        </p:txBody>
      </p:sp>
      <p:sp>
        <p:nvSpPr>
          <p:cNvPr id="43" name="Rounded Rectangle 42"/>
          <p:cNvSpPr/>
          <p:nvPr/>
        </p:nvSpPr>
        <p:spPr>
          <a:xfrm>
            <a:off x="6583680" y="4050791"/>
            <a:ext cx="5029200" cy="192024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12280" y="4160520"/>
            <a:ext cx="2926080" cy="201168"/>
          </a:xfrm>
          <a:prstGeom prst="rect">
            <a:avLst/>
          </a:prstGeom>
          <a:noFill/>
        </p:spPr>
        <p:txBody>
          <a:bodyPr wrap="square" lIns="0" rIns="0" tIns="0" bIns="0" anchor="t">
            <a:spAutoFit/>
          </a:bodyPr>
          <a:lstStyle/>
          <a:p>
            <a:pPr algn="l"/>
            <a:r>
              <a:rPr sz="800" b="1" i="0">
                <a:solidFill>
                  <a:srgbClr val="B26B00"/>
                </a:solidFill>
                <a:latin typeface="Sora"/>
              </a:rPr>
              <a:t>THE ADMISSIONS CALENDAR</a:t>
            </a:r>
          </a:p>
        </p:txBody>
      </p:sp>
      <p:sp>
        <p:nvSpPr>
          <p:cNvPr id="45" name="Rounded Rectangle 44"/>
          <p:cNvSpPr/>
          <p:nvPr/>
        </p:nvSpPr>
        <p:spPr>
          <a:xfrm>
            <a:off x="10378440" y="4151376"/>
            <a:ext cx="937259" cy="201168"/>
          </a:xfrm>
          <a:prstGeom prst="roundRect">
            <a:avLst>
              <a:gd name="adj" fmla="val 50000"/>
            </a:avLst>
          </a:prstGeom>
          <a:solidFill>
            <a:srgbClr val="FFF3DC"/>
          </a:solidFill>
          <a:ln w="635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TO VALIDATE</a:t>
            </a:r>
          </a:p>
        </p:txBody>
      </p:sp>
      <p:sp>
        <p:nvSpPr>
          <p:cNvPr id="46" name="TextBox 45"/>
          <p:cNvSpPr txBox="1"/>
          <p:nvPr/>
        </p:nvSpPr>
        <p:spPr>
          <a:xfrm>
            <a:off x="6812280" y="4434840"/>
            <a:ext cx="4572000" cy="1463040"/>
          </a:xfrm>
          <a:prstGeom prst="rect">
            <a:avLst/>
          </a:prstGeom>
          <a:noFill/>
        </p:spPr>
        <p:txBody>
          <a:bodyPr wrap="square" lIns="0" rIns="0" tIns="0" bIns="0" anchor="t">
            <a:spAutoFit/>
          </a:bodyPr>
          <a:lstStyle/>
          <a:p>
            <a:pPr algn="l">
              <a:spcAft>
                <a:spcPts val="400"/>
              </a:spcAft>
            </a:pPr>
            <a:r>
              <a:rPr sz="950" b="0" i="0">
                <a:solidFill>
                  <a:srgbClr val="0F2C5C"/>
                </a:solidFill>
                <a:latin typeface="Sora"/>
              </a:rPr>
              <a:t>Agree a freeze window with MREI admissions around results and counselling weeks: reversible changes only.</a:t>
            </a:r>
          </a:p>
          <a:p>
            <a:pPr algn="l">
              <a:spcAft>
                <a:spcPts val="400"/>
              </a:spcAft>
            </a:pPr>
            <a:r>
              <a:rPr sz="950" b="0" i="0">
                <a:solidFill>
                  <a:srgbClr val="0F2C5C"/>
                </a:solidFill>
                <a:latin typeface="Sora"/>
              </a:rPr>
              <a:t>Never pause campaigns to create a control; split the traffic already arriving.</a:t>
            </a:r>
          </a:p>
          <a:p>
            <a:pPr algn="l">
              <a:spcAft>
                <a:spcPts val="400"/>
              </a:spcAft>
            </a:pPr>
            <a:r>
              <a:rPr sz="950" b="0" i="0">
                <a:solidFill>
                  <a:srgbClr val="0F2C5C"/>
                </a:solidFill>
                <a:latin typeface="Sora"/>
              </a:rPr>
              <a:t>Every result feeds a pattern library: observe → hypothesise → prioritise → run → decide.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509760" cy="182880"/>
          </a:xfrm>
          <a:prstGeom prst="rect">
            <a:avLst/>
          </a:prstGeom>
          <a:noFill/>
        </p:spPr>
        <p:txBody>
          <a:bodyPr wrap="square" lIns="0" rIns="0" tIns="0" bIns="0" anchor="t">
            <a:spAutoFit/>
          </a:bodyPr>
          <a:lstStyle/>
          <a:p>
            <a:pPr algn="l"/>
            <a:r>
              <a:rPr sz="900" b="1" i="0">
                <a:solidFill>
                  <a:srgbClr val="C8102E"/>
                </a:solidFill>
                <a:latin typeface="Sora"/>
              </a:rPr>
              <a:t>BEFORE WE START  ·  WHAT WE WOULD NOT DO</a:t>
            </a:r>
          </a:p>
        </p:txBody>
      </p:sp>
      <p:sp>
        <p:nvSpPr>
          <p:cNvPr id="3" name="TextBox 2"/>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Six things we would deliberately not do</a:t>
            </a:r>
          </a:p>
        </p:txBody>
      </p:sp>
      <p:sp>
        <p:nvSpPr>
          <p:cNvPr id="4" name="TextBox 3"/>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Each one protects something that works, or stops the programme measuring noise</a:t>
            </a:r>
          </a:p>
        </p:txBody>
      </p:sp>
      <p:sp>
        <p:nvSpPr>
          <p:cNvPr id="5" name="TextBox 4"/>
          <p:cNvSpPr txBox="1"/>
          <p:nvPr/>
        </p:nvSpPr>
        <p:spPr>
          <a:xfrm>
            <a:off x="548640" y="6473952"/>
            <a:ext cx="11064240" cy="201168"/>
          </a:xfrm>
          <a:prstGeom prst="rect">
            <a:avLst/>
          </a:prstGeom>
          <a:noFill/>
        </p:spPr>
        <p:txBody>
          <a:bodyPr wrap="square" lIns="0" rIns="0" tIns="0" bIns="0" anchor="t">
            <a:spAutoFit/>
          </a:bodyPr>
          <a:lstStyle/>
          <a:p>
            <a:pPr algn="l"/>
            <a:r>
              <a:rPr sz="750" b="0" i="0">
                <a:solidFill>
                  <a:srgbClr val="96A1B0"/>
                </a:solidFill>
                <a:latin typeface="Sora"/>
              </a:rPr>
              <a:t>Source: GA4 explorations, 13 Jun – 10 Sept 2026 · GA4 event export by page type · Live site audit and official MREI pages, 24 Sept 2026.</a:t>
            </a:r>
          </a:p>
        </p:txBody>
      </p:sp>
      <p:sp>
        <p:nvSpPr>
          <p:cNvPr id="6" name="Rounded Rectangle 5"/>
          <p:cNvSpPr/>
          <p:nvPr/>
        </p:nvSpPr>
        <p:spPr>
          <a:xfrm>
            <a:off x="548640" y="1600200"/>
            <a:ext cx="3566160" cy="21945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84048" cy="38404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384048" cy="384048"/>
          </a:xfrm>
          <a:prstGeom prst="rect">
            <a:avLst/>
          </a:prstGeom>
          <a:noFill/>
        </p:spPr>
        <p:txBody>
          <a:bodyPr wrap="square" lIns="0" rIns="0" tIns="0" bIns="0" anchor="ctr">
            <a:spAutoFit/>
          </a:bodyPr>
          <a:lstStyle/>
          <a:p>
            <a:pPr algn="ctr"/>
            <a:r>
              <a:rPr sz="1200" b="1" i="0">
                <a:solidFill>
                  <a:srgbClr val="FFFFFF"/>
                </a:solidFill>
                <a:latin typeface="Sora"/>
              </a:rPr>
              <a:t>✕</a:t>
            </a:r>
          </a:p>
        </p:txBody>
      </p:sp>
      <p:sp>
        <p:nvSpPr>
          <p:cNvPr id="9" name="TextBox 8"/>
          <p:cNvSpPr txBox="1"/>
          <p:nvPr/>
        </p:nvSpPr>
        <p:spPr>
          <a:xfrm>
            <a:off x="777240" y="2377440"/>
            <a:ext cx="3108960" cy="566928"/>
          </a:xfrm>
          <a:prstGeom prst="rect">
            <a:avLst/>
          </a:prstGeom>
          <a:noFill/>
        </p:spPr>
        <p:txBody>
          <a:bodyPr wrap="square" lIns="0" rIns="0" tIns="0" bIns="0" anchor="t">
            <a:spAutoFit/>
          </a:bodyPr>
          <a:lstStyle/>
          <a:p>
            <a:pPr algn="l"/>
            <a:r>
              <a:rPr sz="1300" b="1" i="0">
                <a:solidFill>
                  <a:srgbClr val="0F2C5C"/>
                </a:solidFill>
                <a:latin typeface="Sora"/>
              </a:rPr>
              <a:t>Gate fees, eligibility or curriculum</a:t>
            </a:r>
          </a:p>
        </p:txBody>
      </p:sp>
      <p:sp>
        <p:nvSpPr>
          <p:cNvPr id="10" name="TextBox 9"/>
          <p:cNvSpPr txBox="1"/>
          <p:nvPr/>
        </p:nvSpPr>
        <p:spPr>
          <a:xfrm>
            <a:off x="777240" y="2971800"/>
            <a:ext cx="3108960" cy="731520"/>
          </a:xfrm>
          <a:prstGeom prst="rect">
            <a:avLst/>
          </a:prstGeom>
          <a:noFill/>
        </p:spPr>
        <p:txBody>
          <a:bodyPr wrap="square" lIns="0" rIns="0" tIns="0" bIns="0" anchor="t">
            <a:spAutoFit/>
          </a:bodyPr>
          <a:lstStyle/>
          <a:p>
            <a:pPr algn="l"/>
            <a:r>
              <a:rPr sz="950" b="0" i="0">
                <a:solidFill>
                  <a:srgbClr val="5A6472"/>
                </a:solidFill>
                <a:latin typeface="Sora"/>
              </a:rPr>
              <a:t>Information stays free. Only the brochure gets an optional, honest exchange — T6 keeps the direct PDF.</a:t>
            </a:r>
          </a:p>
        </p:txBody>
      </p:sp>
      <p:sp>
        <p:nvSpPr>
          <p:cNvPr id="11" name="Rounded Rectangle 10"/>
          <p:cNvSpPr/>
          <p:nvPr/>
        </p:nvSpPr>
        <p:spPr>
          <a:xfrm>
            <a:off x="4297679" y="1600200"/>
            <a:ext cx="3566160" cy="21945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79" y="1828800"/>
            <a:ext cx="384048" cy="38404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79" y="1828800"/>
            <a:ext cx="384048" cy="384048"/>
          </a:xfrm>
          <a:prstGeom prst="rect">
            <a:avLst/>
          </a:prstGeom>
          <a:noFill/>
        </p:spPr>
        <p:txBody>
          <a:bodyPr wrap="square" lIns="0" rIns="0" tIns="0" bIns="0" anchor="ctr">
            <a:spAutoFit/>
          </a:bodyPr>
          <a:lstStyle/>
          <a:p>
            <a:pPr algn="ctr"/>
            <a:r>
              <a:rPr sz="1200" b="1" i="0">
                <a:solidFill>
                  <a:srgbClr val="FFFFFF"/>
                </a:solidFill>
                <a:latin typeface="Sora"/>
              </a:rPr>
              <a:t>✕</a:t>
            </a:r>
          </a:p>
        </p:txBody>
      </p:sp>
      <p:sp>
        <p:nvSpPr>
          <p:cNvPr id="14" name="TextBox 13"/>
          <p:cNvSpPr txBox="1"/>
          <p:nvPr/>
        </p:nvSpPr>
        <p:spPr>
          <a:xfrm>
            <a:off x="4526279" y="2377440"/>
            <a:ext cx="3108960" cy="566928"/>
          </a:xfrm>
          <a:prstGeom prst="rect">
            <a:avLst/>
          </a:prstGeom>
          <a:noFill/>
        </p:spPr>
        <p:txBody>
          <a:bodyPr wrap="square" lIns="0" rIns="0" tIns="0" bIns="0" anchor="t">
            <a:spAutoFit/>
          </a:bodyPr>
          <a:lstStyle/>
          <a:p>
            <a:pPr algn="l"/>
            <a:r>
              <a:rPr sz="1300" b="1" i="0">
                <a:solidFill>
                  <a:srgbClr val="0F2C5C"/>
                </a:solidFill>
                <a:latin typeface="Sora"/>
              </a:rPr>
              <a:t>Redesign /mriirs or /mru</a:t>
            </a:r>
          </a:p>
        </p:txBody>
      </p:sp>
      <p:sp>
        <p:nvSpPr>
          <p:cNvPr id="15" name="TextBox 14"/>
          <p:cNvSpPr txBox="1"/>
          <p:nvPr/>
        </p:nvSpPr>
        <p:spPr>
          <a:xfrm>
            <a:off x="4526279" y="2971800"/>
            <a:ext cx="3108960" cy="731520"/>
          </a:xfrm>
          <a:prstGeom prst="rect">
            <a:avLst/>
          </a:prstGeom>
          <a:noFill/>
        </p:spPr>
        <p:txBody>
          <a:bodyPr wrap="square" lIns="0" rIns="0" tIns="0" bIns="0" anchor="t">
            <a:spAutoFit/>
          </a:bodyPr>
          <a:lstStyle/>
          <a:p>
            <a:pPr algn="l"/>
            <a:r>
              <a:rPr sz="950" b="0" i="0">
                <a:solidFill>
                  <a:srgbClr val="5A6472"/>
                </a:solidFill>
                <a:latin typeface="Sora"/>
              </a:rPr>
              <a:t>The benchmark: 76.1% engagement and 517 of 613 Apply-MRIIRS clicks. Add to it; don’t replace it.</a:t>
            </a:r>
          </a:p>
        </p:txBody>
      </p:sp>
      <p:sp>
        <p:nvSpPr>
          <p:cNvPr id="16" name="Rounded Rectangle 15"/>
          <p:cNvSpPr/>
          <p:nvPr/>
        </p:nvSpPr>
        <p:spPr>
          <a:xfrm>
            <a:off x="8046719" y="1600200"/>
            <a:ext cx="3566160" cy="21945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75319" y="1828800"/>
            <a:ext cx="384048" cy="38404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828800"/>
            <a:ext cx="384048" cy="384048"/>
          </a:xfrm>
          <a:prstGeom prst="rect">
            <a:avLst/>
          </a:prstGeom>
          <a:noFill/>
        </p:spPr>
        <p:txBody>
          <a:bodyPr wrap="square" lIns="0" rIns="0" tIns="0" bIns="0" anchor="ctr">
            <a:spAutoFit/>
          </a:bodyPr>
          <a:lstStyle/>
          <a:p>
            <a:pPr algn="ctr"/>
            <a:r>
              <a:rPr sz="1200" b="1" i="0">
                <a:solidFill>
                  <a:srgbClr val="FFFFFF"/>
                </a:solidFill>
                <a:latin typeface="Sora"/>
              </a:rPr>
              <a:t>✕</a:t>
            </a:r>
          </a:p>
        </p:txBody>
      </p:sp>
      <p:sp>
        <p:nvSpPr>
          <p:cNvPr id="19" name="TextBox 18"/>
          <p:cNvSpPr txBox="1"/>
          <p:nvPr/>
        </p:nvSpPr>
        <p:spPr>
          <a:xfrm>
            <a:off x="8275319" y="2377440"/>
            <a:ext cx="3108960" cy="566928"/>
          </a:xfrm>
          <a:prstGeom prst="rect">
            <a:avLst/>
          </a:prstGeom>
          <a:noFill/>
        </p:spPr>
        <p:txBody>
          <a:bodyPr wrap="square" lIns="0" rIns="0" tIns="0" bIns="0" anchor="t">
            <a:spAutoFit/>
          </a:bodyPr>
          <a:lstStyle/>
          <a:p>
            <a:pPr algn="l"/>
            <a:r>
              <a:rPr sz="1300" b="1" i="0">
                <a:solidFill>
                  <a:srgbClr val="0F2C5C"/>
                </a:solidFill>
                <a:latin typeface="Sora"/>
              </a:rPr>
              <a:t>Start A/B tests before the lead event exists</a:t>
            </a:r>
          </a:p>
        </p:txBody>
      </p:sp>
      <p:sp>
        <p:nvSpPr>
          <p:cNvPr id="20" name="TextBox 19"/>
          <p:cNvSpPr txBox="1"/>
          <p:nvPr/>
        </p:nvSpPr>
        <p:spPr>
          <a:xfrm>
            <a:off x="8275319" y="2971800"/>
            <a:ext cx="3108960" cy="731520"/>
          </a:xfrm>
          <a:prstGeom prst="rect">
            <a:avLst/>
          </a:prstGeom>
          <a:noFill/>
        </p:spPr>
        <p:txBody>
          <a:bodyPr wrap="square" lIns="0" rIns="0" tIns="0" bIns="0" anchor="t">
            <a:spAutoFit/>
          </a:bodyPr>
          <a:lstStyle/>
          <a:p>
            <a:pPr algn="l"/>
            <a:r>
              <a:rPr sz="950" b="0" i="0">
                <a:solidFill>
                  <a:srgbClr val="5A6472"/>
                </a:solidFill>
                <a:latin typeface="Sora"/>
              </a:rPr>
              <a:t>form_submit exceeds form_start on course pages (209 vs 64). We would be measuring noise.</a:t>
            </a:r>
          </a:p>
        </p:txBody>
      </p:sp>
      <p:sp>
        <p:nvSpPr>
          <p:cNvPr id="21" name="Rounded Rectangle 20"/>
          <p:cNvSpPr/>
          <p:nvPr/>
        </p:nvSpPr>
        <p:spPr>
          <a:xfrm>
            <a:off x="548640" y="3977639"/>
            <a:ext cx="3566160" cy="21945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4206240"/>
            <a:ext cx="384048" cy="38404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206240"/>
            <a:ext cx="384048" cy="384048"/>
          </a:xfrm>
          <a:prstGeom prst="rect">
            <a:avLst/>
          </a:prstGeom>
          <a:noFill/>
        </p:spPr>
        <p:txBody>
          <a:bodyPr wrap="square" lIns="0" rIns="0" tIns="0" bIns="0" anchor="ctr">
            <a:spAutoFit/>
          </a:bodyPr>
          <a:lstStyle/>
          <a:p>
            <a:pPr algn="ctr"/>
            <a:r>
              <a:rPr sz="1200" b="1" i="0">
                <a:solidFill>
                  <a:srgbClr val="FFFFFF"/>
                </a:solidFill>
                <a:latin typeface="Sora"/>
              </a:rPr>
              <a:t>✕</a:t>
            </a:r>
          </a:p>
        </p:txBody>
      </p:sp>
      <p:sp>
        <p:nvSpPr>
          <p:cNvPr id="24" name="TextBox 23"/>
          <p:cNvSpPr txBox="1"/>
          <p:nvPr/>
        </p:nvSpPr>
        <p:spPr>
          <a:xfrm>
            <a:off x="777240" y="4754879"/>
            <a:ext cx="3108960" cy="566928"/>
          </a:xfrm>
          <a:prstGeom prst="rect">
            <a:avLst/>
          </a:prstGeom>
          <a:noFill/>
        </p:spPr>
        <p:txBody>
          <a:bodyPr wrap="square" lIns="0" rIns="0" tIns="0" bIns="0" anchor="t">
            <a:spAutoFit/>
          </a:bodyPr>
          <a:lstStyle/>
          <a:p>
            <a:pPr algn="l"/>
            <a:r>
              <a:rPr sz="1300" b="1" i="0">
                <a:solidFill>
                  <a:srgbClr val="0F2C5C"/>
                </a:solidFill>
                <a:latin typeface="Sora"/>
              </a:rPr>
              <a:t>Optimise the blog before checking its traffic</a:t>
            </a:r>
          </a:p>
        </p:txBody>
      </p:sp>
      <p:sp>
        <p:nvSpPr>
          <p:cNvPr id="25" name="TextBox 24"/>
          <p:cNvSpPr txBox="1"/>
          <p:nvPr/>
        </p:nvSpPr>
        <p:spPr>
          <a:xfrm>
            <a:off x="777240" y="5349240"/>
            <a:ext cx="3108960" cy="731520"/>
          </a:xfrm>
          <a:prstGeom prst="rect">
            <a:avLst/>
          </a:prstGeom>
          <a:noFill/>
        </p:spPr>
        <p:txBody>
          <a:bodyPr wrap="square" lIns="0" rIns="0" tIns="0" bIns="0" anchor="t">
            <a:spAutoFit/>
          </a:bodyPr>
          <a:lstStyle/>
          <a:p>
            <a:pPr algn="l"/>
            <a:r>
              <a:rPr sz="950" b="0" i="0">
                <a:solidFill>
                  <a:srgbClr val="5A6472"/>
                </a:solidFill>
                <a:latin typeface="Sora"/>
              </a:rPr>
              <a:t>32,318 blog-index landings produced 42 90%-scroll events. Validate the source and the tracking first.</a:t>
            </a:r>
          </a:p>
        </p:txBody>
      </p:sp>
      <p:sp>
        <p:nvSpPr>
          <p:cNvPr id="26" name="Rounded Rectangle 25"/>
          <p:cNvSpPr/>
          <p:nvPr/>
        </p:nvSpPr>
        <p:spPr>
          <a:xfrm>
            <a:off x="4297679" y="3977639"/>
            <a:ext cx="3566160" cy="21945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526279" y="4206240"/>
            <a:ext cx="384048" cy="38404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79" y="4206240"/>
            <a:ext cx="384048" cy="384048"/>
          </a:xfrm>
          <a:prstGeom prst="rect">
            <a:avLst/>
          </a:prstGeom>
          <a:noFill/>
        </p:spPr>
        <p:txBody>
          <a:bodyPr wrap="square" lIns="0" rIns="0" tIns="0" bIns="0" anchor="ctr">
            <a:spAutoFit/>
          </a:bodyPr>
          <a:lstStyle/>
          <a:p>
            <a:pPr algn="ctr"/>
            <a:r>
              <a:rPr sz="1200" b="1" i="0">
                <a:solidFill>
                  <a:srgbClr val="FFFFFF"/>
                </a:solidFill>
                <a:latin typeface="Sora"/>
              </a:rPr>
              <a:t>✕</a:t>
            </a:r>
          </a:p>
        </p:txBody>
      </p:sp>
      <p:sp>
        <p:nvSpPr>
          <p:cNvPr id="29" name="TextBox 28"/>
          <p:cNvSpPr txBox="1"/>
          <p:nvPr/>
        </p:nvSpPr>
        <p:spPr>
          <a:xfrm>
            <a:off x="4526279" y="4754879"/>
            <a:ext cx="3108960" cy="566928"/>
          </a:xfrm>
          <a:prstGeom prst="rect">
            <a:avLst/>
          </a:prstGeom>
          <a:noFill/>
        </p:spPr>
        <p:txBody>
          <a:bodyPr wrap="square" lIns="0" rIns="0" tIns="0" bIns="0" anchor="t">
            <a:spAutoFit/>
          </a:bodyPr>
          <a:lstStyle/>
          <a:p>
            <a:pPr algn="l"/>
            <a:r>
              <a:rPr sz="1300" b="1" i="0">
                <a:solidFill>
                  <a:srgbClr val="0F2C5C"/>
                </a:solidFill>
                <a:latin typeface="Sora"/>
              </a:rPr>
              <a:t>Use unverified claims in any variant</a:t>
            </a:r>
          </a:p>
        </p:txBody>
      </p:sp>
      <p:sp>
        <p:nvSpPr>
          <p:cNvPr id="30" name="TextBox 29"/>
          <p:cNvSpPr txBox="1"/>
          <p:nvPr/>
        </p:nvSpPr>
        <p:spPr>
          <a:xfrm>
            <a:off x="4526279" y="5349240"/>
            <a:ext cx="3108960" cy="731520"/>
          </a:xfrm>
          <a:prstGeom prst="rect">
            <a:avLst/>
          </a:prstGeom>
          <a:noFill/>
        </p:spPr>
        <p:txBody>
          <a:bodyPr wrap="square" lIns="0" rIns="0" tIns="0" bIns="0" anchor="t">
            <a:spAutoFit/>
          </a:bodyPr>
          <a:lstStyle/>
          <a:p>
            <a:pPr algn="l"/>
            <a:r>
              <a:rPr sz="950" b="0" i="0">
                <a:solidFill>
                  <a:srgbClr val="5A6472"/>
                </a:solidFill>
                <a:latin typeface="Sora"/>
              </a:rPr>
              <a:t>“95% placement”, “60 LPA”, the NIRF year and the NAAC grade wait for MREI to confirm them.</a:t>
            </a:r>
          </a:p>
        </p:txBody>
      </p:sp>
      <p:sp>
        <p:nvSpPr>
          <p:cNvPr id="31" name="Rounded Rectangle 30"/>
          <p:cNvSpPr/>
          <p:nvPr/>
        </p:nvSpPr>
        <p:spPr>
          <a:xfrm>
            <a:off x="8046719" y="3977639"/>
            <a:ext cx="3566160" cy="21945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75319" y="4206240"/>
            <a:ext cx="384048" cy="38404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19" y="4206240"/>
            <a:ext cx="384048" cy="384048"/>
          </a:xfrm>
          <a:prstGeom prst="rect">
            <a:avLst/>
          </a:prstGeom>
          <a:noFill/>
        </p:spPr>
        <p:txBody>
          <a:bodyPr wrap="square" lIns="0" rIns="0" tIns="0" bIns="0" anchor="ctr">
            <a:spAutoFit/>
          </a:bodyPr>
          <a:lstStyle/>
          <a:p>
            <a:pPr algn="ctr"/>
            <a:r>
              <a:rPr sz="1200" b="1" i="0">
                <a:solidFill>
                  <a:srgbClr val="FFFFFF"/>
                </a:solidFill>
                <a:latin typeface="Sora"/>
              </a:rPr>
              <a:t>✕</a:t>
            </a:r>
          </a:p>
        </p:txBody>
      </p:sp>
      <p:sp>
        <p:nvSpPr>
          <p:cNvPr id="34" name="TextBox 33"/>
          <p:cNvSpPr txBox="1"/>
          <p:nvPr/>
        </p:nvSpPr>
        <p:spPr>
          <a:xfrm>
            <a:off x="8275319" y="4754879"/>
            <a:ext cx="3108960" cy="566928"/>
          </a:xfrm>
          <a:prstGeom prst="rect">
            <a:avLst/>
          </a:prstGeom>
          <a:noFill/>
        </p:spPr>
        <p:txBody>
          <a:bodyPr wrap="square" lIns="0" rIns="0" tIns="0" bIns="0" anchor="t">
            <a:spAutoFit/>
          </a:bodyPr>
          <a:lstStyle/>
          <a:p>
            <a:pPr algn="l"/>
            <a:r>
              <a:rPr sz="1300" b="1" i="0">
                <a:solidFill>
                  <a:srgbClr val="0F2C5C"/>
                </a:solidFill>
                <a:latin typeface="Sora"/>
              </a:rPr>
              <a:t>Add CTAs or run generic tests</a:t>
            </a:r>
          </a:p>
        </p:txBody>
      </p:sp>
      <p:sp>
        <p:nvSpPr>
          <p:cNvPr id="35" name="TextBox 34"/>
          <p:cNvSpPr txBox="1"/>
          <p:nvPr/>
        </p:nvSpPr>
        <p:spPr>
          <a:xfrm>
            <a:off x="8275319" y="5349240"/>
            <a:ext cx="3108960" cy="731520"/>
          </a:xfrm>
          <a:prstGeom prst="rect">
            <a:avLst/>
          </a:prstGeom>
          <a:noFill/>
        </p:spPr>
        <p:txBody>
          <a:bodyPr wrap="square" lIns="0" rIns="0" tIns="0" bIns="0" anchor="t">
            <a:spAutoFit/>
          </a:bodyPr>
          <a:lstStyle/>
          <a:p>
            <a:pPr algn="l"/>
            <a:r>
              <a:rPr sz="950" b="0" i="0">
                <a:solidFill>
                  <a:srgbClr val="5A6472"/>
                </a:solidFill>
                <a:latin typeface="Sora"/>
              </a:rPr>
              <a:t>Four same-intent CTAs already sit in fold 1. No button-colour tests: every test traces to a behaviour.</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