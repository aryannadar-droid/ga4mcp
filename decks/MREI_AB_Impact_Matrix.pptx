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x effort map for the ten persona tests. Scores are relative judgements on a 0–10 scale, labelled HYPOTHESIS. Impact = sessions at that journey point x intent value x evidence strength. Effort = build size + data MREI must supply + operational set-up. Scores (effort, impact): CR-1 4.3/9.2 · CR-2 1.6/6.6 · CC-1 7.2/8.5 · CC-2 3.0/7.3 · EE-1 3.0/5.0 · EE-2 6.8/4.2 · PS-1 1.5/3.8 · PS-2 7.6/6.9 · US-1 6.5/6.0 · US-2 5.2/6.9. Re-score after Phase 0 gives a lead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Sora"/>
              </a:rPr>
              <a:t>EXPERIMENTATION  ·  IMPACT × EFFORT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0776" y="274320"/>
            <a:ext cx="859536" cy="20116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0F2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0F2C5C"/>
                </a:solidFill>
                <a:latin typeface="Sora"/>
              </a:rP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C5C"/>
                </a:solidFill>
                <a:latin typeface="Sora"/>
              </a:rPr>
              <a:t>Ten tests, one map: start where impact is high and effort is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698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472"/>
                </a:solidFill>
                <a:latin typeface="Sora"/>
              </a:rPr>
              <a:t>Two tests per persona, placed by expected lead impact and the effort to launch them — including data MREI has to supply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72768"/>
            <a:ext cx="3451860" cy="2077973"/>
          </a:xfrm>
          <a:prstGeom prst="rect">
            <a:avLst/>
          </a:prstGeom>
          <a:solidFill>
            <a:srgbClr val="E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1664208"/>
            <a:ext cx="31958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E7B34"/>
                </a:solidFill>
                <a:latin typeface="Sora"/>
              </a:rPr>
              <a:t>QUICK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1847088"/>
            <a:ext cx="31958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A6472"/>
                </a:solidFill>
                <a:latin typeface="Sora"/>
              </a:rPr>
              <a:t>Launch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1980" y="1572768"/>
            <a:ext cx="3451859" cy="2077973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996" y="1664208"/>
            <a:ext cx="3195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2C5C"/>
                </a:solidFill>
                <a:latin typeface="Sora"/>
              </a:rPr>
              <a:t>BIG BETS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996" y="1847088"/>
            <a:ext cx="3195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5A6472"/>
                </a:solidFill>
                <a:latin typeface="Sora"/>
              </a:rPr>
              <a:t>Plan and resource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650741"/>
            <a:ext cx="3451860" cy="2539746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5769864"/>
            <a:ext cx="31958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A6472"/>
                </a:solidFill>
                <a:latin typeface="Sora"/>
              </a:rPr>
              <a:t>FILL-INS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5952744"/>
            <a:ext cx="31958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5A6472"/>
                </a:solidFill>
                <a:latin typeface="Sora"/>
              </a:rPr>
              <a:t>Ship when a slot frees 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1980" y="3650741"/>
            <a:ext cx="3451859" cy="2539746"/>
          </a:xfrm>
          <a:prstGeom prst="rect">
            <a:avLst/>
          </a:prstGeom>
          <a:solidFill>
            <a:srgbClr val="FB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6" y="5769864"/>
            <a:ext cx="3195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C8102E"/>
                </a:solidFill>
                <a:latin typeface="Sora"/>
              </a:rPr>
              <a:t>DEPRIORITISE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5952744"/>
            <a:ext cx="31958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5A6472"/>
                </a:solidFill>
                <a:latin typeface="Sora"/>
              </a:rPr>
              <a:t>Revisit after wave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263640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5A6472"/>
                </a:solidFill>
                <a:latin typeface="Sora"/>
              </a:rPr>
              <a:t>Low effort</a:t>
            </a:r>
            <a:r>
              <a:rPr sz="750" b="1" i="0">
                <a:solidFill>
                  <a:srgbClr val="0F2C5C"/>
                </a:solidFill>
                <a:latin typeface="Sora"/>
              </a:rPr>
              <a:t>   EFFORT TO LAUNCH →   </a:t>
            </a:r>
            <a:r>
              <a:rPr sz="750" b="0" i="0">
                <a:solidFill>
                  <a:srgbClr val="5A6472"/>
                </a:solidFill>
                <a:latin typeface="Sora"/>
              </a:rPr>
              <a:t>High effort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1645920" y="3790188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5A6472"/>
                </a:solidFill>
                <a:latin typeface="Sora"/>
              </a:rPr>
              <a:t>Low</a:t>
            </a:r>
            <a:r>
              <a:rPr sz="750" b="1" i="0">
                <a:solidFill>
                  <a:srgbClr val="0F2C5C"/>
                </a:solidFill>
                <a:latin typeface="Sora"/>
              </a:rPr>
              <a:t>   EXPECTED LEAD IMPACT →   </a:t>
            </a:r>
            <a:r>
              <a:rPr sz="750" b="0" i="0">
                <a:solidFill>
                  <a:srgbClr val="5A6472"/>
                </a:solidFill>
                <a:latin typeface="Sora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3718407" y="1731873"/>
            <a:ext cx="420624" cy="420624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8407" y="173187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CR-1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1791" y="2170785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Fee summary at decision height</a:t>
            </a:r>
          </a:p>
        </p:txBody>
      </p:sp>
      <p:sp>
        <p:nvSpPr>
          <p:cNvPr id="23" name="Oval 22"/>
          <p:cNvSpPr/>
          <p:nvPr/>
        </p:nvSpPr>
        <p:spPr>
          <a:xfrm>
            <a:off x="1854403" y="2932480"/>
            <a:ext cx="420624" cy="420624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4403" y="29324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CR-2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7787" y="3371392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Brochure + WhatsApp, no gate</a:t>
            </a:r>
          </a:p>
        </p:txBody>
      </p:sp>
      <p:sp>
        <p:nvSpPr>
          <p:cNvPr id="26" name="Oval 25"/>
          <p:cNvSpPr/>
          <p:nvPr/>
        </p:nvSpPr>
        <p:spPr>
          <a:xfrm>
            <a:off x="5720486" y="2055114"/>
            <a:ext cx="420624" cy="420624"/>
          </a:xfrm>
          <a:prstGeom prst="ellipse">
            <a:avLst/>
          </a:prstGeom>
          <a:solidFill>
            <a:srgbClr val="0F2C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0486" y="205511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CC-1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3870" y="249402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Fee finder card</a:t>
            </a:r>
          </a:p>
        </p:txBody>
      </p:sp>
      <p:sp>
        <p:nvSpPr>
          <p:cNvPr id="29" name="Oval 28"/>
          <p:cNvSpPr/>
          <p:nvPr/>
        </p:nvSpPr>
        <p:spPr>
          <a:xfrm>
            <a:off x="2820923" y="2609240"/>
            <a:ext cx="420624" cy="420624"/>
          </a:xfrm>
          <a:prstGeom prst="ellipse">
            <a:avLst/>
          </a:prstGeom>
          <a:solidFill>
            <a:srgbClr val="0F2C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0923" y="26092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CC-2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4307" y="3048152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Call + callback under the fee</a:t>
            </a:r>
          </a:p>
        </p:txBody>
      </p:sp>
      <p:sp>
        <p:nvSpPr>
          <p:cNvPr id="32" name="Oval 31"/>
          <p:cNvSpPr/>
          <p:nvPr/>
        </p:nvSpPr>
        <p:spPr>
          <a:xfrm>
            <a:off x="2820923" y="3671315"/>
            <a:ext cx="420624" cy="420624"/>
          </a:xfrm>
          <a:prstGeom prst="ellipse">
            <a:avLst/>
          </a:prstGeom>
          <a:solidFill>
            <a:srgbClr val="B26B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0923" y="3671315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EE-1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4307" y="4110227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Programme card in article</a:t>
            </a:r>
          </a:p>
        </p:txBody>
      </p:sp>
      <p:sp>
        <p:nvSpPr>
          <p:cNvPr id="35" name="Oval 34"/>
          <p:cNvSpPr/>
          <p:nvPr/>
        </p:nvSpPr>
        <p:spPr>
          <a:xfrm>
            <a:off x="5444337" y="4040733"/>
            <a:ext cx="420624" cy="420624"/>
          </a:xfrm>
          <a:prstGeom prst="ellipse">
            <a:avLst/>
          </a:prstGeom>
          <a:solidFill>
            <a:srgbClr val="B26B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4337" y="404073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EE-2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7721" y="4479645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“Help me choose” quiz</a:t>
            </a:r>
          </a:p>
        </p:txBody>
      </p:sp>
      <p:sp>
        <p:nvSpPr>
          <p:cNvPr id="38" name="Oval 37"/>
          <p:cNvSpPr/>
          <p:nvPr/>
        </p:nvSpPr>
        <p:spPr>
          <a:xfrm>
            <a:off x="1785366" y="4225442"/>
            <a:ext cx="420624" cy="420624"/>
          </a:xfrm>
          <a:prstGeom prst="ellipse">
            <a:avLst/>
          </a:prstGeom>
          <a:solidFill>
            <a:srgbClr val="1E7B3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5366" y="422544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PS-1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8750" y="4664354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Award → programme links</a:t>
            </a:r>
          </a:p>
        </p:txBody>
      </p:sp>
      <p:sp>
        <p:nvSpPr>
          <p:cNvPr id="41" name="Oval 40"/>
          <p:cNvSpPr/>
          <p:nvPr/>
        </p:nvSpPr>
        <p:spPr>
          <a:xfrm>
            <a:off x="5996635" y="2793949"/>
            <a:ext cx="420624" cy="420624"/>
          </a:xfrm>
          <a:prstGeom prst="ellipse">
            <a:avLst/>
          </a:prstGeom>
          <a:solidFill>
            <a:srgbClr val="1E7B3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6635" y="279394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PS-2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0019" y="3232861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Dated CSE placement proof</a:t>
            </a:r>
          </a:p>
        </p:txBody>
      </p:sp>
      <p:sp>
        <p:nvSpPr>
          <p:cNvPr id="44" name="Oval 43"/>
          <p:cNvSpPr/>
          <p:nvPr/>
        </p:nvSpPr>
        <p:spPr>
          <a:xfrm>
            <a:off x="5237225" y="3209544"/>
            <a:ext cx="420624" cy="420624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7225" y="320954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US-1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0609" y="36484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Compare MRIIRS &amp; MRU</a:t>
            </a:r>
          </a:p>
        </p:txBody>
      </p:sp>
      <p:sp>
        <p:nvSpPr>
          <p:cNvPr id="47" name="Oval 46"/>
          <p:cNvSpPr/>
          <p:nvPr/>
        </p:nvSpPr>
        <p:spPr>
          <a:xfrm>
            <a:off x="4339742" y="2793949"/>
            <a:ext cx="420624" cy="420624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39742" y="279394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ora"/>
              </a:rPr>
              <a:t>US-2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3126" y="3232861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0F2C5C"/>
                </a:solidFill>
                <a:latin typeface="Sora"/>
              </a:rPr>
              <a:t>Talk-to-someone routes</a:t>
            </a:r>
          </a:p>
        </p:txBody>
      </p:sp>
      <p:sp>
        <p:nvSpPr>
          <p:cNvPr id="50" name="Oval 49"/>
          <p:cNvSpPr/>
          <p:nvPr/>
        </p:nvSpPr>
        <p:spPr>
          <a:xfrm>
            <a:off x="960120" y="6492240"/>
            <a:ext cx="118872" cy="1188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3856" y="6464808"/>
            <a:ext cx="119237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472"/>
                </a:solidFill>
                <a:latin typeface="Sora"/>
              </a:rPr>
              <a:t>Course Researcher</a:t>
            </a:r>
          </a:p>
        </p:txBody>
      </p:sp>
      <p:sp>
        <p:nvSpPr>
          <p:cNvPr id="52" name="Oval 51"/>
          <p:cNvSpPr/>
          <p:nvPr/>
        </p:nvSpPr>
        <p:spPr>
          <a:xfrm>
            <a:off x="2426817" y="6492240"/>
            <a:ext cx="118872" cy="118872"/>
          </a:xfrm>
          <a:prstGeom prst="ellipse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0553" y="6464808"/>
            <a:ext cx="90891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472"/>
                </a:solidFill>
                <a:latin typeface="Sora"/>
              </a:rPr>
              <a:t>Cost Checker</a:t>
            </a:r>
          </a:p>
        </p:txBody>
      </p:sp>
      <p:sp>
        <p:nvSpPr>
          <p:cNvPr id="54" name="Oval 53"/>
          <p:cNvSpPr/>
          <p:nvPr/>
        </p:nvSpPr>
        <p:spPr>
          <a:xfrm>
            <a:off x="3610051" y="6492240"/>
            <a:ext cx="118872" cy="118872"/>
          </a:xfrm>
          <a:prstGeom prst="ellipse">
            <a:avLst/>
          </a:prstGeom>
          <a:solidFill>
            <a:srgbClr val="B2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83787" y="6464808"/>
            <a:ext cx="102229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472"/>
                </a:solidFill>
                <a:latin typeface="Sora"/>
              </a:rPr>
              <a:t>Early Explorer</a:t>
            </a:r>
          </a:p>
        </p:txBody>
      </p:sp>
      <p:sp>
        <p:nvSpPr>
          <p:cNvPr id="56" name="Oval 55"/>
          <p:cNvSpPr/>
          <p:nvPr/>
        </p:nvSpPr>
        <p:spPr>
          <a:xfrm>
            <a:off x="4906670" y="6492240"/>
            <a:ext cx="118872" cy="118872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80406" y="6464808"/>
            <a:ext cx="908913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472"/>
                </a:solidFill>
                <a:latin typeface="Sora"/>
              </a:rPr>
              <a:t>Proof Seeker</a:t>
            </a:r>
          </a:p>
        </p:txBody>
      </p:sp>
      <p:sp>
        <p:nvSpPr>
          <p:cNvPr id="58" name="Oval 57"/>
          <p:cNvSpPr/>
          <p:nvPr/>
        </p:nvSpPr>
        <p:spPr>
          <a:xfrm>
            <a:off x="6089904" y="6492240"/>
            <a:ext cx="118872" cy="118872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6464808"/>
            <a:ext cx="147584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A6472"/>
                </a:solidFill>
                <a:latin typeface="Sora"/>
              </a:rPr>
              <a:t>University Shortlister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1572768"/>
            <a:ext cx="3456432" cy="1847088"/>
          </a:xfrm>
          <a:prstGeom prst="roundRect">
            <a:avLst>
              <a:gd name="adj" fmla="val 4000"/>
            </a:avLst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5048" y="1700784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8095"/>
                </a:solidFill>
                <a:latin typeface="Sora"/>
              </a:rPr>
              <a:t>WHAT THE MAP SAYS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5048" y="1938528"/>
            <a:ext cx="305409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Quick wins: </a:t>
            </a:r>
            <a:r>
              <a:rPr sz="850" b="0" i="0">
                <a:solidFill>
                  <a:srgbClr val="D8DFE8"/>
                </a:solidFill>
                <a:latin typeface="Sora"/>
              </a:rPr>
              <a:t>CR-1, CC-2, CR-2 — the fee and the brochure moments, on the two highest-traffic prospect pages.</a:t>
            </a:r>
          </a:p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Big bets: </a:t>
            </a:r>
            <a:r>
              <a:rPr sz="850" b="0" i="0">
                <a:solidFill>
                  <a:srgbClr val="D8DFE8"/>
                </a:solidFill>
                <a:latin typeface="Sora"/>
              </a:rPr>
              <a:t>CC-1, PS-2, US-1, US-2 — high value, but new components, ops or MREI data.</a:t>
            </a:r>
          </a:p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Fill-ins: </a:t>
            </a:r>
            <a:r>
              <a:rPr sz="850" b="0" i="0">
                <a:solidFill>
                  <a:srgbClr val="D8DFE8"/>
                </a:solidFill>
                <a:latin typeface="Sora"/>
              </a:rPr>
              <a:t>EE-1, PS-1 — cheap; EE-1 waits for the blog traffic check.</a:t>
            </a:r>
          </a:p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Sora"/>
              </a:rPr>
              <a:t>Deprioritise: </a:t>
            </a:r>
            <a:r>
              <a:rPr sz="850" b="0" i="0">
                <a:solidFill>
                  <a:srgbClr val="D8DFE8"/>
                </a:solidFill>
                <a:latin typeface="Sora"/>
              </a:rPr>
              <a:t>EE-2 until EE-1 shows blog readers move.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3566160"/>
            <a:ext cx="3456432" cy="12801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85048" y="3685032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8102E"/>
                </a:solidFill>
                <a:latin typeface="Sora"/>
              </a:rPr>
              <a:t>HOW WE SCORED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5048" y="3922776"/>
            <a:ext cx="305409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0F2C5C"/>
                </a:solidFill>
                <a:latin typeface="Sora"/>
              </a:rPr>
              <a:t>Impact  </a:t>
            </a:r>
            <a:r>
              <a:rPr sz="800" b="0" i="0">
                <a:solidFill>
                  <a:srgbClr val="0F2C5C"/>
                </a:solidFill>
                <a:latin typeface="Sora"/>
              </a:rPr>
              <a:t>sessions at that page × how close the intent is to a lead × strength of evidence (e.g. 84.3% round-trip, 82 calls vs 31 submits).</a:t>
            </a:r>
          </a:p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0F2C5C"/>
                </a:solidFill>
                <a:latin typeface="Sora"/>
              </a:rPr>
              <a:t>Effort  </a:t>
            </a:r>
            <a:r>
              <a:rPr sz="800" b="0" i="0">
                <a:solidFill>
                  <a:srgbClr val="0F2C5C"/>
                </a:solidFill>
                <a:latin typeface="Sora"/>
              </a:rPr>
              <a:t>build size (content → new component) + data MREI must supply + ops such as callbacks and visit slots.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79" y="4992624"/>
            <a:ext cx="3456432" cy="1197864"/>
          </a:xfrm>
          <a:prstGeom prst="roundRect">
            <a:avLst>
              <a:gd name="adj" fmla="val 6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85048" y="5084064"/>
            <a:ext cx="305409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B26B00"/>
                </a:solidFill>
                <a:latin typeface="Sora"/>
              </a:rPr>
              <a:t>LAUNCH ORDER  </a:t>
            </a:r>
            <a:r>
              <a:rPr sz="800" b="0" i="0">
                <a:solidFill>
                  <a:srgbClr val="0F2C5C"/>
                </a:solidFill>
                <a:latin typeface="Sora"/>
              </a:rPr>
              <a:t>Wave 1: CR-1 · CC-1 · PS-1 · US-1 · EE-1 (after the blog check). Wave 2: CR-2 · CC-2 · US-2 · EE-2 · PS-2 (after MREI data).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6472"/>
                </a:solidFill>
                <a:latin typeface="Sora"/>
              </a:rPr>
              <a:t>CC-1 is a big bet but goes first: CC-2’s call block sits under its fee card.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83879" y="6464808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96A1B0"/>
                </a:solidFill>
                <a:latin typeface="Sora"/>
              </a:rPr>
              <a:t>Relative scores, not forecasts. Re-score once Phase 0 gives a lead baseline. Sources: MREI CRO deck; MRIIRS pitch v4.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