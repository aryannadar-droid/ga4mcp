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Researcher tests. CR-1 answers the round-trip to the fee page; CR-2 captures the download moment without gating information. Runs after Phase 0 (generate_lead, unified phone_click, brochure_request live; Fee Calculator redirect fixed). Thresholds are proposals to agree with MREI before launch: scale at 95% confidence with the guardrail within −5% relative.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Cost Checker tests. The highest-intent visitor on the site. CC-1 fixes findability; CC-2 gives them the person they already reach for. Runs after Phase 0 (generate_lead, unified phone_click, brochure_request live; Fee Calculator redirect fixed). Thresholds are proposals to agree with MREI before launch: scale at 95% confidence with the guardrail within −5% relative.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Early Explorer tests. The blog answers its own question and then sends readers home. EE-1 adds the bridge; EE-2 changes the ask. Runs after Phase 0 (generate_lead, unified phone_click, brochure_request live; Fee Calculator redirect fixed). Thresholds are proposals to agree with MREI before launch: scale at 95% confidence with the guardrail within −5% relative.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Proof Seeker tests. No claim goes into a variant until MREI confirms it (see the proof inventory). Runs after Phase 0 (generate_lead, unified phone_click, brochure_request live; Fee Calculator redirect fixed). Thresholds are proposals to agree with MREI before launch: scale at 95% confidence with the guardrail within −5% relative.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University Shortlister tests. The strongest template on the site: every change is additive and guarded by Apply-MRIIRS clicks. Runs after Phase 0 (generate_lead, unified phone_click, brochure_request live; Fee Calculator redirect fixed). Thresholds are proposals to agree with MREI before launch: scale at 95% confidence with the guardrail within −5% relative.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8229600" cy="182880"/>
          </a:xfrm>
          <a:prstGeom prst="rect">
            <a:avLst/>
          </a:prstGeom>
          <a:noFill/>
        </p:spPr>
        <p:txBody>
          <a:bodyPr wrap="square" lIns="0" rIns="0" tIns="0" bIns="0" anchor="t">
            <a:spAutoFit/>
          </a:bodyPr>
          <a:lstStyle/>
          <a:p>
            <a:pPr algn="l"/>
            <a:r>
              <a:rPr sz="900" b="1" i="0">
                <a:solidFill>
                  <a:srgbClr val="C8102E"/>
                </a:solidFill>
                <a:latin typeface="Sora"/>
              </a:rPr>
              <a:t>EXPERIMENTATION  ·  A/B TESTS  ·  COURSE RESEARCHER</a:t>
            </a:r>
          </a:p>
        </p:txBody>
      </p:sp>
      <p:sp>
        <p:nvSpPr>
          <p:cNvPr id="3" name="Rounded Rectangle 2"/>
          <p:cNvSpPr/>
          <p:nvPr/>
        </p:nvSpPr>
        <p:spPr>
          <a:xfrm>
            <a:off x="10780776" y="274320"/>
            <a:ext cx="859536" cy="201168"/>
          </a:xfrm>
          <a:prstGeom prst="roundRect">
            <a:avLst>
              <a:gd name="adj" fmla="val 50000"/>
            </a:avLst>
          </a:prstGeom>
          <a:solidFill>
            <a:srgbClr val="E8EEF7"/>
          </a:solidFill>
          <a:ln w="12700">
            <a:solidFill>
              <a:srgbClr val="0F2C5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0F2C5C"/>
                </a:solidFill>
                <a:latin typeface="Sora"/>
              </a:rPr>
              <a:t>HYPOTHESIS</a:t>
            </a:r>
          </a:p>
        </p:txBody>
      </p:sp>
      <p:sp>
        <p:nvSpPr>
          <p:cNvPr id="4" name="TextBox 3"/>
          <p:cNvSpPr txBox="1"/>
          <p:nvPr/>
        </p:nvSpPr>
        <p:spPr>
          <a:xfrm>
            <a:off x="548640" y="502920"/>
            <a:ext cx="11064240" cy="548640"/>
          </a:xfrm>
          <a:prstGeom prst="rect">
            <a:avLst/>
          </a:prstGeom>
          <a:noFill/>
        </p:spPr>
        <p:txBody>
          <a:bodyPr wrap="square" lIns="0" rIns="0" tIns="0" bIns="0" anchor="t">
            <a:spAutoFit/>
          </a:bodyPr>
          <a:lstStyle/>
          <a:p>
            <a:pPr algn="l"/>
            <a:r>
              <a:rPr sz="2400" b="1" i="0">
                <a:solidFill>
                  <a:srgbClr val="0F2C5C"/>
                </a:solidFill>
                <a:latin typeface="Sora"/>
              </a:rPr>
              <a:t>Course Researcher: finish the decision on the course page</a:t>
            </a:r>
          </a:p>
        </p:txBody>
      </p:sp>
      <p:sp>
        <p:nvSpPr>
          <p:cNvPr id="5" name="TextBox 4"/>
          <p:cNvSpPr txBox="1"/>
          <p:nvPr/>
        </p:nvSpPr>
        <p:spPr>
          <a:xfrm>
            <a:off x="548640" y="1069848"/>
            <a:ext cx="11064240" cy="274320"/>
          </a:xfrm>
          <a:prstGeom prst="rect">
            <a:avLst/>
          </a:prstGeom>
          <a:noFill/>
        </p:spPr>
        <p:txBody>
          <a:bodyPr wrap="square" lIns="0" rIns="0" tIns="0" bIns="0" anchor="t">
            <a:spAutoFit/>
          </a:bodyPr>
          <a:lstStyle/>
          <a:p>
            <a:pPr algn="l"/>
            <a:r>
              <a:rPr sz="1200" b="0" i="0">
                <a:solidFill>
                  <a:srgbClr val="5A6472"/>
                </a:solidFill>
                <a:latin typeface="Sora"/>
              </a:rPr>
              <a:t>“What is this course, and is it worth it?” · B.Tech CSE · 12,308 landings · 53,812 persona sessions</a:t>
            </a:r>
          </a:p>
        </p:txBody>
      </p:sp>
      <p:sp>
        <p:nvSpPr>
          <p:cNvPr id="6" name="Rounded Rectangle 5"/>
          <p:cNvSpPr/>
          <p:nvPr/>
        </p:nvSpPr>
        <p:spPr>
          <a:xfrm>
            <a:off x="548640" y="1481328"/>
            <a:ext cx="5486400" cy="4846320"/>
          </a:xfrm>
          <a:prstGeom prst="roundRect">
            <a:avLst>
              <a:gd name="adj" fmla="val 3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566928" cy="329184"/>
          </a:xfrm>
          <a:prstGeom prst="roundRect">
            <a:avLst>
              <a:gd name="adj" fmla="val 25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45920"/>
            <a:ext cx="566928" cy="329184"/>
          </a:xfrm>
          <a:prstGeom prst="rect">
            <a:avLst/>
          </a:prstGeom>
          <a:noFill/>
        </p:spPr>
        <p:txBody>
          <a:bodyPr wrap="square" lIns="0" rIns="0" tIns="0" bIns="0" anchor="ctr">
            <a:spAutoFit/>
          </a:bodyPr>
          <a:lstStyle/>
          <a:p>
            <a:pPr algn="ctr"/>
            <a:r>
              <a:rPr sz="1000" b="1" i="0">
                <a:solidFill>
                  <a:srgbClr val="FFFFFF"/>
                </a:solidFill>
                <a:latin typeface="Sora"/>
              </a:rPr>
              <a:t>CR-1</a:t>
            </a:r>
          </a:p>
        </p:txBody>
      </p:sp>
      <p:sp>
        <p:nvSpPr>
          <p:cNvPr id="9" name="TextBox 8"/>
          <p:cNvSpPr txBox="1"/>
          <p:nvPr/>
        </p:nvSpPr>
        <p:spPr>
          <a:xfrm>
            <a:off x="1417319" y="1591056"/>
            <a:ext cx="2651760" cy="420624"/>
          </a:xfrm>
          <a:prstGeom prst="rect">
            <a:avLst/>
          </a:prstGeom>
          <a:noFill/>
        </p:spPr>
        <p:txBody>
          <a:bodyPr wrap="square" lIns="0" rIns="0" tIns="0" bIns="0" anchor="ctr">
            <a:spAutoFit/>
          </a:bodyPr>
          <a:lstStyle/>
          <a:p>
            <a:pPr algn="l"/>
            <a:r>
              <a:rPr sz="1150" b="1" i="0">
                <a:solidFill>
                  <a:srgbClr val="0F2C5C"/>
                </a:solidFill>
                <a:latin typeface="Sora"/>
              </a:rPr>
              <a:t>Fee summary at decision height</a:t>
            </a:r>
          </a:p>
        </p:txBody>
      </p:sp>
      <p:sp>
        <p:nvSpPr>
          <p:cNvPr id="10" name="Rounded Rectangle 9"/>
          <p:cNvSpPr/>
          <p:nvPr/>
        </p:nvSpPr>
        <p:spPr>
          <a:xfrm>
            <a:off x="731520" y="2139696"/>
            <a:ext cx="596188" cy="201168"/>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FFFFFF"/>
                </a:solidFill>
                <a:latin typeface="Sora"/>
              </a:rPr>
              <a:t>WAVE 1</a:t>
            </a:r>
          </a:p>
        </p:txBody>
      </p:sp>
      <p:sp>
        <p:nvSpPr>
          <p:cNvPr id="11" name="Rounded Rectangle 10"/>
          <p:cNvSpPr/>
          <p:nvPr/>
        </p:nvSpPr>
        <p:spPr>
          <a:xfrm>
            <a:off x="1400860" y="2139696"/>
            <a:ext cx="859536" cy="201168"/>
          </a:xfrm>
          <a:prstGeom prst="roundRect">
            <a:avLst>
              <a:gd name="adj" fmla="val 50000"/>
            </a:avLst>
          </a:prstGeom>
          <a:solidFill>
            <a:srgbClr val="E5F1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SHIP-READY</a:t>
            </a:r>
          </a:p>
        </p:txBody>
      </p:sp>
      <p:sp>
        <p:nvSpPr>
          <p:cNvPr id="12" name="TextBox 11"/>
          <p:cNvSpPr txBox="1"/>
          <p:nvPr/>
        </p:nvSpPr>
        <p:spPr>
          <a:xfrm>
            <a:off x="731520" y="2414016"/>
            <a:ext cx="3310128" cy="182880"/>
          </a:xfrm>
          <a:prstGeom prst="rect">
            <a:avLst/>
          </a:prstGeom>
          <a:noFill/>
        </p:spPr>
        <p:txBody>
          <a:bodyPr wrap="square" lIns="0" rIns="0" tIns="0" bIns="0" anchor="t">
            <a:spAutoFit/>
          </a:bodyPr>
          <a:lstStyle/>
          <a:p>
            <a:pPr algn="l"/>
            <a:r>
              <a:rPr sz="700" b="0" i="1">
                <a:solidFill>
                  <a:srgbClr val="96A1B0"/>
                </a:solidFill>
                <a:latin typeface="Sora"/>
              </a:rPr>
              <a:t>From MREI T5 · pitch Fix 04 (whole cost)</a:t>
            </a:r>
          </a:p>
        </p:txBody>
      </p:sp>
      <p:sp>
        <p:nvSpPr>
          <p:cNvPr id="13" name="TextBox 12"/>
          <p:cNvSpPr txBox="1"/>
          <p:nvPr/>
        </p:nvSpPr>
        <p:spPr>
          <a:xfrm>
            <a:off x="731520" y="2724912"/>
            <a:ext cx="3310128" cy="146304"/>
          </a:xfrm>
          <a:prstGeom prst="rect">
            <a:avLst/>
          </a:prstGeom>
          <a:noFill/>
        </p:spPr>
        <p:txBody>
          <a:bodyPr wrap="square" lIns="0" rIns="0" tIns="0" bIns="0" anchor="t">
            <a:spAutoFit/>
          </a:bodyPr>
          <a:lstStyle/>
          <a:p>
            <a:pPr algn="l"/>
            <a:r>
              <a:rPr sz="700" b="1" i="0">
                <a:solidFill>
                  <a:srgbClr val="C8102E"/>
                </a:solidFill>
                <a:latin typeface="Sora"/>
              </a:rPr>
              <a:t>WHAT WE SEE</a:t>
            </a:r>
          </a:p>
        </p:txBody>
      </p:sp>
      <p:sp>
        <p:nvSpPr>
          <p:cNvPr id="14" name="TextBox 13"/>
          <p:cNvSpPr txBox="1"/>
          <p:nvPr/>
        </p:nvSpPr>
        <p:spPr>
          <a:xfrm>
            <a:off x="731520" y="2880360"/>
            <a:ext cx="3310128" cy="396240"/>
          </a:xfrm>
          <a:prstGeom prst="rect">
            <a:avLst/>
          </a:prstGeom>
          <a:noFill/>
        </p:spPr>
        <p:txBody>
          <a:bodyPr wrap="square" lIns="0" rIns="0" tIns="0" bIns="0" anchor="t">
            <a:spAutoFit/>
          </a:bodyPr>
          <a:lstStyle/>
          <a:p>
            <a:pPr algn="l"/>
            <a:r>
              <a:rPr sz="800" b="0" i="0">
                <a:solidFill>
                  <a:srgbClr val="5A6472"/>
                </a:solidFill>
                <a:latin typeface="Sora"/>
              </a:rPr>
              <a:t>84.3% of onward moves go to the fee page; 99.3% come straight back; 6 continue. The fee block sits at 11,288px of 16,456px (~13 screens) and shows year 1 only.</a:t>
            </a:r>
          </a:p>
        </p:txBody>
      </p:sp>
      <p:sp>
        <p:nvSpPr>
          <p:cNvPr id="15" name="TextBox 14"/>
          <p:cNvSpPr txBox="1"/>
          <p:nvPr/>
        </p:nvSpPr>
        <p:spPr>
          <a:xfrm>
            <a:off x="731520" y="3386328"/>
            <a:ext cx="3310128" cy="146304"/>
          </a:xfrm>
          <a:prstGeom prst="rect">
            <a:avLst/>
          </a:prstGeom>
          <a:noFill/>
        </p:spPr>
        <p:txBody>
          <a:bodyPr wrap="square" lIns="0" rIns="0" tIns="0" bIns="0" anchor="t">
            <a:spAutoFit/>
          </a:bodyPr>
          <a:lstStyle/>
          <a:p>
            <a:pPr algn="l"/>
            <a:r>
              <a:rPr sz="700" b="1" i="0">
                <a:solidFill>
                  <a:srgbClr val="C8102E"/>
                </a:solidFill>
                <a:latin typeface="Sora"/>
              </a:rPr>
              <a:t>CONTROL → VARIANT</a:t>
            </a:r>
          </a:p>
        </p:txBody>
      </p:sp>
      <p:sp>
        <p:nvSpPr>
          <p:cNvPr id="16" name="TextBox 15"/>
          <p:cNvSpPr txBox="1"/>
          <p:nvPr/>
        </p:nvSpPr>
        <p:spPr>
          <a:xfrm>
            <a:off x="731520" y="3541775"/>
            <a:ext cx="3310128" cy="528320"/>
          </a:xfrm>
          <a:prstGeom prst="rect">
            <a:avLst/>
          </a:prstGeom>
          <a:noFill/>
        </p:spPr>
        <p:txBody>
          <a:bodyPr wrap="square" lIns="0" rIns="0" tIns="0" bIns="0" anchor="t">
            <a:spAutoFit/>
          </a:bodyPr>
          <a:lstStyle/>
          <a:p>
            <a:pPr algn="l"/>
            <a:r>
              <a:rPr sz="800" b="0" i="0">
                <a:solidFill>
                  <a:srgbClr val="0F2C5C"/>
                </a:solidFill>
                <a:latin typeface="Sora"/>
              </a:rPr>
              <a:t>“Fee Details” anchor to the bottom block → fold-2 fee card: Year 1 ₹3,05,800 · instalments ₹1,85,900 + ₹1,19,900 · industry-partner specialisation ₹3,33,800. Beside it: “Send this fee sheet on WhatsApp” and “Check eligibility”.</a:t>
            </a:r>
          </a:p>
        </p:txBody>
      </p:sp>
      <p:sp>
        <p:nvSpPr>
          <p:cNvPr id="17" name="TextBox 16"/>
          <p:cNvSpPr txBox="1"/>
          <p:nvPr/>
        </p:nvSpPr>
        <p:spPr>
          <a:xfrm>
            <a:off x="731520" y="4179823"/>
            <a:ext cx="3310128" cy="146304"/>
          </a:xfrm>
          <a:prstGeom prst="rect">
            <a:avLst/>
          </a:prstGeom>
          <a:noFill/>
        </p:spPr>
        <p:txBody>
          <a:bodyPr wrap="square" lIns="0" rIns="0" tIns="0" bIns="0" anchor="t">
            <a:spAutoFit/>
          </a:bodyPr>
          <a:lstStyle/>
          <a:p>
            <a:pPr algn="l"/>
            <a:r>
              <a:rPr sz="700" b="1" i="0">
                <a:solidFill>
                  <a:srgbClr val="C8102E"/>
                </a:solidFill>
                <a:latin typeface="Sora"/>
              </a:rPr>
              <a:t>HYPOTHESIS</a:t>
            </a:r>
          </a:p>
        </p:txBody>
      </p:sp>
      <p:sp>
        <p:nvSpPr>
          <p:cNvPr id="18" name="TextBox 17"/>
          <p:cNvSpPr txBox="1"/>
          <p:nvPr/>
        </p:nvSpPr>
        <p:spPr>
          <a:xfrm>
            <a:off x="731520" y="4335272"/>
            <a:ext cx="3310128" cy="396240"/>
          </a:xfrm>
          <a:prstGeom prst="rect">
            <a:avLst/>
          </a:prstGeom>
          <a:noFill/>
        </p:spPr>
        <p:txBody>
          <a:bodyPr wrap="square" lIns="0" rIns="0" tIns="0" bIns="0" anchor="t">
            <a:spAutoFit/>
          </a:bodyPr>
          <a:lstStyle/>
          <a:p>
            <a:pPr algn="l"/>
            <a:r>
              <a:rPr sz="800" b="0" i="1">
                <a:solidFill>
                  <a:srgbClr val="0F2C5C"/>
                </a:solidFill>
                <a:latin typeface="Sora"/>
              </a:rPr>
              <a:t>If the full CSE fee sits where the decision is made, leads on the CSE page rise, because users stop leaving for the fee table and the journey no longer ends on the return trip.</a:t>
            </a:r>
          </a:p>
        </p:txBody>
      </p:sp>
      <p:sp>
        <p:nvSpPr>
          <p:cNvPr id="19" name="TextBox 18"/>
          <p:cNvSpPr txBox="1"/>
          <p:nvPr/>
        </p:nvSpPr>
        <p:spPr>
          <a:xfrm>
            <a:off x="731520" y="4841240"/>
            <a:ext cx="3310128" cy="146304"/>
          </a:xfrm>
          <a:prstGeom prst="rect">
            <a:avLst/>
          </a:prstGeom>
          <a:noFill/>
        </p:spPr>
        <p:txBody>
          <a:bodyPr wrap="square" lIns="0" rIns="0" tIns="0" bIns="0" anchor="t">
            <a:spAutoFit/>
          </a:bodyPr>
          <a:lstStyle/>
          <a:p>
            <a:pPr algn="l"/>
            <a:r>
              <a:rPr sz="700" b="1" i="0">
                <a:solidFill>
                  <a:srgbClr val="C8102E"/>
                </a:solidFill>
                <a:latin typeface="Sora"/>
              </a:rPr>
              <a:t>MEASURE</a:t>
            </a:r>
          </a:p>
        </p:txBody>
      </p:sp>
      <p:sp>
        <p:nvSpPr>
          <p:cNvPr id="20" name="TextBox 19"/>
          <p:cNvSpPr txBox="1"/>
          <p:nvPr/>
        </p:nvSpPr>
        <p:spPr>
          <a:xfrm>
            <a:off x="731520" y="4996688"/>
            <a:ext cx="3310128" cy="396240"/>
          </a:xfrm>
          <a:prstGeom prst="rect">
            <a:avLst/>
          </a:prstGeom>
          <a:noFill/>
        </p:spPr>
        <p:txBody>
          <a:bodyPr wrap="square" lIns="0" rIns="0" tIns="0" bIns="0" anchor="t">
            <a:spAutoFit/>
          </a:bodyPr>
          <a:lstStyle/>
          <a:p>
            <a:pPr algn="l"/>
            <a:r>
              <a:rPr sz="800" b="0" i="0">
                <a:solidFill>
                  <a:srgbClr val="0F2C5C"/>
                </a:solidFill>
                <a:latin typeface="Sora"/>
              </a:rPr>
              <a:t>Primary: leads on the CSE page · Secondary: share of onward moves to the fee page (84.3%) · Guardrail: engagement (67.9%) · Scale if leads ≥ +10% relative</a:t>
            </a:r>
          </a:p>
        </p:txBody>
      </p:sp>
      <p:sp>
        <p:nvSpPr>
          <p:cNvPr id="21" name="TextBox 20"/>
          <p:cNvSpPr txBox="1"/>
          <p:nvPr/>
        </p:nvSpPr>
        <p:spPr>
          <a:xfrm>
            <a:off x="731520" y="5502656"/>
            <a:ext cx="3310128" cy="146304"/>
          </a:xfrm>
          <a:prstGeom prst="rect">
            <a:avLst/>
          </a:prstGeom>
          <a:noFill/>
        </p:spPr>
        <p:txBody>
          <a:bodyPr wrap="square" lIns="0" rIns="0" tIns="0" bIns="0" anchor="t">
            <a:spAutoFit/>
          </a:bodyPr>
          <a:lstStyle/>
          <a:p>
            <a:pPr algn="l"/>
            <a:r>
              <a:rPr sz="700" b="1" i="0">
                <a:solidFill>
                  <a:srgbClr val="C8102E"/>
                </a:solidFill>
                <a:latin typeface="Sora"/>
              </a:rPr>
              <a:t>SET-UP</a:t>
            </a:r>
          </a:p>
        </p:txBody>
      </p:sp>
      <p:sp>
        <p:nvSpPr>
          <p:cNvPr id="22" name="TextBox 21"/>
          <p:cNvSpPr txBox="1"/>
          <p:nvPr/>
        </p:nvSpPr>
        <p:spPr>
          <a:xfrm>
            <a:off x="731520" y="5658104"/>
            <a:ext cx="3310128" cy="396240"/>
          </a:xfrm>
          <a:prstGeom prst="rect">
            <a:avLst/>
          </a:prstGeom>
          <a:noFill/>
        </p:spPr>
        <p:txBody>
          <a:bodyPr wrap="square" lIns="0" rIns="0" tIns="0" bIns="0" anchor="t">
            <a:spAutoFit/>
          </a:bodyPr>
          <a:lstStyle/>
          <a:p>
            <a:pPr algn="l"/>
            <a:r>
              <a:rPr sz="800" b="0" i="0">
                <a:solidFill>
                  <a:srgbClr val="0F2C5C"/>
                </a:solidFill>
                <a:latin typeface="Sora"/>
              </a:rPr>
              <a:t>50/50, all CSE traffic, mobile + desktop, 4 weeks. Live table values only; add years 2–4 and hostel when MREI supplies them.</a:t>
            </a:r>
          </a:p>
        </p:txBody>
      </p:sp>
      <p:sp>
        <p:nvSpPr>
          <p:cNvPr id="23" name="Rounded Rectangle 22"/>
          <p:cNvSpPr/>
          <p:nvPr/>
        </p:nvSpPr>
        <p:spPr>
          <a:xfrm>
            <a:off x="4187952" y="1645920"/>
            <a:ext cx="1682496" cy="3639312"/>
          </a:xfrm>
          <a:prstGeom prst="roundRect">
            <a:avLst>
              <a:gd name="adj" fmla="val 10000"/>
            </a:avLst>
          </a:prstGeom>
          <a:solidFill>
            <a:srgbClr val="FFFFFF"/>
          </a:solidFill>
          <a:ln w="12700">
            <a:solidFill>
              <a:srgbClr val="96A1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79392" y="3145536"/>
            <a:ext cx="1499616" cy="640080"/>
          </a:xfrm>
          <a:prstGeom prst="rect">
            <a:avLst/>
          </a:prstGeom>
          <a:noFill/>
        </p:spPr>
        <p:txBody>
          <a:bodyPr wrap="square" lIns="0" rIns="0" tIns="0" bIns="0" anchor="t">
            <a:spAutoFit/>
          </a:bodyPr>
          <a:lstStyle/>
          <a:p>
            <a:pPr algn="ctr"/>
            <a:r>
              <a:rPr sz="800" b="1" i="0">
                <a:solidFill>
                  <a:srgbClr val="96A1B0"/>
                </a:solidFill>
                <a:latin typeface="Sora"/>
              </a:rPr>
              <a:t>MOCKUP</a:t>
            </a:r>
          </a:p>
          <a:p>
            <a:pPr algn="ctr"/>
            <a:r>
              <a:rPr sz="700" b="0" i="0">
                <a:solidFill>
                  <a:srgbClr val="96A1B0"/>
                </a:solidFill>
                <a:latin typeface="Sora"/>
              </a:rPr>
              <a:t>Control: fold 2 today
Variant: inline fee card + WhatsApp / eligibility CTAs</a:t>
            </a:r>
          </a:p>
        </p:txBody>
      </p:sp>
      <p:sp>
        <p:nvSpPr>
          <p:cNvPr id="25" name="TextBox 24"/>
          <p:cNvSpPr txBox="1"/>
          <p:nvPr/>
        </p:nvSpPr>
        <p:spPr>
          <a:xfrm>
            <a:off x="4187952" y="5358384"/>
            <a:ext cx="1682496" cy="868680"/>
          </a:xfrm>
          <a:prstGeom prst="rect">
            <a:avLst/>
          </a:prstGeom>
          <a:noFill/>
        </p:spPr>
        <p:txBody>
          <a:bodyPr wrap="square" lIns="0" rIns="0" tIns="0" bIns="0" anchor="t">
            <a:spAutoFit/>
          </a:bodyPr>
          <a:lstStyle/>
          <a:p>
            <a:pPr algn="ctr"/>
            <a:r>
              <a:rPr sz="700" b="0" i="0">
                <a:solidFill>
                  <a:srgbClr val="5A6472"/>
                </a:solidFill>
                <a:latin typeface="Sora"/>
              </a:rPr>
              <a:t>/mriirs/academics/btech-computer-science-and-engineering · 390px</a:t>
            </a:r>
          </a:p>
        </p:txBody>
      </p:sp>
      <p:sp>
        <p:nvSpPr>
          <p:cNvPr id="26" name="Rounded Rectangle 25"/>
          <p:cNvSpPr/>
          <p:nvPr/>
        </p:nvSpPr>
        <p:spPr>
          <a:xfrm>
            <a:off x="6153912" y="1481328"/>
            <a:ext cx="5486400" cy="4846320"/>
          </a:xfrm>
          <a:prstGeom prst="roundRect">
            <a:avLst>
              <a:gd name="adj" fmla="val 3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336792" y="1645920"/>
            <a:ext cx="566928" cy="329184"/>
          </a:xfrm>
          <a:prstGeom prst="roundRect">
            <a:avLst>
              <a:gd name="adj" fmla="val 25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36792" y="1645920"/>
            <a:ext cx="566928" cy="329184"/>
          </a:xfrm>
          <a:prstGeom prst="rect">
            <a:avLst/>
          </a:prstGeom>
          <a:noFill/>
        </p:spPr>
        <p:txBody>
          <a:bodyPr wrap="square" lIns="0" rIns="0" tIns="0" bIns="0" anchor="ctr">
            <a:spAutoFit/>
          </a:bodyPr>
          <a:lstStyle/>
          <a:p>
            <a:pPr algn="ctr"/>
            <a:r>
              <a:rPr sz="1000" b="1" i="0">
                <a:solidFill>
                  <a:srgbClr val="FFFFFF"/>
                </a:solidFill>
                <a:latin typeface="Sora"/>
              </a:rPr>
              <a:t>CR-2</a:t>
            </a:r>
          </a:p>
        </p:txBody>
      </p:sp>
      <p:sp>
        <p:nvSpPr>
          <p:cNvPr id="29" name="TextBox 28"/>
          <p:cNvSpPr txBox="1"/>
          <p:nvPr/>
        </p:nvSpPr>
        <p:spPr>
          <a:xfrm>
            <a:off x="7022592" y="1591056"/>
            <a:ext cx="2651760" cy="420624"/>
          </a:xfrm>
          <a:prstGeom prst="rect">
            <a:avLst/>
          </a:prstGeom>
          <a:noFill/>
        </p:spPr>
        <p:txBody>
          <a:bodyPr wrap="square" lIns="0" rIns="0" tIns="0" bIns="0" anchor="ctr">
            <a:spAutoFit/>
          </a:bodyPr>
          <a:lstStyle/>
          <a:p>
            <a:pPr algn="l"/>
            <a:r>
              <a:rPr sz="1150" b="1" i="0">
                <a:solidFill>
                  <a:srgbClr val="0F2C5C"/>
                </a:solidFill>
                <a:latin typeface="Sora"/>
              </a:rPr>
              <a:t>Brochure + optional WhatsApp send, no gate</a:t>
            </a:r>
          </a:p>
        </p:txBody>
      </p:sp>
      <p:sp>
        <p:nvSpPr>
          <p:cNvPr id="30" name="Rounded Rectangle 29"/>
          <p:cNvSpPr/>
          <p:nvPr/>
        </p:nvSpPr>
        <p:spPr>
          <a:xfrm>
            <a:off x="6336792" y="2139696"/>
            <a:ext cx="596188" cy="201168"/>
          </a:xfrm>
          <a:prstGeom prst="roundRect">
            <a:avLst>
              <a:gd name="adj" fmla="val 50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FFFFFF"/>
                </a:solidFill>
                <a:latin typeface="Sora"/>
              </a:rPr>
              <a:t>WAVE 2</a:t>
            </a:r>
          </a:p>
        </p:txBody>
      </p:sp>
      <p:sp>
        <p:nvSpPr>
          <p:cNvPr id="31" name="Rounded Rectangle 30"/>
          <p:cNvSpPr/>
          <p:nvPr/>
        </p:nvSpPr>
        <p:spPr>
          <a:xfrm>
            <a:off x="7006132" y="2139696"/>
            <a:ext cx="859536" cy="201168"/>
          </a:xfrm>
          <a:prstGeom prst="roundRect">
            <a:avLst>
              <a:gd name="adj" fmla="val 50000"/>
            </a:avLst>
          </a:prstGeom>
          <a:solidFill>
            <a:srgbClr val="E5F1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SHIP-READY</a:t>
            </a:r>
          </a:p>
        </p:txBody>
      </p:sp>
      <p:sp>
        <p:nvSpPr>
          <p:cNvPr id="32" name="TextBox 31"/>
          <p:cNvSpPr txBox="1"/>
          <p:nvPr/>
        </p:nvSpPr>
        <p:spPr>
          <a:xfrm>
            <a:off x="6336792" y="2414016"/>
            <a:ext cx="3310128" cy="182880"/>
          </a:xfrm>
          <a:prstGeom prst="rect">
            <a:avLst/>
          </a:prstGeom>
          <a:noFill/>
        </p:spPr>
        <p:txBody>
          <a:bodyPr wrap="square" lIns="0" rIns="0" tIns="0" bIns="0" anchor="t">
            <a:spAutoFit/>
          </a:bodyPr>
          <a:lstStyle/>
          <a:p>
            <a:pPr algn="l"/>
            <a:r>
              <a:rPr sz="700" b="0" i="1">
                <a:solidFill>
                  <a:srgbClr val="96A1B0"/>
                </a:solidFill>
                <a:latin typeface="Sora"/>
              </a:rPr>
              <a:t>From MREI T6 · pitch N08 (reciprocity)</a:t>
            </a:r>
          </a:p>
        </p:txBody>
      </p:sp>
      <p:sp>
        <p:nvSpPr>
          <p:cNvPr id="33" name="TextBox 32"/>
          <p:cNvSpPr txBox="1"/>
          <p:nvPr/>
        </p:nvSpPr>
        <p:spPr>
          <a:xfrm>
            <a:off x="6336792" y="2724912"/>
            <a:ext cx="3310128" cy="146304"/>
          </a:xfrm>
          <a:prstGeom prst="rect">
            <a:avLst/>
          </a:prstGeom>
          <a:noFill/>
        </p:spPr>
        <p:txBody>
          <a:bodyPr wrap="square" lIns="0" rIns="0" tIns="0" bIns="0" anchor="t">
            <a:spAutoFit/>
          </a:bodyPr>
          <a:lstStyle/>
          <a:p>
            <a:pPr algn="l"/>
            <a:r>
              <a:rPr sz="700" b="1" i="0">
                <a:solidFill>
                  <a:srgbClr val="C8102E"/>
                </a:solidFill>
                <a:latin typeface="Sora"/>
              </a:rPr>
              <a:t>WHAT WE SEE</a:t>
            </a:r>
          </a:p>
        </p:txBody>
      </p:sp>
      <p:sp>
        <p:nvSpPr>
          <p:cNvPr id="34" name="TextBox 33"/>
          <p:cNvSpPr txBox="1"/>
          <p:nvPr/>
        </p:nvSpPr>
        <p:spPr>
          <a:xfrm>
            <a:off x="6336792" y="2880360"/>
            <a:ext cx="3310128" cy="396240"/>
          </a:xfrm>
          <a:prstGeom prst="rect">
            <a:avLst/>
          </a:prstGeom>
          <a:noFill/>
        </p:spPr>
        <p:txBody>
          <a:bodyPr wrap="square" lIns="0" rIns="0" tIns="0" bIns="0" anchor="t">
            <a:spAutoFit/>
          </a:bodyPr>
          <a:lstStyle/>
          <a:p>
            <a:pPr algn="l"/>
            <a:r>
              <a:rPr sz="800" b="0" i="0">
                <a:solidFill>
                  <a:srgbClr val="5A6472"/>
                </a:solidFill>
                <a:latin typeface="Sora"/>
              </a:rPr>
              <a:t>483 brochure downloads vs 47 Apply Now clicks on this page. Course pages: 516 file downloads vs 64 form starts. The brochure is an anonymous PDF today.</a:t>
            </a:r>
          </a:p>
        </p:txBody>
      </p:sp>
      <p:sp>
        <p:nvSpPr>
          <p:cNvPr id="35" name="TextBox 34"/>
          <p:cNvSpPr txBox="1"/>
          <p:nvPr/>
        </p:nvSpPr>
        <p:spPr>
          <a:xfrm>
            <a:off x="6336792" y="3386328"/>
            <a:ext cx="3310128" cy="146304"/>
          </a:xfrm>
          <a:prstGeom prst="rect">
            <a:avLst/>
          </a:prstGeom>
          <a:noFill/>
        </p:spPr>
        <p:txBody>
          <a:bodyPr wrap="square" lIns="0" rIns="0" tIns="0" bIns="0" anchor="t">
            <a:spAutoFit/>
          </a:bodyPr>
          <a:lstStyle/>
          <a:p>
            <a:pPr algn="l"/>
            <a:r>
              <a:rPr sz="700" b="1" i="0">
                <a:solidFill>
                  <a:srgbClr val="C8102E"/>
                </a:solidFill>
                <a:latin typeface="Sora"/>
              </a:rPr>
              <a:t>CONTROL → VARIANT</a:t>
            </a:r>
          </a:p>
        </p:txBody>
      </p:sp>
      <p:sp>
        <p:nvSpPr>
          <p:cNvPr id="36" name="TextBox 35"/>
          <p:cNvSpPr txBox="1"/>
          <p:nvPr/>
        </p:nvSpPr>
        <p:spPr>
          <a:xfrm>
            <a:off x="6336792" y="3541775"/>
            <a:ext cx="3310128" cy="396240"/>
          </a:xfrm>
          <a:prstGeom prst="rect">
            <a:avLst/>
          </a:prstGeom>
          <a:noFill/>
        </p:spPr>
        <p:txBody>
          <a:bodyPr wrap="square" lIns="0" rIns="0" tIns="0" bIns="0" anchor="t">
            <a:spAutoFit/>
          </a:bodyPr>
          <a:lstStyle/>
          <a:p>
            <a:pPr algn="l"/>
            <a:r>
              <a:rPr sz="800" b="0" i="0">
                <a:solidFill>
                  <a:srgbClr val="0F2C5C"/>
                </a:solidFill>
                <a:latin typeface="Sora"/>
              </a:rPr>
              <a:t>Direct PDF link → PDF opens at once, then a bottom sheet: “Get the CSE brochure + fee sheet on WhatsApp”. Mobile number only, consent box unticked, course pre-filled.</a:t>
            </a:r>
          </a:p>
        </p:txBody>
      </p:sp>
      <p:sp>
        <p:nvSpPr>
          <p:cNvPr id="37" name="TextBox 36"/>
          <p:cNvSpPr txBox="1"/>
          <p:nvPr/>
        </p:nvSpPr>
        <p:spPr>
          <a:xfrm>
            <a:off x="6336792" y="4047744"/>
            <a:ext cx="3310128" cy="146304"/>
          </a:xfrm>
          <a:prstGeom prst="rect">
            <a:avLst/>
          </a:prstGeom>
          <a:noFill/>
        </p:spPr>
        <p:txBody>
          <a:bodyPr wrap="square" lIns="0" rIns="0" tIns="0" bIns="0" anchor="t">
            <a:spAutoFit/>
          </a:bodyPr>
          <a:lstStyle/>
          <a:p>
            <a:pPr algn="l"/>
            <a:r>
              <a:rPr sz="700" b="1" i="0">
                <a:solidFill>
                  <a:srgbClr val="C8102E"/>
                </a:solidFill>
                <a:latin typeface="Sora"/>
              </a:rPr>
              <a:t>HYPOTHESIS</a:t>
            </a:r>
          </a:p>
        </p:txBody>
      </p:sp>
      <p:sp>
        <p:nvSpPr>
          <p:cNvPr id="38" name="TextBox 37"/>
          <p:cNvSpPr txBox="1"/>
          <p:nvPr/>
        </p:nvSpPr>
        <p:spPr>
          <a:xfrm>
            <a:off x="6336792" y="4203192"/>
            <a:ext cx="3310128" cy="396240"/>
          </a:xfrm>
          <a:prstGeom prst="rect">
            <a:avLst/>
          </a:prstGeom>
          <a:noFill/>
        </p:spPr>
        <p:txBody>
          <a:bodyPr wrap="square" lIns="0" rIns="0" tIns="0" bIns="0" anchor="t">
            <a:spAutoFit/>
          </a:bodyPr>
          <a:lstStyle/>
          <a:p>
            <a:pPr algn="l"/>
            <a:r>
              <a:rPr sz="800" b="0" i="1">
                <a:solidFill>
                  <a:srgbClr val="0F2C5C"/>
                </a:solidFill>
                <a:latin typeface="Sora"/>
              </a:rPr>
              <a:t>If downloaders are offered the brochure on WhatsApp without a gate, known leads rise, because the strongest intent signal on the page finally records who acted.</a:t>
            </a:r>
          </a:p>
        </p:txBody>
      </p:sp>
      <p:sp>
        <p:nvSpPr>
          <p:cNvPr id="39" name="TextBox 38"/>
          <p:cNvSpPr txBox="1"/>
          <p:nvPr/>
        </p:nvSpPr>
        <p:spPr>
          <a:xfrm>
            <a:off x="6336792" y="4709160"/>
            <a:ext cx="3310128" cy="146304"/>
          </a:xfrm>
          <a:prstGeom prst="rect">
            <a:avLst/>
          </a:prstGeom>
          <a:noFill/>
        </p:spPr>
        <p:txBody>
          <a:bodyPr wrap="square" lIns="0" rIns="0" tIns="0" bIns="0" anchor="t">
            <a:spAutoFit/>
          </a:bodyPr>
          <a:lstStyle/>
          <a:p>
            <a:pPr algn="l"/>
            <a:r>
              <a:rPr sz="700" b="1" i="0">
                <a:solidFill>
                  <a:srgbClr val="C8102E"/>
                </a:solidFill>
                <a:latin typeface="Sora"/>
              </a:rPr>
              <a:t>MEASURE</a:t>
            </a:r>
          </a:p>
        </p:txBody>
      </p:sp>
      <p:sp>
        <p:nvSpPr>
          <p:cNvPr id="40" name="TextBox 39"/>
          <p:cNvSpPr txBox="1"/>
          <p:nvPr/>
        </p:nvSpPr>
        <p:spPr>
          <a:xfrm>
            <a:off x="6336792" y="4864608"/>
            <a:ext cx="3310128" cy="396240"/>
          </a:xfrm>
          <a:prstGeom prst="rect">
            <a:avLst/>
          </a:prstGeom>
          <a:noFill/>
        </p:spPr>
        <p:txBody>
          <a:bodyPr wrap="square" lIns="0" rIns="0" tIns="0" bIns="0" anchor="t">
            <a:spAutoFit/>
          </a:bodyPr>
          <a:lstStyle/>
          <a:p>
            <a:pPr algn="l"/>
            <a:r>
              <a:rPr sz="800" b="0" i="0">
                <a:solidFill>
                  <a:srgbClr val="0F2C5C"/>
                </a:solidFill>
                <a:latin typeface="Sora"/>
              </a:rPr>
              <a:t>Primary: WhatsApp opt-ins → leads · Secondary: brochure_request · Guardrail: brochure downloads must not fall &gt; 5% · Keep if incremental leads ≥ +8%</a:t>
            </a:r>
          </a:p>
        </p:txBody>
      </p:sp>
      <p:sp>
        <p:nvSpPr>
          <p:cNvPr id="41" name="TextBox 40"/>
          <p:cNvSpPr txBox="1"/>
          <p:nvPr/>
        </p:nvSpPr>
        <p:spPr>
          <a:xfrm>
            <a:off x="6336792" y="5370576"/>
            <a:ext cx="3310128" cy="146304"/>
          </a:xfrm>
          <a:prstGeom prst="rect">
            <a:avLst/>
          </a:prstGeom>
          <a:noFill/>
        </p:spPr>
        <p:txBody>
          <a:bodyPr wrap="square" lIns="0" rIns="0" tIns="0" bIns="0" anchor="t">
            <a:spAutoFit/>
          </a:bodyPr>
          <a:lstStyle/>
          <a:p>
            <a:pPr algn="l"/>
            <a:r>
              <a:rPr sz="700" b="1" i="0">
                <a:solidFill>
                  <a:srgbClr val="C8102E"/>
                </a:solidFill>
                <a:latin typeface="Sora"/>
              </a:rPr>
              <a:t>SET-UP</a:t>
            </a:r>
          </a:p>
        </p:txBody>
      </p:sp>
      <p:sp>
        <p:nvSpPr>
          <p:cNvPr id="42" name="TextBox 41"/>
          <p:cNvSpPr txBox="1"/>
          <p:nvPr/>
        </p:nvSpPr>
        <p:spPr>
          <a:xfrm>
            <a:off x="6336792" y="5526024"/>
            <a:ext cx="3310128" cy="264160"/>
          </a:xfrm>
          <a:prstGeom prst="rect">
            <a:avLst/>
          </a:prstGeom>
          <a:noFill/>
        </p:spPr>
        <p:txBody>
          <a:bodyPr wrap="square" lIns="0" rIns="0" tIns="0" bIns="0" anchor="t">
            <a:spAutoFit/>
          </a:bodyPr>
          <a:lstStyle/>
          <a:p>
            <a:pPr algn="l"/>
            <a:r>
              <a:rPr sz="800" b="0" i="0">
                <a:solidFill>
                  <a:srgbClr val="0F2C5C"/>
                </a:solidFill>
                <a:latin typeface="Sora"/>
              </a:rPr>
              <a:t>50/50 on brochure clicks, 3 weeks, after CR-1 decides. Effort S: WhatsApp template + one bottom sheet.</a:t>
            </a:r>
          </a:p>
        </p:txBody>
      </p:sp>
      <p:sp>
        <p:nvSpPr>
          <p:cNvPr id="43" name="Rounded Rectangle 42"/>
          <p:cNvSpPr/>
          <p:nvPr/>
        </p:nvSpPr>
        <p:spPr>
          <a:xfrm>
            <a:off x="9793224" y="1645920"/>
            <a:ext cx="1682496" cy="3639312"/>
          </a:xfrm>
          <a:prstGeom prst="roundRect">
            <a:avLst>
              <a:gd name="adj" fmla="val 10000"/>
            </a:avLst>
          </a:prstGeom>
          <a:solidFill>
            <a:srgbClr val="FFFFFF"/>
          </a:solidFill>
          <a:ln w="12700">
            <a:solidFill>
              <a:srgbClr val="96A1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884664" y="3145536"/>
            <a:ext cx="1499616" cy="640080"/>
          </a:xfrm>
          <a:prstGeom prst="rect">
            <a:avLst/>
          </a:prstGeom>
          <a:noFill/>
        </p:spPr>
        <p:txBody>
          <a:bodyPr wrap="square" lIns="0" rIns="0" tIns="0" bIns="0" anchor="t">
            <a:spAutoFit/>
          </a:bodyPr>
          <a:lstStyle/>
          <a:p>
            <a:pPr algn="ctr"/>
            <a:r>
              <a:rPr sz="800" b="1" i="0">
                <a:solidFill>
                  <a:srgbClr val="96A1B0"/>
                </a:solidFill>
                <a:latin typeface="Sora"/>
              </a:rPr>
              <a:t>MOCKUP</a:t>
            </a:r>
          </a:p>
          <a:p>
            <a:pPr algn="ctr"/>
            <a:r>
              <a:rPr sz="700" b="0" i="0">
                <a:solidFill>
                  <a:srgbClr val="96A1B0"/>
                </a:solidFill>
                <a:latin typeface="Sora"/>
              </a:rPr>
              <a:t>Control: tap → PDF
Variant: PDF + WhatsApp bottom sheet</a:t>
            </a:r>
          </a:p>
        </p:txBody>
      </p:sp>
      <p:sp>
        <p:nvSpPr>
          <p:cNvPr id="45" name="TextBox 44"/>
          <p:cNvSpPr txBox="1"/>
          <p:nvPr/>
        </p:nvSpPr>
        <p:spPr>
          <a:xfrm>
            <a:off x="9793224" y="5358384"/>
            <a:ext cx="1682496" cy="868680"/>
          </a:xfrm>
          <a:prstGeom prst="rect">
            <a:avLst/>
          </a:prstGeom>
          <a:noFill/>
        </p:spPr>
        <p:txBody>
          <a:bodyPr wrap="square" lIns="0" rIns="0" tIns="0" bIns="0" anchor="t">
            <a:spAutoFit/>
          </a:bodyPr>
          <a:lstStyle/>
          <a:p>
            <a:pPr algn="ctr"/>
            <a:r>
              <a:rPr sz="700" b="0" i="0">
                <a:solidFill>
                  <a:srgbClr val="5A6472"/>
                </a:solidFill>
                <a:latin typeface="Sora"/>
              </a:rPr>
              <a:t>Brochure (PDF) link, fold 1 of the CSE page</a:t>
            </a:r>
          </a:p>
        </p:txBody>
      </p:sp>
      <p:sp>
        <p:nvSpPr>
          <p:cNvPr id="46" name="TextBox 45"/>
          <p:cNvSpPr txBox="1"/>
          <p:nvPr/>
        </p:nvSpPr>
        <p:spPr>
          <a:xfrm>
            <a:off x="548640" y="6400800"/>
            <a:ext cx="11064240" cy="274320"/>
          </a:xfrm>
          <a:prstGeom prst="rect">
            <a:avLst/>
          </a:prstGeom>
          <a:noFill/>
        </p:spPr>
        <p:txBody>
          <a:bodyPr wrap="square" lIns="0" rIns="0" tIns="0" bIns="0" anchor="t">
            <a:spAutoFit/>
          </a:bodyPr>
          <a:lstStyle/>
          <a:p>
            <a:pPr algn="l"/>
            <a:r>
              <a:rPr sz="700" b="1" i="0">
                <a:solidFill>
                  <a:srgbClr val="0F2C5C"/>
                </a:solidFill>
                <a:latin typeface="Sora"/>
              </a:rPr>
              <a:t>ORDER  </a:t>
            </a:r>
            <a:r>
              <a:rPr sz="700" b="0" i="0">
                <a:solidFill>
                  <a:srgbClr val="96A1B0"/>
                </a:solidFill>
                <a:latin typeface="Sora"/>
              </a:rPr>
              <a:t>CR-1 first; CR-2 once CR-1 decides (same template).   </a:t>
            </a:r>
            <a:r>
              <a:rPr sz="700" b="1" i="0">
                <a:solidFill>
                  <a:srgbClr val="0F2C5C"/>
                </a:solidFill>
                <a:latin typeface="Sora"/>
              </a:rPr>
              <a:t>Source  </a:t>
            </a:r>
            <a:r>
              <a:rPr sz="700" b="0" i="0">
                <a:solidFill>
                  <a:srgbClr val="96A1B0"/>
                </a:solidFill>
                <a:latin typeface="Sora"/>
              </a:rPr>
              <a:t>GA4 explorations 13 Jun – 10 Sept 2026 · GA4 event export by page type · live audit 24 Sept 2026 · MRIIRS pitch v4.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8229600" cy="182880"/>
          </a:xfrm>
          <a:prstGeom prst="rect">
            <a:avLst/>
          </a:prstGeom>
          <a:noFill/>
        </p:spPr>
        <p:txBody>
          <a:bodyPr wrap="square" lIns="0" rIns="0" tIns="0" bIns="0" anchor="t">
            <a:spAutoFit/>
          </a:bodyPr>
          <a:lstStyle/>
          <a:p>
            <a:pPr algn="l"/>
            <a:r>
              <a:rPr sz="900" b="1" i="0">
                <a:solidFill>
                  <a:srgbClr val="C8102E"/>
                </a:solidFill>
                <a:latin typeface="Sora"/>
              </a:rPr>
              <a:t>EXPERIMENTATION  ·  A/B TESTS  ·  COST CHECKER</a:t>
            </a:r>
          </a:p>
        </p:txBody>
      </p:sp>
      <p:sp>
        <p:nvSpPr>
          <p:cNvPr id="3" name="Rounded Rectangle 2"/>
          <p:cNvSpPr/>
          <p:nvPr/>
        </p:nvSpPr>
        <p:spPr>
          <a:xfrm>
            <a:off x="10780776" y="274320"/>
            <a:ext cx="859536" cy="201168"/>
          </a:xfrm>
          <a:prstGeom prst="roundRect">
            <a:avLst>
              <a:gd name="adj" fmla="val 50000"/>
            </a:avLst>
          </a:prstGeom>
          <a:solidFill>
            <a:srgbClr val="E8EEF7"/>
          </a:solidFill>
          <a:ln w="12700">
            <a:solidFill>
              <a:srgbClr val="0F2C5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0F2C5C"/>
                </a:solidFill>
                <a:latin typeface="Sora"/>
              </a:rPr>
              <a:t>HYPOTHESIS</a:t>
            </a:r>
          </a:p>
        </p:txBody>
      </p:sp>
      <p:sp>
        <p:nvSpPr>
          <p:cNvPr id="4" name="TextBox 3"/>
          <p:cNvSpPr txBox="1"/>
          <p:nvPr/>
        </p:nvSpPr>
        <p:spPr>
          <a:xfrm>
            <a:off x="548640" y="502920"/>
            <a:ext cx="11064240" cy="548640"/>
          </a:xfrm>
          <a:prstGeom prst="rect">
            <a:avLst/>
          </a:prstGeom>
          <a:noFill/>
        </p:spPr>
        <p:txBody>
          <a:bodyPr wrap="square" lIns="0" rIns="0" tIns="0" bIns="0" anchor="t">
            <a:spAutoFit/>
          </a:bodyPr>
          <a:lstStyle/>
          <a:p>
            <a:pPr algn="l"/>
            <a:r>
              <a:rPr sz="2400" b="1" i="0">
                <a:solidFill>
                  <a:srgbClr val="0F2C5C"/>
                </a:solidFill>
                <a:latin typeface="Sora"/>
              </a:rPr>
              <a:t>Cost Checker: one fee, found fast, with a person beside it</a:t>
            </a:r>
          </a:p>
        </p:txBody>
      </p:sp>
      <p:sp>
        <p:nvSpPr>
          <p:cNvPr id="5" name="TextBox 4"/>
          <p:cNvSpPr txBox="1"/>
          <p:nvPr/>
        </p:nvSpPr>
        <p:spPr>
          <a:xfrm>
            <a:off x="548640" y="1069848"/>
            <a:ext cx="11064240" cy="274320"/>
          </a:xfrm>
          <a:prstGeom prst="rect">
            <a:avLst/>
          </a:prstGeom>
          <a:noFill/>
        </p:spPr>
        <p:txBody>
          <a:bodyPr wrap="square" lIns="0" rIns="0" tIns="0" bIns="0" anchor="t">
            <a:spAutoFit/>
          </a:bodyPr>
          <a:lstStyle/>
          <a:p>
            <a:pPr algn="l"/>
            <a:r>
              <a:rPr sz="1200" b="0" i="0">
                <a:solidFill>
                  <a:srgbClr val="5A6472"/>
                </a:solidFill>
                <a:latin typeface="Sora"/>
              </a:rPr>
              <a:t>“What does it cost, and can I get in?” · fee-structure pages · 8,664 + 3,752 sessions · 74% engagement</a:t>
            </a:r>
          </a:p>
        </p:txBody>
      </p:sp>
      <p:sp>
        <p:nvSpPr>
          <p:cNvPr id="6" name="Rounded Rectangle 5"/>
          <p:cNvSpPr/>
          <p:nvPr/>
        </p:nvSpPr>
        <p:spPr>
          <a:xfrm>
            <a:off x="548640" y="1481328"/>
            <a:ext cx="5486400" cy="4846320"/>
          </a:xfrm>
          <a:prstGeom prst="roundRect">
            <a:avLst>
              <a:gd name="adj" fmla="val 3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566928" cy="329184"/>
          </a:xfrm>
          <a:prstGeom prst="roundRect">
            <a:avLst>
              <a:gd name="adj" fmla="val 25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45920"/>
            <a:ext cx="566928" cy="329184"/>
          </a:xfrm>
          <a:prstGeom prst="rect">
            <a:avLst/>
          </a:prstGeom>
          <a:noFill/>
        </p:spPr>
        <p:txBody>
          <a:bodyPr wrap="square" lIns="0" rIns="0" tIns="0" bIns="0" anchor="ctr">
            <a:spAutoFit/>
          </a:bodyPr>
          <a:lstStyle/>
          <a:p>
            <a:pPr algn="ctr"/>
            <a:r>
              <a:rPr sz="1000" b="1" i="0">
                <a:solidFill>
                  <a:srgbClr val="FFFFFF"/>
                </a:solidFill>
                <a:latin typeface="Sora"/>
              </a:rPr>
              <a:t>CC-1</a:t>
            </a:r>
          </a:p>
        </p:txBody>
      </p:sp>
      <p:sp>
        <p:nvSpPr>
          <p:cNvPr id="9" name="TextBox 8"/>
          <p:cNvSpPr txBox="1"/>
          <p:nvPr/>
        </p:nvSpPr>
        <p:spPr>
          <a:xfrm>
            <a:off x="1417319" y="1591056"/>
            <a:ext cx="2651760" cy="420624"/>
          </a:xfrm>
          <a:prstGeom prst="rect">
            <a:avLst/>
          </a:prstGeom>
          <a:noFill/>
        </p:spPr>
        <p:txBody>
          <a:bodyPr wrap="square" lIns="0" rIns="0" tIns="0" bIns="0" anchor="ctr">
            <a:spAutoFit/>
          </a:bodyPr>
          <a:lstStyle/>
          <a:p>
            <a:pPr algn="l"/>
            <a:r>
              <a:rPr sz="1150" b="1" i="0">
                <a:solidFill>
                  <a:srgbClr val="0F2C5C"/>
                </a:solidFill>
                <a:latin typeface="Sora"/>
              </a:rPr>
              <a:t>Fee finder instead of the 15-column table</a:t>
            </a:r>
          </a:p>
        </p:txBody>
      </p:sp>
      <p:sp>
        <p:nvSpPr>
          <p:cNvPr id="10" name="Rounded Rectangle 9"/>
          <p:cNvSpPr/>
          <p:nvPr/>
        </p:nvSpPr>
        <p:spPr>
          <a:xfrm>
            <a:off x="731520" y="2139696"/>
            <a:ext cx="596188" cy="201168"/>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FFFFFF"/>
                </a:solidFill>
                <a:latin typeface="Sora"/>
              </a:rPr>
              <a:t>WAVE 1</a:t>
            </a:r>
          </a:p>
        </p:txBody>
      </p:sp>
      <p:sp>
        <p:nvSpPr>
          <p:cNvPr id="11" name="Rounded Rectangle 10"/>
          <p:cNvSpPr/>
          <p:nvPr/>
        </p:nvSpPr>
        <p:spPr>
          <a:xfrm>
            <a:off x="1400860" y="2139696"/>
            <a:ext cx="859536" cy="201168"/>
          </a:xfrm>
          <a:prstGeom prst="roundRect">
            <a:avLst>
              <a:gd name="adj" fmla="val 50000"/>
            </a:avLst>
          </a:prstGeom>
          <a:solidFill>
            <a:srgbClr val="E5F1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SHIP-READY</a:t>
            </a:r>
          </a:p>
        </p:txBody>
      </p:sp>
      <p:sp>
        <p:nvSpPr>
          <p:cNvPr id="12" name="TextBox 11"/>
          <p:cNvSpPr txBox="1"/>
          <p:nvPr/>
        </p:nvSpPr>
        <p:spPr>
          <a:xfrm>
            <a:off x="731520" y="2414016"/>
            <a:ext cx="3310128" cy="182880"/>
          </a:xfrm>
          <a:prstGeom prst="rect">
            <a:avLst/>
          </a:prstGeom>
          <a:noFill/>
        </p:spPr>
        <p:txBody>
          <a:bodyPr wrap="square" lIns="0" rIns="0" tIns="0" bIns="0" anchor="t">
            <a:spAutoFit/>
          </a:bodyPr>
          <a:lstStyle/>
          <a:p>
            <a:pPr algn="l"/>
            <a:r>
              <a:rPr sz="700" b="0" i="1">
                <a:solidFill>
                  <a:srgbClr val="96A1B0"/>
                </a:solidFill>
                <a:latin typeface="Sora"/>
              </a:rPr>
              <a:t>From MREI T1 + T4 · pitch T3 (hostel toggle)</a:t>
            </a:r>
          </a:p>
        </p:txBody>
      </p:sp>
      <p:sp>
        <p:nvSpPr>
          <p:cNvPr id="13" name="TextBox 12"/>
          <p:cNvSpPr txBox="1"/>
          <p:nvPr/>
        </p:nvSpPr>
        <p:spPr>
          <a:xfrm>
            <a:off x="731520" y="2724912"/>
            <a:ext cx="3310128" cy="146304"/>
          </a:xfrm>
          <a:prstGeom prst="rect">
            <a:avLst/>
          </a:prstGeom>
          <a:noFill/>
        </p:spPr>
        <p:txBody>
          <a:bodyPr wrap="square" lIns="0" rIns="0" tIns="0" bIns="0" anchor="t">
            <a:spAutoFit/>
          </a:bodyPr>
          <a:lstStyle/>
          <a:p>
            <a:pPr algn="l"/>
            <a:r>
              <a:rPr sz="700" b="1" i="0">
                <a:solidFill>
                  <a:srgbClr val="C8102E"/>
                </a:solidFill>
                <a:latin typeface="Sora"/>
              </a:rPr>
              <a:t>WHAT WE SEE</a:t>
            </a:r>
          </a:p>
        </p:txBody>
      </p:sp>
      <p:sp>
        <p:nvSpPr>
          <p:cNvPr id="14" name="TextBox 13"/>
          <p:cNvSpPr txBox="1"/>
          <p:nvPr/>
        </p:nvSpPr>
        <p:spPr>
          <a:xfrm>
            <a:off x="731520" y="2880360"/>
            <a:ext cx="3310128" cy="396240"/>
          </a:xfrm>
          <a:prstGeom prst="rect">
            <a:avLst/>
          </a:prstGeom>
          <a:noFill/>
        </p:spPr>
        <p:txBody>
          <a:bodyPr wrap="square" lIns="0" rIns="0" tIns="0" bIns="0" anchor="t">
            <a:spAutoFit/>
          </a:bodyPr>
          <a:lstStyle/>
          <a:p>
            <a:pPr algn="l"/>
            <a:r>
              <a:rPr sz="800" b="0" i="0">
                <a:solidFill>
                  <a:srgbClr val="5A6472"/>
                </a:solidFill>
                <a:latin typeface="Sora"/>
              </a:rPr>
              <a:t>70% of MRIIRS fee entries come from CSE. Search “CSE” returns unrelated rows; the total is column 15 of a 1,642px table. 1,236 moves go to the homepage.</a:t>
            </a:r>
          </a:p>
        </p:txBody>
      </p:sp>
      <p:sp>
        <p:nvSpPr>
          <p:cNvPr id="15" name="TextBox 14"/>
          <p:cNvSpPr txBox="1"/>
          <p:nvPr/>
        </p:nvSpPr>
        <p:spPr>
          <a:xfrm>
            <a:off x="731520" y="3386328"/>
            <a:ext cx="3310128" cy="146304"/>
          </a:xfrm>
          <a:prstGeom prst="rect">
            <a:avLst/>
          </a:prstGeom>
          <a:noFill/>
        </p:spPr>
        <p:txBody>
          <a:bodyPr wrap="square" lIns="0" rIns="0" tIns="0" bIns="0" anchor="t">
            <a:spAutoFit/>
          </a:bodyPr>
          <a:lstStyle/>
          <a:p>
            <a:pPr algn="l"/>
            <a:r>
              <a:rPr sz="700" b="1" i="0">
                <a:solidFill>
                  <a:srgbClr val="C8102E"/>
                </a:solidFill>
                <a:latin typeface="Sora"/>
              </a:rPr>
              <a:t>CONTROL → VARIANT</a:t>
            </a:r>
          </a:p>
        </p:txBody>
      </p:sp>
      <p:sp>
        <p:nvSpPr>
          <p:cNvPr id="16" name="TextBox 15"/>
          <p:cNvSpPr txBox="1"/>
          <p:nvPr/>
        </p:nvSpPr>
        <p:spPr>
          <a:xfrm>
            <a:off x="731520" y="3541775"/>
            <a:ext cx="3310128" cy="528320"/>
          </a:xfrm>
          <a:prstGeom prst="rect">
            <a:avLst/>
          </a:prstGeom>
          <a:noFill/>
        </p:spPr>
        <p:txBody>
          <a:bodyPr wrap="square" lIns="0" rIns="0" tIns="0" bIns="0" anchor="t">
            <a:spAutoFit/>
          </a:bodyPr>
          <a:lstStyle/>
          <a:p>
            <a:pPr algn="l"/>
            <a:r>
              <a:rPr sz="800" b="0" i="0">
                <a:solidFill>
                  <a:srgbClr val="0F2C5C"/>
                </a:solidFill>
                <a:latin typeface="Sora"/>
              </a:rPr>
              <a:t>Table + free-text search → Institution → programme → specialisation selectors → one fee card: total first, instalments, hostel toggle updates the total, “← Back to B.Tech CSE”. Pre-filled via ?programme=btech-cse from the CSE page.</a:t>
            </a:r>
          </a:p>
        </p:txBody>
      </p:sp>
      <p:sp>
        <p:nvSpPr>
          <p:cNvPr id="17" name="TextBox 16"/>
          <p:cNvSpPr txBox="1"/>
          <p:nvPr/>
        </p:nvSpPr>
        <p:spPr>
          <a:xfrm>
            <a:off x="731520" y="4179823"/>
            <a:ext cx="3310128" cy="146304"/>
          </a:xfrm>
          <a:prstGeom prst="rect">
            <a:avLst/>
          </a:prstGeom>
          <a:noFill/>
        </p:spPr>
        <p:txBody>
          <a:bodyPr wrap="square" lIns="0" rIns="0" tIns="0" bIns="0" anchor="t">
            <a:spAutoFit/>
          </a:bodyPr>
          <a:lstStyle/>
          <a:p>
            <a:pPr algn="l"/>
            <a:r>
              <a:rPr sz="700" b="1" i="0">
                <a:solidFill>
                  <a:srgbClr val="C8102E"/>
                </a:solidFill>
                <a:latin typeface="Sora"/>
              </a:rPr>
              <a:t>HYPOTHESIS</a:t>
            </a:r>
          </a:p>
        </p:txBody>
      </p:sp>
      <p:sp>
        <p:nvSpPr>
          <p:cNvPr id="18" name="TextBox 17"/>
          <p:cNvSpPr txBox="1"/>
          <p:nvPr/>
        </p:nvSpPr>
        <p:spPr>
          <a:xfrm>
            <a:off x="731520" y="4335272"/>
            <a:ext cx="3310128" cy="396240"/>
          </a:xfrm>
          <a:prstGeom prst="rect">
            <a:avLst/>
          </a:prstGeom>
          <a:noFill/>
        </p:spPr>
        <p:txBody>
          <a:bodyPr wrap="square" lIns="0" rIns="0" tIns="0" bIns="0" anchor="t">
            <a:spAutoFit/>
          </a:bodyPr>
          <a:lstStyle/>
          <a:p>
            <a:pPr algn="l"/>
            <a:r>
              <a:rPr sz="800" b="0" i="1">
                <a:solidFill>
                  <a:srgbClr val="0F2C5C"/>
                </a:solidFill>
                <a:latin typeface="Sora"/>
              </a:rPr>
              <a:t>If a Cost Checker reaches their programme’s fee in three taps, leads rise and homepage exits fall, because the number they came for is no longer hidden.</a:t>
            </a:r>
          </a:p>
        </p:txBody>
      </p:sp>
      <p:sp>
        <p:nvSpPr>
          <p:cNvPr id="19" name="TextBox 18"/>
          <p:cNvSpPr txBox="1"/>
          <p:nvPr/>
        </p:nvSpPr>
        <p:spPr>
          <a:xfrm>
            <a:off x="731520" y="4841240"/>
            <a:ext cx="3310128" cy="146304"/>
          </a:xfrm>
          <a:prstGeom prst="rect">
            <a:avLst/>
          </a:prstGeom>
          <a:noFill/>
        </p:spPr>
        <p:txBody>
          <a:bodyPr wrap="square" lIns="0" rIns="0" tIns="0" bIns="0" anchor="t">
            <a:spAutoFit/>
          </a:bodyPr>
          <a:lstStyle/>
          <a:p>
            <a:pPr algn="l"/>
            <a:r>
              <a:rPr sz="700" b="1" i="0">
                <a:solidFill>
                  <a:srgbClr val="C8102E"/>
                </a:solidFill>
                <a:latin typeface="Sora"/>
              </a:rPr>
              <a:t>MEASURE</a:t>
            </a:r>
          </a:p>
        </p:txBody>
      </p:sp>
      <p:sp>
        <p:nvSpPr>
          <p:cNvPr id="20" name="TextBox 19"/>
          <p:cNvSpPr txBox="1"/>
          <p:nvPr/>
        </p:nvSpPr>
        <p:spPr>
          <a:xfrm>
            <a:off x="731520" y="4996688"/>
            <a:ext cx="3310128" cy="396240"/>
          </a:xfrm>
          <a:prstGeom prst="rect">
            <a:avLst/>
          </a:prstGeom>
          <a:noFill/>
        </p:spPr>
        <p:txBody>
          <a:bodyPr wrap="square" lIns="0" rIns="0" tIns="0" bIns="0" anchor="t">
            <a:spAutoFit/>
          </a:bodyPr>
          <a:lstStyle/>
          <a:p>
            <a:pPr algn="l"/>
            <a:r>
              <a:rPr sz="800" b="0" i="0">
                <a:solidFill>
                  <a:srgbClr val="0F2C5C"/>
                </a:solidFill>
                <a:latin typeface="Sora"/>
              </a:rPr>
              <a:t>Primary: leads on fee pages · Secondary: fee → homepage exits (1,236) · Guardrail: engagement (73.9%) · Scale if leads ≥ +10% relative</a:t>
            </a:r>
          </a:p>
        </p:txBody>
      </p:sp>
      <p:sp>
        <p:nvSpPr>
          <p:cNvPr id="21" name="TextBox 20"/>
          <p:cNvSpPr txBox="1"/>
          <p:nvPr/>
        </p:nvSpPr>
        <p:spPr>
          <a:xfrm>
            <a:off x="731520" y="5502656"/>
            <a:ext cx="3310128" cy="146304"/>
          </a:xfrm>
          <a:prstGeom prst="rect">
            <a:avLst/>
          </a:prstGeom>
          <a:noFill/>
        </p:spPr>
        <p:txBody>
          <a:bodyPr wrap="square" lIns="0" rIns="0" tIns="0" bIns="0" anchor="t">
            <a:spAutoFit/>
          </a:bodyPr>
          <a:lstStyle/>
          <a:p>
            <a:pPr algn="l"/>
            <a:r>
              <a:rPr sz="700" b="1" i="0">
                <a:solidFill>
                  <a:srgbClr val="C8102E"/>
                </a:solidFill>
                <a:latin typeface="Sora"/>
              </a:rPr>
              <a:t>SET-UP</a:t>
            </a:r>
          </a:p>
        </p:txBody>
      </p:sp>
      <p:sp>
        <p:nvSpPr>
          <p:cNvPr id="22" name="TextBox 21"/>
          <p:cNvSpPr txBox="1"/>
          <p:nvPr/>
        </p:nvSpPr>
        <p:spPr>
          <a:xfrm>
            <a:off x="731520" y="5658104"/>
            <a:ext cx="3310128" cy="264160"/>
          </a:xfrm>
          <a:prstGeom prst="rect">
            <a:avLst/>
          </a:prstGeom>
          <a:noFill/>
        </p:spPr>
        <p:txBody>
          <a:bodyPr wrap="square" lIns="0" rIns="0" tIns="0" bIns="0" anchor="t">
            <a:spAutoFit/>
          </a:bodyPr>
          <a:lstStyle/>
          <a:p>
            <a:pPr algn="l"/>
            <a:r>
              <a:rPr sz="800" b="0" i="0">
                <a:solidFill>
                  <a:srgbClr val="0F2C5C"/>
                </a:solidFill>
                <a:latin typeface="Sora"/>
              </a:rPr>
              <a:t>50/50 on /mriirs and /mru fee pages, 4 weeks. Needs the fee_search event and the calculator redirect fixed first.</a:t>
            </a:r>
          </a:p>
        </p:txBody>
      </p:sp>
      <p:sp>
        <p:nvSpPr>
          <p:cNvPr id="23" name="Rounded Rectangle 22"/>
          <p:cNvSpPr/>
          <p:nvPr/>
        </p:nvSpPr>
        <p:spPr>
          <a:xfrm>
            <a:off x="4187952" y="1645920"/>
            <a:ext cx="1682496" cy="3639312"/>
          </a:xfrm>
          <a:prstGeom prst="roundRect">
            <a:avLst>
              <a:gd name="adj" fmla="val 10000"/>
            </a:avLst>
          </a:prstGeom>
          <a:solidFill>
            <a:srgbClr val="FFFFFF"/>
          </a:solidFill>
          <a:ln w="12700">
            <a:solidFill>
              <a:srgbClr val="96A1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79392" y="3145536"/>
            <a:ext cx="1499616" cy="640080"/>
          </a:xfrm>
          <a:prstGeom prst="rect">
            <a:avLst/>
          </a:prstGeom>
          <a:noFill/>
        </p:spPr>
        <p:txBody>
          <a:bodyPr wrap="square" lIns="0" rIns="0" tIns="0" bIns="0" anchor="t">
            <a:spAutoFit/>
          </a:bodyPr>
          <a:lstStyle/>
          <a:p>
            <a:pPr algn="ctr"/>
            <a:r>
              <a:rPr sz="800" b="1" i="0">
                <a:solidFill>
                  <a:srgbClr val="96A1B0"/>
                </a:solidFill>
                <a:latin typeface="Sora"/>
              </a:rPr>
              <a:t>MOCKUP</a:t>
            </a:r>
          </a:p>
          <a:p>
            <a:pPr algn="ctr"/>
            <a:r>
              <a:rPr sz="700" b="0" i="0">
                <a:solidFill>
                  <a:srgbClr val="96A1B0"/>
                </a:solidFill>
                <a:latin typeface="Sora"/>
              </a:rPr>
              <a:t>Control: table scrolled
Variant: selectors + one fee card</a:t>
            </a:r>
          </a:p>
        </p:txBody>
      </p:sp>
      <p:sp>
        <p:nvSpPr>
          <p:cNvPr id="25" name="TextBox 24"/>
          <p:cNvSpPr txBox="1"/>
          <p:nvPr/>
        </p:nvSpPr>
        <p:spPr>
          <a:xfrm>
            <a:off x="4187952" y="5358384"/>
            <a:ext cx="1682496" cy="868680"/>
          </a:xfrm>
          <a:prstGeom prst="rect">
            <a:avLst/>
          </a:prstGeom>
          <a:noFill/>
        </p:spPr>
        <p:txBody>
          <a:bodyPr wrap="square" lIns="0" rIns="0" tIns="0" bIns="0" anchor="t">
            <a:spAutoFit/>
          </a:bodyPr>
          <a:lstStyle/>
          <a:p>
            <a:pPr algn="ctr"/>
            <a:r>
              <a:rPr sz="700" b="0" i="0">
                <a:solidFill>
                  <a:srgbClr val="5A6472"/>
                </a:solidFill>
                <a:latin typeface="Sora"/>
              </a:rPr>
              <a:t>/mriirs/admissions/fee-structure · /mru/admissions/fee-structure</a:t>
            </a:r>
          </a:p>
        </p:txBody>
      </p:sp>
      <p:sp>
        <p:nvSpPr>
          <p:cNvPr id="26" name="Rounded Rectangle 25"/>
          <p:cNvSpPr/>
          <p:nvPr/>
        </p:nvSpPr>
        <p:spPr>
          <a:xfrm>
            <a:off x="6153912" y="1481328"/>
            <a:ext cx="5486400" cy="4846320"/>
          </a:xfrm>
          <a:prstGeom prst="roundRect">
            <a:avLst>
              <a:gd name="adj" fmla="val 3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336792" y="1645920"/>
            <a:ext cx="566928" cy="329184"/>
          </a:xfrm>
          <a:prstGeom prst="roundRect">
            <a:avLst>
              <a:gd name="adj" fmla="val 25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36792" y="1645920"/>
            <a:ext cx="566928" cy="329184"/>
          </a:xfrm>
          <a:prstGeom prst="rect">
            <a:avLst/>
          </a:prstGeom>
          <a:noFill/>
        </p:spPr>
        <p:txBody>
          <a:bodyPr wrap="square" lIns="0" rIns="0" tIns="0" bIns="0" anchor="ctr">
            <a:spAutoFit/>
          </a:bodyPr>
          <a:lstStyle/>
          <a:p>
            <a:pPr algn="ctr"/>
            <a:r>
              <a:rPr sz="1000" b="1" i="0">
                <a:solidFill>
                  <a:srgbClr val="FFFFFF"/>
                </a:solidFill>
                <a:latin typeface="Sora"/>
              </a:rPr>
              <a:t>CC-2</a:t>
            </a:r>
          </a:p>
        </p:txBody>
      </p:sp>
      <p:sp>
        <p:nvSpPr>
          <p:cNvPr id="29" name="TextBox 28"/>
          <p:cNvSpPr txBox="1"/>
          <p:nvPr/>
        </p:nvSpPr>
        <p:spPr>
          <a:xfrm>
            <a:off x="7022592" y="1591056"/>
            <a:ext cx="2651760" cy="420624"/>
          </a:xfrm>
          <a:prstGeom prst="rect">
            <a:avLst/>
          </a:prstGeom>
          <a:noFill/>
        </p:spPr>
        <p:txBody>
          <a:bodyPr wrap="square" lIns="0" rIns="0" tIns="0" bIns="0" anchor="ctr">
            <a:spAutoFit/>
          </a:bodyPr>
          <a:lstStyle/>
          <a:p>
            <a:pPr algn="l"/>
            <a:r>
              <a:rPr sz="1150" b="1" i="0">
                <a:solidFill>
                  <a:srgbClr val="0F2C5C"/>
                </a:solidFill>
                <a:latin typeface="Sora"/>
              </a:rPr>
              <a:t>Call and callback under the fee</a:t>
            </a:r>
          </a:p>
        </p:txBody>
      </p:sp>
      <p:sp>
        <p:nvSpPr>
          <p:cNvPr id="30" name="Rounded Rectangle 29"/>
          <p:cNvSpPr/>
          <p:nvPr/>
        </p:nvSpPr>
        <p:spPr>
          <a:xfrm>
            <a:off x="6336792" y="2139696"/>
            <a:ext cx="596188" cy="201168"/>
          </a:xfrm>
          <a:prstGeom prst="roundRect">
            <a:avLst>
              <a:gd name="adj" fmla="val 50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FFFFFF"/>
                </a:solidFill>
                <a:latin typeface="Sora"/>
              </a:rPr>
              <a:t>WAVE 2</a:t>
            </a:r>
          </a:p>
        </p:txBody>
      </p:sp>
      <p:sp>
        <p:nvSpPr>
          <p:cNvPr id="31" name="Rounded Rectangle 30"/>
          <p:cNvSpPr/>
          <p:nvPr/>
        </p:nvSpPr>
        <p:spPr>
          <a:xfrm>
            <a:off x="7006132" y="2139696"/>
            <a:ext cx="859536" cy="201168"/>
          </a:xfrm>
          <a:prstGeom prst="roundRect">
            <a:avLst>
              <a:gd name="adj" fmla="val 50000"/>
            </a:avLst>
          </a:prstGeom>
          <a:solidFill>
            <a:srgbClr val="E5F1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SHIP-READY</a:t>
            </a:r>
          </a:p>
        </p:txBody>
      </p:sp>
      <p:sp>
        <p:nvSpPr>
          <p:cNvPr id="32" name="TextBox 31"/>
          <p:cNvSpPr txBox="1"/>
          <p:nvPr/>
        </p:nvSpPr>
        <p:spPr>
          <a:xfrm>
            <a:off x="6336792" y="2414016"/>
            <a:ext cx="3310128" cy="182880"/>
          </a:xfrm>
          <a:prstGeom prst="rect">
            <a:avLst/>
          </a:prstGeom>
          <a:noFill/>
        </p:spPr>
        <p:txBody>
          <a:bodyPr wrap="square" lIns="0" rIns="0" tIns="0" bIns="0" anchor="t">
            <a:spAutoFit/>
          </a:bodyPr>
          <a:lstStyle/>
          <a:p>
            <a:pPr algn="l"/>
            <a:r>
              <a:rPr sz="700" b="0" i="1">
                <a:solidFill>
                  <a:srgbClr val="96A1B0"/>
                </a:solidFill>
                <a:latin typeface="Sora"/>
              </a:rPr>
              <a:t>From MREI T2 + T3 · pitch Fix 09 (hand-off)</a:t>
            </a:r>
          </a:p>
        </p:txBody>
      </p:sp>
      <p:sp>
        <p:nvSpPr>
          <p:cNvPr id="33" name="TextBox 32"/>
          <p:cNvSpPr txBox="1"/>
          <p:nvPr/>
        </p:nvSpPr>
        <p:spPr>
          <a:xfrm>
            <a:off x="6336792" y="2724912"/>
            <a:ext cx="3310128" cy="146304"/>
          </a:xfrm>
          <a:prstGeom prst="rect">
            <a:avLst/>
          </a:prstGeom>
          <a:noFill/>
        </p:spPr>
        <p:txBody>
          <a:bodyPr wrap="square" lIns="0" rIns="0" tIns="0" bIns="0" anchor="t">
            <a:spAutoFit/>
          </a:bodyPr>
          <a:lstStyle/>
          <a:p>
            <a:pPr algn="l"/>
            <a:r>
              <a:rPr sz="700" b="1" i="0">
                <a:solidFill>
                  <a:srgbClr val="C8102E"/>
                </a:solidFill>
                <a:latin typeface="Sora"/>
              </a:rPr>
              <a:t>WHAT WE SEE</a:t>
            </a:r>
          </a:p>
        </p:txBody>
      </p:sp>
      <p:sp>
        <p:nvSpPr>
          <p:cNvPr id="34" name="TextBox 33"/>
          <p:cNvSpPr txBox="1"/>
          <p:nvPr/>
        </p:nvSpPr>
        <p:spPr>
          <a:xfrm>
            <a:off x="6336792" y="2880360"/>
            <a:ext cx="3310128" cy="396240"/>
          </a:xfrm>
          <a:prstGeom prst="rect">
            <a:avLst/>
          </a:prstGeom>
          <a:noFill/>
        </p:spPr>
        <p:txBody>
          <a:bodyPr wrap="square" lIns="0" rIns="0" tIns="0" bIns="0" anchor="t">
            <a:spAutoFit/>
          </a:bodyPr>
          <a:lstStyle/>
          <a:p>
            <a:pPr algn="l"/>
            <a:r>
              <a:rPr sz="800" b="0" i="0">
                <a:solidFill>
                  <a:srgbClr val="5A6472"/>
                </a:solidFill>
                <a:latin typeface="Sora"/>
              </a:rPr>
              <a:t>82 phone clicks vs 31 form submits: 12.5% of all phone clicks from 6.7% of landings — the only page type where calls beat forms. The number is in the footer only.</a:t>
            </a:r>
          </a:p>
        </p:txBody>
      </p:sp>
      <p:sp>
        <p:nvSpPr>
          <p:cNvPr id="35" name="TextBox 34"/>
          <p:cNvSpPr txBox="1"/>
          <p:nvPr/>
        </p:nvSpPr>
        <p:spPr>
          <a:xfrm>
            <a:off x="6336792" y="3386328"/>
            <a:ext cx="3310128" cy="146304"/>
          </a:xfrm>
          <a:prstGeom prst="rect">
            <a:avLst/>
          </a:prstGeom>
          <a:noFill/>
        </p:spPr>
        <p:txBody>
          <a:bodyPr wrap="square" lIns="0" rIns="0" tIns="0" bIns="0" anchor="t">
            <a:spAutoFit/>
          </a:bodyPr>
          <a:lstStyle/>
          <a:p>
            <a:pPr algn="l"/>
            <a:r>
              <a:rPr sz="700" b="1" i="0">
                <a:solidFill>
                  <a:srgbClr val="C8102E"/>
                </a:solidFill>
                <a:latin typeface="Sora"/>
              </a:rPr>
              <a:t>CONTROL → VARIANT</a:t>
            </a:r>
          </a:p>
        </p:txBody>
      </p:sp>
      <p:sp>
        <p:nvSpPr>
          <p:cNvPr id="36" name="TextBox 35"/>
          <p:cNvSpPr txBox="1"/>
          <p:nvPr/>
        </p:nvSpPr>
        <p:spPr>
          <a:xfrm>
            <a:off x="6336792" y="3541775"/>
            <a:ext cx="3310128" cy="528320"/>
          </a:xfrm>
          <a:prstGeom prst="rect">
            <a:avLst/>
          </a:prstGeom>
          <a:noFill/>
        </p:spPr>
        <p:txBody>
          <a:bodyPr wrap="square" lIns="0" rIns="0" tIns="0" bIns="0" anchor="t">
            <a:spAutoFit/>
          </a:bodyPr>
          <a:lstStyle/>
          <a:p>
            <a:pPr algn="l"/>
            <a:r>
              <a:rPr sz="800" b="0" i="0">
                <a:solidFill>
                  <a:srgbClr val="0F2C5C"/>
                </a:solidFill>
                <a:latin typeface="Sora"/>
              </a:rPr>
              <a:t>Footer number + generic Apply / Enquire tabs → “Questions about B.Tech CSE fees?” block under the fee card: tap-to-call (tracked with page type) · “Call me back in 10 min” (name + mobile, programme pre-filled) · “Am I eligible?”.</a:t>
            </a:r>
          </a:p>
        </p:txBody>
      </p:sp>
      <p:sp>
        <p:nvSpPr>
          <p:cNvPr id="37" name="TextBox 36"/>
          <p:cNvSpPr txBox="1"/>
          <p:nvPr/>
        </p:nvSpPr>
        <p:spPr>
          <a:xfrm>
            <a:off x="6336792" y="4179823"/>
            <a:ext cx="3310128" cy="146304"/>
          </a:xfrm>
          <a:prstGeom prst="rect">
            <a:avLst/>
          </a:prstGeom>
          <a:noFill/>
        </p:spPr>
        <p:txBody>
          <a:bodyPr wrap="square" lIns="0" rIns="0" tIns="0" bIns="0" anchor="t">
            <a:spAutoFit/>
          </a:bodyPr>
          <a:lstStyle/>
          <a:p>
            <a:pPr algn="l"/>
            <a:r>
              <a:rPr sz="700" b="1" i="0">
                <a:solidFill>
                  <a:srgbClr val="C8102E"/>
                </a:solidFill>
                <a:latin typeface="Sora"/>
              </a:rPr>
              <a:t>HYPOTHESIS</a:t>
            </a:r>
          </a:p>
        </p:txBody>
      </p:sp>
      <p:sp>
        <p:nvSpPr>
          <p:cNvPr id="38" name="TextBox 37"/>
          <p:cNvSpPr txBox="1"/>
          <p:nvPr/>
        </p:nvSpPr>
        <p:spPr>
          <a:xfrm>
            <a:off x="6336792" y="4335272"/>
            <a:ext cx="3310128" cy="264160"/>
          </a:xfrm>
          <a:prstGeom prst="rect">
            <a:avLst/>
          </a:prstGeom>
          <a:noFill/>
        </p:spPr>
        <p:txBody>
          <a:bodyPr wrap="square" lIns="0" rIns="0" tIns="0" bIns="0" anchor="t">
            <a:spAutoFit/>
          </a:bodyPr>
          <a:lstStyle/>
          <a:p>
            <a:pPr algn="l"/>
            <a:r>
              <a:rPr sz="800" b="0" i="1">
                <a:solidFill>
                  <a:srgbClr val="0F2C5C"/>
                </a:solidFill>
                <a:latin typeface="Sora"/>
              </a:rPr>
              <a:t>If the call route sits beside the fee, contact rises, because at the money moment users want a person, not a form.</a:t>
            </a:r>
          </a:p>
        </p:txBody>
      </p:sp>
      <p:sp>
        <p:nvSpPr>
          <p:cNvPr id="39" name="TextBox 38"/>
          <p:cNvSpPr txBox="1"/>
          <p:nvPr/>
        </p:nvSpPr>
        <p:spPr>
          <a:xfrm>
            <a:off x="6336792" y="4709159"/>
            <a:ext cx="3310128" cy="146304"/>
          </a:xfrm>
          <a:prstGeom prst="rect">
            <a:avLst/>
          </a:prstGeom>
          <a:noFill/>
        </p:spPr>
        <p:txBody>
          <a:bodyPr wrap="square" lIns="0" rIns="0" tIns="0" bIns="0" anchor="t">
            <a:spAutoFit/>
          </a:bodyPr>
          <a:lstStyle/>
          <a:p>
            <a:pPr algn="l"/>
            <a:r>
              <a:rPr sz="700" b="1" i="0">
                <a:solidFill>
                  <a:srgbClr val="C8102E"/>
                </a:solidFill>
                <a:latin typeface="Sora"/>
              </a:rPr>
              <a:t>MEASURE</a:t>
            </a:r>
          </a:p>
        </p:txBody>
      </p:sp>
      <p:sp>
        <p:nvSpPr>
          <p:cNvPr id="40" name="TextBox 39"/>
          <p:cNvSpPr txBox="1"/>
          <p:nvPr/>
        </p:nvSpPr>
        <p:spPr>
          <a:xfrm>
            <a:off x="6336792" y="4864607"/>
            <a:ext cx="3310128" cy="396240"/>
          </a:xfrm>
          <a:prstGeom prst="rect">
            <a:avLst/>
          </a:prstGeom>
          <a:noFill/>
        </p:spPr>
        <p:txBody>
          <a:bodyPr wrap="square" lIns="0" rIns="0" tIns="0" bIns="0" anchor="t">
            <a:spAutoFit/>
          </a:bodyPr>
          <a:lstStyle/>
          <a:p>
            <a:pPr algn="l"/>
            <a:r>
              <a:rPr sz="800" b="0" i="0">
                <a:solidFill>
                  <a:srgbClr val="0F2C5C"/>
                </a:solidFill>
                <a:latin typeface="Sora"/>
              </a:rPr>
              <a:t>Primary: leads (callbacks + submits) · Secondary: phone clicks · Guardrail: total contact actions · Ops: callback SLA agreed with admissions</a:t>
            </a:r>
          </a:p>
        </p:txBody>
      </p:sp>
      <p:sp>
        <p:nvSpPr>
          <p:cNvPr id="41" name="TextBox 40"/>
          <p:cNvSpPr txBox="1"/>
          <p:nvPr/>
        </p:nvSpPr>
        <p:spPr>
          <a:xfrm>
            <a:off x="6336792" y="5370576"/>
            <a:ext cx="3310128" cy="146304"/>
          </a:xfrm>
          <a:prstGeom prst="rect">
            <a:avLst/>
          </a:prstGeom>
          <a:noFill/>
        </p:spPr>
        <p:txBody>
          <a:bodyPr wrap="square" lIns="0" rIns="0" tIns="0" bIns="0" anchor="t">
            <a:spAutoFit/>
          </a:bodyPr>
          <a:lstStyle/>
          <a:p>
            <a:pPr algn="l"/>
            <a:r>
              <a:rPr sz="700" b="1" i="0">
                <a:solidFill>
                  <a:srgbClr val="C8102E"/>
                </a:solidFill>
                <a:latin typeface="Sora"/>
              </a:rPr>
              <a:t>SET-UP</a:t>
            </a:r>
          </a:p>
        </p:txBody>
      </p:sp>
      <p:sp>
        <p:nvSpPr>
          <p:cNvPr id="42" name="TextBox 41"/>
          <p:cNvSpPr txBox="1"/>
          <p:nvPr/>
        </p:nvSpPr>
        <p:spPr>
          <a:xfrm>
            <a:off x="6336792" y="5526024"/>
            <a:ext cx="3310128" cy="264160"/>
          </a:xfrm>
          <a:prstGeom prst="rect">
            <a:avLst/>
          </a:prstGeom>
          <a:noFill/>
        </p:spPr>
        <p:txBody>
          <a:bodyPr wrap="square" lIns="0" rIns="0" tIns="0" bIns="0" anchor="t">
            <a:spAutoFit/>
          </a:bodyPr>
          <a:lstStyle/>
          <a:p>
            <a:pPr algn="l"/>
            <a:r>
              <a:rPr sz="800" b="0" i="0">
                <a:solidFill>
                  <a:srgbClr val="0F2C5C"/>
                </a:solidFill>
                <a:latin typeface="Sora"/>
              </a:rPr>
              <a:t>Mobile only, 50/50, 3 weeks, after CC-1 decides. Effort S: one block + callback routing in NoPaperForms.</a:t>
            </a:r>
          </a:p>
        </p:txBody>
      </p:sp>
      <p:sp>
        <p:nvSpPr>
          <p:cNvPr id="43" name="Rounded Rectangle 42"/>
          <p:cNvSpPr/>
          <p:nvPr/>
        </p:nvSpPr>
        <p:spPr>
          <a:xfrm>
            <a:off x="9793224" y="1645920"/>
            <a:ext cx="1682496" cy="3639312"/>
          </a:xfrm>
          <a:prstGeom prst="roundRect">
            <a:avLst>
              <a:gd name="adj" fmla="val 10000"/>
            </a:avLst>
          </a:prstGeom>
          <a:solidFill>
            <a:srgbClr val="FFFFFF"/>
          </a:solidFill>
          <a:ln w="12700">
            <a:solidFill>
              <a:srgbClr val="96A1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884664" y="3145536"/>
            <a:ext cx="1499616" cy="640080"/>
          </a:xfrm>
          <a:prstGeom prst="rect">
            <a:avLst/>
          </a:prstGeom>
          <a:noFill/>
        </p:spPr>
        <p:txBody>
          <a:bodyPr wrap="square" lIns="0" rIns="0" tIns="0" bIns="0" anchor="t">
            <a:spAutoFit/>
          </a:bodyPr>
          <a:lstStyle/>
          <a:p>
            <a:pPr algn="ctr"/>
            <a:r>
              <a:rPr sz="800" b="1" i="0">
                <a:solidFill>
                  <a:srgbClr val="96A1B0"/>
                </a:solidFill>
                <a:latin typeface="Sora"/>
              </a:rPr>
              <a:t>MOCKUP</a:t>
            </a:r>
          </a:p>
          <a:p>
            <a:pPr algn="ctr"/>
            <a:r>
              <a:rPr sz="700" b="0" i="0">
                <a:solidFill>
                  <a:srgbClr val="96A1B0"/>
                </a:solidFill>
                <a:latin typeface="Sora"/>
              </a:rPr>
              <a:t>Control: fee rows + footer number
Variant: call / callback / eligibility block</a:t>
            </a:r>
          </a:p>
        </p:txBody>
      </p:sp>
      <p:sp>
        <p:nvSpPr>
          <p:cNvPr id="45" name="TextBox 44"/>
          <p:cNvSpPr txBox="1"/>
          <p:nvPr/>
        </p:nvSpPr>
        <p:spPr>
          <a:xfrm>
            <a:off x="9793224" y="5358384"/>
            <a:ext cx="1682496" cy="868680"/>
          </a:xfrm>
          <a:prstGeom prst="rect">
            <a:avLst/>
          </a:prstGeom>
          <a:noFill/>
        </p:spPr>
        <p:txBody>
          <a:bodyPr wrap="square" lIns="0" rIns="0" tIns="0" bIns="0" anchor="t">
            <a:spAutoFit/>
          </a:bodyPr>
          <a:lstStyle/>
          <a:p>
            <a:pPr algn="ctr"/>
            <a:r>
              <a:rPr sz="700" b="0" i="0">
                <a:solidFill>
                  <a:srgbClr val="5A6472"/>
                </a:solidFill>
                <a:latin typeface="Sora"/>
              </a:rPr>
              <a:t>Fee-structure pages, mobile, below the fee card</a:t>
            </a:r>
          </a:p>
        </p:txBody>
      </p:sp>
      <p:sp>
        <p:nvSpPr>
          <p:cNvPr id="46" name="TextBox 45"/>
          <p:cNvSpPr txBox="1"/>
          <p:nvPr/>
        </p:nvSpPr>
        <p:spPr>
          <a:xfrm>
            <a:off x="548640" y="6400800"/>
            <a:ext cx="11064240" cy="274320"/>
          </a:xfrm>
          <a:prstGeom prst="rect">
            <a:avLst/>
          </a:prstGeom>
          <a:noFill/>
        </p:spPr>
        <p:txBody>
          <a:bodyPr wrap="square" lIns="0" rIns="0" tIns="0" bIns="0" anchor="t">
            <a:spAutoFit/>
          </a:bodyPr>
          <a:lstStyle/>
          <a:p>
            <a:pPr algn="l"/>
            <a:r>
              <a:rPr sz="700" b="1" i="0">
                <a:solidFill>
                  <a:srgbClr val="0F2C5C"/>
                </a:solidFill>
                <a:latin typeface="Sora"/>
              </a:rPr>
              <a:t>ORDER  </a:t>
            </a:r>
            <a:r>
              <a:rPr sz="700" b="0" i="0">
                <a:solidFill>
                  <a:srgbClr val="96A1B0"/>
                </a:solidFill>
                <a:latin typeface="Sora"/>
              </a:rPr>
              <a:t>CC-1 first; CC-2 on the same template once CC-1 decides.   </a:t>
            </a:r>
            <a:r>
              <a:rPr sz="700" b="1" i="0">
                <a:solidFill>
                  <a:srgbClr val="0F2C5C"/>
                </a:solidFill>
                <a:latin typeface="Sora"/>
              </a:rPr>
              <a:t>Source  </a:t>
            </a:r>
            <a:r>
              <a:rPr sz="700" b="0" i="0">
                <a:solidFill>
                  <a:srgbClr val="96A1B0"/>
                </a:solidFill>
                <a:latin typeface="Sora"/>
              </a:rPr>
              <a:t>GA4 explorations 13 Jun – 10 Sept 2026 · GA4 event export by page type · live audit 24 Sept 2026 · MRIIRS pitch v4.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8229600" cy="182880"/>
          </a:xfrm>
          <a:prstGeom prst="rect">
            <a:avLst/>
          </a:prstGeom>
          <a:noFill/>
        </p:spPr>
        <p:txBody>
          <a:bodyPr wrap="square" lIns="0" rIns="0" tIns="0" bIns="0" anchor="t">
            <a:spAutoFit/>
          </a:bodyPr>
          <a:lstStyle/>
          <a:p>
            <a:pPr algn="l"/>
            <a:r>
              <a:rPr sz="900" b="1" i="0">
                <a:solidFill>
                  <a:srgbClr val="C8102E"/>
                </a:solidFill>
                <a:latin typeface="Sora"/>
              </a:rPr>
              <a:t>EXPERIMENTATION  ·  A/B TESTS  ·  EARLY EXPLORER</a:t>
            </a:r>
          </a:p>
        </p:txBody>
      </p:sp>
      <p:sp>
        <p:nvSpPr>
          <p:cNvPr id="3" name="Rounded Rectangle 2"/>
          <p:cNvSpPr/>
          <p:nvPr/>
        </p:nvSpPr>
        <p:spPr>
          <a:xfrm>
            <a:off x="10780776" y="274320"/>
            <a:ext cx="859536" cy="201168"/>
          </a:xfrm>
          <a:prstGeom prst="roundRect">
            <a:avLst>
              <a:gd name="adj" fmla="val 50000"/>
            </a:avLst>
          </a:prstGeom>
          <a:solidFill>
            <a:srgbClr val="E8EEF7"/>
          </a:solidFill>
          <a:ln w="12700">
            <a:solidFill>
              <a:srgbClr val="0F2C5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0F2C5C"/>
                </a:solidFill>
                <a:latin typeface="Sora"/>
              </a:rPr>
              <a:t>HYPOTHESIS</a:t>
            </a:r>
          </a:p>
        </p:txBody>
      </p:sp>
      <p:sp>
        <p:nvSpPr>
          <p:cNvPr id="4" name="TextBox 3"/>
          <p:cNvSpPr txBox="1"/>
          <p:nvPr/>
        </p:nvSpPr>
        <p:spPr>
          <a:xfrm>
            <a:off x="548640" y="502920"/>
            <a:ext cx="11064240" cy="548640"/>
          </a:xfrm>
          <a:prstGeom prst="rect">
            <a:avLst/>
          </a:prstGeom>
          <a:noFill/>
        </p:spPr>
        <p:txBody>
          <a:bodyPr wrap="square" lIns="0" rIns="0" tIns="0" bIns="0" anchor="t">
            <a:spAutoFit/>
          </a:bodyPr>
          <a:lstStyle/>
          <a:p>
            <a:pPr algn="l"/>
            <a:r>
              <a:rPr sz="2400" b="1" i="0">
                <a:solidFill>
                  <a:srgbClr val="0F2C5C"/>
                </a:solidFill>
                <a:latin typeface="Sora"/>
              </a:rPr>
              <a:t>Early Explorer: every answer should lead to a programme</a:t>
            </a:r>
          </a:p>
        </p:txBody>
      </p:sp>
      <p:sp>
        <p:nvSpPr>
          <p:cNvPr id="5" name="TextBox 4"/>
          <p:cNvSpPr txBox="1"/>
          <p:nvPr/>
        </p:nvSpPr>
        <p:spPr>
          <a:xfrm>
            <a:off x="548640" y="1069848"/>
            <a:ext cx="11064240" cy="274320"/>
          </a:xfrm>
          <a:prstGeom prst="rect">
            <a:avLst/>
          </a:prstGeom>
          <a:noFill/>
        </p:spPr>
        <p:txBody>
          <a:bodyPr wrap="square" lIns="0" rIns="0" tIns="0" bIns="0" anchor="t">
            <a:spAutoFit/>
          </a:bodyPr>
          <a:lstStyle/>
          <a:p>
            <a:pPr algn="l"/>
            <a:r>
              <a:rPr sz="1200" b="0" i="0">
                <a:solidFill>
                  <a:srgbClr val="5A6472"/>
                </a:solidFill>
                <a:latin typeface="Sora"/>
              </a:rPr>
              <a:t>“What should I even study after 12th?” · blog article template · 792 articles · 22,813 persona sessions</a:t>
            </a:r>
          </a:p>
        </p:txBody>
      </p:sp>
      <p:sp>
        <p:nvSpPr>
          <p:cNvPr id="6" name="Rounded Rectangle 5"/>
          <p:cNvSpPr/>
          <p:nvPr/>
        </p:nvSpPr>
        <p:spPr>
          <a:xfrm>
            <a:off x="548640" y="1481328"/>
            <a:ext cx="5486400" cy="4846320"/>
          </a:xfrm>
          <a:prstGeom prst="roundRect">
            <a:avLst>
              <a:gd name="adj" fmla="val 3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566928" cy="329184"/>
          </a:xfrm>
          <a:prstGeom prst="roundRect">
            <a:avLst>
              <a:gd name="adj" fmla="val 25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45920"/>
            <a:ext cx="566928" cy="329184"/>
          </a:xfrm>
          <a:prstGeom prst="rect">
            <a:avLst/>
          </a:prstGeom>
          <a:noFill/>
        </p:spPr>
        <p:txBody>
          <a:bodyPr wrap="square" lIns="0" rIns="0" tIns="0" bIns="0" anchor="ctr">
            <a:spAutoFit/>
          </a:bodyPr>
          <a:lstStyle/>
          <a:p>
            <a:pPr algn="ctr"/>
            <a:r>
              <a:rPr sz="1000" b="1" i="0">
                <a:solidFill>
                  <a:srgbClr val="FFFFFF"/>
                </a:solidFill>
                <a:latin typeface="Sora"/>
              </a:rPr>
              <a:t>EE-1</a:t>
            </a:r>
          </a:p>
        </p:txBody>
      </p:sp>
      <p:sp>
        <p:nvSpPr>
          <p:cNvPr id="9" name="TextBox 8"/>
          <p:cNvSpPr txBox="1"/>
          <p:nvPr/>
        </p:nvSpPr>
        <p:spPr>
          <a:xfrm>
            <a:off x="1417319" y="1591056"/>
            <a:ext cx="2651760" cy="420624"/>
          </a:xfrm>
          <a:prstGeom prst="rect">
            <a:avLst/>
          </a:prstGeom>
          <a:noFill/>
        </p:spPr>
        <p:txBody>
          <a:bodyPr wrap="square" lIns="0" rIns="0" tIns="0" bIns="0" anchor="ctr">
            <a:spAutoFit/>
          </a:bodyPr>
          <a:lstStyle/>
          <a:p>
            <a:pPr algn="l"/>
            <a:r>
              <a:rPr sz="1150" b="1" i="0">
                <a:solidFill>
                  <a:srgbClr val="0F2C5C"/>
                </a:solidFill>
                <a:latin typeface="Sora"/>
              </a:rPr>
              <a:t>Programme card inside the article</a:t>
            </a:r>
          </a:p>
        </p:txBody>
      </p:sp>
      <p:sp>
        <p:nvSpPr>
          <p:cNvPr id="10" name="Rounded Rectangle 9"/>
          <p:cNvSpPr/>
          <p:nvPr/>
        </p:nvSpPr>
        <p:spPr>
          <a:xfrm>
            <a:off x="731520" y="2139696"/>
            <a:ext cx="596188" cy="201168"/>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FFFFFF"/>
                </a:solidFill>
                <a:latin typeface="Sora"/>
              </a:rPr>
              <a:t>WAVE 1</a:t>
            </a:r>
          </a:p>
        </p:txBody>
      </p:sp>
      <p:sp>
        <p:nvSpPr>
          <p:cNvPr id="11" name="Rounded Rectangle 10"/>
          <p:cNvSpPr/>
          <p:nvPr/>
        </p:nvSpPr>
        <p:spPr>
          <a:xfrm>
            <a:off x="1400860" y="2139696"/>
            <a:ext cx="859536" cy="201168"/>
          </a:xfrm>
          <a:prstGeom prst="roundRect">
            <a:avLst>
              <a:gd name="adj" fmla="val 50000"/>
            </a:avLst>
          </a:prstGeom>
          <a:solidFill>
            <a:srgbClr val="E5F1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SHIP-READY</a:t>
            </a:r>
          </a:p>
        </p:txBody>
      </p:sp>
      <p:sp>
        <p:nvSpPr>
          <p:cNvPr id="12" name="TextBox 11"/>
          <p:cNvSpPr txBox="1"/>
          <p:nvPr/>
        </p:nvSpPr>
        <p:spPr>
          <a:xfrm>
            <a:off x="731520" y="2414016"/>
            <a:ext cx="3310128" cy="182880"/>
          </a:xfrm>
          <a:prstGeom prst="rect">
            <a:avLst/>
          </a:prstGeom>
          <a:noFill/>
        </p:spPr>
        <p:txBody>
          <a:bodyPr wrap="square" lIns="0" rIns="0" tIns="0" bIns="0" anchor="t">
            <a:spAutoFit/>
          </a:bodyPr>
          <a:lstStyle/>
          <a:p>
            <a:pPr algn="l"/>
            <a:r>
              <a:rPr sz="700" b="0" i="1">
                <a:solidFill>
                  <a:srgbClr val="96A1B0"/>
                </a:solidFill>
                <a:latin typeface="Sora"/>
              </a:rPr>
              <a:t>From MREI T10 · Amity “Highlights” pattern</a:t>
            </a:r>
          </a:p>
        </p:txBody>
      </p:sp>
      <p:sp>
        <p:nvSpPr>
          <p:cNvPr id="13" name="TextBox 12"/>
          <p:cNvSpPr txBox="1"/>
          <p:nvPr/>
        </p:nvSpPr>
        <p:spPr>
          <a:xfrm>
            <a:off x="731520" y="2724912"/>
            <a:ext cx="3310128" cy="146304"/>
          </a:xfrm>
          <a:prstGeom prst="rect">
            <a:avLst/>
          </a:prstGeom>
          <a:noFill/>
        </p:spPr>
        <p:txBody>
          <a:bodyPr wrap="square" lIns="0" rIns="0" tIns="0" bIns="0" anchor="t">
            <a:spAutoFit/>
          </a:bodyPr>
          <a:lstStyle/>
          <a:p>
            <a:pPr algn="l"/>
            <a:r>
              <a:rPr sz="700" b="1" i="0">
                <a:solidFill>
                  <a:srgbClr val="C8102E"/>
                </a:solidFill>
                <a:latin typeface="Sora"/>
              </a:rPr>
              <a:t>WHAT WE SEE</a:t>
            </a:r>
          </a:p>
        </p:txBody>
      </p:sp>
      <p:sp>
        <p:nvSpPr>
          <p:cNvPr id="14" name="TextBox 13"/>
          <p:cNvSpPr txBox="1"/>
          <p:nvPr/>
        </p:nvSpPr>
        <p:spPr>
          <a:xfrm>
            <a:off x="731520" y="2880360"/>
            <a:ext cx="3310128" cy="396240"/>
          </a:xfrm>
          <a:prstGeom prst="rect">
            <a:avLst/>
          </a:prstGeom>
          <a:noFill/>
        </p:spPr>
        <p:txBody>
          <a:bodyPr wrap="square" lIns="0" rIns="0" tIns="0" bIns="0" anchor="t">
            <a:spAutoFit/>
          </a:bodyPr>
          <a:lstStyle/>
          <a:p>
            <a:pPr algn="l"/>
            <a:r>
              <a:rPr sz="800" b="0" i="0">
                <a:solidFill>
                  <a:srgbClr val="5A6472"/>
                </a:solidFill>
                <a:latin typeface="Sora"/>
              </a:rPr>
              <a:t>35 of 4,195 NEET/BPT readers reach the BPT page. Articles carry ~10 blog links to 0–1 programme links. The BDS article names “MBA in Hospital Management” with no link.</a:t>
            </a:r>
          </a:p>
        </p:txBody>
      </p:sp>
      <p:sp>
        <p:nvSpPr>
          <p:cNvPr id="15" name="TextBox 14"/>
          <p:cNvSpPr txBox="1"/>
          <p:nvPr/>
        </p:nvSpPr>
        <p:spPr>
          <a:xfrm>
            <a:off x="731520" y="3386328"/>
            <a:ext cx="3310128" cy="146304"/>
          </a:xfrm>
          <a:prstGeom prst="rect">
            <a:avLst/>
          </a:prstGeom>
          <a:noFill/>
        </p:spPr>
        <p:txBody>
          <a:bodyPr wrap="square" lIns="0" rIns="0" tIns="0" bIns="0" anchor="t">
            <a:spAutoFit/>
          </a:bodyPr>
          <a:lstStyle/>
          <a:p>
            <a:pPr algn="l"/>
            <a:r>
              <a:rPr sz="700" b="1" i="0">
                <a:solidFill>
                  <a:srgbClr val="C8102E"/>
                </a:solidFill>
                <a:latin typeface="Sora"/>
              </a:rPr>
              <a:t>CONTROL → VARIANT</a:t>
            </a:r>
          </a:p>
        </p:txBody>
      </p:sp>
      <p:sp>
        <p:nvSpPr>
          <p:cNvPr id="16" name="TextBox 15"/>
          <p:cNvSpPr txBox="1"/>
          <p:nvPr/>
        </p:nvSpPr>
        <p:spPr>
          <a:xfrm>
            <a:off x="731520" y="3541775"/>
            <a:ext cx="3310128" cy="660400"/>
          </a:xfrm>
          <a:prstGeom prst="rect">
            <a:avLst/>
          </a:prstGeom>
          <a:noFill/>
        </p:spPr>
        <p:txBody>
          <a:bodyPr wrap="square" lIns="0" rIns="0" tIns="0" bIns="0" anchor="t">
            <a:spAutoFit/>
          </a:bodyPr>
          <a:lstStyle/>
          <a:p>
            <a:pPr algn="l"/>
            <a:r>
              <a:rPr sz="800" b="0" i="0">
                <a:solidFill>
                  <a:srgbClr val="0F2C5C"/>
                </a:solidFill>
                <a:latin typeface="Sora"/>
              </a:rPr>
              <a:t>“Also Read” blog links → Highlights card after the section that answers the question, repeated at the end: programme · duration · eligibility · year-1 fee · “Explore BPT at MRIIRS →”. Top 20 articles by sessions, from an article → programme mapping sheet.</a:t>
            </a:r>
          </a:p>
        </p:txBody>
      </p:sp>
      <p:sp>
        <p:nvSpPr>
          <p:cNvPr id="17" name="TextBox 16"/>
          <p:cNvSpPr txBox="1"/>
          <p:nvPr/>
        </p:nvSpPr>
        <p:spPr>
          <a:xfrm>
            <a:off x="731520" y="4311904"/>
            <a:ext cx="3310128" cy="146304"/>
          </a:xfrm>
          <a:prstGeom prst="rect">
            <a:avLst/>
          </a:prstGeom>
          <a:noFill/>
        </p:spPr>
        <p:txBody>
          <a:bodyPr wrap="square" lIns="0" rIns="0" tIns="0" bIns="0" anchor="t">
            <a:spAutoFit/>
          </a:bodyPr>
          <a:lstStyle/>
          <a:p>
            <a:pPr algn="l"/>
            <a:r>
              <a:rPr sz="700" b="1" i="0">
                <a:solidFill>
                  <a:srgbClr val="C8102E"/>
                </a:solidFill>
                <a:latin typeface="Sora"/>
              </a:rPr>
              <a:t>HYPOTHESIS</a:t>
            </a:r>
          </a:p>
        </p:txBody>
      </p:sp>
      <p:sp>
        <p:nvSpPr>
          <p:cNvPr id="18" name="TextBox 17"/>
          <p:cNvSpPr txBox="1"/>
          <p:nvPr/>
        </p:nvSpPr>
        <p:spPr>
          <a:xfrm>
            <a:off x="731520" y="4467352"/>
            <a:ext cx="3310128" cy="396240"/>
          </a:xfrm>
          <a:prstGeom prst="rect">
            <a:avLst/>
          </a:prstGeom>
          <a:noFill/>
        </p:spPr>
        <p:txBody>
          <a:bodyPr wrap="square" lIns="0" rIns="0" tIns="0" bIns="0" anchor="t">
            <a:spAutoFit/>
          </a:bodyPr>
          <a:lstStyle/>
          <a:p>
            <a:pPr algn="l"/>
            <a:r>
              <a:rPr sz="800" b="0" i="1">
                <a:solidFill>
                  <a:srgbClr val="0F2C5C"/>
                </a:solidFill>
                <a:latin typeface="Sora"/>
              </a:rPr>
              <a:t>If the article names the matching programme where the question is answered, article → programme progression rises, because readers get a next step other than the homepage.</a:t>
            </a:r>
          </a:p>
        </p:txBody>
      </p:sp>
      <p:sp>
        <p:nvSpPr>
          <p:cNvPr id="19" name="TextBox 18"/>
          <p:cNvSpPr txBox="1"/>
          <p:nvPr/>
        </p:nvSpPr>
        <p:spPr>
          <a:xfrm>
            <a:off x="731520" y="4973320"/>
            <a:ext cx="3310128" cy="146304"/>
          </a:xfrm>
          <a:prstGeom prst="rect">
            <a:avLst/>
          </a:prstGeom>
          <a:noFill/>
        </p:spPr>
        <p:txBody>
          <a:bodyPr wrap="square" lIns="0" rIns="0" tIns="0" bIns="0" anchor="t">
            <a:spAutoFit/>
          </a:bodyPr>
          <a:lstStyle/>
          <a:p>
            <a:pPr algn="l"/>
            <a:r>
              <a:rPr sz="700" b="1" i="0">
                <a:solidFill>
                  <a:srgbClr val="C8102E"/>
                </a:solidFill>
                <a:latin typeface="Sora"/>
              </a:rPr>
              <a:t>MEASURE</a:t>
            </a:r>
          </a:p>
        </p:txBody>
      </p:sp>
      <p:sp>
        <p:nvSpPr>
          <p:cNvPr id="20" name="TextBox 19"/>
          <p:cNvSpPr txBox="1"/>
          <p:nvPr/>
        </p:nvSpPr>
        <p:spPr>
          <a:xfrm>
            <a:off x="731520" y="5128768"/>
            <a:ext cx="3310128" cy="396240"/>
          </a:xfrm>
          <a:prstGeom prst="rect">
            <a:avLst/>
          </a:prstGeom>
          <a:noFill/>
        </p:spPr>
        <p:txBody>
          <a:bodyPr wrap="square" lIns="0" rIns="0" tIns="0" bIns="0" anchor="t">
            <a:spAutoFit/>
          </a:bodyPr>
          <a:lstStyle/>
          <a:p>
            <a:pPr algn="l"/>
            <a:r>
              <a:rPr sz="800" b="0" i="0">
                <a:solidFill>
                  <a:srgbClr val="0F2C5C"/>
                </a:solidFill>
                <a:latin typeface="Sora"/>
              </a:rPr>
              <a:t>Primary: article → programme rate (0.8% today) · Secondary: form_start · Guardrail: engagement · Scale if ≥ +50% relative</a:t>
            </a:r>
          </a:p>
        </p:txBody>
      </p:sp>
      <p:sp>
        <p:nvSpPr>
          <p:cNvPr id="21" name="TextBox 20"/>
          <p:cNvSpPr txBox="1"/>
          <p:nvPr/>
        </p:nvSpPr>
        <p:spPr>
          <a:xfrm>
            <a:off x="731520" y="5634736"/>
            <a:ext cx="3310128" cy="146304"/>
          </a:xfrm>
          <a:prstGeom prst="rect">
            <a:avLst/>
          </a:prstGeom>
          <a:noFill/>
        </p:spPr>
        <p:txBody>
          <a:bodyPr wrap="square" lIns="0" rIns="0" tIns="0" bIns="0" anchor="t">
            <a:spAutoFit/>
          </a:bodyPr>
          <a:lstStyle/>
          <a:p>
            <a:pPr algn="l"/>
            <a:r>
              <a:rPr sz="700" b="1" i="0">
                <a:solidFill>
                  <a:srgbClr val="C8102E"/>
                </a:solidFill>
                <a:latin typeface="Sora"/>
              </a:rPr>
              <a:t>SET-UP</a:t>
            </a:r>
          </a:p>
        </p:txBody>
      </p:sp>
      <p:sp>
        <p:nvSpPr>
          <p:cNvPr id="22" name="TextBox 21"/>
          <p:cNvSpPr txBox="1"/>
          <p:nvPr/>
        </p:nvSpPr>
        <p:spPr>
          <a:xfrm>
            <a:off x="731520" y="5790184"/>
            <a:ext cx="3310128" cy="396240"/>
          </a:xfrm>
          <a:prstGeom prst="rect">
            <a:avLst/>
          </a:prstGeom>
          <a:noFill/>
        </p:spPr>
        <p:txBody>
          <a:bodyPr wrap="square" lIns="0" rIns="0" tIns="0" bIns="0" anchor="t">
            <a:spAutoFit/>
          </a:bodyPr>
          <a:lstStyle/>
          <a:p>
            <a:pPr algn="l"/>
            <a:r>
              <a:rPr sz="800" b="0" i="0">
                <a:solidFill>
                  <a:srgbClr val="0F2C5C"/>
                </a:solidFill>
                <a:latin typeface="Sora"/>
              </a:rPr>
              <a:t>50/50 on the top 20 articles, 4 weeks. Precondition: validate blog traffic first (32,318 index landings, 42 scroll events).</a:t>
            </a:r>
          </a:p>
        </p:txBody>
      </p:sp>
      <p:sp>
        <p:nvSpPr>
          <p:cNvPr id="23" name="Rounded Rectangle 22"/>
          <p:cNvSpPr/>
          <p:nvPr/>
        </p:nvSpPr>
        <p:spPr>
          <a:xfrm>
            <a:off x="4187952" y="1645920"/>
            <a:ext cx="1682496" cy="3639312"/>
          </a:xfrm>
          <a:prstGeom prst="roundRect">
            <a:avLst>
              <a:gd name="adj" fmla="val 10000"/>
            </a:avLst>
          </a:prstGeom>
          <a:solidFill>
            <a:srgbClr val="FFFFFF"/>
          </a:solidFill>
          <a:ln w="12700">
            <a:solidFill>
              <a:srgbClr val="96A1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79392" y="3145536"/>
            <a:ext cx="1499616" cy="640080"/>
          </a:xfrm>
          <a:prstGeom prst="rect">
            <a:avLst/>
          </a:prstGeom>
          <a:noFill/>
        </p:spPr>
        <p:txBody>
          <a:bodyPr wrap="square" lIns="0" rIns="0" tIns="0" bIns="0" anchor="t">
            <a:spAutoFit/>
          </a:bodyPr>
          <a:lstStyle/>
          <a:p>
            <a:pPr algn="ctr"/>
            <a:r>
              <a:rPr sz="800" b="1" i="0">
                <a:solidFill>
                  <a:srgbClr val="96A1B0"/>
                </a:solidFill>
                <a:latin typeface="Sora"/>
              </a:rPr>
              <a:t>MOCKUP</a:t>
            </a:r>
          </a:p>
          <a:p>
            <a:pPr algn="ctr"/>
            <a:r>
              <a:rPr sz="700" b="0" i="0">
                <a:solidFill>
                  <a:srgbClr val="96A1B0"/>
                </a:solidFill>
                <a:latin typeface="Sora"/>
              </a:rPr>
              <a:t>Control: article + Also Read
Variant: mid + end programme card</a:t>
            </a:r>
          </a:p>
        </p:txBody>
      </p:sp>
      <p:sp>
        <p:nvSpPr>
          <p:cNvPr id="25" name="TextBox 24"/>
          <p:cNvSpPr txBox="1"/>
          <p:nvPr/>
        </p:nvSpPr>
        <p:spPr>
          <a:xfrm>
            <a:off x="4187952" y="5358384"/>
            <a:ext cx="1682496" cy="868680"/>
          </a:xfrm>
          <a:prstGeom prst="rect">
            <a:avLst/>
          </a:prstGeom>
          <a:noFill/>
        </p:spPr>
        <p:txBody>
          <a:bodyPr wrap="square" lIns="0" rIns="0" tIns="0" bIns="0" anchor="t">
            <a:spAutoFit/>
          </a:bodyPr>
          <a:lstStyle/>
          <a:p>
            <a:pPr algn="ctr"/>
            <a:r>
              <a:rPr sz="700" b="0" i="0">
                <a:solidFill>
                  <a:srgbClr val="5A6472"/>
                </a:solidFill>
                <a:latin typeface="Sora"/>
              </a:rPr>
              <a:t>Blog article, e.g. “Is NEET Compulsory for BPT Admission 2026?”</a:t>
            </a:r>
          </a:p>
        </p:txBody>
      </p:sp>
      <p:sp>
        <p:nvSpPr>
          <p:cNvPr id="26" name="Rounded Rectangle 25"/>
          <p:cNvSpPr/>
          <p:nvPr/>
        </p:nvSpPr>
        <p:spPr>
          <a:xfrm>
            <a:off x="6153912" y="1481328"/>
            <a:ext cx="5486400" cy="4846320"/>
          </a:xfrm>
          <a:prstGeom prst="roundRect">
            <a:avLst>
              <a:gd name="adj" fmla="val 3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336792" y="1645920"/>
            <a:ext cx="566928" cy="329184"/>
          </a:xfrm>
          <a:prstGeom prst="roundRect">
            <a:avLst>
              <a:gd name="adj" fmla="val 25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36792" y="1645920"/>
            <a:ext cx="566928" cy="329184"/>
          </a:xfrm>
          <a:prstGeom prst="rect">
            <a:avLst/>
          </a:prstGeom>
          <a:noFill/>
        </p:spPr>
        <p:txBody>
          <a:bodyPr wrap="square" lIns="0" rIns="0" tIns="0" bIns="0" anchor="ctr">
            <a:spAutoFit/>
          </a:bodyPr>
          <a:lstStyle/>
          <a:p>
            <a:pPr algn="ctr"/>
            <a:r>
              <a:rPr sz="1000" b="1" i="0">
                <a:solidFill>
                  <a:srgbClr val="FFFFFF"/>
                </a:solidFill>
                <a:latin typeface="Sora"/>
              </a:rPr>
              <a:t>EE-2</a:t>
            </a:r>
          </a:p>
        </p:txBody>
      </p:sp>
      <p:sp>
        <p:nvSpPr>
          <p:cNvPr id="29" name="TextBox 28"/>
          <p:cNvSpPr txBox="1"/>
          <p:nvPr/>
        </p:nvSpPr>
        <p:spPr>
          <a:xfrm>
            <a:off x="7022592" y="1591056"/>
            <a:ext cx="2651760" cy="420624"/>
          </a:xfrm>
          <a:prstGeom prst="rect">
            <a:avLst/>
          </a:prstGeom>
          <a:noFill/>
        </p:spPr>
        <p:txBody>
          <a:bodyPr wrap="square" lIns="0" rIns="0" tIns="0" bIns="0" anchor="ctr">
            <a:spAutoFit/>
          </a:bodyPr>
          <a:lstStyle/>
          <a:p>
            <a:pPr algn="l"/>
            <a:r>
              <a:rPr sz="1150" b="1" i="0">
                <a:solidFill>
                  <a:srgbClr val="0F2C5C"/>
                </a:solidFill>
                <a:latin typeface="Sora"/>
              </a:rPr>
              <a:t>“Help me choose” instead of Apply Now</a:t>
            </a:r>
          </a:p>
        </p:txBody>
      </p:sp>
      <p:sp>
        <p:nvSpPr>
          <p:cNvPr id="30" name="Rounded Rectangle 29"/>
          <p:cNvSpPr/>
          <p:nvPr/>
        </p:nvSpPr>
        <p:spPr>
          <a:xfrm>
            <a:off x="6336792" y="2139696"/>
            <a:ext cx="596188" cy="201168"/>
          </a:xfrm>
          <a:prstGeom prst="roundRect">
            <a:avLst>
              <a:gd name="adj" fmla="val 50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FFFFFF"/>
                </a:solidFill>
                <a:latin typeface="Sora"/>
              </a:rPr>
              <a:t>WAVE 2</a:t>
            </a:r>
          </a:p>
        </p:txBody>
      </p:sp>
      <p:sp>
        <p:nvSpPr>
          <p:cNvPr id="31" name="Rounded Rectangle 30"/>
          <p:cNvSpPr/>
          <p:nvPr/>
        </p:nvSpPr>
        <p:spPr>
          <a:xfrm>
            <a:off x="7006132" y="2139696"/>
            <a:ext cx="859536" cy="201168"/>
          </a:xfrm>
          <a:prstGeom prst="roundRect">
            <a:avLst>
              <a:gd name="adj" fmla="val 50000"/>
            </a:avLst>
          </a:prstGeom>
          <a:solidFill>
            <a:srgbClr val="E5F1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SHIP-READY</a:t>
            </a:r>
          </a:p>
        </p:txBody>
      </p:sp>
      <p:sp>
        <p:nvSpPr>
          <p:cNvPr id="32" name="TextBox 31"/>
          <p:cNvSpPr txBox="1"/>
          <p:nvPr/>
        </p:nvSpPr>
        <p:spPr>
          <a:xfrm>
            <a:off x="6336792" y="2414016"/>
            <a:ext cx="3310128" cy="182880"/>
          </a:xfrm>
          <a:prstGeom prst="rect">
            <a:avLst/>
          </a:prstGeom>
          <a:noFill/>
        </p:spPr>
        <p:txBody>
          <a:bodyPr wrap="square" lIns="0" rIns="0" tIns="0" bIns="0" anchor="t">
            <a:spAutoFit/>
          </a:bodyPr>
          <a:lstStyle/>
          <a:p>
            <a:pPr algn="l"/>
            <a:r>
              <a:rPr sz="700" b="0" i="1">
                <a:solidFill>
                  <a:srgbClr val="96A1B0"/>
                </a:solidFill>
                <a:latin typeface="Sora"/>
              </a:rPr>
              <a:t>From MREI T11 · pitch T8 (track quiz) · Amity 1-1 Counselling</a:t>
            </a:r>
          </a:p>
        </p:txBody>
      </p:sp>
      <p:sp>
        <p:nvSpPr>
          <p:cNvPr id="33" name="TextBox 32"/>
          <p:cNvSpPr txBox="1"/>
          <p:nvPr/>
        </p:nvSpPr>
        <p:spPr>
          <a:xfrm>
            <a:off x="6336792" y="2724912"/>
            <a:ext cx="3310128" cy="146304"/>
          </a:xfrm>
          <a:prstGeom prst="rect">
            <a:avLst/>
          </a:prstGeom>
          <a:noFill/>
        </p:spPr>
        <p:txBody>
          <a:bodyPr wrap="square" lIns="0" rIns="0" tIns="0" bIns="0" anchor="t">
            <a:spAutoFit/>
          </a:bodyPr>
          <a:lstStyle/>
          <a:p>
            <a:pPr algn="l"/>
            <a:r>
              <a:rPr sz="700" b="1" i="0">
                <a:solidFill>
                  <a:srgbClr val="C8102E"/>
                </a:solidFill>
                <a:latin typeface="Sora"/>
              </a:rPr>
              <a:t>WHAT WE SEE</a:t>
            </a:r>
          </a:p>
        </p:txBody>
      </p:sp>
      <p:sp>
        <p:nvSpPr>
          <p:cNvPr id="34" name="TextBox 33"/>
          <p:cNvSpPr txBox="1"/>
          <p:nvPr/>
        </p:nvSpPr>
        <p:spPr>
          <a:xfrm>
            <a:off x="6336792" y="2880360"/>
            <a:ext cx="3310128" cy="396240"/>
          </a:xfrm>
          <a:prstGeom prst="rect">
            <a:avLst/>
          </a:prstGeom>
          <a:noFill/>
        </p:spPr>
        <p:txBody>
          <a:bodyPr wrap="square" lIns="0" rIns="0" tIns="0" bIns="0" anchor="t">
            <a:spAutoFit/>
          </a:bodyPr>
          <a:lstStyle/>
          <a:p>
            <a:pPr algn="l"/>
            <a:r>
              <a:rPr sz="800" b="0" i="0">
                <a:solidFill>
                  <a:srgbClr val="5A6472"/>
                </a:solidFill>
                <a:latin typeface="Sora"/>
              </a:rPr>
              <a:t>Blog landings produced 0 Apply and 0 phone clicks. The sticky CTA asks an undecided reader to apply. Amity swaps it for “1-1 Counselling” on this template.</a:t>
            </a:r>
          </a:p>
        </p:txBody>
      </p:sp>
      <p:sp>
        <p:nvSpPr>
          <p:cNvPr id="35" name="TextBox 34"/>
          <p:cNvSpPr txBox="1"/>
          <p:nvPr/>
        </p:nvSpPr>
        <p:spPr>
          <a:xfrm>
            <a:off x="6336792" y="3386328"/>
            <a:ext cx="3310128" cy="146304"/>
          </a:xfrm>
          <a:prstGeom prst="rect">
            <a:avLst/>
          </a:prstGeom>
          <a:noFill/>
        </p:spPr>
        <p:txBody>
          <a:bodyPr wrap="square" lIns="0" rIns="0" tIns="0" bIns="0" anchor="t">
            <a:spAutoFit/>
          </a:bodyPr>
          <a:lstStyle/>
          <a:p>
            <a:pPr algn="l"/>
            <a:r>
              <a:rPr sz="700" b="1" i="0">
                <a:solidFill>
                  <a:srgbClr val="C8102E"/>
                </a:solidFill>
                <a:latin typeface="Sora"/>
              </a:rPr>
              <a:t>CONTROL → VARIANT</a:t>
            </a:r>
          </a:p>
        </p:txBody>
      </p:sp>
      <p:sp>
        <p:nvSpPr>
          <p:cNvPr id="36" name="TextBox 35"/>
          <p:cNvSpPr txBox="1"/>
          <p:nvPr/>
        </p:nvSpPr>
        <p:spPr>
          <a:xfrm>
            <a:off x="6336792" y="3541775"/>
            <a:ext cx="3310128" cy="396240"/>
          </a:xfrm>
          <a:prstGeom prst="rect">
            <a:avLst/>
          </a:prstGeom>
          <a:noFill/>
        </p:spPr>
        <p:txBody>
          <a:bodyPr wrap="square" lIns="0" rIns="0" tIns="0" bIns="0" anchor="t">
            <a:spAutoFit/>
          </a:bodyPr>
          <a:lstStyle/>
          <a:p>
            <a:pPr algn="l"/>
            <a:r>
              <a:rPr sz="800" b="0" i="0">
                <a:solidFill>
                  <a:srgbClr val="0F2C5C"/>
                </a:solidFill>
                <a:latin typeface="Sora"/>
              </a:rPr>
              <a:t>Sticky Apply Now / Enquire Now → “Not sure what to study? Take the 5-question course guide”. Result: 3 matching MRIIRS / MRU programmes, sent on WhatsApp.</a:t>
            </a:r>
          </a:p>
        </p:txBody>
      </p:sp>
      <p:sp>
        <p:nvSpPr>
          <p:cNvPr id="37" name="TextBox 36"/>
          <p:cNvSpPr txBox="1"/>
          <p:nvPr/>
        </p:nvSpPr>
        <p:spPr>
          <a:xfrm>
            <a:off x="6336792" y="4047744"/>
            <a:ext cx="3310128" cy="146304"/>
          </a:xfrm>
          <a:prstGeom prst="rect">
            <a:avLst/>
          </a:prstGeom>
          <a:noFill/>
        </p:spPr>
        <p:txBody>
          <a:bodyPr wrap="square" lIns="0" rIns="0" tIns="0" bIns="0" anchor="t">
            <a:spAutoFit/>
          </a:bodyPr>
          <a:lstStyle/>
          <a:p>
            <a:pPr algn="l"/>
            <a:r>
              <a:rPr sz="700" b="1" i="0">
                <a:solidFill>
                  <a:srgbClr val="C8102E"/>
                </a:solidFill>
                <a:latin typeface="Sora"/>
              </a:rPr>
              <a:t>HYPOTHESIS</a:t>
            </a:r>
          </a:p>
        </p:txBody>
      </p:sp>
      <p:sp>
        <p:nvSpPr>
          <p:cNvPr id="38" name="TextBox 37"/>
          <p:cNvSpPr txBox="1"/>
          <p:nvPr/>
        </p:nvSpPr>
        <p:spPr>
          <a:xfrm>
            <a:off x="6336792" y="4203192"/>
            <a:ext cx="3310128" cy="396240"/>
          </a:xfrm>
          <a:prstGeom prst="rect">
            <a:avLst/>
          </a:prstGeom>
          <a:noFill/>
        </p:spPr>
        <p:txBody>
          <a:bodyPr wrap="square" lIns="0" rIns="0" tIns="0" bIns="0" anchor="t">
            <a:spAutoFit/>
          </a:bodyPr>
          <a:lstStyle/>
          <a:p>
            <a:pPr algn="l"/>
            <a:r>
              <a:rPr sz="800" b="0" i="1">
                <a:solidFill>
                  <a:srgbClr val="0F2C5C"/>
                </a:solidFill>
                <a:latin typeface="Sora"/>
              </a:rPr>
              <a:t>If undecided readers are offered a guide instead of Apply, lead capture rises, because the ask matches where they are in the decision.</a:t>
            </a:r>
          </a:p>
        </p:txBody>
      </p:sp>
      <p:sp>
        <p:nvSpPr>
          <p:cNvPr id="39" name="TextBox 38"/>
          <p:cNvSpPr txBox="1"/>
          <p:nvPr/>
        </p:nvSpPr>
        <p:spPr>
          <a:xfrm>
            <a:off x="6336792" y="4709160"/>
            <a:ext cx="3310128" cy="146304"/>
          </a:xfrm>
          <a:prstGeom prst="rect">
            <a:avLst/>
          </a:prstGeom>
          <a:noFill/>
        </p:spPr>
        <p:txBody>
          <a:bodyPr wrap="square" lIns="0" rIns="0" tIns="0" bIns="0" anchor="t">
            <a:spAutoFit/>
          </a:bodyPr>
          <a:lstStyle/>
          <a:p>
            <a:pPr algn="l"/>
            <a:r>
              <a:rPr sz="700" b="1" i="0">
                <a:solidFill>
                  <a:srgbClr val="C8102E"/>
                </a:solidFill>
                <a:latin typeface="Sora"/>
              </a:rPr>
              <a:t>MEASURE</a:t>
            </a:r>
          </a:p>
        </p:txBody>
      </p:sp>
      <p:sp>
        <p:nvSpPr>
          <p:cNvPr id="40" name="TextBox 39"/>
          <p:cNvSpPr txBox="1"/>
          <p:nvPr/>
        </p:nvSpPr>
        <p:spPr>
          <a:xfrm>
            <a:off x="6336792" y="4864608"/>
            <a:ext cx="3310128" cy="396240"/>
          </a:xfrm>
          <a:prstGeom prst="rect">
            <a:avLst/>
          </a:prstGeom>
          <a:noFill/>
        </p:spPr>
        <p:txBody>
          <a:bodyPr wrap="square" lIns="0" rIns="0" tIns="0" bIns="0" anchor="t">
            <a:spAutoFit/>
          </a:bodyPr>
          <a:lstStyle/>
          <a:p>
            <a:pPr algn="l"/>
            <a:r>
              <a:rPr sz="800" b="0" i="0">
                <a:solidFill>
                  <a:srgbClr val="0F2C5C"/>
                </a:solidFill>
                <a:latin typeface="Sora"/>
              </a:rPr>
              <a:t>Primary: quiz completion → lead · Secondary: lead → application, quiz leads vs form leads · Keep if completion ≥ 40% and quiz leads convert ≥ form leads</a:t>
            </a:r>
          </a:p>
        </p:txBody>
      </p:sp>
      <p:sp>
        <p:nvSpPr>
          <p:cNvPr id="41" name="TextBox 40"/>
          <p:cNvSpPr txBox="1"/>
          <p:nvPr/>
        </p:nvSpPr>
        <p:spPr>
          <a:xfrm>
            <a:off x="6336792" y="5370576"/>
            <a:ext cx="3310128" cy="146304"/>
          </a:xfrm>
          <a:prstGeom prst="rect">
            <a:avLst/>
          </a:prstGeom>
          <a:noFill/>
        </p:spPr>
        <p:txBody>
          <a:bodyPr wrap="square" lIns="0" rIns="0" tIns="0" bIns="0" anchor="t">
            <a:spAutoFit/>
          </a:bodyPr>
          <a:lstStyle/>
          <a:p>
            <a:pPr algn="l"/>
            <a:r>
              <a:rPr sz="700" b="1" i="0">
                <a:solidFill>
                  <a:srgbClr val="C8102E"/>
                </a:solidFill>
                <a:latin typeface="Sora"/>
              </a:rPr>
              <a:t>SET-UP</a:t>
            </a:r>
          </a:p>
        </p:txBody>
      </p:sp>
      <p:sp>
        <p:nvSpPr>
          <p:cNvPr id="42" name="TextBox 41"/>
          <p:cNvSpPr txBox="1"/>
          <p:nvPr/>
        </p:nvSpPr>
        <p:spPr>
          <a:xfrm>
            <a:off x="6336792" y="5526024"/>
            <a:ext cx="3310128" cy="264160"/>
          </a:xfrm>
          <a:prstGeom prst="rect">
            <a:avLst/>
          </a:prstGeom>
          <a:noFill/>
        </p:spPr>
        <p:txBody>
          <a:bodyPr wrap="square" lIns="0" rIns="0" tIns="0" bIns="0" anchor="t">
            <a:spAutoFit/>
          </a:bodyPr>
          <a:lstStyle/>
          <a:p>
            <a:pPr algn="l"/>
            <a:r>
              <a:rPr sz="800" b="0" i="0">
                <a:solidFill>
                  <a:srgbClr val="0F2C5C"/>
                </a:solidFill>
                <a:latin typeface="Sora"/>
              </a:rPr>
              <a:t>50/50 on the blog template, 4 weeks, after EE-1. Effort M: quiz logic + programme mapping + WhatsApp result.</a:t>
            </a:r>
          </a:p>
        </p:txBody>
      </p:sp>
      <p:sp>
        <p:nvSpPr>
          <p:cNvPr id="43" name="Rounded Rectangle 42"/>
          <p:cNvSpPr/>
          <p:nvPr/>
        </p:nvSpPr>
        <p:spPr>
          <a:xfrm>
            <a:off x="9793224" y="1645920"/>
            <a:ext cx="1682496" cy="3639312"/>
          </a:xfrm>
          <a:prstGeom prst="roundRect">
            <a:avLst>
              <a:gd name="adj" fmla="val 10000"/>
            </a:avLst>
          </a:prstGeom>
          <a:solidFill>
            <a:srgbClr val="FFFFFF"/>
          </a:solidFill>
          <a:ln w="12700">
            <a:solidFill>
              <a:srgbClr val="96A1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884664" y="3145536"/>
            <a:ext cx="1499616" cy="640080"/>
          </a:xfrm>
          <a:prstGeom prst="rect">
            <a:avLst/>
          </a:prstGeom>
          <a:noFill/>
        </p:spPr>
        <p:txBody>
          <a:bodyPr wrap="square" lIns="0" rIns="0" tIns="0" bIns="0" anchor="t">
            <a:spAutoFit/>
          </a:bodyPr>
          <a:lstStyle/>
          <a:p>
            <a:pPr algn="ctr"/>
            <a:r>
              <a:rPr sz="800" b="1" i="0">
                <a:solidFill>
                  <a:srgbClr val="96A1B0"/>
                </a:solidFill>
                <a:latin typeface="Sora"/>
              </a:rPr>
              <a:t>MOCKUP</a:t>
            </a:r>
          </a:p>
          <a:p>
            <a:pPr algn="ctr"/>
            <a:r>
              <a:rPr sz="700" b="0" i="0">
                <a:solidFill>
                  <a:srgbClr val="96A1B0"/>
                </a:solidFill>
                <a:latin typeface="Sora"/>
              </a:rPr>
              <a:t>Control: sticky Apply / Enquire
Variant: sticky course guide + quiz step</a:t>
            </a:r>
          </a:p>
        </p:txBody>
      </p:sp>
      <p:sp>
        <p:nvSpPr>
          <p:cNvPr id="45" name="TextBox 44"/>
          <p:cNvSpPr txBox="1"/>
          <p:nvPr/>
        </p:nvSpPr>
        <p:spPr>
          <a:xfrm>
            <a:off x="9793224" y="5358384"/>
            <a:ext cx="1682496" cy="868680"/>
          </a:xfrm>
          <a:prstGeom prst="rect">
            <a:avLst/>
          </a:prstGeom>
          <a:noFill/>
        </p:spPr>
        <p:txBody>
          <a:bodyPr wrap="square" lIns="0" rIns="0" tIns="0" bIns="0" anchor="t">
            <a:spAutoFit/>
          </a:bodyPr>
          <a:lstStyle/>
          <a:p>
            <a:pPr algn="ctr"/>
            <a:r>
              <a:rPr sz="700" b="0" i="0">
                <a:solidFill>
                  <a:srgbClr val="5A6472"/>
                </a:solidFill>
                <a:latin typeface="Sora"/>
              </a:rPr>
              <a:t>Blog template, sticky bottom bar</a:t>
            </a:r>
          </a:p>
        </p:txBody>
      </p:sp>
      <p:sp>
        <p:nvSpPr>
          <p:cNvPr id="46" name="TextBox 45"/>
          <p:cNvSpPr txBox="1"/>
          <p:nvPr/>
        </p:nvSpPr>
        <p:spPr>
          <a:xfrm>
            <a:off x="548640" y="6400800"/>
            <a:ext cx="11064240" cy="274320"/>
          </a:xfrm>
          <a:prstGeom prst="rect">
            <a:avLst/>
          </a:prstGeom>
          <a:noFill/>
        </p:spPr>
        <p:txBody>
          <a:bodyPr wrap="square" lIns="0" rIns="0" tIns="0" bIns="0" anchor="t">
            <a:spAutoFit/>
          </a:bodyPr>
          <a:lstStyle/>
          <a:p>
            <a:pPr algn="l"/>
            <a:r>
              <a:rPr sz="700" b="1" i="0">
                <a:solidFill>
                  <a:srgbClr val="0F2C5C"/>
                </a:solidFill>
                <a:latin typeface="Sora"/>
              </a:rPr>
              <a:t>ORDER  </a:t>
            </a:r>
            <a:r>
              <a:rPr sz="700" b="0" i="0">
                <a:solidFill>
                  <a:srgbClr val="96A1B0"/>
                </a:solidFill>
                <a:latin typeface="Sora"/>
              </a:rPr>
              <a:t>Blog traffic check first, then EE-1, then EE-2.   </a:t>
            </a:r>
            <a:r>
              <a:rPr sz="700" b="1" i="0">
                <a:solidFill>
                  <a:srgbClr val="0F2C5C"/>
                </a:solidFill>
                <a:latin typeface="Sora"/>
              </a:rPr>
              <a:t>Source  </a:t>
            </a:r>
            <a:r>
              <a:rPr sz="700" b="0" i="0">
                <a:solidFill>
                  <a:srgbClr val="96A1B0"/>
                </a:solidFill>
                <a:latin typeface="Sora"/>
              </a:rPr>
              <a:t>GA4 explorations 13 Jun – 10 Sept 2026 · GA4 event export by page type · live audit 24 Sept 2026 · Amity Online blog, 22 Sept 2026 · MRIIRS pitch v4.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8229600" cy="182880"/>
          </a:xfrm>
          <a:prstGeom prst="rect">
            <a:avLst/>
          </a:prstGeom>
          <a:noFill/>
        </p:spPr>
        <p:txBody>
          <a:bodyPr wrap="square" lIns="0" rIns="0" tIns="0" bIns="0" anchor="t">
            <a:spAutoFit/>
          </a:bodyPr>
          <a:lstStyle/>
          <a:p>
            <a:pPr algn="l"/>
            <a:r>
              <a:rPr sz="900" b="1" i="0">
                <a:solidFill>
                  <a:srgbClr val="C8102E"/>
                </a:solidFill>
                <a:latin typeface="Sora"/>
              </a:rPr>
              <a:t>EXPERIMENTATION  ·  A/B TESTS  ·  PROOF SEEKER</a:t>
            </a:r>
          </a:p>
        </p:txBody>
      </p:sp>
      <p:sp>
        <p:nvSpPr>
          <p:cNvPr id="3" name="Rounded Rectangle 2"/>
          <p:cNvSpPr/>
          <p:nvPr/>
        </p:nvSpPr>
        <p:spPr>
          <a:xfrm>
            <a:off x="10780776" y="274320"/>
            <a:ext cx="859536" cy="201168"/>
          </a:xfrm>
          <a:prstGeom prst="roundRect">
            <a:avLst>
              <a:gd name="adj" fmla="val 50000"/>
            </a:avLst>
          </a:prstGeom>
          <a:solidFill>
            <a:srgbClr val="E8EEF7"/>
          </a:solidFill>
          <a:ln w="12700">
            <a:solidFill>
              <a:srgbClr val="0F2C5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0F2C5C"/>
                </a:solidFill>
                <a:latin typeface="Sora"/>
              </a:rPr>
              <a:t>HYPOTHESIS</a:t>
            </a:r>
          </a:p>
        </p:txBody>
      </p:sp>
      <p:sp>
        <p:nvSpPr>
          <p:cNvPr id="4" name="TextBox 3"/>
          <p:cNvSpPr txBox="1"/>
          <p:nvPr/>
        </p:nvSpPr>
        <p:spPr>
          <a:xfrm>
            <a:off x="548640" y="502920"/>
            <a:ext cx="11064240" cy="548640"/>
          </a:xfrm>
          <a:prstGeom prst="rect">
            <a:avLst/>
          </a:prstGeom>
          <a:noFill/>
        </p:spPr>
        <p:txBody>
          <a:bodyPr wrap="square" lIns="0" rIns="0" tIns="0" bIns="0" anchor="t">
            <a:spAutoFit/>
          </a:bodyPr>
          <a:lstStyle/>
          <a:p>
            <a:pPr algn="l"/>
            <a:r>
              <a:rPr sz="2400" b="1" i="0">
                <a:solidFill>
                  <a:srgbClr val="0F2C5C"/>
                </a:solidFill>
                <a:latin typeface="Sora"/>
              </a:rPr>
              <a:t>Proof Seeker: attach verified proof to the programme</a:t>
            </a:r>
          </a:p>
        </p:txBody>
      </p:sp>
      <p:sp>
        <p:nvSpPr>
          <p:cNvPr id="5" name="TextBox 4"/>
          <p:cNvSpPr txBox="1"/>
          <p:nvPr/>
        </p:nvSpPr>
        <p:spPr>
          <a:xfrm>
            <a:off x="548640" y="1069848"/>
            <a:ext cx="11064240" cy="274320"/>
          </a:xfrm>
          <a:prstGeom prst="rect">
            <a:avLst/>
          </a:prstGeom>
          <a:noFill/>
        </p:spPr>
        <p:txBody>
          <a:bodyPr wrap="square" lIns="0" rIns="0" tIns="0" bIns="0" anchor="t">
            <a:spAutoFit/>
          </a:bodyPr>
          <a:lstStyle/>
          <a:p>
            <a:pPr algn="l"/>
            <a:r>
              <a:rPr sz="1200" b="0" i="0">
                <a:solidFill>
                  <a:srgbClr val="5A6472"/>
                </a:solidFill>
                <a:latin typeface="Sora"/>
              </a:rPr>
              <a:t>“Should I believe what they claim?” · awards page and B.Tech CSE · 27,579 persona sessions</a:t>
            </a:r>
          </a:p>
        </p:txBody>
      </p:sp>
      <p:sp>
        <p:nvSpPr>
          <p:cNvPr id="6" name="Rounded Rectangle 5"/>
          <p:cNvSpPr/>
          <p:nvPr/>
        </p:nvSpPr>
        <p:spPr>
          <a:xfrm>
            <a:off x="548640" y="1481328"/>
            <a:ext cx="5486400" cy="4846320"/>
          </a:xfrm>
          <a:prstGeom prst="roundRect">
            <a:avLst>
              <a:gd name="adj" fmla="val 3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566928" cy="329184"/>
          </a:xfrm>
          <a:prstGeom prst="roundRect">
            <a:avLst>
              <a:gd name="adj" fmla="val 25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45920"/>
            <a:ext cx="566928" cy="329184"/>
          </a:xfrm>
          <a:prstGeom prst="rect">
            <a:avLst/>
          </a:prstGeom>
          <a:noFill/>
        </p:spPr>
        <p:txBody>
          <a:bodyPr wrap="square" lIns="0" rIns="0" tIns="0" bIns="0" anchor="ctr">
            <a:spAutoFit/>
          </a:bodyPr>
          <a:lstStyle/>
          <a:p>
            <a:pPr algn="ctr"/>
            <a:r>
              <a:rPr sz="1000" b="1" i="0">
                <a:solidFill>
                  <a:srgbClr val="FFFFFF"/>
                </a:solidFill>
                <a:latin typeface="Sora"/>
              </a:rPr>
              <a:t>PS-1</a:t>
            </a:r>
          </a:p>
        </p:txBody>
      </p:sp>
      <p:sp>
        <p:nvSpPr>
          <p:cNvPr id="9" name="TextBox 8"/>
          <p:cNvSpPr txBox="1"/>
          <p:nvPr/>
        </p:nvSpPr>
        <p:spPr>
          <a:xfrm>
            <a:off x="1417319" y="1591056"/>
            <a:ext cx="2651760" cy="420624"/>
          </a:xfrm>
          <a:prstGeom prst="rect">
            <a:avLst/>
          </a:prstGeom>
          <a:noFill/>
        </p:spPr>
        <p:txBody>
          <a:bodyPr wrap="square" lIns="0" rIns="0" tIns="0" bIns="0" anchor="ctr">
            <a:spAutoFit/>
          </a:bodyPr>
          <a:lstStyle/>
          <a:p>
            <a:pPr algn="l"/>
            <a:r>
              <a:rPr sz="1150" b="1" i="0">
                <a:solidFill>
                  <a:srgbClr val="0F2C5C"/>
                </a:solidFill>
                <a:latin typeface="Sora"/>
              </a:rPr>
              <a:t>Link each award to its programmes</a:t>
            </a:r>
          </a:p>
        </p:txBody>
      </p:sp>
      <p:sp>
        <p:nvSpPr>
          <p:cNvPr id="10" name="Rounded Rectangle 9"/>
          <p:cNvSpPr/>
          <p:nvPr/>
        </p:nvSpPr>
        <p:spPr>
          <a:xfrm>
            <a:off x="731520" y="2139696"/>
            <a:ext cx="596188" cy="201168"/>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FFFFFF"/>
                </a:solidFill>
                <a:latin typeface="Sora"/>
              </a:rPr>
              <a:t>WAVE 1</a:t>
            </a:r>
          </a:p>
        </p:txBody>
      </p:sp>
      <p:sp>
        <p:nvSpPr>
          <p:cNvPr id="11" name="Rounded Rectangle 10"/>
          <p:cNvSpPr/>
          <p:nvPr/>
        </p:nvSpPr>
        <p:spPr>
          <a:xfrm>
            <a:off x="1400860" y="2139696"/>
            <a:ext cx="859536" cy="201168"/>
          </a:xfrm>
          <a:prstGeom prst="roundRect">
            <a:avLst>
              <a:gd name="adj" fmla="val 50000"/>
            </a:avLst>
          </a:prstGeom>
          <a:solidFill>
            <a:srgbClr val="E5F1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SHIP-READY</a:t>
            </a:r>
          </a:p>
        </p:txBody>
      </p:sp>
      <p:sp>
        <p:nvSpPr>
          <p:cNvPr id="12" name="TextBox 11"/>
          <p:cNvSpPr txBox="1"/>
          <p:nvPr/>
        </p:nvSpPr>
        <p:spPr>
          <a:xfrm>
            <a:off x="731520" y="2414016"/>
            <a:ext cx="3310128" cy="182880"/>
          </a:xfrm>
          <a:prstGeom prst="rect">
            <a:avLst/>
          </a:prstGeom>
          <a:noFill/>
        </p:spPr>
        <p:txBody>
          <a:bodyPr wrap="square" lIns="0" rIns="0" tIns="0" bIns="0" anchor="t">
            <a:spAutoFit/>
          </a:bodyPr>
          <a:lstStyle/>
          <a:p>
            <a:pPr algn="l"/>
            <a:r>
              <a:rPr sz="700" b="0" i="1">
                <a:solidFill>
                  <a:srgbClr val="96A1B0"/>
                </a:solidFill>
                <a:latin typeface="Sora"/>
              </a:rPr>
              <a:t>From MREI T9 · Amity text badges</a:t>
            </a:r>
          </a:p>
        </p:txBody>
      </p:sp>
      <p:sp>
        <p:nvSpPr>
          <p:cNvPr id="13" name="TextBox 12"/>
          <p:cNvSpPr txBox="1"/>
          <p:nvPr/>
        </p:nvSpPr>
        <p:spPr>
          <a:xfrm>
            <a:off x="731520" y="2724912"/>
            <a:ext cx="3310128" cy="146304"/>
          </a:xfrm>
          <a:prstGeom prst="rect">
            <a:avLst/>
          </a:prstGeom>
          <a:noFill/>
        </p:spPr>
        <p:txBody>
          <a:bodyPr wrap="square" lIns="0" rIns="0" tIns="0" bIns="0" anchor="t">
            <a:spAutoFit/>
          </a:bodyPr>
          <a:lstStyle/>
          <a:p>
            <a:pPr algn="l"/>
            <a:r>
              <a:rPr sz="700" b="1" i="0">
                <a:solidFill>
                  <a:srgbClr val="C8102E"/>
                </a:solidFill>
                <a:latin typeface="Sora"/>
              </a:rPr>
              <a:t>WHAT WE SEE</a:t>
            </a:r>
          </a:p>
        </p:txBody>
      </p:sp>
      <p:sp>
        <p:nvSpPr>
          <p:cNvPr id="14" name="TextBox 13"/>
          <p:cNvSpPr txBox="1"/>
          <p:nvPr/>
        </p:nvSpPr>
        <p:spPr>
          <a:xfrm>
            <a:off x="731520" y="2880360"/>
            <a:ext cx="3310128" cy="396240"/>
          </a:xfrm>
          <a:prstGeom prst="rect">
            <a:avLst/>
          </a:prstGeom>
          <a:noFill/>
        </p:spPr>
        <p:txBody>
          <a:bodyPr wrap="square" lIns="0" rIns="0" tIns="0" bIns="0" anchor="t">
            <a:spAutoFit/>
          </a:bodyPr>
          <a:lstStyle/>
          <a:p>
            <a:pPr algn="l"/>
            <a:r>
              <a:rPr sz="800" b="0" i="0">
                <a:solidFill>
                  <a:srgbClr val="5A6472"/>
                </a:solidFill>
                <a:latin typeface="Sora"/>
              </a:rPr>
              <a:t>/mriirs/about/awards-recognitions: 1,500 sessions, 67.13% bounce, 9 reach fees. NBA accreditation of B.Tech CSE, Biotechnology and MBA appears only here.</a:t>
            </a:r>
          </a:p>
        </p:txBody>
      </p:sp>
      <p:sp>
        <p:nvSpPr>
          <p:cNvPr id="15" name="TextBox 14"/>
          <p:cNvSpPr txBox="1"/>
          <p:nvPr/>
        </p:nvSpPr>
        <p:spPr>
          <a:xfrm>
            <a:off x="731520" y="3386328"/>
            <a:ext cx="3310128" cy="146304"/>
          </a:xfrm>
          <a:prstGeom prst="rect">
            <a:avLst/>
          </a:prstGeom>
          <a:noFill/>
        </p:spPr>
        <p:txBody>
          <a:bodyPr wrap="square" lIns="0" rIns="0" tIns="0" bIns="0" anchor="t">
            <a:spAutoFit/>
          </a:bodyPr>
          <a:lstStyle/>
          <a:p>
            <a:pPr algn="l"/>
            <a:r>
              <a:rPr sz="700" b="1" i="0">
                <a:solidFill>
                  <a:srgbClr val="C8102E"/>
                </a:solidFill>
                <a:latin typeface="Sora"/>
              </a:rPr>
              <a:t>CONTROL → VARIANT</a:t>
            </a:r>
          </a:p>
        </p:txBody>
      </p:sp>
      <p:sp>
        <p:nvSpPr>
          <p:cNvPr id="16" name="TextBox 15"/>
          <p:cNvSpPr txBox="1"/>
          <p:nvPr/>
        </p:nvSpPr>
        <p:spPr>
          <a:xfrm>
            <a:off x="731520" y="3541775"/>
            <a:ext cx="3310128" cy="528320"/>
          </a:xfrm>
          <a:prstGeom prst="rect">
            <a:avLst/>
          </a:prstGeom>
          <a:noFill/>
        </p:spPr>
        <p:txBody>
          <a:bodyPr wrap="square" lIns="0" rIns="0" tIns="0" bIns="0" anchor="t">
            <a:spAutoFit/>
          </a:bodyPr>
          <a:lstStyle/>
          <a:p>
            <a:pPr algn="l"/>
            <a:r>
              <a:rPr sz="800" b="0" i="0">
                <a:solidFill>
                  <a:srgbClr val="0F2C5C"/>
                </a:solidFill>
                <a:latin typeface="Sora"/>
              </a:rPr>
              <a:t>Certificate gallery → each accreditation gets a text headline + “Applies to: B.Tech CSE · B.Tech Biotechnology · MBA →” links. QS Asia 2026 quoted exactly (741–750 band). Verified claims only.</a:t>
            </a:r>
          </a:p>
        </p:txBody>
      </p:sp>
      <p:sp>
        <p:nvSpPr>
          <p:cNvPr id="17" name="TextBox 16"/>
          <p:cNvSpPr txBox="1"/>
          <p:nvPr/>
        </p:nvSpPr>
        <p:spPr>
          <a:xfrm>
            <a:off x="731520" y="4179823"/>
            <a:ext cx="3310128" cy="146304"/>
          </a:xfrm>
          <a:prstGeom prst="rect">
            <a:avLst/>
          </a:prstGeom>
          <a:noFill/>
        </p:spPr>
        <p:txBody>
          <a:bodyPr wrap="square" lIns="0" rIns="0" tIns="0" bIns="0" anchor="t">
            <a:spAutoFit/>
          </a:bodyPr>
          <a:lstStyle/>
          <a:p>
            <a:pPr algn="l"/>
            <a:r>
              <a:rPr sz="700" b="1" i="0">
                <a:solidFill>
                  <a:srgbClr val="C8102E"/>
                </a:solidFill>
                <a:latin typeface="Sora"/>
              </a:rPr>
              <a:t>HYPOTHESIS</a:t>
            </a:r>
          </a:p>
        </p:txBody>
      </p:sp>
      <p:sp>
        <p:nvSpPr>
          <p:cNvPr id="18" name="TextBox 17"/>
          <p:cNvSpPr txBox="1"/>
          <p:nvPr/>
        </p:nvSpPr>
        <p:spPr>
          <a:xfrm>
            <a:off x="731520" y="4335272"/>
            <a:ext cx="3310128" cy="396240"/>
          </a:xfrm>
          <a:prstGeom prst="rect">
            <a:avLst/>
          </a:prstGeom>
          <a:noFill/>
        </p:spPr>
        <p:txBody>
          <a:bodyPr wrap="square" lIns="0" rIns="0" tIns="0" bIns="0" anchor="t">
            <a:spAutoFit/>
          </a:bodyPr>
          <a:lstStyle/>
          <a:p>
            <a:pPr algn="l"/>
            <a:r>
              <a:rPr sz="800" b="0" i="1">
                <a:solidFill>
                  <a:srgbClr val="0F2C5C"/>
                </a:solidFill>
                <a:latin typeface="Sora"/>
              </a:rPr>
              <a:t>If each accreditation links to the programmes it covers, awards → programme progression rises, because credibility is attached to a decision.</a:t>
            </a:r>
          </a:p>
        </p:txBody>
      </p:sp>
      <p:sp>
        <p:nvSpPr>
          <p:cNvPr id="19" name="TextBox 18"/>
          <p:cNvSpPr txBox="1"/>
          <p:nvPr/>
        </p:nvSpPr>
        <p:spPr>
          <a:xfrm>
            <a:off x="731520" y="4841240"/>
            <a:ext cx="3310128" cy="146304"/>
          </a:xfrm>
          <a:prstGeom prst="rect">
            <a:avLst/>
          </a:prstGeom>
          <a:noFill/>
        </p:spPr>
        <p:txBody>
          <a:bodyPr wrap="square" lIns="0" rIns="0" tIns="0" bIns="0" anchor="t">
            <a:spAutoFit/>
          </a:bodyPr>
          <a:lstStyle/>
          <a:p>
            <a:pPr algn="l"/>
            <a:r>
              <a:rPr sz="700" b="1" i="0">
                <a:solidFill>
                  <a:srgbClr val="C8102E"/>
                </a:solidFill>
                <a:latin typeface="Sora"/>
              </a:rPr>
              <a:t>MEASURE</a:t>
            </a:r>
          </a:p>
        </p:txBody>
      </p:sp>
      <p:sp>
        <p:nvSpPr>
          <p:cNvPr id="20" name="TextBox 19"/>
          <p:cNvSpPr txBox="1"/>
          <p:nvPr/>
        </p:nvSpPr>
        <p:spPr>
          <a:xfrm>
            <a:off x="731520" y="4996688"/>
            <a:ext cx="3310128" cy="264160"/>
          </a:xfrm>
          <a:prstGeom prst="rect">
            <a:avLst/>
          </a:prstGeom>
          <a:noFill/>
        </p:spPr>
        <p:txBody>
          <a:bodyPr wrap="square" lIns="0" rIns="0" tIns="0" bIns="0" anchor="t">
            <a:spAutoFit/>
          </a:bodyPr>
          <a:lstStyle/>
          <a:p>
            <a:pPr algn="l"/>
            <a:r>
              <a:rPr sz="800" b="0" i="0">
                <a:solidFill>
                  <a:srgbClr val="0F2C5C"/>
                </a:solidFill>
                <a:latin typeface="Sora"/>
              </a:rPr>
              <a:t>Primary: awards → programme rate · Secondary: leads · Guardrail: bounce (67.13%) · Scale if progression ≥ +25% relative</a:t>
            </a:r>
          </a:p>
        </p:txBody>
      </p:sp>
      <p:sp>
        <p:nvSpPr>
          <p:cNvPr id="21" name="TextBox 20"/>
          <p:cNvSpPr txBox="1"/>
          <p:nvPr/>
        </p:nvSpPr>
        <p:spPr>
          <a:xfrm>
            <a:off x="731520" y="5370576"/>
            <a:ext cx="3310128" cy="146304"/>
          </a:xfrm>
          <a:prstGeom prst="rect">
            <a:avLst/>
          </a:prstGeom>
          <a:noFill/>
        </p:spPr>
        <p:txBody>
          <a:bodyPr wrap="square" lIns="0" rIns="0" tIns="0" bIns="0" anchor="t">
            <a:spAutoFit/>
          </a:bodyPr>
          <a:lstStyle/>
          <a:p>
            <a:pPr algn="l"/>
            <a:r>
              <a:rPr sz="700" b="1" i="0">
                <a:solidFill>
                  <a:srgbClr val="C8102E"/>
                </a:solidFill>
                <a:latin typeface="Sora"/>
              </a:rPr>
              <a:t>SET-UP</a:t>
            </a:r>
          </a:p>
        </p:txBody>
      </p:sp>
      <p:sp>
        <p:nvSpPr>
          <p:cNvPr id="22" name="TextBox 21"/>
          <p:cNvSpPr txBox="1"/>
          <p:nvPr/>
        </p:nvSpPr>
        <p:spPr>
          <a:xfrm>
            <a:off x="731520" y="5526024"/>
            <a:ext cx="3310128" cy="264160"/>
          </a:xfrm>
          <a:prstGeom prst="rect">
            <a:avLst/>
          </a:prstGeom>
          <a:noFill/>
        </p:spPr>
        <p:txBody>
          <a:bodyPr wrap="square" lIns="0" rIns="0" tIns="0" bIns="0" anchor="t">
            <a:spAutoFit/>
          </a:bodyPr>
          <a:lstStyle/>
          <a:p>
            <a:pPr algn="l"/>
            <a:r>
              <a:rPr sz="800" b="0" i="0">
                <a:solidFill>
                  <a:srgbClr val="0F2C5C"/>
                </a:solidFill>
                <a:latin typeface="Sora"/>
              </a:rPr>
              <a:t>50/50, 4 weeks. Effort S: content + links, no MREI data needed.</a:t>
            </a:r>
          </a:p>
        </p:txBody>
      </p:sp>
      <p:sp>
        <p:nvSpPr>
          <p:cNvPr id="23" name="Rounded Rectangle 22"/>
          <p:cNvSpPr/>
          <p:nvPr/>
        </p:nvSpPr>
        <p:spPr>
          <a:xfrm>
            <a:off x="4187952" y="1645920"/>
            <a:ext cx="1682496" cy="3639312"/>
          </a:xfrm>
          <a:prstGeom prst="roundRect">
            <a:avLst>
              <a:gd name="adj" fmla="val 10000"/>
            </a:avLst>
          </a:prstGeom>
          <a:solidFill>
            <a:srgbClr val="FFFFFF"/>
          </a:solidFill>
          <a:ln w="12700">
            <a:solidFill>
              <a:srgbClr val="96A1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79392" y="3145536"/>
            <a:ext cx="1499616" cy="640080"/>
          </a:xfrm>
          <a:prstGeom prst="rect">
            <a:avLst/>
          </a:prstGeom>
          <a:noFill/>
        </p:spPr>
        <p:txBody>
          <a:bodyPr wrap="square" lIns="0" rIns="0" tIns="0" bIns="0" anchor="t">
            <a:spAutoFit/>
          </a:bodyPr>
          <a:lstStyle/>
          <a:p>
            <a:pPr algn="ctr"/>
            <a:r>
              <a:rPr sz="800" b="1" i="0">
                <a:solidFill>
                  <a:srgbClr val="96A1B0"/>
                </a:solidFill>
                <a:latin typeface="Sora"/>
              </a:rPr>
              <a:t>MOCKUP</a:t>
            </a:r>
          </a:p>
          <a:p>
            <a:pPr algn="ctr"/>
            <a:r>
              <a:rPr sz="700" b="0" i="0">
                <a:solidFill>
                  <a:srgbClr val="96A1B0"/>
                </a:solidFill>
                <a:latin typeface="Sora"/>
              </a:rPr>
              <a:t>Control: certificate gallery
Variant: text badges + programme links</a:t>
            </a:r>
          </a:p>
        </p:txBody>
      </p:sp>
      <p:sp>
        <p:nvSpPr>
          <p:cNvPr id="25" name="TextBox 24"/>
          <p:cNvSpPr txBox="1"/>
          <p:nvPr/>
        </p:nvSpPr>
        <p:spPr>
          <a:xfrm>
            <a:off x="4187952" y="5358384"/>
            <a:ext cx="1682496" cy="868680"/>
          </a:xfrm>
          <a:prstGeom prst="rect">
            <a:avLst/>
          </a:prstGeom>
          <a:noFill/>
        </p:spPr>
        <p:txBody>
          <a:bodyPr wrap="square" lIns="0" rIns="0" tIns="0" bIns="0" anchor="t">
            <a:spAutoFit/>
          </a:bodyPr>
          <a:lstStyle/>
          <a:p>
            <a:pPr algn="ctr"/>
            <a:r>
              <a:rPr sz="700" b="0" i="0">
                <a:solidFill>
                  <a:srgbClr val="5A6472"/>
                </a:solidFill>
                <a:latin typeface="Sora"/>
              </a:rPr>
              <a:t>/mriirs/about/awards-recognitions</a:t>
            </a:r>
          </a:p>
        </p:txBody>
      </p:sp>
      <p:sp>
        <p:nvSpPr>
          <p:cNvPr id="26" name="Rounded Rectangle 25"/>
          <p:cNvSpPr/>
          <p:nvPr/>
        </p:nvSpPr>
        <p:spPr>
          <a:xfrm>
            <a:off x="6153912" y="1481328"/>
            <a:ext cx="5486400" cy="4846320"/>
          </a:xfrm>
          <a:prstGeom prst="roundRect">
            <a:avLst>
              <a:gd name="adj" fmla="val 3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336792" y="1645920"/>
            <a:ext cx="566928" cy="329184"/>
          </a:xfrm>
          <a:prstGeom prst="roundRect">
            <a:avLst>
              <a:gd name="adj" fmla="val 25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36792" y="1645920"/>
            <a:ext cx="566928" cy="329184"/>
          </a:xfrm>
          <a:prstGeom prst="rect">
            <a:avLst/>
          </a:prstGeom>
          <a:noFill/>
        </p:spPr>
        <p:txBody>
          <a:bodyPr wrap="square" lIns="0" rIns="0" tIns="0" bIns="0" anchor="ctr">
            <a:spAutoFit/>
          </a:bodyPr>
          <a:lstStyle/>
          <a:p>
            <a:pPr algn="ctr"/>
            <a:r>
              <a:rPr sz="1000" b="1" i="0">
                <a:solidFill>
                  <a:srgbClr val="FFFFFF"/>
                </a:solidFill>
                <a:latin typeface="Sora"/>
              </a:rPr>
              <a:t>PS-2</a:t>
            </a:r>
          </a:p>
        </p:txBody>
      </p:sp>
      <p:sp>
        <p:nvSpPr>
          <p:cNvPr id="29" name="TextBox 28"/>
          <p:cNvSpPr txBox="1"/>
          <p:nvPr/>
        </p:nvSpPr>
        <p:spPr>
          <a:xfrm>
            <a:off x="7022592" y="1591056"/>
            <a:ext cx="2651760" cy="420624"/>
          </a:xfrm>
          <a:prstGeom prst="rect">
            <a:avLst/>
          </a:prstGeom>
          <a:noFill/>
        </p:spPr>
        <p:txBody>
          <a:bodyPr wrap="square" lIns="0" rIns="0" tIns="0" bIns="0" anchor="ctr">
            <a:spAutoFit/>
          </a:bodyPr>
          <a:lstStyle/>
          <a:p>
            <a:pPr algn="l"/>
            <a:r>
              <a:rPr sz="1150" b="1" i="0">
                <a:solidFill>
                  <a:srgbClr val="0F2C5C"/>
                </a:solidFill>
                <a:latin typeface="Sora"/>
              </a:rPr>
              <a:t>Dated CSE placement proof beside the form</a:t>
            </a:r>
          </a:p>
        </p:txBody>
      </p:sp>
      <p:sp>
        <p:nvSpPr>
          <p:cNvPr id="30" name="Rounded Rectangle 29"/>
          <p:cNvSpPr/>
          <p:nvPr/>
        </p:nvSpPr>
        <p:spPr>
          <a:xfrm>
            <a:off x="6336792" y="2139696"/>
            <a:ext cx="596188" cy="201168"/>
          </a:xfrm>
          <a:prstGeom prst="roundRect">
            <a:avLst>
              <a:gd name="adj" fmla="val 50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FFFFFF"/>
                </a:solidFill>
                <a:latin typeface="Sora"/>
              </a:rPr>
              <a:t>WAVE 2</a:t>
            </a:r>
          </a:p>
        </p:txBody>
      </p:sp>
      <p:sp>
        <p:nvSpPr>
          <p:cNvPr id="31" name="Rounded Rectangle 30"/>
          <p:cNvSpPr/>
          <p:nvPr/>
        </p:nvSpPr>
        <p:spPr>
          <a:xfrm>
            <a:off x="7006132" y="2139696"/>
            <a:ext cx="1320393" cy="201168"/>
          </a:xfrm>
          <a:prstGeom prst="roundRect">
            <a:avLst>
              <a:gd name="adj" fmla="val 50000"/>
            </a:avLst>
          </a:prstGeom>
          <a:solidFill>
            <a:srgbClr val="FFF3DC"/>
          </a:solidFill>
          <a:ln w="12700">
            <a:solidFill>
              <a:srgbClr val="B26B0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B26B00"/>
                </a:solidFill>
                <a:latin typeface="Sora"/>
              </a:rPr>
              <a:t>NEEDS MRIIRS DATA</a:t>
            </a:r>
          </a:p>
        </p:txBody>
      </p:sp>
      <p:sp>
        <p:nvSpPr>
          <p:cNvPr id="32" name="TextBox 31"/>
          <p:cNvSpPr txBox="1"/>
          <p:nvPr/>
        </p:nvSpPr>
        <p:spPr>
          <a:xfrm>
            <a:off x="6336792" y="2414016"/>
            <a:ext cx="3310128" cy="182880"/>
          </a:xfrm>
          <a:prstGeom prst="rect">
            <a:avLst/>
          </a:prstGeom>
          <a:noFill/>
        </p:spPr>
        <p:txBody>
          <a:bodyPr wrap="square" lIns="0" rIns="0" tIns="0" bIns="0" anchor="t">
            <a:spAutoFit/>
          </a:bodyPr>
          <a:lstStyle/>
          <a:p>
            <a:pPr algn="l"/>
            <a:r>
              <a:rPr sz="700" b="0" i="1">
                <a:solidFill>
                  <a:srgbClr val="96A1B0"/>
                </a:solidFill>
                <a:latin typeface="Sora"/>
              </a:rPr>
              <a:t>From pitch T4 (Fix 06) · MREI T8</a:t>
            </a:r>
          </a:p>
        </p:txBody>
      </p:sp>
      <p:sp>
        <p:nvSpPr>
          <p:cNvPr id="33" name="TextBox 32"/>
          <p:cNvSpPr txBox="1"/>
          <p:nvPr/>
        </p:nvSpPr>
        <p:spPr>
          <a:xfrm>
            <a:off x="6336792" y="2724912"/>
            <a:ext cx="3310128" cy="146304"/>
          </a:xfrm>
          <a:prstGeom prst="rect">
            <a:avLst/>
          </a:prstGeom>
          <a:noFill/>
        </p:spPr>
        <p:txBody>
          <a:bodyPr wrap="square" lIns="0" rIns="0" tIns="0" bIns="0" anchor="t">
            <a:spAutoFit/>
          </a:bodyPr>
          <a:lstStyle/>
          <a:p>
            <a:pPr algn="l"/>
            <a:r>
              <a:rPr sz="700" b="1" i="0">
                <a:solidFill>
                  <a:srgbClr val="C8102E"/>
                </a:solidFill>
                <a:latin typeface="Sora"/>
              </a:rPr>
              <a:t>WHAT WE SEE</a:t>
            </a:r>
          </a:p>
        </p:txBody>
      </p:sp>
      <p:sp>
        <p:nvSpPr>
          <p:cNvPr id="34" name="TextBox 33"/>
          <p:cNvSpPr txBox="1"/>
          <p:nvPr/>
        </p:nvSpPr>
        <p:spPr>
          <a:xfrm>
            <a:off x="6336792" y="2880360"/>
            <a:ext cx="3310128" cy="528320"/>
          </a:xfrm>
          <a:prstGeom prst="rect">
            <a:avLst/>
          </a:prstGeom>
          <a:noFill/>
        </p:spPr>
        <p:txBody>
          <a:bodyPr wrap="square" lIns="0" rIns="0" tIns="0" bIns="0" anchor="t">
            <a:spAutoFit/>
          </a:bodyPr>
          <a:lstStyle/>
          <a:p>
            <a:pPr algn="l"/>
            <a:r>
              <a:rPr sz="800" b="0" i="0">
                <a:solidFill>
                  <a:srgbClr val="5A6472"/>
                </a:solidFill>
                <a:latin typeface="Sora"/>
              </a:rPr>
              <a:t>Salary cards (Microsoft 60 LPA, Amazon, Deloitte) exist in the code at 0×0 px. Testimonials: 2012–18 batches, looped 3×. “60 LPA” is unscoped. The CSE page never states its NBA accreditation.</a:t>
            </a:r>
          </a:p>
        </p:txBody>
      </p:sp>
      <p:sp>
        <p:nvSpPr>
          <p:cNvPr id="35" name="TextBox 34"/>
          <p:cNvSpPr txBox="1"/>
          <p:nvPr/>
        </p:nvSpPr>
        <p:spPr>
          <a:xfrm>
            <a:off x="6336792" y="3518408"/>
            <a:ext cx="3310128" cy="146304"/>
          </a:xfrm>
          <a:prstGeom prst="rect">
            <a:avLst/>
          </a:prstGeom>
          <a:noFill/>
        </p:spPr>
        <p:txBody>
          <a:bodyPr wrap="square" lIns="0" rIns="0" tIns="0" bIns="0" anchor="t">
            <a:spAutoFit/>
          </a:bodyPr>
          <a:lstStyle/>
          <a:p>
            <a:pPr algn="l"/>
            <a:r>
              <a:rPr sz="700" b="1" i="0">
                <a:solidFill>
                  <a:srgbClr val="C8102E"/>
                </a:solidFill>
                <a:latin typeface="Sora"/>
              </a:rPr>
              <a:t>CONTROL → VARIANT</a:t>
            </a:r>
          </a:p>
        </p:txBody>
      </p:sp>
      <p:sp>
        <p:nvSpPr>
          <p:cNvPr id="36" name="TextBox 35"/>
          <p:cNvSpPr txBox="1"/>
          <p:nvPr/>
        </p:nvSpPr>
        <p:spPr>
          <a:xfrm>
            <a:off x="6336792" y="3673856"/>
            <a:ext cx="3310128" cy="528320"/>
          </a:xfrm>
          <a:prstGeom prst="rect">
            <a:avLst/>
          </a:prstGeom>
          <a:noFill/>
        </p:spPr>
        <p:txBody>
          <a:bodyPr wrap="square" lIns="0" rIns="0" tIns="0" bIns="0" anchor="t">
            <a:spAutoFit/>
          </a:bodyPr>
          <a:lstStyle/>
          <a:p>
            <a:pPr algn="l"/>
            <a:r>
              <a:rPr sz="800" b="0" i="0">
                <a:solidFill>
                  <a:srgbClr val="0F2C5C"/>
                </a:solidFill>
                <a:latin typeface="Sora"/>
              </a:rPr>
              <a:t>DRDO / ISRO prose → “CSE batch 2025: [X]% placed · median ₹[Y] · [N] recruiters” + 3 named 2024–25 graduates (role, company, CTC) + NBA badge. Every figure sourced to the CRCDC report.</a:t>
            </a:r>
          </a:p>
        </p:txBody>
      </p:sp>
      <p:sp>
        <p:nvSpPr>
          <p:cNvPr id="37" name="TextBox 36"/>
          <p:cNvSpPr txBox="1"/>
          <p:nvPr/>
        </p:nvSpPr>
        <p:spPr>
          <a:xfrm>
            <a:off x="6336792" y="4311904"/>
            <a:ext cx="3310128" cy="146304"/>
          </a:xfrm>
          <a:prstGeom prst="rect">
            <a:avLst/>
          </a:prstGeom>
          <a:noFill/>
        </p:spPr>
        <p:txBody>
          <a:bodyPr wrap="square" lIns="0" rIns="0" tIns="0" bIns="0" anchor="t">
            <a:spAutoFit/>
          </a:bodyPr>
          <a:lstStyle/>
          <a:p>
            <a:pPr algn="l"/>
            <a:r>
              <a:rPr sz="700" b="1" i="0">
                <a:solidFill>
                  <a:srgbClr val="C8102E"/>
                </a:solidFill>
                <a:latin typeface="Sora"/>
              </a:rPr>
              <a:t>HYPOTHESIS</a:t>
            </a:r>
          </a:p>
        </p:txBody>
      </p:sp>
      <p:sp>
        <p:nvSpPr>
          <p:cNvPr id="38" name="TextBox 37"/>
          <p:cNvSpPr txBox="1"/>
          <p:nvPr/>
        </p:nvSpPr>
        <p:spPr>
          <a:xfrm>
            <a:off x="6336792" y="4467352"/>
            <a:ext cx="3310128" cy="396240"/>
          </a:xfrm>
          <a:prstGeom prst="rect">
            <a:avLst/>
          </a:prstGeom>
          <a:noFill/>
        </p:spPr>
        <p:txBody>
          <a:bodyPr wrap="square" lIns="0" rIns="0" tIns="0" bIns="0" anchor="t">
            <a:spAutoFit/>
          </a:bodyPr>
          <a:lstStyle/>
          <a:p>
            <a:pPr algn="l"/>
            <a:r>
              <a:rPr sz="800" b="0" i="1">
                <a:solidFill>
                  <a:srgbClr val="0F2C5C"/>
                </a:solidFill>
                <a:latin typeface="Sora"/>
              </a:rPr>
              <a:t>If placements are scoped, dated and named, the lead rate rises, because the payer’s ROI doubt is answered with evidence instead of a university-wide maximum.</a:t>
            </a:r>
          </a:p>
        </p:txBody>
      </p:sp>
      <p:sp>
        <p:nvSpPr>
          <p:cNvPr id="39" name="TextBox 38"/>
          <p:cNvSpPr txBox="1"/>
          <p:nvPr/>
        </p:nvSpPr>
        <p:spPr>
          <a:xfrm>
            <a:off x="6336792" y="4973320"/>
            <a:ext cx="3310128" cy="146304"/>
          </a:xfrm>
          <a:prstGeom prst="rect">
            <a:avLst/>
          </a:prstGeom>
          <a:noFill/>
        </p:spPr>
        <p:txBody>
          <a:bodyPr wrap="square" lIns="0" rIns="0" tIns="0" bIns="0" anchor="t">
            <a:spAutoFit/>
          </a:bodyPr>
          <a:lstStyle/>
          <a:p>
            <a:pPr algn="l"/>
            <a:r>
              <a:rPr sz="700" b="1" i="0">
                <a:solidFill>
                  <a:srgbClr val="C8102E"/>
                </a:solidFill>
                <a:latin typeface="Sora"/>
              </a:rPr>
              <a:t>MEASURE</a:t>
            </a:r>
          </a:p>
        </p:txBody>
      </p:sp>
      <p:sp>
        <p:nvSpPr>
          <p:cNvPr id="40" name="TextBox 39"/>
          <p:cNvSpPr txBox="1"/>
          <p:nvPr/>
        </p:nvSpPr>
        <p:spPr>
          <a:xfrm>
            <a:off x="6336792" y="5128768"/>
            <a:ext cx="3310128" cy="396240"/>
          </a:xfrm>
          <a:prstGeom prst="rect">
            <a:avLst/>
          </a:prstGeom>
          <a:noFill/>
        </p:spPr>
        <p:txBody>
          <a:bodyPr wrap="square" lIns="0" rIns="0" tIns="0" bIns="0" anchor="t">
            <a:spAutoFit/>
          </a:bodyPr>
          <a:lstStyle/>
          <a:p>
            <a:pPr algn="l"/>
            <a:r>
              <a:rPr sz="800" b="0" i="0">
                <a:solidFill>
                  <a:srgbClr val="0F2C5C"/>
                </a:solidFill>
                <a:latin typeface="Sora"/>
              </a:rPr>
              <a:t>Primary: lead rate of sessions reaching placements · Secondary: form_start · Guardrail: engagement · Scale if ≥ +10% relative</a:t>
            </a:r>
          </a:p>
        </p:txBody>
      </p:sp>
      <p:sp>
        <p:nvSpPr>
          <p:cNvPr id="41" name="TextBox 40"/>
          <p:cNvSpPr txBox="1"/>
          <p:nvPr/>
        </p:nvSpPr>
        <p:spPr>
          <a:xfrm>
            <a:off x="6336792" y="5634736"/>
            <a:ext cx="3310128" cy="146304"/>
          </a:xfrm>
          <a:prstGeom prst="rect">
            <a:avLst/>
          </a:prstGeom>
          <a:noFill/>
        </p:spPr>
        <p:txBody>
          <a:bodyPr wrap="square" lIns="0" rIns="0" tIns="0" bIns="0" anchor="t">
            <a:spAutoFit/>
          </a:bodyPr>
          <a:lstStyle/>
          <a:p>
            <a:pPr algn="l"/>
            <a:r>
              <a:rPr sz="700" b="1" i="0">
                <a:solidFill>
                  <a:srgbClr val="C8102E"/>
                </a:solidFill>
                <a:latin typeface="Sora"/>
              </a:rPr>
              <a:t>SET-UP</a:t>
            </a:r>
          </a:p>
        </p:txBody>
      </p:sp>
      <p:sp>
        <p:nvSpPr>
          <p:cNvPr id="42" name="TextBox 41"/>
          <p:cNvSpPr txBox="1"/>
          <p:nvPr/>
        </p:nvSpPr>
        <p:spPr>
          <a:xfrm>
            <a:off x="6336792" y="5790184"/>
            <a:ext cx="3310128" cy="264160"/>
          </a:xfrm>
          <a:prstGeom prst="rect">
            <a:avLst/>
          </a:prstGeom>
          <a:noFill/>
        </p:spPr>
        <p:txBody>
          <a:bodyPr wrap="square" lIns="0" rIns="0" tIns="0" bIns="0" anchor="t">
            <a:spAutoFit/>
          </a:bodyPr>
          <a:lstStyle/>
          <a:p>
            <a:pPr algn="l"/>
            <a:r>
              <a:rPr sz="800" b="0" i="0">
                <a:solidFill>
                  <a:srgbClr val="0F2C5C"/>
                </a:solidFill>
                <a:latin typeface="Sora"/>
              </a:rPr>
              <a:t>Blocked until MREI supplies CRCDC CSE data and confirms “60 LPA” and “95%”. Then 50/50, 4 weeks.</a:t>
            </a:r>
          </a:p>
        </p:txBody>
      </p:sp>
      <p:sp>
        <p:nvSpPr>
          <p:cNvPr id="43" name="Rounded Rectangle 42"/>
          <p:cNvSpPr/>
          <p:nvPr/>
        </p:nvSpPr>
        <p:spPr>
          <a:xfrm>
            <a:off x="9793224" y="1645920"/>
            <a:ext cx="1682496" cy="3639312"/>
          </a:xfrm>
          <a:prstGeom prst="roundRect">
            <a:avLst>
              <a:gd name="adj" fmla="val 10000"/>
            </a:avLst>
          </a:prstGeom>
          <a:solidFill>
            <a:srgbClr val="FFFFFF"/>
          </a:solidFill>
          <a:ln w="12700">
            <a:solidFill>
              <a:srgbClr val="96A1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884664" y="3145536"/>
            <a:ext cx="1499616" cy="640080"/>
          </a:xfrm>
          <a:prstGeom prst="rect">
            <a:avLst/>
          </a:prstGeom>
          <a:noFill/>
        </p:spPr>
        <p:txBody>
          <a:bodyPr wrap="square" lIns="0" rIns="0" tIns="0" bIns="0" anchor="t">
            <a:spAutoFit/>
          </a:bodyPr>
          <a:lstStyle/>
          <a:p>
            <a:pPr algn="ctr"/>
            <a:r>
              <a:rPr sz="800" b="1" i="0">
                <a:solidFill>
                  <a:srgbClr val="96A1B0"/>
                </a:solidFill>
                <a:latin typeface="Sora"/>
              </a:rPr>
              <a:t>MOCKUP</a:t>
            </a:r>
          </a:p>
          <a:p>
            <a:pPr algn="ctr"/>
            <a:r>
              <a:rPr sz="700" b="0" i="0">
                <a:solidFill>
                  <a:srgbClr val="96A1B0"/>
                </a:solidFill>
                <a:latin typeface="Sora"/>
              </a:rPr>
              <a:t>Control: prose + hidden cards
Variant: CSE 2025 proof strip + NBA badge</a:t>
            </a:r>
          </a:p>
        </p:txBody>
      </p:sp>
      <p:sp>
        <p:nvSpPr>
          <p:cNvPr id="45" name="TextBox 44"/>
          <p:cNvSpPr txBox="1"/>
          <p:nvPr/>
        </p:nvSpPr>
        <p:spPr>
          <a:xfrm>
            <a:off x="9793224" y="5358384"/>
            <a:ext cx="1682496" cy="868680"/>
          </a:xfrm>
          <a:prstGeom prst="rect">
            <a:avLst/>
          </a:prstGeom>
          <a:noFill/>
        </p:spPr>
        <p:txBody>
          <a:bodyPr wrap="square" lIns="0" rIns="0" tIns="0" bIns="0" anchor="t">
            <a:spAutoFit/>
          </a:bodyPr>
          <a:lstStyle/>
          <a:p>
            <a:pPr algn="ctr"/>
            <a:r>
              <a:rPr sz="700" b="0" i="0">
                <a:solidFill>
                  <a:srgbClr val="5A6472"/>
                </a:solidFill>
                <a:latin typeface="Sora"/>
              </a:rPr>
              <a:t>B.Tech CSE page, placements section</a:t>
            </a:r>
          </a:p>
        </p:txBody>
      </p:sp>
      <p:sp>
        <p:nvSpPr>
          <p:cNvPr id="46" name="TextBox 45"/>
          <p:cNvSpPr txBox="1"/>
          <p:nvPr/>
        </p:nvSpPr>
        <p:spPr>
          <a:xfrm>
            <a:off x="548640" y="6400800"/>
            <a:ext cx="11064240" cy="274320"/>
          </a:xfrm>
          <a:prstGeom prst="rect">
            <a:avLst/>
          </a:prstGeom>
          <a:noFill/>
        </p:spPr>
        <p:txBody>
          <a:bodyPr wrap="square" lIns="0" rIns="0" tIns="0" bIns="0" anchor="t">
            <a:spAutoFit/>
          </a:bodyPr>
          <a:lstStyle/>
          <a:p>
            <a:pPr algn="l"/>
            <a:r>
              <a:rPr sz="700" b="1" i="0">
                <a:solidFill>
                  <a:srgbClr val="0F2C5C"/>
                </a:solidFill>
                <a:latin typeface="Sora"/>
              </a:rPr>
              <a:t>ORDER  </a:t>
            </a:r>
            <a:r>
              <a:rPr sz="700" b="0" i="0">
                <a:solidFill>
                  <a:srgbClr val="96A1B0"/>
                </a:solidFill>
                <a:latin typeface="Sora"/>
              </a:rPr>
              <a:t>PS-1 ships first; PS-2 waits for MREI’s placement data.   </a:t>
            </a:r>
            <a:r>
              <a:rPr sz="700" b="1" i="0">
                <a:solidFill>
                  <a:srgbClr val="0F2C5C"/>
                </a:solidFill>
                <a:latin typeface="Sora"/>
              </a:rPr>
              <a:t>Source  </a:t>
            </a:r>
            <a:r>
              <a:rPr sz="700" b="0" i="0">
                <a:solidFill>
                  <a:srgbClr val="96A1B0"/>
                </a:solidFill>
                <a:latin typeface="Sora"/>
              </a:rPr>
              <a:t>GA4 explorations 13 Jun – 10 Sept 2026 · official MREI pages read 24 Sept 2026 · live DOM 23 Sept 2026 (MRIIRS pitch v4).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8229600" cy="182880"/>
          </a:xfrm>
          <a:prstGeom prst="rect">
            <a:avLst/>
          </a:prstGeom>
          <a:noFill/>
        </p:spPr>
        <p:txBody>
          <a:bodyPr wrap="square" lIns="0" rIns="0" tIns="0" bIns="0" anchor="t">
            <a:spAutoFit/>
          </a:bodyPr>
          <a:lstStyle/>
          <a:p>
            <a:pPr algn="l"/>
            <a:r>
              <a:rPr sz="900" b="1" i="0">
                <a:solidFill>
                  <a:srgbClr val="C8102E"/>
                </a:solidFill>
                <a:latin typeface="Sora"/>
              </a:rPr>
              <a:t>EXPERIMENTATION  ·  A/B TESTS  ·  UNIVERSITY SHORTLISTER</a:t>
            </a:r>
          </a:p>
        </p:txBody>
      </p:sp>
      <p:sp>
        <p:nvSpPr>
          <p:cNvPr id="3" name="Rounded Rectangle 2"/>
          <p:cNvSpPr/>
          <p:nvPr/>
        </p:nvSpPr>
        <p:spPr>
          <a:xfrm>
            <a:off x="10780776" y="274320"/>
            <a:ext cx="859536" cy="201168"/>
          </a:xfrm>
          <a:prstGeom prst="roundRect">
            <a:avLst>
              <a:gd name="adj" fmla="val 50000"/>
            </a:avLst>
          </a:prstGeom>
          <a:solidFill>
            <a:srgbClr val="E8EEF7"/>
          </a:solidFill>
          <a:ln w="12700">
            <a:solidFill>
              <a:srgbClr val="0F2C5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0F2C5C"/>
                </a:solidFill>
                <a:latin typeface="Sora"/>
              </a:rPr>
              <a:t>HYPOTHESIS</a:t>
            </a:r>
          </a:p>
        </p:txBody>
      </p:sp>
      <p:sp>
        <p:nvSpPr>
          <p:cNvPr id="4" name="TextBox 3"/>
          <p:cNvSpPr txBox="1"/>
          <p:nvPr/>
        </p:nvSpPr>
        <p:spPr>
          <a:xfrm>
            <a:off x="548640" y="502920"/>
            <a:ext cx="11064240" cy="548640"/>
          </a:xfrm>
          <a:prstGeom prst="rect">
            <a:avLst/>
          </a:prstGeom>
          <a:noFill/>
        </p:spPr>
        <p:txBody>
          <a:bodyPr wrap="square" lIns="0" rIns="0" tIns="0" bIns="0" anchor="t">
            <a:spAutoFit/>
          </a:bodyPr>
          <a:lstStyle/>
          <a:p>
            <a:pPr algn="l"/>
            <a:r>
              <a:rPr sz="2400" b="1" i="0">
                <a:solidFill>
                  <a:srgbClr val="0F2C5C"/>
                </a:solidFill>
                <a:latin typeface="Sora"/>
              </a:rPr>
              <a:t>University Shortlister: keep the benchmark, close the comparison leak</a:t>
            </a:r>
          </a:p>
        </p:txBody>
      </p:sp>
      <p:sp>
        <p:nvSpPr>
          <p:cNvPr id="5" name="TextBox 4"/>
          <p:cNvSpPr txBox="1"/>
          <p:nvPr/>
        </p:nvSpPr>
        <p:spPr>
          <a:xfrm>
            <a:off x="548640" y="1069848"/>
            <a:ext cx="11064240" cy="274320"/>
          </a:xfrm>
          <a:prstGeom prst="rect">
            <a:avLst/>
          </a:prstGeom>
          <a:noFill/>
        </p:spPr>
        <p:txBody>
          <a:bodyPr wrap="square" lIns="0" rIns="0" tIns="0" bIns="0" anchor="t">
            <a:spAutoFit/>
          </a:bodyPr>
          <a:lstStyle/>
          <a:p>
            <a:pPr algn="l"/>
            <a:r>
              <a:rPr sz="1200" b="0" i="0">
                <a:solidFill>
                  <a:srgbClr val="5A6472"/>
                </a:solidFill>
                <a:latin typeface="Sora"/>
              </a:rPr>
              <a:t>“Is this university right for me?” · /mriirs and /mru · 76.1% engagement · 517 of 613 Apply-MRIIRS clicks</a:t>
            </a:r>
          </a:p>
        </p:txBody>
      </p:sp>
      <p:sp>
        <p:nvSpPr>
          <p:cNvPr id="6" name="Rounded Rectangle 5"/>
          <p:cNvSpPr/>
          <p:nvPr/>
        </p:nvSpPr>
        <p:spPr>
          <a:xfrm>
            <a:off x="548640" y="1481328"/>
            <a:ext cx="5486400" cy="4846320"/>
          </a:xfrm>
          <a:prstGeom prst="roundRect">
            <a:avLst>
              <a:gd name="adj" fmla="val 3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566928" cy="329184"/>
          </a:xfrm>
          <a:prstGeom prst="roundRect">
            <a:avLst>
              <a:gd name="adj" fmla="val 25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45920"/>
            <a:ext cx="566928" cy="329184"/>
          </a:xfrm>
          <a:prstGeom prst="rect">
            <a:avLst/>
          </a:prstGeom>
          <a:noFill/>
        </p:spPr>
        <p:txBody>
          <a:bodyPr wrap="square" lIns="0" rIns="0" tIns="0" bIns="0" anchor="ctr">
            <a:spAutoFit/>
          </a:bodyPr>
          <a:lstStyle/>
          <a:p>
            <a:pPr algn="ctr"/>
            <a:r>
              <a:rPr sz="1000" b="1" i="0">
                <a:solidFill>
                  <a:srgbClr val="FFFFFF"/>
                </a:solidFill>
                <a:latin typeface="Sora"/>
              </a:rPr>
              <a:t>US-1</a:t>
            </a:r>
          </a:p>
        </p:txBody>
      </p:sp>
      <p:sp>
        <p:nvSpPr>
          <p:cNvPr id="9" name="TextBox 8"/>
          <p:cNvSpPr txBox="1"/>
          <p:nvPr/>
        </p:nvSpPr>
        <p:spPr>
          <a:xfrm>
            <a:off x="1417319" y="1591056"/>
            <a:ext cx="2651760" cy="420624"/>
          </a:xfrm>
          <a:prstGeom prst="rect">
            <a:avLst/>
          </a:prstGeom>
          <a:noFill/>
        </p:spPr>
        <p:txBody>
          <a:bodyPr wrap="square" lIns="0" rIns="0" tIns="0" bIns="0" anchor="ctr">
            <a:spAutoFit/>
          </a:bodyPr>
          <a:lstStyle/>
          <a:p>
            <a:pPr algn="l"/>
            <a:r>
              <a:rPr sz="1150" b="1" i="0">
                <a:solidFill>
                  <a:srgbClr val="0F2C5C"/>
                </a:solidFill>
                <a:latin typeface="Sora"/>
              </a:rPr>
              <a:t>Compare MRIIRS &amp; MRU module</a:t>
            </a:r>
          </a:p>
        </p:txBody>
      </p:sp>
      <p:sp>
        <p:nvSpPr>
          <p:cNvPr id="10" name="Rounded Rectangle 9"/>
          <p:cNvSpPr/>
          <p:nvPr/>
        </p:nvSpPr>
        <p:spPr>
          <a:xfrm>
            <a:off x="731520" y="2139696"/>
            <a:ext cx="596188" cy="201168"/>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FFFFFF"/>
                </a:solidFill>
                <a:latin typeface="Sora"/>
              </a:rPr>
              <a:t>WAVE 1</a:t>
            </a:r>
          </a:p>
        </p:txBody>
      </p:sp>
      <p:sp>
        <p:nvSpPr>
          <p:cNvPr id="11" name="Rounded Rectangle 10"/>
          <p:cNvSpPr/>
          <p:nvPr/>
        </p:nvSpPr>
        <p:spPr>
          <a:xfrm>
            <a:off x="1400860" y="2139696"/>
            <a:ext cx="1320393" cy="201168"/>
          </a:xfrm>
          <a:prstGeom prst="roundRect">
            <a:avLst>
              <a:gd name="adj" fmla="val 50000"/>
            </a:avLst>
          </a:prstGeom>
          <a:solidFill>
            <a:srgbClr val="FFF3DC"/>
          </a:solidFill>
          <a:ln w="12700">
            <a:solidFill>
              <a:srgbClr val="B26B0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B26B00"/>
                </a:solidFill>
                <a:latin typeface="Sora"/>
              </a:rPr>
              <a:t>NEEDS MRIIRS DATA</a:t>
            </a:r>
          </a:p>
        </p:txBody>
      </p:sp>
      <p:sp>
        <p:nvSpPr>
          <p:cNvPr id="12" name="TextBox 11"/>
          <p:cNvSpPr txBox="1"/>
          <p:nvPr/>
        </p:nvSpPr>
        <p:spPr>
          <a:xfrm>
            <a:off x="731520" y="2414016"/>
            <a:ext cx="3310128" cy="182880"/>
          </a:xfrm>
          <a:prstGeom prst="rect">
            <a:avLst/>
          </a:prstGeom>
          <a:noFill/>
        </p:spPr>
        <p:txBody>
          <a:bodyPr wrap="square" lIns="0" rIns="0" tIns="0" bIns="0" anchor="t">
            <a:spAutoFit/>
          </a:bodyPr>
          <a:lstStyle/>
          <a:p>
            <a:pPr algn="l"/>
            <a:r>
              <a:rPr sz="700" b="0" i="1">
                <a:solidFill>
                  <a:srgbClr val="96A1B0"/>
                </a:solidFill>
                <a:latin typeface="Sora"/>
              </a:rPr>
              <a:t>From MREI T12 · personalisation R2</a:t>
            </a:r>
          </a:p>
        </p:txBody>
      </p:sp>
      <p:sp>
        <p:nvSpPr>
          <p:cNvPr id="13" name="TextBox 12"/>
          <p:cNvSpPr txBox="1"/>
          <p:nvPr/>
        </p:nvSpPr>
        <p:spPr>
          <a:xfrm>
            <a:off x="731520" y="2724912"/>
            <a:ext cx="3310128" cy="146304"/>
          </a:xfrm>
          <a:prstGeom prst="rect">
            <a:avLst/>
          </a:prstGeom>
          <a:noFill/>
        </p:spPr>
        <p:txBody>
          <a:bodyPr wrap="square" lIns="0" rIns="0" tIns="0" bIns="0" anchor="t">
            <a:spAutoFit/>
          </a:bodyPr>
          <a:lstStyle/>
          <a:p>
            <a:pPr algn="l"/>
            <a:r>
              <a:rPr sz="700" b="1" i="0">
                <a:solidFill>
                  <a:srgbClr val="C8102E"/>
                </a:solidFill>
                <a:latin typeface="Sora"/>
              </a:rPr>
              <a:t>WHAT WE SEE</a:t>
            </a:r>
          </a:p>
        </p:txBody>
      </p:sp>
      <p:sp>
        <p:nvSpPr>
          <p:cNvPr id="14" name="TextBox 13"/>
          <p:cNvSpPr txBox="1"/>
          <p:nvPr/>
        </p:nvSpPr>
        <p:spPr>
          <a:xfrm>
            <a:off x="731520" y="2880360"/>
            <a:ext cx="3310128" cy="396240"/>
          </a:xfrm>
          <a:prstGeom prst="rect">
            <a:avLst/>
          </a:prstGeom>
          <a:noFill/>
        </p:spPr>
        <p:txBody>
          <a:bodyPr wrap="square" lIns="0" rIns="0" tIns="0" bIns="0" anchor="t">
            <a:spAutoFit/>
          </a:bodyPr>
          <a:lstStyle/>
          <a:p>
            <a:pPr algn="l"/>
            <a:r>
              <a:rPr sz="800" b="0" i="0">
                <a:solidFill>
                  <a:srgbClr val="5A6472"/>
                </a:solidFill>
                <a:latin typeface="Sora"/>
              </a:rPr>
              <a:t>673 moves go from /mriirs to the homepage, 166 from /mru to /mriirs and 494 between the two fee pages. Nothing on the site supports the comparison.</a:t>
            </a:r>
          </a:p>
        </p:txBody>
      </p:sp>
      <p:sp>
        <p:nvSpPr>
          <p:cNvPr id="15" name="TextBox 14"/>
          <p:cNvSpPr txBox="1"/>
          <p:nvPr/>
        </p:nvSpPr>
        <p:spPr>
          <a:xfrm>
            <a:off x="731520" y="3386328"/>
            <a:ext cx="3310128" cy="146304"/>
          </a:xfrm>
          <a:prstGeom prst="rect">
            <a:avLst/>
          </a:prstGeom>
          <a:noFill/>
        </p:spPr>
        <p:txBody>
          <a:bodyPr wrap="square" lIns="0" rIns="0" tIns="0" bIns="0" anchor="t">
            <a:spAutoFit/>
          </a:bodyPr>
          <a:lstStyle/>
          <a:p>
            <a:pPr algn="l"/>
            <a:r>
              <a:rPr sz="700" b="1" i="0">
                <a:solidFill>
                  <a:srgbClr val="C8102E"/>
                </a:solidFill>
                <a:latin typeface="Sora"/>
              </a:rPr>
              <a:t>CONTROL → VARIANT</a:t>
            </a:r>
          </a:p>
        </p:txBody>
      </p:sp>
      <p:sp>
        <p:nvSpPr>
          <p:cNvPr id="16" name="TextBox 15"/>
          <p:cNvSpPr txBox="1"/>
          <p:nvPr/>
        </p:nvSpPr>
        <p:spPr>
          <a:xfrm>
            <a:off x="731520" y="3541775"/>
            <a:ext cx="3310128" cy="528320"/>
          </a:xfrm>
          <a:prstGeom prst="rect">
            <a:avLst/>
          </a:prstGeom>
          <a:noFill/>
        </p:spPr>
        <p:txBody>
          <a:bodyPr wrap="square" lIns="0" rIns="0" tIns="0" bIns="0" anchor="t">
            <a:spAutoFit/>
          </a:bodyPr>
          <a:lstStyle/>
          <a:p>
            <a:pPr algn="l"/>
            <a:r>
              <a:rPr sz="800" b="0" i="0">
                <a:solidFill>
                  <a:srgbClr val="0F2C5C"/>
                </a:solidFill>
                <a:latin typeface="Sora"/>
              </a:rPr>
              <a:t>Current hub → same hub + “MRIIRS or MRU? Compare in 30 seconds” below the UG / PG / Doctoral tiles: status · NAAC grade per institution · programmes · B.Tech CSE year-1 fee · campus · hostel, with “Help me choose — talk to a counsellor”.</a:t>
            </a:r>
          </a:p>
        </p:txBody>
      </p:sp>
      <p:sp>
        <p:nvSpPr>
          <p:cNvPr id="17" name="TextBox 16"/>
          <p:cNvSpPr txBox="1"/>
          <p:nvPr/>
        </p:nvSpPr>
        <p:spPr>
          <a:xfrm>
            <a:off x="731520" y="4179823"/>
            <a:ext cx="3310128" cy="146304"/>
          </a:xfrm>
          <a:prstGeom prst="rect">
            <a:avLst/>
          </a:prstGeom>
          <a:noFill/>
        </p:spPr>
        <p:txBody>
          <a:bodyPr wrap="square" lIns="0" rIns="0" tIns="0" bIns="0" anchor="t">
            <a:spAutoFit/>
          </a:bodyPr>
          <a:lstStyle/>
          <a:p>
            <a:pPr algn="l"/>
            <a:r>
              <a:rPr sz="700" b="1" i="0">
                <a:solidFill>
                  <a:srgbClr val="C8102E"/>
                </a:solidFill>
                <a:latin typeface="Sora"/>
              </a:rPr>
              <a:t>HYPOTHESIS</a:t>
            </a:r>
          </a:p>
        </p:txBody>
      </p:sp>
      <p:sp>
        <p:nvSpPr>
          <p:cNvPr id="18" name="TextBox 17"/>
          <p:cNvSpPr txBox="1"/>
          <p:nvPr/>
        </p:nvSpPr>
        <p:spPr>
          <a:xfrm>
            <a:off x="731520" y="4335272"/>
            <a:ext cx="3310128" cy="396240"/>
          </a:xfrm>
          <a:prstGeom prst="rect">
            <a:avLst/>
          </a:prstGeom>
          <a:noFill/>
        </p:spPr>
        <p:txBody>
          <a:bodyPr wrap="square" lIns="0" rIns="0" tIns="0" bIns="0" anchor="t">
            <a:spAutoFit/>
          </a:bodyPr>
          <a:lstStyle/>
          <a:p>
            <a:pPr algn="l"/>
            <a:r>
              <a:rPr sz="800" b="0" i="1">
                <a:solidFill>
                  <a:srgbClr val="0F2C5C"/>
                </a:solidFill>
                <a:latin typeface="Sora"/>
              </a:rPr>
              <a:t>If comparers can compare on the hub, leads rise and homepage loops fall, because the institution decision is made in one place instead of by hopping.</a:t>
            </a:r>
          </a:p>
        </p:txBody>
      </p:sp>
      <p:sp>
        <p:nvSpPr>
          <p:cNvPr id="19" name="TextBox 18"/>
          <p:cNvSpPr txBox="1"/>
          <p:nvPr/>
        </p:nvSpPr>
        <p:spPr>
          <a:xfrm>
            <a:off x="731520" y="4841240"/>
            <a:ext cx="3310128" cy="146304"/>
          </a:xfrm>
          <a:prstGeom prst="rect">
            <a:avLst/>
          </a:prstGeom>
          <a:noFill/>
        </p:spPr>
        <p:txBody>
          <a:bodyPr wrap="square" lIns="0" rIns="0" tIns="0" bIns="0" anchor="t">
            <a:spAutoFit/>
          </a:bodyPr>
          <a:lstStyle/>
          <a:p>
            <a:pPr algn="l"/>
            <a:r>
              <a:rPr sz="700" b="1" i="0">
                <a:solidFill>
                  <a:srgbClr val="C8102E"/>
                </a:solidFill>
                <a:latin typeface="Sora"/>
              </a:rPr>
              <a:t>MEASURE</a:t>
            </a:r>
          </a:p>
        </p:txBody>
      </p:sp>
      <p:sp>
        <p:nvSpPr>
          <p:cNvPr id="20" name="TextBox 19"/>
          <p:cNvSpPr txBox="1"/>
          <p:nvPr/>
        </p:nvSpPr>
        <p:spPr>
          <a:xfrm>
            <a:off x="731520" y="4996688"/>
            <a:ext cx="3310128" cy="264160"/>
          </a:xfrm>
          <a:prstGeom prst="rect">
            <a:avLst/>
          </a:prstGeom>
          <a:noFill/>
        </p:spPr>
        <p:txBody>
          <a:bodyPr wrap="square" lIns="0" rIns="0" tIns="0" bIns="0" anchor="t">
            <a:spAutoFit/>
          </a:bodyPr>
          <a:lstStyle/>
          <a:p>
            <a:pPr algn="l"/>
            <a:r>
              <a:rPr sz="800" b="0" i="0">
                <a:solidFill>
                  <a:srgbClr val="0F2C5C"/>
                </a:solidFill>
                <a:latin typeface="Sora"/>
              </a:rPr>
              <a:t>Primary: leads · Secondary: cross-brand hops (166, 494) · Guardrail: Apply-MRIIRS clicks (517) must not fall</a:t>
            </a:r>
          </a:p>
        </p:txBody>
      </p:sp>
      <p:sp>
        <p:nvSpPr>
          <p:cNvPr id="21" name="TextBox 20"/>
          <p:cNvSpPr txBox="1"/>
          <p:nvPr/>
        </p:nvSpPr>
        <p:spPr>
          <a:xfrm>
            <a:off x="731520" y="5370576"/>
            <a:ext cx="3310128" cy="146304"/>
          </a:xfrm>
          <a:prstGeom prst="rect">
            <a:avLst/>
          </a:prstGeom>
          <a:noFill/>
        </p:spPr>
        <p:txBody>
          <a:bodyPr wrap="square" lIns="0" rIns="0" tIns="0" bIns="0" anchor="t">
            <a:spAutoFit/>
          </a:bodyPr>
          <a:lstStyle/>
          <a:p>
            <a:pPr algn="l"/>
            <a:r>
              <a:rPr sz="700" b="1" i="0">
                <a:solidFill>
                  <a:srgbClr val="C8102E"/>
                </a:solidFill>
                <a:latin typeface="Sora"/>
              </a:rPr>
              <a:t>SET-UP</a:t>
            </a:r>
          </a:p>
        </p:txBody>
      </p:sp>
      <p:sp>
        <p:nvSpPr>
          <p:cNvPr id="22" name="TextBox 21"/>
          <p:cNvSpPr txBox="1"/>
          <p:nvPr/>
        </p:nvSpPr>
        <p:spPr>
          <a:xfrm>
            <a:off x="731520" y="5526024"/>
            <a:ext cx="3310128" cy="264160"/>
          </a:xfrm>
          <a:prstGeom prst="rect">
            <a:avLst/>
          </a:prstGeom>
          <a:noFill/>
        </p:spPr>
        <p:txBody>
          <a:bodyPr wrap="square" lIns="0" rIns="0" tIns="0" bIns="0" anchor="t">
            <a:spAutoFit/>
          </a:bodyPr>
          <a:lstStyle/>
          <a:p>
            <a:pPr algn="l"/>
            <a:r>
              <a:rPr sz="800" b="0" i="0">
                <a:solidFill>
                  <a:srgbClr val="0F2C5C"/>
                </a:solidFill>
                <a:latin typeface="Sora"/>
              </a:rPr>
              <a:t>50/50 on both roots, 4 weeks. Needs MRU B.Tech CSE fee and NAAC grade per institution confirmed.</a:t>
            </a:r>
          </a:p>
        </p:txBody>
      </p:sp>
      <p:sp>
        <p:nvSpPr>
          <p:cNvPr id="23" name="Rounded Rectangle 22"/>
          <p:cNvSpPr/>
          <p:nvPr/>
        </p:nvSpPr>
        <p:spPr>
          <a:xfrm>
            <a:off x="4187952" y="1645920"/>
            <a:ext cx="1682496" cy="3639312"/>
          </a:xfrm>
          <a:prstGeom prst="roundRect">
            <a:avLst>
              <a:gd name="adj" fmla="val 10000"/>
            </a:avLst>
          </a:prstGeom>
          <a:solidFill>
            <a:srgbClr val="FFFFFF"/>
          </a:solidFill>
          <a:ln w="12700">
            <a:solidFill>
              <a:srgbClr val="96A1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79392" y="3145536"/>
            <a:ext cx="1499616" cy="640080"/>
          </a:xfrm>
          <a:prstGeom prst="rect">
            <a:avLst/>
          </a:prstGeom>
          <a:noFill/>
        </p:spPr>
        <p:txBody>
          <a:bodyPr wrap="square" lIns="0" rIns="0" tIns="0" bIns="0" anchor="t">
            <a:spAutoFit/>
          </a:bodyPr>
          <a:lstStyle/>
          <a:p>
            <a:pPr algn="ctr"/>
            <a:r>
              <a:rPr sz="800" b="1" i="0">
                <a:solidFill>
                  <a:srgbClr val="96A1B0"/>
                </a:solidFill>
                <a:latin typeface="Sora"/>
              </a:rPr>
              <a:t>MOCKUP</a:t>
            </a:r>
          </a:p>
          <a:p>
            <a:pPr algn="ctr"/>
            <a:r>
              <a:rPr sz="700" b="0" i="0">
                <a:solidFill>
                  <a:srgbClr val="96A1B0"/>
                </a:solidFill>
                <a:latin typeface="Sora"/>
              </a:rPr>
              <a:t>Control: UG / PG / Doctoral hub
Variant: hub + compare module</a:t>
            </a:r>
          </a:p>
        </p:txBody>
      </p:sp>
      <p:sp>
        <p:nvSpPr>
          <p:cNvPr id="25" name="TextBox 24"/>
          <p:cNvSpPr txBox="1"/>
          <p:nvPr/>
        </p:nvSpPr>
        <p:spPr>
          <a:xfrm>
            <a:off x="4187952" y="5358384"/>
            <a:ext cx="1682496" cy="868680"/>
          </a:xfrm>
          <a:prstGeom prst="rect">
            <a:avLst/>
          </a:prstGeom>
          <a:noFill/>
        </p:spPr>
        <p:txBody>
          <a:bodyPr wrap="square" lIns="0" rIns="0" tIns="0" bIns="0" anchor="t">
            <a:spAutoFit/>
          </a:bodyPr>
          <a:lstStyle/>
          <a:p>
            <a:pPr algn="ctr"/>
            <a:r>
              <a:rPr sz="700" b="0" i="0">
                <a:solidFill>
                  <a:srgbClr val="5A6472"/>
                </a:solidFill>
                <a:latin typeface="Sora"/>
              </a:rPr>
              <a:t>/mriirs · /mru institution roots</a:t>
            </a:r>
          </a:p>
        </p:txBody>
      </p:sp>
      <p:sp>
        <p:nvSpPr>
          <p:cNvPr id="26" name="Rounded Rectangle 25"/>
          <p:cNvSpPr/>
          <p:nvPr/>
        </p:nvSpPr>
        <p:spPr>
          <a:xfrm>
            <a:off x="6153912" y="1481328"/>
            <a:ext cx="5486400" cy="4846320"/>
          </a:xfrm>
          <a:prstGeom prst="roundRect">
            <a:avLst>
              <a:gd name="adj" fmla="val 3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336792" y="1645920"/>
            <a:ext cx="566928" cy="329184"/>
          </a:xfrm>
          <a:prstGeom prst="roundRect">
            <a:avLst>
              <a:gd name="adj" fmla="val 25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36792" y="1645920"/>
            <a:ext cx="566928" cy="329184"/>
          </a:xfrm>
          <a:prstGeom prst="rect">
            <a:avLst/>
          </a:prstGeom>
          <a:noFill/>
        </p:spPr>
        <p:txBody>
          <a:bodyPr wrap="square" lIns="0" rIns="0" tIns="0" bIns="0" anchor="ctr">
            <a:spAutoFit/>
          </a:bodyPr>
          <a:lstStyle/>
          <a:p>
            <a:pPr algn="ctr"/>
            <a:r>
              <a:rPr sz="1000" b="1" i="0">
                <a:solidFill>
                  <a:srgbClr val="FFFFFF"/>
                </a:solidFill>
                <a:latin typeface="Sora"/>
              </a:rPr>
              <a:t>US-2</a:t>
            </a:r>
          </a:p>
        </p:txBody>
      </p:sp>
      <p:sp>
        <p:nvSpPr>
          <p:cNvPr id="29" name="TextBox 28"/>
          <p:cNvSpPr txBox="1"/>
          <p:nvPr/>
        </p:nvSpPr>
        <p:spPr>
          <a:xfrm>
            <a:off x="7022592" y="1591056"/>
            <a:ext cx="2651760" cy="420624"/>
          </a:xfrm>
          <a:prstGeom prst="rect">
            <a:avLst/>
          </a:prstGeom>
          <a:noFill/>
        </p:spPr>
        <p:txBody>
          <a:bodyPr wrap="square" lIns="0" rIns="0" tIns="0" bIns="0" anchor="ctr">
            <a:spAutoFit/>
          </a:bodyPr>
          <a:lstStyle/>
          <a:p>
            <a:pPr algn="l"/>
            <a:r>
              <a:rPr sz="1150" b="1" i="0">
                <a:solidFill>
                  <a:srgbClr val="0F2C5C"/>
                </a:solidFill>
                <a:latin typeface="Sora"/>
              </a:rPr>
              <a:t>Human routes instead of “Closing Soon”</a:t>
            </a:r>
          </a:p>
        </p:txBody>
      </p:sp>
      <p:sp>
        <p:nvSpPr>
          <p:cNvPr id="30" name="Rounded Rectangle 29"/>
          <p:cNvSpPr/>
          <p:nvPr/>
        </p:nvSpPr>
        <p:spPr>
          <a:xfrm>
            <a:off x="6336792" y="2139696"/>
            <a:ext cx="596188" cy="201168"/>
          </a:xfrm>
          <a:prstGeom prst="roundRect">
            <a:avLst>
              <a:gd name="adj" fmla="val 50000"/>
            </a:avLst>
          </a:prstGeom>
          <a:solidFill>
            <a:srgbClr val="0F2C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FFFFFF"/>
                </a:solidFill>
                <a:latin typeface="Sora"/>
              </a:rPr>
              <a:t>WAVE 2</a:t>
            </a:r>
          </a:p>
        </p:txBody>
      </p:sp>
      <p:sp>
        <p:nvSpPr>
          <p:cNvPr id="31" name="Rounded Rectangle 30"/>
          <p:cNvSpPr/>
          <p:nvPr/>
        </p:nvSpPr>
        <p:spPr>
          <a:xfrm>
            <a:off x="7006132" y="2139696"/>
            <a:ext cx="859536" cy="201168"/>
          </a:xfrm>
          <a:prstGeom prst="roundRect">
            <a:avLst>
              <a:gd name="adj" fmla="val 50000"/>
            </a:avLst>
          </a:prstGeom>
          <a:solidFill>
            <a:srgbClr val="E5F1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650" b="1">
                <a:solidFill>
                  <a:srgbClr val="1E7B34"/>
                </a:solidFill>
                <a:latin typeface="Sora"/>
              </a:rPr>
              <a:t>SHIP-READY</a:t>
            </a:r>
          </a:p>
        </p:txBody>
      </p:sp>
      <p:sp>
        <p:nvSpPr>
          <p:cNvPr id="32" name="TextBox 31"/>
          <p:cNvSpPr txBox="1"/>
          <p:nvPr/>
        </p:nvSpPr>
        <p:spPr>
          <a:xfrm>
            <a:off x="6336792" y="2414016"/>
            <a:ext cx="3310128" cy="182880"/>
          </a:xfrm>
          <a:prstGeom prst="rect">
            <a:avLst/>
          </a:prstGeom>
          <a:noFill/>
        </p:spPr>
        <p:txBody>
          <a:bodyPr wrap="square" lIns="0" rIns="0" tIns="0" bIns="0" anchor="t">
            <a:spAutoFit/>
          </a:bodyPr>
          <a:lstStyle/>
          <a:p>
            <a:pPr algn="l"/>
            <a:r>
              <a:rPr sz="700" b="0" i="1">
                <a:solidFill>
                  <a:srgbClr val="96A1B0"/>
                </a:solidFill>
                <a:latin typeface="Sora"/>
              </a:rPr>
              <a:t>From pitch T7 (Fix 09) · MREI orchestration “Talk to a Counsellor”</a:t>
            </a:r>
          </a:p>
        </p:txBody>
      </p:sp>
      <p:sp>
        <p:nvSpPr>
          <p:cNvPr id="33" name="TextBox 32"/>
          <p:cNvSpPr txBox="1"/>
          <p:nvPr/>
        </p:nvSpPr>
        <p:spPr>
          <a:xfrm>
            <a:off x="6336792" y="2724912"/>
            <a:ext cx="3310128" cy="146304"/>
          </a:xfrm>
          <a:prstGeom prst="rect">
            <a:avLst/>
          </a:prstGeom>
          <a:noFill/>
        </p:spPr>
        <p:txBody>
          <a:bodyPr wrap="square" lIns="0" rIns="0" tIns="0" bIns="0" anchor="t">
            <a:spAutoFit/>
          </a:bodyPr>
          <a:lstStyle/>
          <a:p>
            <a:pPr algn="l"/>
            <a:r>
              <a:rPr sz="700" b="1" i="0">
                <a:solidFill>
                  <a:srgbClr val="C8102E"/>
                </a:solidFill>
                <a:latin typeface="Sora"/>
              </a:rPr>
              <a:t>WHAT WE SEE</a:t>
            </a:r>
          </a:p>
        </p:txBody>
      </p:sp>
      <p:sp>
        <p:nvSpPr>
          <p:cNvPr id="34" name="TextBox 33"/>
          <p:cNvSpPr txBox="1"/>
          <p:nvPr/>
        </p:nvSpPr>
        <p:spPr>
          <a:xfrm>
            <a:off x="6336792" y="2880360"/>
            <a:ext cx="3310128" cy="396240"/>
          </a:xfrm>
          <a:prstGeom prst="rect">
            <a:avLst/>
          </a:prstGeom>
          <a:noFill/>
        </p:spPr>
        <p:txBody>
          <a:bodyPr wrap="square" lIns="0" rIns="0" tIns="0" bIns="0" anchor="t">
            <a:spAutoFit/>
          </a:bodyPr>
          <a:lstStyle/>
          <a:p>
            <a:pPr algn="l"/>
            <a:r>
              <a:rPr sz="800" b="0" i="0">
                <a:solidFill>
                  <a:srgbClr val="5A6472"/>
                </a:solidFill>
                <a:latin typeface="Sora"/>
              </a:rPr>
              <a:t>The only human route in the fold is a chat toast, “Admission Closing Soon”. City offices (Delhi, Guwahati, Indore, Kota, Lucknow, Varanasi, Patna, Hyderabad) sit in the footer.</a:t>
            </a:r>
          </a:p>
        </p:txBody>
      </p:sp>
      <p:sp>
        <p:nvSpPr>
          <p:cNvPr id="35" name="TextBox 34"/>
          <p:cNvSpPr txBox="1"/>
          <p:nvPr/>
        </p:nvSpPr>
        <p:spPr>
          <a:xfrm>
            <a:off x="6336792" y="3386328"/>
            <a:ext cx="3310128" cy="146304"/>
          </a:xfrm>
          <a:prstGeom prst="rect">
            <a:avLst/>
          </a:prstGeom>
          <a:noFill/>
        </p:spPr>
        <p:txBody>
          <a:bodyPr wrap="square" lIns="0" rIns="0" tIns="0" bIns="0" anchor="t">
            <a:spAutoFit/>
          </a:bodyPr>
          <a:lstStyle/>
          <a:p>
            <a:pPr algn="l"/>
            <a:r>
              <a:rPr sz="700" b="1" i="0">
                <a:solidFill>
                  <a:srgbClr val="C8102E"/>
                </a:solidFill>
                <a:latin typeface="Sora"/>
              </a:rPr>
              <a:t>CONTROL → VARIANT</a:t>
            </a:r>
          </a:p>
        </p:txBody>
      </p:sp>
      <p:sp>
        <p:nvSpPr>
          <p:cNvPr id="36" name="TextBox 35"/>
          <p:cNvSpPr txBox="1"/>
          <p:nvPr/>
        </p:nvSpPr>
        <p:spPr>
          <a:xfrm>
            <a:off x="6336792" y="3541775"/>
            <a:ext cx="3310128" cy="528320"/>
          </a:xfrm>
          <a:prstGeom prst="rect">
            <a:avLst/>
          </a:prstGeom>
          <a:noFill/>
        </p:spPr>
        <p:txBody>
          <a:bodyPr wrap="square" lIns="0" rIns="0" tIns="0" bIns="0" anchor="t">
            <a:spAutoFit/>
          </a:bodyPr>
          <a:lstStyle/>
          <a:p>
            <a:pPr algn="l"/>
            <a:r>
              <a:rPr sz="800" b="0" i="0">
                <a:solidFill>
                  <a:srgbClr val="0F2C5C"/>
                </a:solidFill>
                <a:latin typeface="Sora"/>
              </a:rPr>
              <a:t>Toast + generic sticky tabs → sticky “Talk to someone” with 3 tracked routes: book a campus visit (slot picker) · city-office counsellor, pre-selected by GA4 city · chat with a current student. Each issues a visit code.</a:t>
            </a:r>
          </a:p>
        </p:txBody>
      </p:sp>
      <p:sp>
        <p:nvSpPr>
          <p:cNvPr id="37" name="TextBox 36"/>
          <p:cNvSpPr txBox="1"/>
          <p:nvPr/>
        </p:nvSpPr>
        <p:spPr>
          <a:xfrm>
            <a:off x="6336792" y="4179823"/>
            <a:ext cx="3310128" cy="146304"/>
          </a:xfrm>
          <a:prstGeom prst="rect">
            <a:avLst/>
          </a:prstGeom>
          <a:noFill/>
        </p:spPr>
        <p:txBody>
          <a:bodyPr wrap="square" lIns="0" rIns="0" tIns="0" bIns="0" anchor="t">
            <a:spAutoFit/>
          </a:bodyPr>
          <a:lstStyle/>
          <a:p>
            <a:pPr algn="l"/>
            <a:r>
              <a:rPr sz="700" b="1" i="0">
                <a:solidFill>
                  <a:srgbClr val="C8102E"/>
                </a:solidFill>
                <a:latin typeface="Sora"/>
              </a:rPr>
              <a:t>HYPOTHESIS</a:t>
            </a:r>
          </a:p>
        </p:txBody>
      </p:sp>
      <p:sp>
        <p:nvSpPr>
          <p:cNvPr id="38" name="TextBox 37"/>
          <p:cNvSpPr txBox="1"/>
          <p:nvPr/>
        </p:nvSpPr>
        <p:spPr>
          <a:xfrm>
            <a:off x="6336792" y="4335272"/>
            <a:ext cx="3310128" cy="396240"/>
          </a:xfrm>
          <a:prstGeom prst="rect">
            <a:avLst/>
          </a:prstGeom>
          <a:noFill/>
        </p:spPr>
        <p:txBody>
          <a:bodyPr wrap="square" lIns="0" rIns="0" tIns="0" bIns="0" anchor="t">
            <a:spAutoFit/>
          </a:bodyPr>
          <a:lstStyle/>
          <a:p>
            <a:pPr algn="l"/>
            <a:r>
              <a:rPr sz="800" b="0" i="1">
                <a:solidFill>
                  <a:srgbClr val="0F2C5C"/>
                </a:solidFill>
                <a:latin typeface="Sora"/>
              </a:rPr>
              <a:t>If comparers can reach a person, campus visits rise, because the comparison is resolved in a conversation, not by hopping between copies of the site.</a:t>
            </a:r>
          </a:p>
        </p:txBody>
      </p:sp>
      <p:sp>
        <p:nvSpPr>
          <p:cNvPr id="39" name="TextBox 38"/>
          <p:cNvSpPr txBox="1"/>
          <p:nvPr/>
        </p:nvSpPr>
        <p:spPr>
          <a:xfrm>
            <a:off x="6336792" y="4841240"/>
            <a:ext cx="3310128" cy="146304"/>
          </a:xfrm>
          <a:prstGeom prst="rect">
            <a:avLst/>
          </a:prstGeom>
          <a:noFill/>
        </p:spPr>
        <p:txBody>
          <a:bodyPr wrap="square" lIns="0" rIns="0" tIns="0" bIns="0" anchor="t">
            <a:spAutoFit/>
          </a:bodyPr>
          <a:lstStyle/>
          <a:p>
            <a:pPr algn="l"/>
            <a:r>
              <a:rPr sz="700" b="1" i="0">
                <a:solidFill>
                  <a:srgbClr val="C8102E"/>
                </a:solidFill>
                <a:latin typeface="Sora"/>
              </a:rPr>
              <a:t>MEASURE</a:t>
            </a:r>
          </a:p>
        </p:txBody>
      </p:sp>
      <p:sp>
        <p:nvSpPr>
          <p:cNvPr id="40" name="TextBox 39"/>
          <p:cNvSpPr txBox="1"/>
          <p:nvPr/>
        </p:nvSpPr>
        <p:spPr>
          <a:xfrm>
            <a:off x="6336792" y="4996688"/>
            <a:ext cx="3310128" cy="396240"/>
          </a:xfrm>
          <a:prstGeom prst="rect">
            <a:avLst/>
          </a:prstGeom>
          <a:noFill/>
        </p:spPr>
        <p:txBody>
          <a:bodyPr wrap="square" lIns="0" rIns="0" tIns="0" bIns="0" anchor="t">
            <a:spAutoFit/>
          </a:bodyPr>
          <a:lstStyle/>
          <a:p>
            <a:pPr algn="l"/>
            <a:r>
              <a:rPr sz="800" b="0" i="0">
                <a:solidFill>
                  <a:srgbClr val="0F2C5C"/>
                </a:solidFill>
                <a:latin typeface="Sora"/>
              </a:rPr>
              <a:t>Primary: visits booked and attended / 1K sessions · Secondary: visit → application · Guardrail: Apply clicks · Scale if ≥ +15% relative with SLA met</a:t>
            </a:r>
          </a:p>
        </p:txBody>
      </p:sp>
      <p:sp>
        <p:nvSpPr>
          <p:cNvPr id="41" name="TextBox 40"/>
          <p:cNvSpPr txBox="1"/>
          <p:nvPr/>
        </p:nvSpPr>
        <p:spPr>
          <a:xfrm>
            <a:off x="6336792" y="5502656"/>
            <a:ext cx="3310128" cy="146304"/>
          </a:xfrm>
          <a:prstGeom prst="rect">
            <a:avLst/>
          </a:prstGeom>
          <a:noFill/>
        </p:spPr>
        <p:txBody>
          <a:bodyPr wrap="square" lIns="0" rIns="0" tIns="0" bIns="0" anchor="t">
            <a:spAutoFit/>
          </a:bodyPr>
          <a:lstStyle/>
          <a:p>
            <a:pPr algn="l"/>
            <a:r>
              <a:rPr sz="700" b="1" i="0">
                <a:solidFill>
                  <a:srgbClr val="C8102E"/>
                </a:solidFill>
                <a:latin typeface="Sora"/>
              </a:rPr>
              <a:t>SET-UP</a:t>
            </a:r>
          </a:p>
        </p:txBody>
      </p:sp>
      <p:sp>
        <p:nvSpPr>
          <p:cNvPr id="42" name="TextBox 41"/>
          <p:cNvSpPr txBox="1"/>
          <p:nvPr/>
        </p:nvSpPr>
        <p:spPr>
          <a:xfrm>
            <a:off x="6336792" y="5658104"/>
            <a:ext cx="3310128" cy="264160"/>
          </a:xfrm>
          <a:prstGeom prst="rect">
            <a:avLst/>
          </a:prstGeom>
          <a:noFill/>
        </p:spPr>
        <p:txBody>
          <a:bodyPr wrap="square" lIns="0" rIns="0" tIns="0" bIns="0" anchor="t">
            <a:spAutoFit/>
          </a:bodyPr>
          <a:lstStyle/>
          <a:p>
            <a:pPr algn="l"/>
            <a:r>
              <a:rPr sz="800" b="0" i="0">
                <a:solidFill>
                  <a:srgbClr val="0F2C5C"/>
                </a:solidFill>
                <a:latin typeface="Sora"/>
              </a:rPr>
              <a:t>50/50, 4 weeks, after US-1. Visit code captured at the counter closes the loop.</a:t>
            </a:r>
          </a:p>
        </p:txBody>
      </p:sp>
      <p:sp>
        <p:nvSpPr>
          <p:cNvPr id="43" name="Rounded Rectangle 42"/>
          <p:cNvSpPr/>
          <p:nvPr/>
        </p:nvSpPr>
        <p:spPr>
          <a:xfrm>
            <a:off x="9793224" y="1645920"/>
            <a:ext cx="1682496" cy="3639312"/>
          </a:xfrm>
          <a:prstGeom prst="roundRect">
            <a:avLst>
              <a:gd name="adj" fmla="val 10000"/>
            </a:avLst>
          </a:prstGeom>
          <a:solidFill>
            <a:srgbClr val="FFFFFF"/>
          </a:solidFill>
          <a:ln w="12700">
            <a:solidFill>
              <a:srgbClr val="96A1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884664" y="3145536"/>
            <a:ext cx="1499616" cy="640080"/>
          </a:xfrm>
          <a:prstGeom prst="rect">
            <a:avLst/>
          </a:prstGeom>
          <a:noFill/>
        </p:spPr>
        <p:txBody>
          <a:bodyPr wrap="square" lIns="0" rIns="0" tIns="0" bIns="0" anchor="t">
            <a:spAutoFit/>
          </a:bodyPr>
          <a:lstStyle/>
          <a:p>
            <a:pPr algn="ctr"/>
            <a:r>
              <a:rPr sz="800" b="1" i="0">
                <a:solidFill>
                  <a:srgbClr val="96A1B0"/>
                </a:solidFill>
                <a:latin typeface="Sora"/>
              </a:rPr>
              <a:t>MOCKUP</a:t>
            </a:r>
          </a:p>
          <a:p>
            <a:pPr algn="ctr"/>
            <a:r>
              <a:rPr sz="700" b="0" i="0">
                <a:solidFill>
                  <a:srgbClr val="96A1B0"/>
                </a:solidFill>
                <a:latin typeface="Sora"/>
              </a:rPr>
              <a:t>Control: chat toast + tabs
Variant: “Talk to someone” sheet, 3 routes</a:t>
            </a:r>
          </a:p>
        </p:txBody>
      </p:sp>
      <p:sp>
        <p:nvSpPr>
          <p:cNvPr id="45" name="TextBox 44"/>
          <p:cNvSpPr txBox="1"/>
          <p:nvPr/>
        </p:nvSpPr>
        <p:spPr>
          <a:xfrm>
            <a:off x="9793224" y="5358384"/>
            <a:ext cx="1682496" cy="868680"/>
          </a:xfrm>
          <a:prstGeom prst="rect">
            <a:avLst/>
          </a:prstGeom>
          <a:noFill/>
        </p:spPr>
        <p:txBody>
          <a:bodyPr wrap="square" lIns="0" rIns="0" tIns="0" bIns="0" anchor="t">
            <a:spAutoFit/>
          </a:bodyPr>
          <a:lstStyle/>
          <a:p>
            <a:pPr algn="ctr"/>
            <a:r>
              <a:rPr sz="700" b="0" i="0">
                <a:solidFill>
                  <a:srgbClr val="5A6472"/>
                </a:solidFill>
                <a:latin typeface="Sora"/>
              </a:rPr>
              <a:t>/mriirs · /mru, sticky bottom bar</a:t>
            </a:r>
          </a:p>
        </p:txBody>
      </p:sp>
      <p:sp>
        <p:nvSpPr>
          <p:cNvPr id="46" name="TextBox 45"/>
          <p:cNvSpPr txBox="1"/>
          <p:nvPr/>
        </p:nvSpPr>
        <p:spPr>
          <a:xfrm>
            <a:off x="548640" y="6400800"/>
            <a:ext cx="11064240" cy="274320"/>
          </a:xfrm>
          <a:prstGeom prst="rect">
            <a:avLst/>
          </a:prstGeom>
          <a:noFill/>
        </p:spPr>
        <p:txBody>
          <a:bodyPr wrap="square" lIns="0" rIns="0" tIns="0" bIns="0" anchor="t">
            <a:spAutoFit/>
          </a:bodyPr>
          <a:lstStyle/>
          <a:p>
            <a:pPr algn="l"/>
            <a:r>
              <a:rPr sz="700" b="1" i="0">
                <a:solidFill>
                  <a:srgbClr val="0F2C5C"/>
                </a:solidFill>
                <a:latin typeface="Sora"/>
              </a:rPr>
              <a:t>ORDER  </a:t>
            </a:r>
            <a:r>
              <a:rPr sz="700" b="0" i="0">
                <a:solidFill>
                  <a:srgbClr val="96A1B0"/>
                </a:solidFill>
                <a:latin typeface="Sora"/>
              </a:rPr>
              <a:t>Add, don’t redesign: US-1 first, US-2 after.   </a:t>
            </a:r>
            <a:r>
              <a:rPr sz="700" b="1" i="0">
                <a:solidFill>
                  <a:srgbClr val="0F2C5C"/>
                </a:solidFill>
                <a:latin typeface="Sora"/>
              </a:rPr>
              <a:t>Source  </a:t>
            </a:r>
            <a:r>
              <a:rPr sz="700" b="0" i="0">
                <a:solidFill>
                  <a:srgbClr val="96A1B0"/>
                </a:solidFill>
                <a:latin typeface="Sora"/>
              </a:rPr>
              <a:t>GA4 explorations 13 Jun – 10 Sept 2026 · GA4 event export by page type · live footer 23 Sept 2026 (MRIIRS pitch v4).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