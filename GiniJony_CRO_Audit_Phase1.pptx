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</p:sldIdLst>
  <p:sldSz cy="5143500" cx="9144000"/>
  <p:notesSz cx="6858000" cy="9144000"/>
  <p:embeddedFontLst>
    <p:embeddedFont>
      <p:font typeface="Fredoka"/>
      <p:regular r:id="rId21"/>
      <p:bold r:id="rId22"/>
    </p:embeddedFont>
    <p:embeddedFont>
      <p:font typeface="DM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1" Type="http://schemas.openxmlformats.org/officeDocument/2006/relationships/font" Target="fonts/Fredoka-regular.fntdata"/><Relationship Id="rId22" Type="http://schemas.openxmlformats.org/officeDocument/2006/relationships/font" Target="fonts/Fredoka-bold.fntdata"/><Relationship Id="rId23" Type="http://schemas.openxmlformats.org/officeDocument/2006/relationships/font" Target="fonts/DMSans-regular.fntdata"/><Relationship Id="rId24" Type="http://schemas.openxmlformats.org/officeDocument/2006/relationships/font" Target="fonts/DMSans-bold.fntdata"/><Relationship Id="rId25" Type="http://schemas.openxmlformats.org/officeDocument/2006/relationships/font" Target="fonts/DMSans-italic.fntdata"/><Relationship Id="rId26" Type="http://schemas.openxmlformats.org/officeDocument/2006/relationships/font" Target="fonts/DMSans-boldItalic.fntdata"/><Relationship Id="rId27" Type="http://schemas.openxmlformats.org/officeDocument/2006/relationships/slide" Target="slides/slide1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11.xml"/><Relationship Id="rId38" Type="http://schemas.openxmlformats.org/officeDocument/2006/relationships/slide" Target="slides/slide12.xml"/><Relationship Id="rId39" Type="http://schemas.openxmlformats.org/officeDocument/2006/relationships/slide" Target="slides/slide13.xml"/><Relationship Id="rId40" Type="http://schemas.openxmlformats.org/officeDocument/2006/relationships/slide" Target="slides/slide14.xml"/><Relationship Id="rId41" Type="http://schemas.openxmlformats.org/officeDocument/2006/relationships/slide" Target="slides/slide15.xml"/><Relationship Id="rId42" Type="http://schemas.openxmlformats.org/officeDocument/2006/relationships/slide" Target="slides/slide16.xml"/><Relationship Id="rId43" Type="http://schemas.openxmlformats.org/officeDocument/2006/relationships/slide" Target="slides/slide17.xml"/><Relationship Id="rId44" Type="http://schemas.openxmlformats.org/officeDocument/2006/relationships/slide" Target="slides/slide18.xml"/><Relationship Id="rId45" Type="http://schemas.openxmlformats.org/officeDocument/2006/relationships/slide" Target="slides/slide19.xml"/><Relationship Id="rId46" Type="http://schemas.openxmlformats.org/officeDocument/2006/relationships/slide" Target="slides/slide20.xml"/><Relationship Id="rId47" Type="http://schemas.openxmlformats.org/officeDocument/2006/relationships/slide" Target="slides/slide21.xml"/><Relationship Id="rId48" Type="http://schemas.openxmlformats.org/officeDocument/2006/relationships/slide" Target="slides/slide22.xml"/><Relationship Id="rId49" Type="http://schemas.openxmlformats.org/officeDocument/2006/relationships/slide" Target="slides/slide23.xml"/><Relationship Id="rId50" Type="http://schemas.openxmlformats.org/officeDocument/2006/relationships/slide" Target="slides/slide24.xml"/><Relationship Id="rId51" Type="http://schemas.openxmlformats.org/officeDocument/2006/relationships/slide" Target="slides/slide25.xml"/><Relationship Id="rId5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CRO Audit, Phase 1. Evidence captured live on 6 Oct 2026 and fact-checked on 7 Oct 2026 at a 390px mobile viewport. No Gini &amp; Jony analytics access yet, so revenue figures are models marked as such.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sections, then the Phase 2 asks. Claim labels used in notes: MEASURED (captured live or from the public product feed), TO VALIDATE (needs Gini &amp; Jony data), HYPOTHESIS (to be tested).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Lead with this. No landing-page test can fix an empty festive shelf or a 45% size run. Fix the hygiene items now, stock the shelf before Diwali (8 Nov 2026), then test.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MEASURED. Festive check covered titles, product types, tags and descriptions. Size availability uses Shopify's 'available' flag per variant. Find a store has a heading and an empty body in the server HTML.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Pre-flight: two checks that can overturn any page-level diagnosis.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MEASURED: 0 festive styles after checking titles, types, tags and descriptions; 672 of 674 products created May–Jul 2026, 2 in Aug, 0 since (Shopify created date). TO VALIDATE: does a festive or winter range exist in stores or the warehouse that never reached the site?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giniandjony.com/products.json, all pages, re-pulled 7 Oct 2026. All rows MEASURED.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MEASURED: third-party domains and missing consent prompt from a live homepage load. One unidentified tracker: tr.securification.ai. TO VALIDATE: purchase reconciliation needs GA4 and Shopify access.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Credit before critique. These are strengths to keep through any redesign.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Audited by the question a parent arrives with, not by page template.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MEASURED from the live PDP and size chart. TO VALIDATE: share of exchanges citing size, from the exchange-reason report.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MEASURED: age tags vs size options per product (7 Oct). 129 products tagged all three ages genuinely come in 12–24M; 257 don't. Availability filter shows In Stock 419 / Out of Stock 455.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MEASURED. Sale price in red is 3.67:1 contrast at 18px regular, below WCAG AA's 4.5:1.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MEASURED twice (6 and 7 Oct). The sticky checkout button is drawn at 60% opacity, so it looks disabled. Checkout itself works: Shopify native, Razorpay and COD, email first, 9 required fields.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MEASURED: empty page. Store counts from Nov 2024 acquisition coverage (Indian Retailer); TO VALIDATE against today's store master after the Suditi transition.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Verdicts MEASURED live. Intents themselves are inferred: TO VALIDATE against site search, Search Console, WhatsApp/call-centre logs and store-staff questions.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MEASURED. 'New' uses Shopify's created date, which doesn't reset on republish. Gini &amp; Jony doesn't lose on price or on trust basics; it loses on freshness, occasion and fit language, and it has a store network the comps don't.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Sequenced around Diwali on 8 Nov 2026.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Target: all shipped by 20 Oct 2026, before the festive freeze.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 tests within paid traffic already being bought; never pause working media to create a control.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test ships with a scale-or-stop threshold agreed before it runs, e.g. test 1 scales if ATC rises 3%+ relative at 90% confidence with no rise in size exchanges. Sample sizes once GA4 traffic is known.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Lost visits = 38% × (1 − substitution rate). Carts = 100,000 × 4% × lost share. Revenue = carts × 55% × ₹1,100. HYPOTHESIS until replaced with GA4 numbers.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Also not recommended: exit pop-ups or spin wheels, and scaling paid traffic to collection pages before the age filters are fixed.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we need from Gini &amp; Jony to move every TO VALIDATE to MEASURED.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With these, Phase 2 replaces every placeholder in the sizing with real numbers and sets test sample sizes.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FF8E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609600" y="883922"/>
            <a:ext cx="79248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400"/>
              <a:buFont typeface="Fredoka"/>
              <a:buNone/>
              <a:defRPr sz="24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609600" y="1447802"/>
            <a:ext cx="7924800" cy="308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1E1B18"/>
              </a:buClr>
              <a:buSzPts val="1200"/>
              <a:buNone/>
              <a:defRPr sz="1200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C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883922"/>
            <a:ext cx="79248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400"/>
              <a:buFont typeface="Fredoka"/>
              <a:buNone/>
              <a:defRPr b="0" i="0" sz="2400" u="none" cap="none" strike="noStrike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09600" y="1447802"/>
            <a:ext cx="7924800" cy="3086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1E1B1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jpg"/><Relationship Id="rId3" Type="http://schemas.openxmlformats.org/officeDocument/2006/relationships/image" Target="../media/image12.pn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jpg"/><Relationship Id="rId3" Type="http://schemas.openxmlformats.org/officeDocument/2006/relationships/image" Target="../media/image12.png"/><Relationship Id="rId4" Type="http://schemas.openxmlformats.org/officeDocument/2006/relationships/image" Target="../media/image8.jp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jp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jpg"/><Relationship Id="rId3" Type="http://schemas.openxmlformats.org/officeDocument/2006/relationships/image" Target="../media/image12.png"/><Relationship Id="rId4" Type="http://schemas.openxmlformats.org/officeDocument/2006/relationships/image" Target="../media/image11.jp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3.jpg"/><Relationship Id="rId3" Type="http://schemas.openxmlformats.org/officeDocument/2006/relationships/image" Target="../media/image12.png"/><Relationship Id="rId4" Type="http://schemas.openxmlformats.org/officeDocument/2006/relationships/image" Target="../media/image14.jp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5.jp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C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odle cluster: kite, sun, tee, sneaker and stars" id="62" name="Google Shape;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0" y="571500"/>
            <a:ext cx="3429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6"/>
          <p:cNvSpPr txBox="1"/>
          <p:nvPr>
            <p:ph type="title"/>
          </p:nvPr>
        </p:nvSpPr>
        <p:spPr>
          <a:xfrm>
            <a:off x="609600" y="2049780"/>
            <a:ext cx="4807268" cy="9791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ct val="100000"/>
              <a:buFont typeface="Fredoka"/>
              <a:buNone/>
            </a:pPr>
            <a:r>
              <a:rPr b="1" lang="en-GB" sz="3600"/>
              <a:t>GINI&amp;JONY x SCHBANG</a:t>
            </a:r>
            <a:endParaRPr sz="3600"/>
          </a:p>
        </p:txBody>
      </p:sp>
      <p:sp>
        <p:nvSpPr>
          <p:cNvPr id="64" name="TextBox 63"/>
          <p:cNvSpPr txBox="1"/>
          <p:nvPr/>
        </p:nvSpPr>
        <p:spPr>
          <a:xfrm>
            <a:off x="612648" y="309067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B59D6"/>
                </a:solidFill>
                <a:latin typeface="Fredoka"/>
              </a:rPr>
              <a:t>CRO Audit · Phase 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35204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E5A55"/>
                </a:solidFill>
                <a:latin typeface="DM Sans"/>
              </a:rPr>
              <a:t>Mobile website review of giniandjony.com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C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9" name="Google Shape;6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1900" y="495300"/>
            <a:ext cx="9525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7"/>
          <p:cNvSpPr txBox="1"/>
          <p:nvPr>
            <p:ph type="title"/>
          </p:nvPr>
        </p:nvSpPr>
        <p:spPr>
          <a:xfrm>
            <a:off x="609600" y="609600"/>
            <a:ext cx="816254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400"/>
              <a:buFont typeface="Fredoka"/>
              <a:buNone/>
            </a:pPr>
            <a:r>
              <a:rPr b="1" i="0" lang="en-GB" sz="24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What we’ll cover</a:t>
            </a:r>
            <a:endParaRPr sz="2400"/>
          </a:p>
        </p:txBody>
      </p:sp>
      <p:cxnSp>
        <p:nvCxnSpPr>
          <p:cNvPr id="71" name="Google Shape;71;p17"/>
          <p:cNvCxnSpPr/>
          <p:nvPr/>
        </p:nvCxnSpPr>
        <p:spPr>
          <a:xfrm>
            <a:off x="609600" y="1178243"/>
            <a:ext cx="7924800" cy="0"/>
          </a:xfrm>
          <a:prstGeom prst="straightConnector1">
            <a:avLst/>
          </a:prstGeom>
          <a:noFill/>
          <a:ln cap="flat" cmpd="sng" w="12700">
            <a:solidFill>
              <a:srgbClr val="1E1B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17"/>
          <p:cNvSpPr/>
          <p:nvPr/>
        </p:nvSpPr>
        <p:spPr>
          <a:xfrm>
            <a:off x="609600" y="1364933"/>
            <a:ext cx="448627" cy="381000"/>
          </a:xfrm>
          <a:prstGeom prst="roundRect">
            <a:avLst>
              <a:gd fmla="val 50000" name="adj"/>
            </a:avLst>
          </a:prstGeom>
          <a:solidFill>
            <a:srgbClr val="2B59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DF8"/>
              </a:buClr>
              <a:buSzPts val="1500"/>
              <a:buFont typeface="Fredoka"/>
              <a:buNone/>
            </a:pPr>
            <a:r>
              <a:rPr b="1" i="0" lang="en-GB" sz="1500" u="none" cap="none" strike="noStrike">
                <a:solidFill>
                  <a:srgbClr val="FFFDF8"/>
                </a:solidFill>
                <a:latin typeface="Fredoka"/>
                <a:ea typeface="Fredoka"/>
                <a:cs typeface="Fredoka"/>
                <a:sym typeface="Fredoka"/>
              </a:rPr>
              <a:t>01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1286828" y="1333500"/>
            <a:ext cx="5943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500"/>
              <a:buFont typeface="Fredoka"/>
              <a:buNone/>
            </a:pPr>
            <a:r>
              <a:rPr b="1" i="0" lang="en-GB" sz="1500" u="none" cap="none" strike="noStrike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Where We Stand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1286828" y="1590675"/>
            <a:ext cx="5943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What’s on the shelf, and whether the numbers can be trusted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75" name="Google Shape;75;p17"/>
          <p:cNvCxnSpPr/>
          <p:nvPr/>
        </p:nvCxnSpPr>
        <p:spPr>
          <a:xfrm>
            <a:off x="609600" y="1934528"/>
            <a:ext cx="7924800" cy="0"/>
          </a:xfrm>
          <a:prstGeom prst="straightConnector1">
            <a:avLst/>
          </a:prstGeom>
          <a:noFill/>
          <a:ln cap="flat" cmpd="sng" w="12700">
            <a:solidFill>
              <a:srgbClr val="1E1B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7"/>
          <p:cNvSpPr/>
          <p:nvPr/>
        </p:nvSpPr>
        <p:spPr>
          <a:xfrm>
            <a:off x="609600" y="2121218"/>
            <a:ext cx="485597" cy="381000"/>
          </a:xfrm>
          <a:prstGeom prst="roundRect">
            <a:avLst>
              <a:gd fmla="val 50000" name="adj"/>
            </a:avLst>
          </a:prstGeom>
          <a:solidFill>
            <a:srgbClr val="2B59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DF8"/>
              </a:buClr>
              <a:buSzPts val="1500"/>
              <a:buFont typeface="Fredoka"/>
              <a:buNone/>
            </a:pPr>
            <a:r>
              <a:rPr b="1" i="0" lang="en-GB" sz="1500" u="none" cap="none" strike="noStrike">
                <a:solidFill>
                  <a:srgbClr val="FFFDF8"/>
                </a:solidFill>
                <a:latin typeface="Fredoka"/>
                <a:ea typeface="Fredoka"/>
                <a:cs typeface="Fredoka"/>
                <a:sym typeface="Fredoka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1323796" y="2089785"/>
            <a:ext cx="5943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500"/>
              <a:buFont typeface="Fredoka"/>
              <a:buNone/>
            </a:pPr>
            <a:r>
              <a:rPr b="1" i="0" lang="en-GB" sz="1500" u="none" cap="none" strike="noStrike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What We Found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1323796" y="2346960"/>
            <a:ext cx="5943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A parent’s journey from search to checkout, with evidence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79" name="Google Shape;79;p17"/>
          <p:cNvCxnSpPr/>
          <p:nvPr/>
        </p:nvCxnSpPr>
        <p:spPr>
          <a:xfrm>
            <a:off x="609600" y="2690813"/>
            <a:ext cx="7924800" cy="0"/>
          </a:xfrm>
          <a:prstGeom prst="straightConnector1">
            <a:avLst/>
          </a:prstGeom>
          <a:noFill/>
          <a:ln cap="flat" cmpd="sng" w="12700">
            <a:solidFill>
              <a:srgbClr val="1E1B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7"/>
          <p:cNvSpPr/>
          <p:nvPr/>
        </p:nvSpPr>
        <p:spPr>
          <a:xfrm>
            <a:off x="609600" y="2877502"/>
            <a:ext cx="484644" cy="381000"/>
          </a:xfrm>
          <a:prstGeom prst="roundRect">
            <a:avLst>
              <a:gd fmla="val 50000" name="adj"/>
            </a:avLst>
          </a:prstGeom>
          <a:solidFill>
            <a:srgbClr val="2B59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DF8"/>
              </a:buClr>
              <a:buSzPts val="1500"/>
              <a:buFont typeface="Fredoka"/>
              <a:buNone/>
            </a:pPr>
            <a:r>
              <a:rPr b="1" i="0" lang="en-GB" sz="1500" u="none" cap="none" strike="noStrike">
                <a:solidFill>
                  <a:srgbClr val="FFFDF8"/>
                </a:solidFill>
                <a:latin typeface="Fredoka"/>
                <a:ea typeface="Fredoka"/>
                <a:cs typeface="Fredoka"/>
                <a:sym typeface="Fredoka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1322844" y="2846070"/>
            <a:ext cx="5943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500"/>
              <a:buFont typeface="Fredoka"/>
              <a:buNone/>
            </a:pPr>
            <a:r>
              <a:rPr b="1" i="0" lang="en-GB" sz="1500" u="none" cap="none" strike="noStrike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What We Do Next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1322844" y="3103245"/>
            <a:ext cx="5943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Fixes this week, the festive window, then tests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609600" y="4678681"/>
            <a:ext cx="441483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Gini &amp; Jony · Schbang · CRO Audit, Phase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7543800" y="4678681"/>
            <a:ext cx="99060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C83D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Kite doodle" id="170" name="Google Shape;17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8500" y="714375"/>
            <a:ext cx="142875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/>
          <p:nvPr/>
        </p:nvSpPr>
        <p:spPr>
          <a:xfrm>
            <a:off x="609600" y="1765936"/>
            <a:ext cx="6082665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900"/>
              <a:buFont typeface="DM Sans"/>
              <a:buNone/>
            </a:pPr>
            <a:r>
              <a:rPr b="1" i="0" lang="en-GB" spc="200" sz="900" u="none" cap="none" strike="noStrike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rPr>
              <a:t>THE ANSWER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2" name="Google Shape;172;p23"/>
          <p:cNvSpPr txBox="1"/>
          <p:nvPr>
            <p:ph type="title"/>
          </p:nvPr>
        </p:nvSpPr>
        <p:spPr>
          <a:xfrm>
            <a:off x="609600" y="2116454"/>
            <a:ext cx="608266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400"/>
              <a:buFont typeface="Fredoka"/>
              <a:buNone/>
            </a:pPr>
            <a:r>
              <a:rPr b="1" i="0" lang="en-GB" sz="24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“The constraint is upstream of the page: what’s on the shelf, how sizes are described, and the missing link to the stores.”</a:t>
            </a:r>
            <a:endParaRPr sz="2400"/>
          </a:p>
        </p:txBody>
      </p:sp>
      <p:sp>
        <p:nvSpPr>
          <p:cNvPr id="173" name="Google Shape;173;p23"/>
          <p:cNvSpPr/>
          <p:nvPr/>
        </p:nvSpPr>
        <p:spPr>
          <a:xfrm>
            <a:off x="609600" y="3383280"/>
            <a:ext cx="608266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rPr>
              <a:t>— Live audit of giniandjony.com on mobile, 6–7 Oct 2026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4" name="Google Shape;174;p23"/>
          <p:cNvSpPr/>
          <p:nvPr/>
        </p:nvSpPr>
        <p:spPr>
          <a:xfrm>
            <a:off x="609600" y="4678682"/>
            <a:ext cx="441483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rPr>
              <a:t>Gini &amp; Jony · Schbang · CRO Audit, Phase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7543800" y="4678682"/>
            <a:ext cx="99060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C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6" name="Google Shape;1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1900" y="495300"/>
            <a:ext cx="9525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609600" y="609600"/>
            <a:ext cx="8162544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59D6"/>
              </a:buClr>
              <a:buSzPts val="900"/>
              <a:buFont typeface="DM Sans"/>
              <a:buNone/>
            </a:pPr>
            <a:r>
              <a:rPr b="1" i="0" lang="en-GB" spc="200" sz="900" u="none" cap="none" strike="noStrike">
                <a:solidFill>
                  <a:srgbClr val="2B59D6"/>
                </a:solidFill>
                <a:latin typeface="DM Sans"/>
                <a:ea typeface="DM Sans"/>
                <a:cs typeface="DM Sans"/>
                <a:sym typeface="DM Sans"/>
              </a:rPr>
              <a:t>AT A GLANCE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8" name="Google Shape;138;p21"/>
          <p:cNvSpPr txBox="1"/>
          <p:nvPr>
            <p:ph type="title"/>
          </p:nvPr>
        </p:nvSpPr>
        <p:spPr>
          <a:xfrm>
            <a:off x="609600" y="883921"/>
            <a:ext cx="816254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400"/>
              <a:buFont typeface="Fredoka"/>
              <a:buNone/>
            </a:pPr>
            <a:r>
              <a:rPr b="1" i="0" lang="en-GB" sz="24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Three numbers from the live store</a:t>
            </a:r>
            <a:endParaRPr sz="2400"/>
          </a:p>
        </p:txBody>
      </p:sp>
      <p:cxnSp>
        <p:nvCxnSpPr>
          <p:cNvPr id="139" name="Google Shape;139;p21"/>
          <p:cNvCxnSpPr/>
          <p:nvPr/>
        </p:nvCxnSpPr>
        <p:spPr>
          <a:xfrm>
            <a:off x="609600" y="3222308"/>
            <a:ext cx="2438400" cy="0"/>
          </a:xfrm>
          <a:prstGeom prst="straightConnector1">
            <a:avLst/>
          </a:prstGeom>
          <a:noFill/>
          <a:ln cap="flat" cmpd="sng" w="38100">
            <a:solidFill>
              <a:srgbClr val="1E1B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21"/>
          <p:cNvSpPr/>
          <p:nvPr/>
        </p:nvSpPr>
        <p:spPr>
          <a:xfrm>
            <a:off x="609600" y="3425191"/>
            <a:ext cx="25115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59D6"/>
              </a:buClr>
              <a:buSzPts val="3600"/>
              <a:buFont typeface="Fredoka"/>
              <a:buNone/>
            </a:pPr>
            <a:r>
              <a:rPr b="1" i="0" lang="en-GB" sz="3600" u="none" cap="none" strike="noStrike">
                <a:solidFill>
                  <a:srgbClr val="2B59D6"/>
                </a:solidFill>
                <a:latin typeface="Fredoka"/>
                <a:ea typeface="Fredoka"/>
                <a:cs typeface="Fredoka"/>
                <a:sym typeface="Fredoka"/>
              </a:rPr>
              <a:t>0</a:t>
            </a:r>
            <a:endParaRPr b="0" i="0" sz="3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609600" y="3958591"/>
            <a:ext cx="2511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festive or ethnic styles online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609600" y="4462272"/>
            <a:ext cx="2511552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33 days before Diwali · product feed, 7 Oct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43" name="Google Shape;143;p21"/>
          <p:cNvCxnSpPr/>
          <p:nvPr/>
        </p:nvCxnSpPr>
        <p:spPr>
          <a:xfrm>
            <a:off x="3352800" y="3222308"/>
            <a:ext cx="2438400" cy="0"/>
          </a:xfrm>
          <a:prstGeom prst="straightConnector1">
            <a:avLst/>
          </a:prstGeom>
          <a:noFill/>
          <a:ln cap="flat" cmpd="sng" w="38100">
            <a:solidFill>
              <a:srgbClr val="1E1B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21"/>
          <p:cNvSpPr/>
          <p:nvPr/>
        </p:nvSpPr>
        <p:spPr>
          <a:xfrm>
            <a:off x="3352800" y="3425191"/>
            <a:ext cx="25115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59D6"/>
              </a:buClr>
              <a:buSzPts val="3600"/>
              <a:buFont typeface="Fredoka"/>
              <a:buNone/>
            </a:pPr>
            <a:r>
              <a:rPr b="1" i="0" lang="en-GB" sz="3600" u="none" cap="none" strike="noStrike">
                <a:solidFill>
                  <a:srgbClr val="2B59D6"/>
                </a:solidFill>
                <a:latin typeface="Fredoka"/>
                <a:ea typeface="Fredoka"/>
                <a:cs typeface="Fredoka"/>
                <a:sym typeface="Fredoka"/>
              </a:rPr>
              <a:t>45%</a:t>
            </a:r>
            <a:endParaRPr b="0" i="0" sz="3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3352800" y="3958591"/>
            <a:ext cx="2511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of size options in stock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3352800" y="4462272"/>
            <a:ext cx="2511552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2,706 of 5,987 · product feed, 7 Oct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47" name="Google Shape;147;p21"/>
          <p:cNvCxnSpPr/>
          <p:nvPr/>
        </p:nvCxnSpPr>
        <p:spPr>
          <a:xfrm>
            <a:off x="6096000" y="3222308"/>
            <a:ext cx="2438400" cy="0"/>
          </a:xfrm>
          <a:prstGeom prst="straightConnector1">
            <a:avLst/>
          </a:prstGeom>
          <a:noFill/>
          <a:ln cap="flat" cmpd="sng" w="38100">
            <a:solidFill>
              <a:srgbClr val="1E1B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21"/>
          <p:cNvSpPr/>
          <p:nvPr/>
        </p:nvSpPr>
        <p:spPr>
          <a:xfrm>
            <a:off x="6096000" y="3425191"/>
            <a:ext cx="251155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59D6"/>
              </a:buClr>
              <a:buSzPts val="3600"/>
              <a:buFont typeface="Fredoka"/>
              <a:buNone/>
            </a:pPr>
            <a:r>
              <a:rPr b="1" i="0" lang="en-GB" sz="3600" u="none" cap="none" strike="noStrike">
                <a:solidFill>
                  <a:srgbClr val="2B59D6"/>
                </a:solidFill>
                <a:latin typeface="Fredoka"/>
                <a:ea typeface="Fredoka"/>
                <a:cs typeface="Fredoka"/>
                <a:sym typeface="Fredoka"/>
              </a:rPr>
              <a:t>0</a:t>
            </a:r>
            <a:endParaRPr b="0" i="0" sz="3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6096000" y="3958591"/>
            <a:ext cx="2511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stores listed on the Find a store page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6096000" y="4462272"/>
            <a:ext cx="2511552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Source: live page, 7 Oct 2026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609600" y="4678679"/>
            <a:ext cx="441483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Gini &amp; Jony · Schbang · CRO Audit, Phase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7543800" y="4678679"/>
            <a:ext cx="99060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612648" y="146304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E5A55"/>
                </a:solidFill>
                <a:latin typeface="DM Sans"/>
              </a:rPr>
              <a:t>Each one sends a parent away before page design matters. All three are measured on giniandjony.com and its public product feed.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EEFB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layful kidswear doodles: kite, tee, sneaker, paper plane, sun and stars" id="90" name="Google Shape;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/>
          <p:nvPr/>
        </p:nvSpPr>
        <p:spPr>
          <a:xfrm>
            <a:off x="2762250" y="714375"/>
            <a:ext cx="3619500" cy="3619500"/>
          </a:xfrm>
          <a:prstGeom prst="roundRect">
            <a:avLst>
              <a:gd fmla="val 33684" name="adj"/>
            </a:avLst>
          </a:prstGeom>
          <a:solidFill>
            <a:srgbClr val="FFFD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/>
          <p:nvPr/>
        </p:nvSpPr>
        <p:spPr>
          <a:xfrm>
            <a:off x="4032587" y="1699260"/>
            <a:ext cx="1078825" cy="236220"/>
          </a:xfrm>
          <a:prstGeom prst="roundRect">
            <a:avLst>
              <a:gd fmla="val 50000" name="adj"/>
            </a:avLst>
          </a:prstGeom>
          <a:solidFill>
            <a:srgbClr val="FFC8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900"/>
              <a:buFont typeface="DM Sans"/>
              <a:buNone/>
            </a:pPr>
            <a:r>
              <a:rPr b="1" i="0" lang="en-GB" spc="200" sz="900" u="none" cap="none" strike="noStrike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rPr>
              <a:t>SECTION 01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3" name="Google Shape;93;p18"/>
          <p:cNvSpPr txBox="1"/>
          <p:nvPr>
            <p:ph type="title"/>
          </p:nvPr>
        </p:nvSpPr>
        <p:spPr>
          <a:xfrm>
            <a:off x="3178874" y="2068831"/>
            <a:ext cx="2786253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3600"/>
              <a:buFont typeface="Fredoka"/>
              <a:buNone/>
            </a:pPr>
            <a:r>
              <a:rPr b="1" i="0" lang="en-GB" sz="36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Where We Stand</a:t>
            </a:r>
            <a:endParaRPr sz="3600"/>
          </a:p>
        </p:txBody>
      </p:sp>
      <p:sp>
        <p:nvSpPr>
          <p:cNvPr id="94" name="Google Shape;94;p18"/>
          <p:cNvSpPr/>
          <p:nvPr/>
        </p:nvSpPr>
        <p:spPr>
          <a:xfrm>
            <a:off x="3180612" y="3162300"/>
            <a:ext cx="2782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The shelf, and the numbers behind it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614363" y="4592002"/>
            <a:ext cx="1419225" cy="280035"/>
          </a:xfrm>
          <a:prstGeom prst="roundRect">
            <a:avLst>
              <a:gd fmla="val 25510" name="adj"/>
            </a:avLst>
          </a:prstGeom>
          <a:noFill/>
          <a:ln cap="flat" cmpd="sng" w="12700">
            <a:solidFill>
              <a:srgbClr val="1E1B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20025" lIns="58125" spcFirstLastPara="1" rIns="58125" wrap="square" tIns="39075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rPr>
              <a:t>GINI &amp; JONY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7110413" y="4592002"/>
            <a:ext cx="1419225" cy="280035"/>
          </a:xfrm>
          <a:prstGeom prst="roundRect">
            <a:avLst>
              <a:gd fmla="val 25510" name="adj"/>
            </a:avLst>
          </a:prstGeom>
          <a:noFill/>
          <a:ln cap="flat" cmpd="sng" w="12700">
            <a:solidFill>
              <a:srgbClr val="1E1B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20025" lIns="58125" spcFirstLastPara="1" rIns="58125" wrap="square" tIns="39075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rPr>
              <a:t>SCHBANG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2" name="Google Shape;1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1900" y="495300"/>
            <a:ext cx="9525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>
            <a:off x="609600" y="1051560"/>
            <a:ext cx="415975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59D6"/>
              </a:buClr>
              <a:buSzPts val="900"/>
              <a:buFont typeface="DM Sans"/>
              <a:buNone/>
            </a:pPr>
            <a:r>
              <a:rPr b="1" i="0" lang="en-GB" spc="200" sz="900" u="none" cap="none" strike="noStrike">
                <a:solidFill>
                  <a:srgbClr val="2B59D6"/>
                </a:solidFill>
                <a:latin typeface="DM Sans"/>
                <a:ea typeface="DM Sans"/>
                <a:cs typeface="DM Sans"/>
                <a:sym typeface="DM Sans"/>
              </a:rPr>
              <a:t>PRE-FLIGHT · ASSORTMENT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" name="Google Shape;104;p19"/>
          <p:cNvSpPr txBox="1"/>
          <p:nvPr>
            <p:ph type="title"/>
          </p:nvPr>
        </p:nvSpPr>
        <p:spPr>
          <a:xfrm>
            <a:off x="609600" y="1325880"/>
            <a:ext cx="415975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400"/>
              <a:buFont typeface="Fredoka"/>
              <a:buNone/>
            </a:pPr>
            <a:r>
              <a:rPr b="1" i="0" lang="en-GB" sz="24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Five weeks before Diwali, there’s nothing festive to buy</a:t>
            </a:r>
            <a:endParaRPr sz="2400"/>
          </a:p>
        </p:txBody>
      </p:sp>
      <p:sp>
        <p:nvSpPr>
          <p:cNvPr id="105" name="Google Shape;105;p19"/>
          <p:cNvSpPr/>
          <p:nvPr/>
        </p:nvSpPr>
        <p:spPr>
          <a:xfrm>
            <a:off x="609600" y="2468880"/>
            <a:ext cx="415975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No festive or ethnic styles, and no party wear (3 sequin tops). Searching “diwali” returns an Independence Day tee.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Only 2 products have been created since July. The homepage hero is still a summer “days out” shoot.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609600" y="4678679"/>
            <a:ext cx="441483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Gini &amp; Jony · Schbang · CRO Audit, Phase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7543800" y="4678679"/>
            <a:ext cx="99060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9" name="Picture 108" descr="diwal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208" y="1024128"/>
            <a:ext cx="1582483" cy="3246120"/>
          </a:xfrm>
          <a:prstGeom prst="rect">
            <a:avLst/>
          </a:prstGeom>
          <a:ln w="15875">
            <a:solidFill>
              <a:srgbClr val="1E1B18"/>
            </a:solidFill>
          </a:ln>
        </p:spPr>
      </p:pic>
      <p:sp>
        <p:nvSpPr>
          <p:cNvPr id="110" name="TextBox 109"/>
          <p:cNvSpPr txBox="1"/>
          <p:nvPr/>
        </p:nvSpPr>
        <p:spPr>
          <a:xfrm>
            <a:off x="4960048" y="4325112"/>
            <a:ext cx="18568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E5A55"/>
                </a:solidFill>
                <a:latin typeface="DM Sans"/>
              </a:rPr>
              <a:t>Search “diwali”</a:t>
            </a:r>
          </a:p>
        </p:txBody>
      </p:sp>
      <p:pic>
        <p:nvPicPr>
          <p:cNvPr id="111" name="Picture 110" descr="ho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012" y="1024128"/>
            <a:ext cx="1582483" cy="3246120"/>
          </a:xfrm>
          <a:prstGeom prst="rect">
            <a:avLst/>
          </a:prstGeom>
          <a:ln w="15875">
            <a:solidFill>
              <a:srgbClr val="1E1B18"/>
            </a:solidFill>
          </a:ln>
        </p:spPr>
      </p:pic>
      <p:sp>
        <p:nvSpPr>
          <p:cNvPr id="112" name="TextBox 111"/>
          <p:cNvSpPr txBox="1"/>
          <p:nvPr/>
        </p:nvSpPr>
        <p:spPr>
          <a:xfrm>
            <a:off x="6816852" y="4325112"/>
            <a:ext cx="18568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E5A55"/>
                </a:solidFill>
                <a:latin typeface="DM Sans"/>
              </a:rPr>
              <a:t>Homepage, 6 Oct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C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6" name="Google Shape;1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1900" y="495300"/>
            <a:ext cx="9525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609600" y="609600"/>
            <a:ext cx="8162544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59D6"/>
              </a:buClr>
              <a:buSzPts val="900"/>
              <a:buFont typeface="DM Sans"/>
              <a:buNone/>
            </a:pPr>
            <a:r>
              <a:rPr b="1" i="0" lang="en-GB" spc="200" sz="900" u="none" cap="none" strike="noStrike">
                <a:solidFill>
                  <a:srgbClr val="2B59D6"/>
                </a:solidFill>
                <a:latin typeface="DM Sans"/>
                <a:ea typeface="DM Sans"/>
                <a:cs typeface="DM Sans"/>
                <a:sym typeface="DM Sans"/>
              </a:rPr>
              <a:t>PRE-FLIGHT · ASSORTMENT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8" name="Google Shape;138;p21"/>
          <p:cNvSpPr txBox="1"/>
          <p:nvPr>
            <p:ph type="title"/>
          </p:nvPr>
        </p:nvSpPr>
        <p:spPr>
          <a:xfrm>
            <a:off x="609600" y="883921"/>
            <a:ext cx="816254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400"/>
              <a:buFont typeface="Fredoka"/>
              <a:buNone/>
            </a:pPr>
            <a:r>
              <a:rPr b="1" i="0" lang="en-GB" sz="24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The shelf, measured</a:t>
            </a:r>
            <a:endParaRPr sz="2400"/>
          </a:p>
        </p:txBody>
      </p:sp>
      <p:sp>
        <p:nvSpPr>
          <p:cNvPr id="151" name="Google Shape;151;p21"/>
          <p:cNvSpPr/>
          <p:nvPr/>
        </p:nvSpPr>
        <p:spPr>
          <a:xfrm>
            <a:off x="609600" y="4678679"/>
            <a:ext cx="441483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Gini &amp; Jony · Schbang · CRO Audit, Phase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7543800" y="4678679"/>
            <a:ext cx="99060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153" name="Table 152"/>
          <p:cNvGraphicFramePr>
            <a:graphicFrameLocks noGrp="1"/>
          </p:cNvGraphicFramePr>
          <p:nvPr/>
        </p:nvGraphicFramePr>
        <p:xfrm>
          <a:off x="612648" y="1417320"/>
          <a:ext cx="7918704" cy="30175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40"/>
                <a:gridCol w="2377440"/>
                <a:gridCol w="4078224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DF8"/>
                          </a:solidFill>
                          <a:latin typeface="DM Sans"/>
                        </a:rPr>
                        <a:t>Check</a:t>
                      </a:r>
                    </a:p>
                  </a:txBody>
                  <a:tcPr marL="64008" marR="64008" marT="32004" marB="32004" anchor="ctr">
                    <a:solidFill>
                      <a:srgbClr val="2B59D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DF8"/>
                          </a:solidFill>
                          <a:latin typeface="DM Sans"/>
                        </a:rPr>
                        <a:t>Gini &amp; Jony today</a:t>
                      </a:r>
                    </a:p>
                  </a:txBody>
                  <a:tcPr marL="64008" marR="64008" marT="32004" marB="32004" anchor="ctr">
                    <a:solidFill>
                      <a:srgbClr val="2B59D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DF8"/>
                          </a:solidFill>
                          <a:latin typeface="DM Sans"/>
                        </a:rPr>
                        <a:t>What it means</a:t>
                      </a:r>
                    </a:p>
                  </a:txBody>
                  <a:tcPr marL="64008" marR="64008" marT="32004" marB="32004" anchor="ctr">
                    <a:solidFill>
                      <a:srgbClr val="2B59D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Products live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674, of which 179 fully sold out</a:t>
                      </a:r>
                    </a:p>
                  </a:txBody>
                  <a:tcPr marL="64008" marR="64008" marT="32004" marB="32004" anchor="ctr">
                    <a:solidFill>
                      <a:srgbClr val="FFF1C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Sold-out styles still appear in collection listings (search hides them)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Size options in stock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23B2E"/>
                          </a:solidFill>
                          <a:latin typeface="DM Sans"/>
                        </a:rPr>
                        <a:t>45% (2,706 of 5,987)</a:t>
                      </a:r>
                    </a:p>
                  </a:txBody>
                  <a:tcPr marL="64008" marR="64008" marT="32004" marB="32004" anchor="ctr">
                    <a:solidFill>
                      <a:srgbClr val="FFF1C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Only 140 products (21%) have a full size run; size 16 at 32%, waist 36 at 21%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New products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23B2E"/>
                          </a:solidFill>
                          <a:latin typeface="DM Sans"/>
                        </a:rPr>
                        <a:t>2 in Aug · 0 in Sep · 0 in Oct</a:t>
                      </a:r>
                    </a:p>
                  </a:txBody>
                  <a:tcPr marL="64008" marR="64008" marT="32004" marB="32004" anchor="ctr">
                    <a:solidFill>
                      <a:srgbClr val="FFF1C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672 of 674 were created May–Jul 2026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Festive / ethnic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23B2E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64008" marR="64008" marT="32004" marB="32004" anchor="ctr">
                    <a:solidFill>
                      <a:srgbClr val="FFF1C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Comps carry 18–799 festive kids’ styles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Winter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50 styles, all with some sizes</a:t>
                      </a:r>
                    </a:p>
                  </a:txBody>
                  <a:tcPr marL="64008" marR="64008" marT="32004" marB="32004" anchor="ctr">
                    <a:solidFill>
                      <a:srgbClr val="FFF1C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Cherry Crumble has 253 kids’ winter styles in stock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Price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Median ₹824 · 84% within ₹500–1,800</a:t>
                      </a:r>
                    </a:p>
                  </a:txBody>
                  <a:tcPr marL="64008" marR="64008" marT="32004" marB="32004" anchor="ctr">
                    <a:solidFill>
                      <a:srgbClr val="FFF1C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95% of products start below the ₹1,499 free-shipping line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Discounting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100% struck through · median 25%</a:t>
                      </a:r>
                    </a:p>
                  </a:txBody>
                  <a:tcPr marL="64008" marR="64008" marT="32004" marB="32004" anchor="ctr">
                    <a:solidFill>
                      <a:srgbClr val="FFF1C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When everything is on sale, “Sale” stops meaning anything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Photos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Median 3 per product</a:t>
                      </a:r>
                    </a:p>
                  </a:txBody>
                  <a:tcPr marL="64008" marR="64008" marT="32004" marB="32004" anchor="ctr">
                    <a:solidFill>
                      <a:srgbClr val="FFF1C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Comps show 6–10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Data hygiene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3 vendor names · 17 types in two casings</a:t>
                      </a:r>
                    </a:p>
                  </a:txBody>
                  <a:tcPr marL="64008" marR="64008" marT="32004" marB="32004" anchor="ctr">
                    <a:solidFill>
                      <a:srgbClr val="FFF1C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Filters and feeds built on these fields split in two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EEFB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4" name="Google Shape;11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1900" y="495300"/>
            <a:ext cx="9525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/>
          <p:nvPr/>
        </p:nvSpPr>
        <p:spPr>
          <a:xfrm>
            <a:off x="609600" y="609600"/>
            <a:ext cx="8162544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59D6"/>
              </a:buClr>
              <a:buSzPts val="900"/>
              <a:buFont typeface="DM Sans"/>
              <a:buNone/>
            </a:pPr>
            <a:r>
              <a:rPr b="1" i="0" lang="en-GB" spc="200" sz="900" u="none" cap="none" strike="noStrike">
                <a:solidFill>
                  <a:srgbClr val="2B59D6"/>
                </a:solidFill>
                <a:latin typeface="DM Sans"/>
                <a:ea typeface="DM Sans"/>
                <a:cs typeface="DM Sans"/>
                <a:sym typeface="DM Sans"/>
              </a:rPr>
              <a:t>PRE-FLIGHT · MEASUREMENT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6" name="Google Shape;116;p20"/>
          <p:cNvSpPr txBox="1"/>
          <p:nvPr>
            <p:ph type="title"/>
          </p:nvPr>
        </p:nvSpPr>
        <p:spPr>
          <a:xfrm>
            <a:off x="609600" y="883921"/>
            <a:ext cx="816254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400"/>
              <a:buFont typeface="Fredoka"/>
              <a:buNone/>
            </a:pPr>
            <a:r>
              <a:rPr b="1" i="0" lang="en-GB" sz="24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The tags fire, but the numbers can’t be trusted yet</a:t>
            </a:r>
            <a:endParaRPr sz="2400"/>
          </a:p>
        </p:txBody>
      </p:sp>
      <p:sp>
        <p:nvSpPr>
          <p:cNvPr id="117" name="Google Shape;117;p20"/>
          <p:cNvSpPr/>
          <p:nvPr/>
        </p:nvSpPr>
        <p:spPr>
          <a:xfrm>
            <a:off x="616744" y="1454944"/>
            <a:ext cx="2500313" cy="2514600"/>
          </a:xfrm>
          <a:prstGeom prst="roundRect">
            <a:avLst>
              <a:gd fmla="val 9597" name="adj"/>
            </a:avLst>
          </a:prstGeom>
          <a:solidFill>
            <a:srgbClr val="FFFDF8"/>
          </a:solidFill>
          <a:ln cap="flat" cmpd="sng" w="19050">
            <a:solidFill>
              <a:srgbClr val="1E1B1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5400000" dist="50800">
              <a:srgbClr val="1E1B18"/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/>
          <p:nvPr/>
        </p:nvSpPr>
        <p:spPr>
          <a:xfrm>
            <a:off x="849630" y="1687829"/>
            <a:ext cx="312599" cy="217170"/>
          </a:xfrm>
          <a:custGeom>
            <a:rect b="b" l="l" r="r" t="t"/>
            <a:pathLst>
              <a:path extrusionOk="0" h="289560" w="416798">
                <a:moveTo>
                  <a:pt x="144780" y="0"/>
                </a:moveTo>
                <a:lnTo>
                  <a:pt x="272018" y="0"/>
                </a:lnTo>
                <a:cubicBezTo>
                  <a:pt x="310416" y="0"/>
                  <a:pt x="347241" y="15254"/>
                  <a:pt x="374393" y="42405"/>
                </a:cubicBezTo>
                <a:cubicBezTo>
                  <a:pt x="401544" y="69557"/>
                  <a:pt x="416798" y="106382"/>
                  <a:pt x="416798" y="144780"/>
                </a:cubicBezTo>
                <a:lnTo>
                  <a:pt x="416798" y="144780"/>
                </a:lnTo>
                <a:cubicBezTo>
                  <a:pt x="416798" y="224740"/>
                  <a:pt x="351978" y="289560"/>
                  <a:pt x="272018" y="289560"/>
                </a:cubicBezTo>
                <a:lnTo>
                  <a:pt x="144780" y="289560"/>
                </a:lnTo>
                <a:cubicBezTo>
                  <a:pt x="64820" y="289560"/>
                  <a:pt x="0" y="224740"/>
                  <a:pt x="0" y="144780"/>
                </a:cubicBezTo>
                <a:lnTo>
                  <a:pt x="0" y="144780"/>
                </a:lnTo>
                <a:cubicBezTo>
                  <a:pt x="0" y="64820"/>
                  <a:pt x="64820" y="0"/>
                  <a:pt x="144780" y="0"/>
                </a:cubicBezTo>
                <a:close/>
              </a:path>
            </a:pathLst>
          </a:custGeom>
          <a:solidFill>
            <a:srgbClr val="FFC8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900"/>
              <a:buFont typeface="DM Sans"/>
              <a:buNone/>
            </a:pPr>
            <a:r>
              <a:rPr b="1" i="0" lang="en-GB" sz="900" u="none" cap="none" strike="noStrike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849630" y="2019300"/>
            <a:ext cx="20955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500"/>
              <a:buFont typeface="Fredoka"/>
              <a:buNone/>
            </a:pPr>
            <a:r>
              <a:rPr b="1" i="0" lang="en-GB" sz="1500" u="none" cap="none" strike="noStrike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No consent prompt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849630" y="2514600"/>
            <a:ext cx="2095577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15 third-party domains, including GA4, Google Ads and Meta, load before any consent. DPDP consent duties start 13 May 2027.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1" name="Google Shape;121;p20"/>
          <p:cNvSpPr/>
          <p:nvPr/>
        </p:nvSpPr>
        <p:spPr>
          <a:xfrm>
            <a:off x="3321844" y="1454944"/>
            <a:ext cx="2500313" cy="2514600"/>
          </a:xfrm>
          <a:prstGeom prst="roundRect">
            <a:avLst>
              <a:gd fmla="val 9597" name="adj"/>
            </a:avLst>
          </a:prstGeom>
          <a:solidFill>
            <a:srgbClr val="FFFDF8"/>
          </a:solidFill>
          <a:ln cap="flat" cmpd="sng" w="19050">
            <a:solidFill>
              <a:srgbClr val="1E1B1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5400000" dist="50800">
              <a:srgbClr val="1E1B18"/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0"/>
          <p:cNvSpPr/>
          <p:nvPr/>
        </p:nvSpPr>
        <p:spPr>
          <a:xfrm>
            <a:off x="3554730" y="1687829"/>
            <a:ext cx="336471" cy="217170"/>
          </a:xfrm>
          <a:custGeom>
            <a:rect b="b" l="l" r="r" t="t"/>
            <a:pathLst>
              <a:path extrusionOk="0" h="289560" w="448628">
                <a:moveTo>
                  <a:pt x="144780" y="0"/>
                </a:moveTo>
                <a:lnTo>
                  <a:pt x="303848" y="0"/>
                </a:lnTo>
                <a:cubicBezTo>
                  <a:pt x="342246" y="0"/>
                  <a:pt x="379071" y="15254"/>
                  <a:pt x="406223" y="42405"/>
                </a:cubicBezTo>
                <a:cubicBezTo>
                  <a:pt x="433374" y="69557"/>
                  <a:pt x="448628" y="106382"/>
                  <a:pt x="448628" y="144780"/>
                </a:cubicBezTo>
                <a:lnTo>
                  <a:pt x="448628" y="144780"/>
                </a:lnTo>
                <a:cubicBezTo>
                  <a:pt x="448628" y="224740"/>
                  <a:pt x="383808" y="289560"/>
                  <a:pt x="303848" y="289560"/>
                </a:cubicBezTo>
                <a:lnTo>
                  <a:pt x="144780" y="289560"/>
                </a:lnTo>
                <a:cubicBezTo>
                  <a:pt x="64820" y="289560"/>
                  <a:pt x="0" y="224740"/>
                  <a:pt x="0" y="144780"/>
                </a:cubicBezTo>
                <a:lnTo>
                  <a:pt x="0" y="144780"/>
                </a:lnTo>
                <a:cubicBezTo>
                  <a:pt x="0" y="64820"/>
                  <a:pt x="64820" y="0"/>
                  <a:pt x="144780" y="0"/>
                </a:cubicBezTo>
                <a:close/>
              </a:path>
            </a:pathLst>
          </a:custGeom>
          <a:solidFill>
            <a:srgbClr val="FFC8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900"/>
              <a:buFont typeface="DM Sans"/>
              <a:buNone/>
            </a:pPr>
            <a:r>
              <a:rPr b="1" i="0" lang="en-GB" sz="900" u="none" cap="none" strike="noStrike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3554730" y="2019300"/>
            <a:ext cx="20955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500"/>
              <a:buFont typeface="Fredoka"/>
              <a:buNone/>
            </a:pPr>
            <a:r>
              <a:rPr b="1" i="0" lang="en-GB" sz="1500" u="none" cap="none" strike="noStrike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No behavioural data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3554730" y="2514600"/>
            <a:ext cx="2095577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No session recording, review app or search app. Cherry Crumble and Kidbea run Microsoft Clarity; all three comps run Judge.me reviews.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20"/>
          <p:cNvSpPr/>
          <p:nvPr/>
        </p:nvSpPr>
        <p:spPr>
          <a:xfrm>
            <a:off x="6026944" y="1454944"/>
            <a:ext cx="2500313" cy="2514600"/>
          </a:xfrm>
          <a:prstGeom prst="roundRect">
            <a:avLst>
              <a:gd fmla="val 9597" name="adj"/>
            </a:avLst>
          </a:prstGeom>
          <a:solidFill>
            <a:srgbClr val="FFFDF8"/>
          </a:solidFill>
          <a:ln cap="flat" cmpd="sng" w="19050">
            <a:solidFill>
              <a:srgbClr val="1E1B1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5400000" dist="50800">
              <a:srgbClr val="1E1B18"/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/>
          <p:nvPr/>
        </p:nvSpPr>
        <p:spPr>
          <a:xfrm>
            <a:off x="6259830" y="1687829"/>
            <a:ext cx="339923" cy="217170"/>
          </a:xfrm>
          <a:custGeom>
            <a:rect b="b" l="l" r="r" t="t"/>
            <a:pathLst>
              <a:path extrusionOk="0" h="289560" w="453231">
                <a:moveTo>
                  <a:pt x="144780" y="0"/>
                </a:moveTo>
                <a:lnTo>
                  <a:pt x="308451" y="0"/>
                </a:lnTo>
                <a:cubicBezTo>
                  <a:pt x="346849" y="0"/>
                  <a:pt x="383674" y="15254"/>
                  <a:pt x="410826" y="42405"/>
                </a:cubicBezTo>
                <a:cubicBezTo>
                  <a:pt x="437977" y="69557"/>
                  <a:pt x="453231" y="106382"/>
                  <a:pt x="453231" y="144780"/>
                </a:cubicBezTo>
                <a:lnTo>
                  <a:pt x="453231" y="144780"/>
                </a:lnTo>
                <a:cubicBezTo>
                  <a:pt x="453231" y="224740"/>
                  <a:pt x="388411" y="289560"/>
                  <a:pt x="308451" y="289560"/>
                </a:cubicBezTo>
                <a:lnTo>
                  <a:pt x="144780" y="289560"/>
                </a:lnTo>
                <a:cubicBezTo>
                  <a:pt x="64820" y="289560"/>
                  <a:pt x="0" y="224740"/>
                  <a:pt x="0" y="144780"/>
                </a:cubicBezTo>
                <a:lnTo>
                  <a:pt x="0" y="144780"/>
                </a:lnTo>
                <a:cubicBezTo>
                  <a:pt x="0" y="64820"/>
                  <a:pt x="64820" y="0"/>
                  <a:pt x="144780" y="0"/>
                </a:cubicBezTo>
                <a:close/>
              </a:path>
            </a:pathLst>
          </a:custGeom>
          <a:solidFill>
            <a:srgbClr val="FFC8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900"/>
              <a:buFont typeface="DM Sans"/>
              <a:buNone/>
            </a:pPr>
            <a:r>
              <a:rPr b="1" i="0" lang="en-GB" sz="900" u="none" cap="none" strike="noStrike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6259830" y="2019300"/>
            <a:ext cx="20955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500"/>
              <a:buFont typeface="Fredoka"/>
              <a:buNone/>
            </a:pPr>
            <a:r>
              <a:rPr b="1" i="0" lang="en-GB" sz="1500" u="none" cap="none" strike="noStrike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Sales not reconciled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6259830" y="2514600"/>
            <a:ext cx="2095577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We couldn’t check whether GA4, Google Ads and Meta agree on purchases, or whether COD returns are netted out. That is deliverable one.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609600" y="4678679"/>
            <a:ext cx="441483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Gini &amp; Jony · Schbang · CRO Audit, Phase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7543800" y="4678679"/>
            <a:ext cx="99060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EEFB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4" name="Google Shape;11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1900" y="495300"/>
            <a:ext cx="9525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/>
          <p:nvPr/>
        </p:nvSpPr>
        <p:spPr>
          <a:xfrm>
            <a:off x="609600" y="609600"/>
            <a:ext cx="8162544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59D6"/>
              </a:buClr>
              <a:buSzPts val="900"/>
              <a:buFont typeface="DM Sans"/>
              <a:buNone/>
            </a:pPr>
            <a:r>
              <a:rPr b="1" i="0" lang="en-GB" spc="200" sz="900" u="none" cap="none" strike="noStrike">
                <a:solidFill>
                  <a:srgbClr val="2B59D6"/>
                </a:solidFill>
                <a:latin typeface="DM Sans"/>
                <a:ea typeface="DM Sans"/>
                <a:cs typeface="DM Sans"/>
                <a:sym typeface="DM Sans"/>
              </a:rPr>
              <a:t>PRE-FLIGHT · WHAT WORKS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6" name="Google Shape;116;p20"/>
          <p:cNvSpPr txBox="1"/>
          <p:nvPr>
            <p:ph type="title"/>
          </p:nvPr>
        </p:nvSpPr>
        <p:spPr>
          <a:xfrm>
            <a:off x="609600" y="883921"/>
            <a:ext cx="816254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400"/>
              <a:buFont typeface="Fredoka"/>
              <a:buNone/>
            </a:pPr>
            <a:r>
              <a:rPr b="1" i="0" lang="en-GB" sz="24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What Gini &amp; Jony already does well</a:t>
            </a:r>
            <a:endParaRPr sz="2400"/>
          </a:p>
        </p:txBody>
      </p:sp>
      <p:sp>
        <p:nvSpPr>
          <p:cNvPr id="117" name="Google Shape;117;p20"/>
          <p:cNvSpPr/>
          <p:nvPr/>
        </p:nvSpPr>
        <p:spPr>
          <a:xfrm>
            <a:off x="616744" y="1454944"/>
            <a:ext cx="2500313" cy="2514600"/>
          </a:xfrm>
          <a:prstGeom prst="roundRect">
            <a:avLst>
              <a:gd fmla="val 9597" name="adj"/>
            </a:avLst>
          </a:prstGeom>
          <a:solidFill>
            <a:srgbClr val="FFFDF8"/>
          </a:solidFill>
          <a:ln cap="flat" cmpd="sng" w="19050">
            <a:solidFill>
              <a:srgbClr val="1E1B1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5400000" dist="50800">
              <a:srgbClr val="1E1B18"/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/>
          <p:nvPr/>
        </p:nvSpPr>
        <p:spPr>
          <a:xfrm>
            <a:off x="849630" y="1687829"/>
            <a:ext cx="312599" cy="217170"/>
          </a:xfrm>
          <a:custGeom>
            <a:rect b="b" l="l" r="r" t="t"/>
            <a:pathLst>
              <a:path extrusionOk="0" h="289560" w="416798">
                <a:moveTo>
                  <a:pt x="144780" y="0"/>
                </a:moveTo>
                <a:lnTo>
                  <a:pt x="272018" y="0"/>
                </a:lnTo>
                <a:cubicBezTo>
                  <a:pt x="310416" y="0"/>
                  <a:pt x="347241" y="15254"/>
                  <a:pt x="374393" y="42405"/>
                </a:cubicBezTo>
                <a:cubicBezTo>
                  <a:pt x="401544" y="69557"/>
                  <a:pt x="416798" y="106382"/>
                  <a:pt x="416798" y="144780"/>
                </a:cubicBezTo>
                <a:lnTo>
                  <a:pt x="416798" y="144780"/>
                </a:lnTo>
                <a:cubicBezTo>
                  <a:pt x="416798" y="224740"/>
                  <a:pt x="351978" y="289560"/>
                  <a:pt x="272018" y="289560"/>
                </a:cubicBezTo>
                <a:lnTo>
                  <a:pt x="144780" y="289560"/>
                </a:lnTo>
                <a:cubicBezTo>
                  <a:pt x="64820" y="289560"/>
                  <a:pt x="0" y="224740"/>
                  <a:pt x="0" y="144780"/>
                </a:cubicBezTo>
                <a:lnTo>
                  <a:pt x="0" y="144780"/>
                </a:lnTo>
                <a:cubicBezTo>
                  <a:pt x="0" y="64820"/>
                  <a:pt x="64820" y="0"/>
                  <a:pt x="144780" y="0"/>
                </a:cubicBezTo>
                <a:close/>
              </a:path>
            </a:pathLst>
          </a:custGeom>
          <a:solidFill>
            <a:srgbClr val="FFC8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900"/>
              <a:buFont typeface="DM Sans"/>
              <a:buNone/>
            </a:pPr>
            <a:r>
              <a:rPr b="1" i="0" lang="en-GB" sz="900" u="none" cap="none" strike="noStrike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849630" y="2019300"/>
            <a:ext cx="20955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500"/>
              <a:buFont typeface="Fredoka"/>
              <a:buNone/>
            </a:pPr>
            <a:r>
              <a:rPr b="1" i="0" lang="en-GB" sz="1500" u="none" cap="none" strike="noStrike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Risk is answered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849630" y="2514600"/>
            <a:ext cx="2095577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Cash on delivery, 7-day size exchange and free shipping over ₹1,499 sit in the top bar and next to the buy button.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1" name="Google Shape;121;p20"/>
          <p:cNvSpPr/>
          <p:nvPr/>
        </p:nvSpPr>
        <p:spPr>
          <a:xfrm>
            <a:off x="3321844" y="1454944"/>
            <a:ext cx="2500313" cy="2514600"/>
          </a:xfrm>
          <a:prstGeom prst="roundRect">
            <a:avLst>
              <a:gd fmla="val 9597" name="adj"/>
            </a:avLst>
          </a:prstGeom>
          <a:solidFill>
            <a:srgbClr val="FFFDF8"/>
          </a:solidFill>
          <a:ln cap="flat" cmpd="sng" w="19050">
            <a:solidFill>
              <a:srgbClr val="1E1B1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5400000" dist="50800">
              <a:srgbClr val="1E1B18"/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0"/>
          <p:cNvSpPr/>
          <p:nvPr/>
        </p:nvSpPr>
        <p:spPr>
          <a:xfrm>
            <a:off x="3554730" y="1687829"/>
            <a:ext cx="336471" cy="217170"/>
          </a:xfrm>
          <a:custGeom>
            <a:rect b="b" l="l" r="r" t="t"/>
            <a:pathLst>
              <a:path extrusionOk="0" h="289560" w="448628">
                <a:moveTo>
                  <a:pt x="144780" y="0"/>
                </a:moveTo>
                <a:lnTo>
                  <a:pt x="303848" y="0"/>
                </a:lnTo>
                <a:cubicBezTo>
                  <a:pt x="342246" y="0"/>
                  <a:pt x="379071" y="15254"/>
                  <a:pt x="406223" y="42405"/>
                </a:cubicBezTo>
                <a:cubicBezTo>
                  <a:pt x="433374" y="69557"/>
                  <a:pt x="448628" y="106382"/>
                  <a:pt x="448628" y="144780"/>
                </a:cubicBezTo>
                <a:lnTo>
                  <a:pt x="448628" y="144780"/>
                </a:lnTo>
                <a:cubicBezTo>
                  <a:pt x="448628" y="224740"/>
                  <a:pt x="383808" y="289560"/>
                  <a:pt x="303848" y="289560"/>
                </a:cubicBezTo>
                <a:lnTo>
                  <a:pt x="144780" y="289560"/>
                </a:lnTo>
                <a:cubicBezTo>
                  <a:pt x="64820" y="289560"/>
                  <a:pt x="0" y="224740"/>
                  <a:pt x="0" y="144780"/>
                </a:cubicBezTo>
                <a:lnTo>
                  <a:pt x="0" y="144780"/>
                </a:lnTo>
                <a:cubicBezTo>
                  <a:pt x="0" y="64820"/>
                  <a:pt x="64820" y="0"/>
                  <a:pt x="144780" y="0"/>
                </a:cubicBezTo>
                <a:close/>
              </a:path>
            </a:pathLst>
          </a:custGeom>
          <a:solidFill>
            <a:srgbClr val="FFC8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900"/>
              <a:buFont typeface="DM Sans"/>
              <a:buNone/>
            </a:pPr>
            <a:r>
              <a:rPr b="1" i="0" lang="en-GB" sz="900" u="none" cap="none" strike="noStrike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3554730" y="2019300"/>
            <a:ext cx="20955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500"/>
              <a:buFont typeface="Fredoka"/>
              <a:buNone/>
            </a:pPr>
            <a:r>
              <a:rPr b="1" i="0" lang="en-GB" sz="1500" u="none" cap="none" strike="noStrike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Age is the right idea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3554730" y="2514600"/>
            <a:ext cx="2095577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“Shop by age” on the homepage matches how parents shop. It needs correct data underneath.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20"/>
          <p:cNvSpPr/>
          <p:nvPr/>
        </p:nvSpPr>
        <p:spPr>
          <a:xfrm>
            <a:off x="6026944" y="1454944"/>
            <a:ext cx="2500313" cy="2514600"/>
          </a:xfrm>
          <a:prstGeom prst="roundRect">
            <a:avLst>
              <a:gd fmla="val 9597" name="adj"/>
            </a:avLst>
          </a:prstGeom>
          <a:solidFill>
            <a:srgbClr val="FFFDF8"/>
          </a:solidFill>
          <a:ln cap="flat" cmpd="sng" w="19050">
            <a:solidFill>
              <a:srgbClr val="1E1B1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5400000" dist="50800">
              <a:srgbClr val="1E1B18"/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/>
          <p:nvPr/>
        </p:nvSpPr>
        <p:spPr>
          <a:xfrm>
            <a:off x="6259830" y="1687829"/>
            <a:ext cx="339923" cy="217170"/>
          </a:xfrm>
          <a:custGeom>
            <a:rect b="b" l="l" r="r" t="t"/>
            <a:pathLst>
              <a:path extrusionOk="0" h="289560" w="453231">
                <a:moveTo>
                  <a:pt x="144780" y="0"/>
                </a:moveTo>
                <a:lnTo>
                  <a:pt x="308451" y="0"/>
                </a:lnTo>
                <a:cubicBezTo>
                  <a:pt x="346849" y="0"/>
                  <a:pt x="383674" y="15254"/>
                  <a:pt x="410826" y="42405"/>
                </a:cubicBezTo>
                <a:cubicBezTo>
                  <a:pt x="437977" y="69557"/>
                  <a:pt x="453231" y="106382"/>
                  <a:pt x="453231" y="144780"/>
                </a:cubicBezTo>
                <a:lnTo>
                  <a:pt x="453231" y="144780"/>
                </a:lnTo>
                <a:cubicBezTo>
                  <a:pt x="453231" y="224740"/>
                  <a:pt x="388411" y="289560"/>
                  <a:pt x="308451" y="289560"/>
                </a:cubicBezTo>
                <a:lnTo>
                  <a:pt x="144780" y="289560"/>
                </a:lnTo>
                <a:cubicBezTo>
                  <a:pt x="64820" y="289560"/>
                  <a:pt x="0" y="224740"/>
                  <a:pt x="0" y="144780"/>
                </a:cubicBezTo>
                <a:lnTo>
                  <a:pt x="0" y="144780"/>
                </a:lnTo>
                <a:cubicBezTo>
                  <a:pt x="0" y="64820"/>
                  <a:pt x="64820" y="0"/>
                  <a:pt x="144780" y="0"/>
                </a:cubicBezTo>
                <a:close/>
              </a:path>
            </a:pathLst>
          </a:custGeom>
          <a:solidFill>
            <a:srgbClr val="FFC8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900"/>
              <a:buFont typeface="DM Sans"/>
              <a:buNone/>
            </a:pPr>
            <a:r>
              <a:rPr b="1" i="0" lang="en-GB" sz="900" u="none" cap="none" strike="noStrike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6259830" y="2019300"/>
            <a:ext cx="20955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500"/>
              <a:buFont typeface="Fredoka"/>
              <a:buNone/>
            </a:pPr>
            <a:r>
              <a:rPr b="1" i="0" lang="en-GB" sz="1500" u="none" cap="none" strike="noStrike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Price and checkout hold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6259830" y="2514600"/>
            <a:ext cx="2095577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One coherent price band, notify-me on sold-out styles, a sticky buy bar on scroll, and a checkout with UPI and COD that works.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609600" y="4678679"/>
            <a:ext cx="441483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Gini &amp; Jony · Schbang · CRO Audit, Phase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7543800" y="4678679"/>
            <a:ext cx="99060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layful kidswear doodles: kite, tee, sneaker, paper plane, sun and stars" id="158" name="Google Shape;15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2"/>
          <p:cNvSpPr/>
          <p:nvPr/>
        </p:nvSpPr>
        <p:spPr>
          <a:xfrm>
            <a:off x="2762250" y="714375"/>
            <a:ext cx="3619500" cy="3619500"/>
          </a:xfrm>
          <a:prstGeom prst="roundRect">
            <a:avLst>
              <a:gd fmla="val 33684" name="adj"/>
            </a:avLst>
          </a:prstGeom>
          <a:solidFill>
            <a:srgbClr val="FFC8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4020622" y="1939291"/>
            <a:ext cx="1102697" cy="236220"/>
          </a:xfrm>
          <a:prstGeom prst="roundRect">
            <a:avLst>
              <a:gd fmla="val 50000" name="adj"/>
            </a:avLst>
          </a:prstGeom>
          <a:solidFill>
            <a:srgbClr val="FFF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900"/>
              <a:buFont typeface="DM Sans"/>
              <a:buNone/>
            </a:pPr>
            <a:r>
              <a:rPr b="1" i="0" lang="en-GB" spc="200" sz="900" u="none" cap="none" strike="noStrike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rPr>
              <a:t>SECTION 02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1" name="Google Shape;161;p22"/>
          <p:cNvSpPr txBox="1"/>
          <p:nvPr>
            <p:ph type="title"/>
          </p:nvPr>
        </p:nvSpPr>
        <p:spPr>
          <a:xfrm>
            <a:off x="3054674" y="2308862"/>
            <a:ext cx="3034594" cy="499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3600"/>
              <a:buFont typeface="Fredoka"/>
              <a:buNone/>
            </a:pPr>
            <a:r>
              <a:rPr b="1" i="0" lang="en-GB" sz="36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What We Found</a:t>
            </a:r>
            <a:endParaRPr sz="3600"/>
          </a:p>
        </p:txBody>
      </p:sp>
      <p:sp>
        <p:nvSpPr>
          <p:cNvPr id="162" name="Google Shape;162;p22"/>
          <p:cNvSpPr/>
          <p:nvPr/>
        </p:nvSpPr>
        <p:spPr>
          <a:xfrm>
            <a:off x="3180612" y="2922271"/>
            <a:ext cx="2782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rPr>
              <a:t>A parent’s journey, step by step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614363" y="4592003"/>
            <a:ext cx="1419225" cy="280035"/>
          </a:xfrm>
          <a:prstGeom prst="roundRect">
            <a:avLst>
              <a:gd fmla="val 25510" name="adj"/>
            </a:avLst>
          </a:prstGeom>
          <a:noFill/>
          <a:ln cap="flat" cmpd="sng" w="12700">
            <a:solidFill>
              <a:srgbClr val="1E1B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20025" lIns="58125" spcFirstLastPara="1" rIns="58125" wrap="square" tIns="39075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rPr>
              <a:t>GINI &amp; JONY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7110413" y="4592003"/>
            <a:ext cx="1419225" cy="280035"/>
          </a:xfrm>
          <a:prstGeom prst="roundRect">
            <a:avLst>
              <a:gd fmla="val 25510" name="adj"/>
            </a:avLst>
          </a:prstGeom>
          <a:noFill/>
          <a:ln cap="flat" cmpd="sng" w="12700">
            <a:solidFill>
              <a:srgbClr val="1E1B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20025" lIns="58125" spcFirstLastPara="1" rIns="58125" wrap="square" tIns="39075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rPr>
              <a:t>SCHBANG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2" name="Google Shape;1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1900" y="495300"/>
            <a:ext cx="9525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>
            <a:off x="609600" y="1051560"/>
            <a:ext cx="415975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59D6"/>
              </a:buClr>
              <a:buSzPts val="900"/>
              <a:buFont typeface="DM Sans"/>
              <a:buNone/>
            </a:pPr>
            <a:r>
              <a:rPr b="1" i="0" lang="en-GB" spc="200" sz="900" u="none" cap="none" strike="noStrike">
                <a:solidFill>
                  <a:srgbClr val="2B59D6"/>
                </a:solidFill>
                <a:latin typeface="DM Sans"/>
                <a:ea typeface="DM Sans"/>
                <a:cs typeface="DM Sans"/>
                <a:sym typeface="DM Sans"/>
              </a:rPr>
              <a:t>FIT &amp; SIZE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" name="Google Shape;104;p19"/>
          <p:cNvSpPr txBox="1"/>
          <p:nvPr>
            <p:ph type="title"/>
          </p:nvPr>
        </p:nvSpPr>
        <p:spPr>
          <a:xfrm>
            <a:off x="609600" y="1325880"/>
            <a:ext cx="415975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400"/>
              <a:buFont typeface="Fredoka"/>
              <a:buNone/>
            </a:pPr>
            <a:r>
              <a:rPr b="1" i="0" lang="en-GB" sz="24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A size “2” fits a 3–4-year-old</a:t>
            </a:r>
            <a:endParaRPr sz="2400"/>
          </a:p>
        </p:txBody>
      </p:sp>
      <p:sp>
        <p:nvSpPr>
          <p:cNvPr id="105" name="Google Shape;105;p19"/>
          <p:cNvSpPr/>
          <p:nvPr/>
        </p:nvSpPr>
        <p:spPr>
          <a:xfrm>
            <a:off x="609600" y="2468880"/>
            <a:ext cx="415975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Sizes are bare numbers, and months are listed after the size-12 tween. The brand’s own chart maps 2 → 3–4Y and 8 → 7–8Y, but it’s an image behind a click.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Cherry Crumble, PS Peaches and Kidbea label every size by age.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609600" y="4678679"/>
            <a:ext cx="441483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Gini &amp; Jony · Schbang · CRO Audit, Phase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7543800" y="4678679"/>
            <a:ext cx="99060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9" name="Picture 108" descr="pd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208" y="1024128"/>
            <a:ext cx="1582483" cy="3246120"/>
          </a:xfrm>
          <a:prstGeom prst="rect">
            <a:avLst/>
          </a:prstGeom>
          <a:ln w="15875">
            <a:solidFill>
              <a:srgbClr val="1E1B18"/>
            </a:solidFill>
          </a:ln>
        </p:spPr>
      </p:pic>
      <p:sp>
        <p:nvSpPr>
          <p:cNvPr id="110" name="TextBox 109"/>
          <p:cNvSpPr txBox="1"/>
          <p:nvPr/>
        </p:nvSpPr>
        <p:spPr>
          <a:xfrm>
            <a:off x="4960048" y="4325112"/>
            <a:ext cx="18568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E5A55"/>
                </a:solidFill>
                <a:latin typeface="DM Sans"/>
              </a:rPr>
              <a:t>Product page sizes</a:t>
            </a:r>
          </a:p>
        </p:txBody>
      </p:sp>
      <p:pic>
        <p:nvPicPr>
          <p:cNvPr id="111" name="Picture 110" descr="siz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012" y="1024128"/>
            <a:ext cx="1582483" cy="3246120"/>
          </a:xfrm>
          <a:prstGeom prst="rect">
            <a:avLst/>
          </a:prstGeom>
          <a:ln w="15875">
            <a:solidFill>
              <a:srgbClr val="1E1B18"/>
            </a:solidFill>
          </a:ln>
        </p:spPr>
      </p:pic>
      <p:sp>
        <p:nvSpPr>
          <p:cNvPr id="112" name="TextBox 111"/>
          <p:cNvSpPr txBox="1"/>
          <p:nvPr/>
        </p:nvSpPr>
        <p:spPr>
          <a:xfrm>
            <a:off x="6816852" y="4325112"/>
            <a:ext cx="18568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E5A55"/>
                </a:solidFill>
                <a:latin typeface="DM Sans"/>
              </a:rPr>
              <a:t>Size chart (an image)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2" name="Google Shape;1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1900" y="495300"/>
            <a:ext cx="9525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>
            <a:off x="609600" y="1051560"/>
            <a:ext cx="415975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59D6"/>
              </a:buClr>
              <a:buSzPts val="900"/>
              <a:buFont typeface="DM Sans"/>
              <a:buNone/>
            </a:pPr>
            <a:r>
              <a:rPr b="1" i="0" lang="en-GB" spc="200" sz="900" u="none" cap="none" strike="noStrike">
                <a:solidFill>
                  <a:srgbClr val="2B59D6"/>
                </a:solidFill>
                <a:latin typeface="DM Sans"/>
                <a:ea typeface="DM Sans"/>
                <a:cs typeface="DM Sans"/>
                <a:sym typeface="DM Sans"/>
              </a:rPr>
              <a:t>FINDABILITY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" name="Google Shape;104;p19"/>
          <p:cNvSpPr txBox="1"/>
          <p:nvPr>
            <p:ph type="title"/>
          </p:nvPr>
        </p:nvSpPr>
        <p:spPr>
          <a:xfrm>
            <a:off x="609600" y="1325880"/>
            <a:ext cx="415975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400"/>
              <a:buFont typeface="Fredoka"/>
              <a:buNone/>
            </a:pPr>
            <a:r>
              <a:rPr b="1" i="0" lang="en-GB" sz="24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Nearly half of “0–2 Years” can’t fit a baby</a:t>
            </a:r>
            <a:endParaRPr sz="2400"/>
          </a:p>
        </p:txBody>
      </p:sp>
      <p:sp>
        <p:nvSpPr>
          <p:cNvPr id="105" name="Google Shape;105;p19"/>
          <p:cNvSpPr/>
          <p:nvPr/>
        </p:nvSpPr>
        <p:spPr>
          <a:xfrm>
            <a:off x="609600" y="2468880"/>
            <a:ext cx="415975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257 of the 558 products in the 0–2 collection have no baby size. The second product shown is boys’ waist-size jeans.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Filters are availability and price only. There is no size filter, and the “trousers-leggings” menu link opens an empty page.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609600" y="4678679"/>
            <a:ext cx="441483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Gini &amp; Jony · Schbang · CRO Audit, Phase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7543800" y="4678679"/>
            <a:ext cx="99060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9" name="Picture 108" descr="li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610" y="1024128"/>
            <a:ext cx="1582483" cy="3246120"/>
          </a:xfrm>
          <a:prstGeom prst="rect">
            <a:avLst/>
          </a:prstGeom>
          <a:ln w="15875">
            <a:solidFill>
              <a:srgbClr val="1E1B18"/>
            </a:solidFill>
          </a:ln>
        </p:spPr>
      </p:pic>
      <p:sp>
        <p:nvSpPr>
          <p:cNvPr id="110" name="TextBox 109"/>
          <p:cNvSpPr txBox="1"/>
          <p:nvPr/>
        </p:nvSpPr>
        <p:spPr>
          <a:xfrm>
            <a:off x="5888450" y="4325112"/>
            <a:ext cx="18568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E5A55"/>
                </a:solidFill>
                <a:latin typeface="DM Sans"/>
              </a:rPr>
              <a:t>/collections/0-2-years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2" name="Google Shape;1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1900" y="495300"/>
            <a:ext cx="9525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>
            <a:off x="609600" y="1051560"/>
            <a:ext cx="415975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59D6"/>
              </a:buClr>
              <a:buSzPts val="900"/>
              <a:buFont typeface="DM Sans"/>
              <a:buNone/>
            </a:pPr>
            <a:r>
              <a:rPr b="1" i="0" lang="en-GB" spc="200" sz="900" u="none" cap="none" strike="noStrike">
                <a:solidFill>
                  <a:srgbClr val="2B59D6"/>
                </a:solidFill>
                <a:latin typeface="DM Sans"/>
                <a:ea typeface="DM Sans"/>
                <a:cs typeface="DM Sans"/>
                <a:sym typeface="DM Sans"/>
              </a:rPr>
              <a:t>PRODUCT PAGE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" name="Google Shape;104;p19"/>
          <p:cNvSpPr txBox="1"/>
          <p:nvPr>
            <p:ph type="title"/>
          </p:nvPr>
        </p:nvSpPr>
        <p:spPr>
          <a:xfrm>
            <a:off x="609600" y="1325880"/>
            <a:ext cx="415975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400"/>
              <a:buFont typeface="Fredoka"/>
              <a:buNone/>
            </a:pPr>
            <a:r>
              <a:rPr b="1" i="0" lang="en-GB" sz="24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Add to cart isn’t on the first screen</a:t>
            </a:r>
            <a:endParaRPr sz="2400"/>
          </a:p>
        </p:txBody>
      </p:sp>
      <p:sp>
        <p:nvSpPr>
          <p:cNvPr id="105" name="Google Shape;105;p19"/>
          <p:cNvSpPr/>
          <p:nvPr/>
        </p:nvSpPr>
        <p:spPr>
          <a:xfrm>
            <a:off x="609600" y="2468880"/>
            <a:ext cx="415975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On a 390×844 phone, Add to cart starts at 981px; the sticky bar appears only after scrolling past it. PS Peaches shows its bar from the start.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No reviews, a median of 3 photos, no delivery date, and 74% of tap targets under 44px.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609600" y="4678679"/>
            <a:ext cx="441483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Gini &amp; Jony · Schbang · CRO Audit, Phase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7543800" y="4678679"/>
            <a:ext cx="99060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9" name="Picture 108" descr="at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208" y="1024128"/>
            <a:ext cx="1582483" cy="3246120"/>
          </a:xfrm>
          <a:prstGeom prst="rect">
            <a:avLst/>
          </a:prstGeom>
          <a:ln w="15875">
            <a:solidFill>
              <a:srgbClr val="1E1B18"/>
            </a:solidFill>
          </a:ln>
        </p:spPr>
      </p:pic>
      <p:sp>
        <p:nvSpPr>
          <p:cNvPr id="110" name="TextBox 109"/>
          <p:cNvSpPr txBox="1"/>
          <p:nvPr/>
        </p:nvSpPr>
        <p:spPr>
          <a:xfrm>
            <a:off x="4960048" y="4325112"/>
            <a:ext cx="18568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E5A55"/>
                </a:solidFill>
                <a:latin typeface="DM Sans"/>
              </a:rPr>
              <a:t>Gini &amp; Jony, scrolled</a:t>
            </a:r>
          </a:p>
        </p:txBody>
      </p:sp>
      <p:pic>
        <p:nvPicPr>
          <p:cNvPr id="111" name="Picture 110" descr="ps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012" y="1024128"/>
            <a:ext cx="1582483" cy="3246120"/>
          </a:xfrm>
          <a:prstGeom prst="rect">
            <a:avLst/>
          </a:prstGeom>
          <a:ln w="15875">
            <a:solidFill>
              <a:srgbClr val="1E1B18"/>
            </a:solidFill>
          </a:ln>
        </p:spPr>
      </p:pic>
      <p:sp>
        <p:nvSpPr>
          <p:cNvPr id="112" name="TextBox 111"/>
          <p:cNvSpPr txBox="1"/>
          <p:nvPr/>
        </p:nvSpPr>
        <p:spPr>
          <a:xfrm>
            <a:off x="6816852" y="4325112"/>
            <a:ext cx="18568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E5A55"/>
                </a:solidFill>
                <a:latin typeface="DM Sans"/>
              </a:rPr>
              <a:t>PS Peaches, first screen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2" name="Google Shape;1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1900" y="495300"/>
            <a:ext cx="9525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>
            <a:off x="609600" y="1051560"/>
            <a:ext cx="415975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59D6"/>
              </a:buClr>
              <a:buSzPts val="900"/>
              <a:buFont typeface="DM Sans"/>
              <a:buNone/>
            </a:pPr>
            <a:r>
              <a:rPr b="1" i="0" lang="en-GB" spc="200" sz="900" u="none" cap="none" strike="noStrike">
                <a:solidFill>
                  <a:srgbClr val="2B59D6"/>
                </a:solidFill>
                <a:latin typeface="DM Sans"/>
                <a:ea typeface="DM Sans"/>
                <a:cs typeface="DM Sans"/>
                <a:sym typeface="DM Sans"/>
              </a:rPr>
              <a:t>CART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" name="Google Shape;104;p19"/>
          <p:cNvSpPr txBox="1"/>
          <p:nvPr>
            <p:ph type="title"/>
          </p:nvPr>
        </p:nvSpPr>
        <p:spPr>
          <a:xfrm>
            <a:off x="609600" y="1325880"/>
            <a:ext cx="415975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400"/>
              <a:buFont typeface="Fredoka"/>
              <a:buNone/>
            </a:pPr>
            <a:r>
              <a:rPr b="1" i="0" lang="en-GB" sz="24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The cart invents urgency</a:t>
            </a:r>
            <a:endParaRPr sz="2400"/>
          </a:p>
        </p:txBody>
      </p:sp>
      <p:sp>
        <p:nvSpPr>
          <p:cNvPr id="105" name="Google Shape;105;p19"/>
          <p:cNvSpPr/>
          <p:nvPr/>
        </p:nvSpPr>
        <p:spPr>
          <a:xfrm>
            <a:off x="609600" y="2468880"/>
            <a:ext cx="415975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A fresh session with one item sees “Someone has placed an order… we’ll keep it for you for 39:56 minutes”. False urgency is a specified dark pattern under the CCPA’s 2023 guidelines.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Below it: 12 “Example Product Title · Rs. 19.99” tiles, and no nudge towards free shipping.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609600" y="4678679"/>
            <a:ext cx="441483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Gini &amp; Jony · Schbang · CRO Audit, Phase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7543800" y="4678679"/>
            <a:ext cx="99060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9" name="Picture 108" descr="c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208" y="1024128"/>
            <a:ext cx="1582483" cy="3246120"/>
          </a:xfrm>
          <a:prstGeom prst="rect">
            <a:avLst/>
          </a:prstGeom>
          <a:ln w="15875">
            <a:solidFill>
              <a:srgbClr val="1E1B18"/>
            </a:solidFill>
          </a:ln>
        </p:spPr>
      </p:pic>
      <p:sp>
        <p:nvSpPr>
          <p:cNvPr id="110" name="TextBox 109"/>
          <p:cNvSpPr txBox="1"/>
          <p:nvPr/>
        </p:nvSpPr>
        <p:spPr>
          <a:xfrm>
            <a:off x="4960048" y="4325112"/>
            <a:ext cx="18568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E5A55"/>
                </a:solidFill>
                <a:latin typeface="DM Sans"/>
              </a:rPr>
              <a:t>Cart, fresh session</a:t>
            </a:r>
          </a:p>
        </p:txBody>
      </p:sp>
      <p:pic>
        <p:nvPicPr>
          <p:cNvPr id="111" name="Picture 110" descr="placehold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012" y="1024128"/>
            <a:ext cx="1582483" cy="3246120"/>
          </a:xfrm>
          <a:prstGeom prst="rect">
            <a:avLst/>
          </a:prstGeom>
          <a:ln w="15875">
            <a:solidFill>
              <a:srgbClr val="1E1B18"/>
            </a:solidFill>
          </a:ln>
        </p:spPr>
      </p:pic>
      <p:sp>
        <p:nvSpPr>
          <p:cNvPr id="112" name="TextBox 111"/>
          <p:cNvSpPr txBox="1"/>
          <p:nvPr/>
        </p:nvSpPr>
        <p:spPr>
          <a:xfrm>
            <a:off x="6816852" y="4325112"/>
            <a:ext cx="18568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E5A55"/>
                </a:solidFill>
                <a:latin typeface="DM Sans"/>
              </a:rPr>
              <a:t>Cart “Best sellers”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2" name="Google Shape;1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1900" y="495300"/>
            <a:ext cx="9525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>
            <a:off x="609600" y="1051560"/>
            <a:ext cx="415975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59D6"/>
              </a:buClr>
              <a:buSzPts val="900"/>
              <a:buFont typeface="DM Sans"/>
              <a:buNone/>
            </a:pPr>
            <a:r>
              <a:rPr b="1" i="0" lang="en-GB" spc="200" sz="900" u="none" cap="none" strike="noStrike">
                <a:solidFill>
                  <a:srgbClr val="2B59D6"/>
                </a:solidFill>
                <a:latin typeface="DM Sans"/>
                <a:ea typeface="DM Sans"/>
                <a:cs typeface="DM Sans"/>
                <a:sym typeface="DM Sans"/>
              </a:rPr>
              <a:t>STORES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4" name="Google Shape;104;p19"/>
          <p:cNvSpPr txBox="1"/>
          <p:nvPr>
            <p:ph type="title"/>
          </p:nvPr>
        </p:nvSpPr>
        <p:spPr>
          <a:xfrm>
            <a:off x="609600" y="1325880"/>
            <a:ext cx="415975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400"/>
              <a:buFont typeface="Fredoka"/>
              <a:buNone/>
            </a:pPr>
            <a:r>
              <a:rPr b="1" i="0" lang="en-GB" sz="24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The store network is invisible online</a:t>
            </a:r>
            <a:endParaRPr sz="2400"/>
          </a:p>
        </p:txBody>
      </p:sp>
      <p:sp>
        <p:nvSpPr>
          <p:cNvPr id="105" name="Google Shape;105;p19"/>
          <p:cNvSpPr/>
          <p:nvPr/>
        </p:nvSpPr>
        <p:spPr>
          <a:xfrm>
            <a:off x="609600" y="2468880"/>
            <a:ext cx="415975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Find a store has a heading and an empty body. At acquisition (Nov 2024) the brand reported 59 standalone stores, 70+ large-format outlets and ~600 dealers.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No page offers call, WhatsApp or directions, so no campaign can be credited with a walk-in.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609600" y="4678679"/>
            <a:ext cx="441483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Gini &amp; Jony · Schbang · CRO Audit, Phase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7543800" y="4678679"/>
            <a:ext cx="99060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9" name="Picture 108" descr="st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610" y="1024128"/>
            <a:ext cx="1582483" cy="3246120"/>
          </a:xfrm>
          <a:prstGeom prst="rect">
            <a:avLst/>
          </a:prstGeom>
          <a:ln w="15875">
            <a:solidFill>
              <a:srgbClr val="1E1B18"/>
            </a:solidFill>
          </a:ln>
        </p:spPr>
      </p:pic>
      <p:sp>
        <p:nvSpPr>
          <p:cNvPr id="110" name="TextBox 109"/>
          <p:cNvSpPr txBox="1"/>
          <p:nvPr/>
        </p:nvSpPr>
        <p:spPr>
          <a:xfrm>
            <a:off x="5888450" y="4325112"/>
            <a:ext cx="18568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E5A55"/>
                </a:solidFill>
                <a:latin typeface="DM Sans"/>
              </a:rPr>
              <a:t>/pages/find-a-store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C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6" name="Google Shape;1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1900" y="495300"/>
            <a:ext cx="9525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609600" y="609600"/>
            <a:ext cx="8162544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59D6"/>
              </a:buClr>
              <a:buSzPts val="900"/>
              <a:buFont typeface="DM Sans"/>
              <a:buNone/>
            </a:pPr>
            <a:r>
              <a:rPr b="1" i="0" lang="en-GB" spc="200" sz="900" u="none" cap="none" strike="noStrike">
                <a:solidFill>
                  <a:srgbClr val="2B59D6"/>
                </a:solidFill>
                <a:latin typeface="DM Sans"/>
                <a:ea typeface="DM Sans"/>
                <a:cs typeface="DM Sans"/>
                <a:sym typeface="DM Sans"/>
              </a:rPr>
              <a:t>INTENT AUDIT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8" name="Google Shape;138;p21"/>
          <p:cNvSpPr txBox="1"/>
          <p:nvPr>
            <p:ph type="title"/>
          </p:nvPr>
        </p:nvSpPr>
        <p:spPr>
          <a:xfrm>
            <a:off x="609600" y="883921"/>
            <a:ext cx="816254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400"/>
              <a:buFont typeface="Fredoka"/>
              <a:buNone/>
            </a:pPr>
            <a:r>
              <a:rPr b="1" i="0" lang="en-GB" sz="24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Parents’ questions, scored where they land</a:t>
            </a:r>
            <a:endParaRPr sz="2400"/>
          </a:p>
        </p:txBody>
      </p:sp>
      <p:sp>
        <p:nvSpPr>
          <p:cNvPr id="151" name="Google Shape;151;p21"/>
          <p:cNvSpPr/>
          <p:nvPr/>
        </p:nvSpPr>
        <p:spPr>
          <a:xfrm>
            <a:off x="609600" y="4678679"/>
            <a:ext cx="441483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Gini &amp; Jony · Schbang · CRO Audit, Phase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7543800" y="4678679"/>
            <a:ext cx="99060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153" name="Table 152"/>
          <p:cNvGraphicFramePr>
            <a:graphicFrameLocks noGrp="1"/>
          </p:cNvGraphicFramePr>
          <p:nvPr/>
        </p:nvGraphicFramePr>
        <p:xfrm>
          <a:off x="612648" y="1417320"/>
          <a:ext cx="7918704" cy="296265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43200"/>
                <a:gridCol w="1234440"/>
                <a:gridCol w="2752344"/>
                <a:gridCol w="11887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DF8"/>
                          </a:solidFill>
                          <a:latin typeface="DM Sans"/>
                        </a:rPr>
                        <a:t>Who · question</a:t>
                      </a:r>
                    </a:p>
                  </a:txBody>
                  <a:tcPr marL="64008" marR="64008" marT="32004" marB="32004" anchor="ctr">
                    <a:solidFill>
                      <a:srgbClr val="2B59D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DF8"/>
                          </a:solidFill>
                          <a:latin typeface="DM Sans"/>
                        </a:rPr>
                        <a:t>Where</a:t>
                      </a:r>
                    </a:p>
                  </a:txBody>
                  <a:tcPr marL="64008" marR="64008" marT="32004" marB="32004" anchor="ctr">
                    <a:solidFill>
                      <a:srgbClr val="2B59D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DF8"/>
                          </a:solidFill>
                          <a:latin typeface="DM Sans"/>
                        </a:rPr>
                        <a:t>What happens today</a:t>
                      </a:r>
                    </a:p>
                  </a:txBody>
                  <a:tcPr marL="64008" marR="64008" marT="32004" marB="32004" anchor="ctr">
                    <a:solidFill>
                      <a:srgbClr val="2B59D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DF8"/>
                          </a:solidFill>
                          <a:latin typeface="DM Sans"/>
                        </a:rPr>
                        <a:t>Verdict</a:t>
                      </a:r>
                    </a:p>
                  </a:txBody>
                  <a:tcPr marL="64008" marR="64008" marT="32004" marB="32004" anchor="ctr">
                    <a:solidFill>
                      <a:srgbClr val="2B59D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Relative · “A gift for a 6-month-old”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Shop by age 0–2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46% of products have no baby size; no size filter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23B2E"/>
                          </a:solidFill>
                          <a:latin typeface="DM Sans"/>
                        </a:rPr>
                        <a:t>Answered wrongly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Parent · “Something festive for Diwali”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Search, home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No festive range; summer hero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23B2E"/>
                          </a:solidFill>
                          <a:latin typeface="DM Sans"/>
                        </a:rPr>
                        <a:t>Not answered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Parent · “Which size fits my 4-year-old?”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Product page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Bare numbers; chart is an image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23B2E"/>
                          </a:solidFill>
                          <a:latin typeface="DM Sans"/>
                        </a:rPr>
                        <a:t>Needs a click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Parent · “Jeans in size 12, in stock”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Listing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No size filter; size 12 is 39% in stock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23B2E"/>
                          </a:solidFill>
                          <a:latin typeface="DM Sans"/>
                        </a:rPr>
                        <a:t>Not answered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Parent · “Is it well made?”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Product page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No reviews, 3 photos, template copy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23B2E"/>
                          </a:solidFill>
                          <a:latin typeface="DM Sans"/>
                        </a:rPr>
                        <a:t>Not answered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Parent · “Can I pay cash and exchange?”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Product page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COD and 7-day exchange by the button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Answered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Parent · “Will it arrive by Saturday?”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Product page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No pincode check or delivery date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23B2E"/>
                          </a:solidFill>
                          <a:latin typeface="DM Sans"/>
                        </a:rPr>
                        <a:t>Not answered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Store shopper · “Is there one near me?”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Find a store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Empty page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23B2E"/>
                          </a:solidFill>
                          <a:latin typeface="DM Sans"/>
                        </a:rPr>
                        <a:t>Not answered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C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6" name="Google Shape;1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1900" y="495300"/>
            <a:ext cx="9525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609600" y="609600"/>
            <a:ext cx="8162544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59D6"/>
              </a:buClr>
              <a:buSzPts val="900"/>
              <a:buFont typeface="DM Sans"/>
              <a:buNone/>
            </a:pPr>
            <a:r>
              <a:rPr b="1" i="0" lang="en-GB" spc="200" sz="900" u="none" cap="none" strike="noStrike">
                <a:solidFill>
                  <a:srgbClr val="2B59D6"/>
                </a:solidFill>
                <a:latin typeface="DM Sans"/>
                <a:ea typeface="DM Sans"/>
                <a:cs typeface="DM Sans"/>
                <a:sym typeface="DM Sans"/>
              </a:rPr>
              <a:t>COMPETITION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8" name="Google Shape;138;p21"/>
          <p:cNvSpPr txBox="1"/>
          <p:nvPr>
            <p:ph type="title"/>
          </p:nvPr>
        </p:nvSpPr>
        <p:spPr>
          <a:xfrm>
            <a:off x="609600" y="883921"/>
            <a:ext cx="816254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400"/>
              <a:buFont typeface="Fredoka"/>
              <a:buNone/>
            </a:pPr>
            <a:r>
              <a:rPr b="1" i="0" lang="en-GB" sz="24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Independent kidswear brands, same day, same phone</a:t>
            </a:r>
            <a:endParaRPr sz="2400"/>
          </a:p>
        </p:txBody>
      </p:sp>
      <p:sp>
        <p:nvSpPr>
          <p:cNvPr id="151" name="Google Shape;151;p21"/>
          <p:cNvSpPr/>
          <p:nvPr/>
        </p:nvSpPr>
        <p:spPr>
          <a:xfrm>
            <a:off x="609600" y="4678679"/>
            <a:ext cx="441483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Gini &amp; Jony · Schbang · CRO Audit, Phase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7543800" y="4678679"/>
            <a:ext cx="99060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153" name="Table 152"/>
          <p:cNvGraphicFramePr>
            <a:graphicFrameLocks noGrp="1"/>
          </p:cNvGraphicFramePr>
          <p:nvPr/>
        </p:nvGraphicFramePr>
        <p:xfrm>
          <a:off x="612648" y="1371600"/>
          <a:ext cx="7918704" cy="30678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49424"/>
                <a:gridCol w="1417320"/>
                <a:gridCol w="1417320"/>
                <a:gridCol w="1417320"/>
                <a:gridCol w="1417320"/>
              </a:tblGrid>
              <a:tr h="278892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DF8"/>
                          </a:solidFill>
                          <a:latin typeface="DM Sans"/>
                        </a:rPr>
                        <a:t>Kids’ products only</a:t>
                      </a:r>
                    </a:p>
                  </a:txBody>
                  <a:tcPr marL="64008" marR="64008" marT="32004" marB="32004" anchor="ctr">
                    <a:solidFill>
                      <a:srgbClr val="2B59D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DF8"/>
                          </a:solidFill>
                          <a:latin typeface="DM Sans"/>
                        </a:rPr>
                        <a:t>Gini &amp; Jony</a:t>
                      </a:r>
                    </a:p>
                  </a:txBody>
                  <a:tcPr marL="64008" marR="64008" marT="32004" marB="32004" anchor="ctr">
                    <a:solidFill>
                      <a:srgbClr val="2B59D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DF8"/>
                          </a:solidFill>
                          <a:latin typeface="DM Sans"/>
                        </a:rPr>
                        <a:t>Cherry Crumble</a:t>
                      </a:r>
                    </a:p>
                  </a:txBody>
                  <a:tcPr marL="64008" marR="64008" marT="32004" marB="32004" anchor="ctr">
                    <a:solidFill>
                      <a:srgbClr val="2B59D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DF8"/>
                          </a:solidFill>
                          <a:latin typeface="DM Sans"/>
                        </a:rPr>
                        <a:t>PS Peaches</a:t>
                      </a:r>
                    </a:p>
                  </a:txBody>
                  <a:tcPr marL="64008" marR="64008" marT="32004" marB="32004" anchor="ctr">
                    <a:solidFill>
                      <a:srgbClr val="2B59D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DF8"/>
                          </a:solidFill>
                          <a:latin typeface="DM Sans"/>
                        </a:rPr>
                        <a:t>Kidbea</a:t>
                      </a:r>
                    </a:p>
                  </a:txBody>
                  <a:tcPr marL="64008" marR="64008" marT="32004" marB="32004" anchor="ctr">
                    <a:solidFill>
                      <a:srgbClr val="2B59D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Median price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₹824</a:t>
                      </a:r>
                    </a:p>
                  </a:txBody>
                  <a:tcPr marL="64008" marR="64008" marT="32004" marB="32004" anchor="ctr">
                    <a:solidFill>
                      <a:srgbClr val="FFF1C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₹2,467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₹684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₹749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New styles created Aug–Oct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23B2E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L="64008" marR="64008" marT="32004" marB="32004" anchor="ctr">
                    <a:solidFill>
                      <a:srgbClr val="FFF1C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61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84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346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Festive / ethnic styles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23B2E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 marL="64008" marR="64008" marT="32004" marB="32004" anchor="ctr">
                    <a:solidFill>
                      <a:srgbClr val="FFF1C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18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799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40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Party / occasion styles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23B2E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64008" marR="64008" marT="32004" marB="32004" anchor="ctr">
                    <a:solidFill>
                      <a:srgbClr val="FFF1C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99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109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83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Size options in stock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45%</a:t>
                      </a:r>
                    </a:p>
                  </a:txBody>
                  <a:tcPr marL="64008" marR="64008" marT="32004" marB="32004" anchor="ctr">
                    <a:solidFill>
                      <a:srgbClr val="FFF1C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62%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33%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66%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Sizes labelled by age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C23B2E"/>
                          </a:solidFill>
                          <a:latin typeface="DM Sans"/>
                        </a:rPr>
                        <a:t>No</a:t>
                      </a:r>
                    </a:p>
                  </a:txBody>
                  <a:tcPr marL="64008" marR="64008" marT="32004" marB="32004" anchor="ctr">
                    <a:solidFill>
                      <a:srgbClr val="FFF1C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Yes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Yes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Yes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Median photos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64008" marR="64008" marT="32004" marB="32004" anchor="ctr">
                    <a:solidFill>
                      <a:srgbClr val="FFF1C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6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7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10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Discounted · median depth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100% · 25%</a:t>
                      </a:r>
                    </a:p>
                  </a:txBody>
                  <a:tcPr marL="64008" marR="64008" marT="32004" marB="32004" anchor="ctr">
                    <a:solidFill>
                      <a:srgbClr val="FFF1C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56% · 40%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100% · 82%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87% · 39%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Reviews app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None</a:t>
                      </a:r>
                    </a:p>
                  </a:txBody>
                  <a:tcPr marL="64008" marR="64008" marT="32004" marB="32004" anchor="ctr">
                    <a:solidFill>
                      <a:srgbClr val="FFF1C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Judge.me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Judge.me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Judge.me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Phone-first checkout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No</a:t>
                      </a:r>
                    </a:p>
                  </a:txBody>
                  <a:tcPr marL="64008" marR="64008" marT="32004" marB="32004" anchor="ctr">
                    <a:solidFill>
                      <a:srgbClr val="FFF1C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Not detected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GoKwik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GoKwik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4" name="TextBox 153"/>
          <p:cNvSpPr txBox="1"/>
          <p:nvPr/>
        </p:nvSpPr>
        <p:spPr>
          <a:xfrm>
            <a:off x="612648" y="4498848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E5A55"/>
                </a:solidFill>
                <a:latin typeface="DM Sans"/>
              </a:rPr>
              <a:t>Source: each brand’s public Shopify product feed, 7 Oct 2026; apps from homepage source. Ed-a-Mamma isn’t on Shopify, so it couldn’t be compared.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59D6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layful kidswear doodles: kite, tee, sneaker, paper plane, sun and stars" id="195" name="Google Shape;1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/>
          <p:nvPr/>
        </p:nvSpPr>
        <p:spPr>
          <a:xfrm>
            <a:off x="2762250" y="714375"/>
            <a:ext cx="3619500" cy="3619500"/>
          </a:xfrm>
          <a:prstGeom prst="roundRect">
            <a:avLst>
              <a:gd fmla="val 33684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5"/>
          <p:cNvSpPr/>
          <p:nvPr/>
        </p:nvSpPr>
        <p:spPr>
          <a:xfrm>
            <a:off x="4018895" y="1939291"/>
            <a:ext cx="1106150" cy="236220"/>
          </a:xfrm>
          <a:prstGeom prst="roundRect">
            <a:avLst>
              <a:gd fmla="val 50000" name="adj"/>
            </a:avLst>
          </a:prstGeom>
          <a:solidFill>
            <a:srgbClr val="FFC8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900"/>
              <a:buFont typeface="DM Sans"/>
              <a:buNone/>
            </a:pPr>
            <a:r>
              <a:rPr b="1" i="0" lang="en-GB" spc="200" sz="900" u="none" cap="none" strike="noStrike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rPr>
              <a:t>SECTION 03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5"/>
          <p:cNvSpPr txBox="1"/>
          <p:nvPr>
            <p:ph type="title"/>
          </p:nvPr>
        </p:nvSpPr>
        <p:spPr>
          <a:xfrm>
            <a:off x="3473583" y="2308859"/>
            <a:ext cx="2196775" cy="499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3600"/>
              <a:buFont typeface="Fredoka"/>
              <a:buNone/>
            </a:pPr>
            <a:r>
              <a:rPr b="1" i="0" lang="en-GB" sz="36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What We Do Next</a:t>
            </a:r>
            <a:endParaRPr sz="3600"/>
          </a:p>
        </p:txBody>
      </p:sp>
      <p:sp>
        <p:nvSpPr>
          <p:cNvPr id="199" name="Google Shape;199;p25"/>
          <p:cNvSpPr/>
          <p:nvPr/>
        </p:nvSpPr>
        <p:spPr>
          <a:xfrm>
            <a:off x="3180612" y="2922273"/>
            <a:ext cx="278277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Fix, stock the shelf, then test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0" name="Google Shape;200;p25"/>
          <p:cNvSpPr/>
          <p:nvPr/>
        </p:nvSpPr>
        <p:spPr>
          <a:xfrm>
            <a:off x="614363" y="4592003"/>
            <a:ext cx="1419225" cy="280035"/>
          </a:xfrm>
          <a:prstGeom prst="roundRect">
            <a:avLst>
              <a:gd fmla="val 25510" name="adj"/>
            </a:avLst>
          </a:prstGeom>
          <a:noFill/>
          <a:ln cap="flat" cmpd="sng" w="12700">
            <a:solidFill>
              <a:srgbClr val="FFF8E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20025" lIns="58125" spcFirstLastPara="1" rIns="58125" wrap="square" tIns="39075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8EC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FFF8EC"/>
                </a:solidFill>
                <a:latin typeface="DM Sans"/>
                <a:ea typeface="DM Sans"/>
                <a:cs typeface="DM Sans"/>
                <a:sym typeface="DM Sans"/>
              </a:rPr>
              <a:t>GINI &amp; JONY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7110413" y="4592003"/>
            <a:ext cx="1419225" cy="280035"/>
          </a:xfrm>
          <a:prstGeom prst="roundRect">
            <a:avLst>
              <a:gd fmla="val 25510" name="adj"/>
            </a:avLst>
          </a:prstGeom>
          <a:noFill/>
          <a:ln cap="flat" cmpd="sng" w="12700">
            <a:solidFill>
              <a:srgbClr val="FFF8E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20025" lIns="58125" spcFirstLastPara="1" rIns="58125" wrap="square" tIns="39075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8EC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FFF8EC"/>
                </a:solidFill>
                <a:latin typeface="DM Sans"/>
                <a:ea typeface="DM Sans"/>
                <a:cs typeface="DM Sans"/>
                <a:sym typeface="DM Sans"/>
              </a:rPr>
              <a:t>SCHBANG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C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6" name="Google Shape;1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1900" y="495300"/>
            <a:ext cx="9525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609600" y="609600"/>
            <a:ext cx="8162544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59D6"/>
              </a:buClr>
              <a:buSzPts val="900"/>
              <a:buFont typeface="DM Sans"/>
              <a:buNone/>
            </a:pPr>
            <a:r>
              <a:rPr b="1" i="0" lang="en-GB" spc="200" sz="900" u="none" cap="none" strike="noStrike">
                <a:solidFill>
                  <a:srgbClr val="2B59D6"/>
                </a:solidFill>
                <a:latin typeface="DM Sans"/>
                <a:ea typeface="DM Sans"/>
                <a:cs typeface="DM Sans"/>
                <a:sym typeface="DM Sans"/>
              </a:rPr>
              <a:t>FIX NOW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8" name="Google Shape;138;p21"/>
          <p:cNvSpPr txBox="1"/>
          <p:nvPr>
            <p:ph type="title"/>
          </p:nvPr>
        </p:nvSpPr>
        <p:spPr>
          <a:xfrm>
            <a:off x="609600" y="883921"/>
            <a:ext cx="816254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400"/>
              <a:buFont typeface="Fredoka"/>
              <a:buNone/>
            </a:pPr>
            <a:r>
              <a:rPr b="1" i="0" lang="en-GB" sz="24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Defects to fix this week, not test</a:t>
            </a:r>
            <a:endParaRPr sz="2400"/>
          </a:p>
        </p:txBody>
      </p:sp>
      <p:sp>
        <p:nvSpPr>
          <p:cNvPr id="151" name="Google Shape;151;p21"/>
          <p:cNvSpPr/>
          <p:nvPr/>
        </p:nvSpPr>
        <p:spPr>
          <a:xfrm>
            <a:off x="609600" y="4678679"/>
            <a:ext cx="441483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Gini &amp; Jony · Schbang · CRO Audit, Phase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7543800" y="4678679"/>
            <a:ext cx="99060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153" name="Table 152"/>
          <p:cNvGraphicFramePr>
            <a:graphicFrameLocks noGrp="1"/>
          </p:cNvGraphicFramePr>
          <p:nvPr/>
        </p:nvGraphicFramePr>
        <p:xfrm>
          <a:off x="612648" y="1417320"/>
          <a:ext cx="7918704" cy="304495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206240"/>
                <a:gridCol w="2889504"/>
                <a:gridCol w="822960"/>
              </a:tblGrid>
              <a:tr h="338328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DF8"/>
                          </a:solidFill>
                          <a:latin typeface="DM Sans"/>
                        </a:rPr>
                        <a:t>Fix</a:t>
                      </a:r>
                    </a:p>
                  </a:txBody>
                  <a:tcPr marL="64008" marR="64008" marT="32004" marB="32004" anchor="ctr">
                    <a:solidFill>
                      <a:srgbClr val="2B59D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DF8"/>
                          </a:solidFill>
                          <a:latin typeface="DM Sans"/>
                        </a:rPr>
                        <a:t>Why it isn’t a test</a:t>
                      </a:r>
                    </a:p>
                  </a:txBody>
                  <a:tcPr marL="64008" marR="64008" marT="32004" marB="32004" anchor="ctr">
                    <a:solidFill>
                      <a:srgbClr val="2B59D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DF8"/>
                          </a:solidFill>
                          <a:latin typeface="DM Sans"/>
                        </a:rPr>
                        <a:t>Effort</a:t>
                      </a:r>
                    </a:p>
                  </a:txBody>
                  <a:tcPr marL="64008" marR="64008" marT="32004" marB="32004" anchor="ctr">
                    <a:solidFill>
                      <a:srgbClr val="2B59D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Remove the “someone has placed an order” countdown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False urgency: regulatory and trust risk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Hours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Replace the 12 placeholder tiles with real best-sellers in her size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Placeholder content at the highest-intent moment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Hours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Fill Find a store: address, hours, call, WhatsApp, directions per store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Empty page for a store brand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1–3 days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Move the 257 non-baby products out of “0–2 Years”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The age filter returns wrong results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1 day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Fix the empty menu link; merge the three special-price collections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Dead ends and duplicate routes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Hours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Hide or sink the 179 sold-out products in listings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Dead ends inside listings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Hours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Swap the summer hero; tidy vendor and product-type values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Season and data hygiene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Hours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Consent banner; reconcile GA4, Ads and Meta purchases; add Clarity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Without these, no test result can be trusted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2–4 days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EEFB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7" name="Google Shape;20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1900" y="495300"/>
            <a:ext cx="9525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6"/>
          <p:cNvSpPr/>
          <p:nvPr/>
        </p:nvSpPr>
        <p:spPr>
          <a:xfrm>
            <a:off x="609600" y="609600"/>
            <a:ext cx="8162544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59D6"/>
              </a:buClr>
              <a:buSzPts val="900"/>
              <a:buFont typeface="DM Sans"/>
              <a:buNone/>
            </a:pPr>
            <a:r>
              <a:rPr b="1" i="0" lang="en-GB" spc="200" sz="900" u="none" cap="none" strike="noStrike">
                <a:solidFill>
                  <a:srgbClr val="2B59D6"/>
                </a:solidFill>
                <a:latin typeface="DM Sans"/>
                <a:ea typeface="DM Sans"/>
                <a:cs typeface="DM Sans"/>
                <a:sym typeface="DM Sans"/>
              </a:rPr>
              <a:t>THE PLAN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9" name="Google Shape;209;p26"/>
          <p:cNvSpPr txBox="1"/>
          <p:nvPr>
            <p:ph type="title"/>
          </p:nvPr>
        </p:nvSpPr>
        <p:spPr>
          <a:xfrm>
            <a:off x="609600" y="883923"/>
            <a:ext cx="816254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400"/>
              <a:buFont typeface="Fredoka"/>
              <a:buNone/>
            </a:pPr>
            <a:r>
              <a:rPr b="1" i="0" lang="en-GB" sz="24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Phase 1 runs around Diwali</a:t>
            </a:r>
            <a:endParaRPr sz="2400"/>
          </a:p>
        </p:txBody>
      </p:sp>
      <p:cxnSp>
        <p:nvCxnSpPr>
          <p:cNvPr id="210" name="Google Shape;210;p26"/>
          <p:cNvCxnSpPr/>
          <p:nvPr/>
        </p:nvCxnSpPr>
        <p:spPr>
          <a:xfrm>
            <a:off x="609600" y="2328863"/>
            <a:ext cx="1838325" cy="0"/>
          </a:xfrm>
          <a:prstGeom prst="straightConnector1">
            <a:avLst/>
          </a:prstGeom>
          <a:noFill/>
          <a:ln cap="flat" cmpd="sng" w="38100">
            <a:solidFill>
              <a:srgbClr val="2B59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26"/>
          <p:cNvSpPr/>
          <p:nvPr/>
        </p:nvSpPr>
        <p:spPr>
          <a:xfrm>
            <a:off x="609600" y="2493648"/>
            <a:ext cx="627638" cy="217170"/>
          </a:xfrm>
          <a:custGeom>
            <a:rect b="b" l="l" r="r" t="t"/>
            <a:pathLst>
              <a:path extrusionOk="0" h="289560" w="836851">
                <a:moveTo>
                  <a:pt x="144780" y="0"/>
                </a:moveTo>
                <a:lnTo>
                  <a:pt x="692071" y="0"/>
                </a:lnTo>
                <a:cubicBezTo>
                  <a:pt x="730469" y="0"/>
                  <a:pt x="767294" y="15254"/>
                  <a:pt x="794446" y="42405"/>
                </a:cubicBezTo>
                <a:cubicBezTo>
                  <a:pt x="821597" y="69557"/>
                  <a:pt x="836851" y="106382"/>
                  <a:pt x="836851" y="144780"/>
                </a:cubicBezTo>
                <a:lnTo>
                  <a:pt x="836851" y="144780"/>
                </a:lnTo>
                <a:cubicBezTo>
                  <a:pt x="836851" y="224740"/>
                  <a:pt x="772031" y="289560"/>
                  <a:pt x="692071" y="289560"/>
                </a:cubicBezTo>
                <a:lnTo>
                  <a:pt x="144780" y="289560"/>
                </a:lnTo>
                <a:cubicBezTo>
                  <a:pt x="64820" y="289560"/>
                  <a:pt x="0" y="224740"/>
                  <a:pt x="0" y="144780"/>
                </a:cubicBezTo>
                <a:lnTo>
                  <a:pt x="0" y="144780"/>
                </a:lnTo>
                <a:cubicBezTo>
                  <a:pt x="0" y="64820"/>
                  <a:pt x="64820" y="0"/>
                  <a:pt x="144780" y="0"/>
                </a:cubicBezTo>
                <a:close/>
              </a:path>
            </a:pathLst>
          </a:custGeom>
          <a:solidFill>
            <a:srgbClr val="2B59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DF8"/>
              </a:buClr>
              <a:buSzPts val="900"/>
              <a:buFont typeface="DM Sans"/>
              <a:buNone/>
            </a:pPr>
            <a:r>
              <a:rPr b="1" i="0" lang="en-GB" sz="900" u="none" cap="none" strike="noStrike">
                <a:solidFill>
                  <a:srgbClr val="FFFDF8"/>
                </a:solidFill>
                <a:latin typeface="DM Sans"/>
                <a:ea typeface="DM Sans"/>
                <a:cs typeface="DM Sans"/>
                <a:sym typeface="DM Sans"/>
              </a:rPr>
              <a:t>PHASE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609600" y="2787016"/>
            <a:ext cx="1893475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By 20 Oct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609600" y="3023234"/>
            <a:ext cx="18934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500"/>
              <a:buFont typeface="Fredoka"/>
              <a:buNone/>
            </a:pPr>
            <a:r>
              <a:rPr b="1" i="0" lang="en-GB" sz="1500" u="none" cap="none" strike="noStrike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Fix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609600" y="3328034"/>
            <a:ext cx="189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Fake timer, placeholders, store page, age tags, tracking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15" name="Google Shape;215;p26"/>
          <p:cNvCxnSpPr/>
          <p:nvPr/>
        </p:nvCxnSpPr>
        <p:spPr>
          <a:xfrm>
            <a:off x="2638425" y="2328863"/>
            <a:ext cx="1838325" cy="0"/>
          </a:xfrm>
          <a:prstGeom prst="straightConnector1">
            <a:avLst/>
          </a:prstGeom>
          <a:noFill/>
          <a:ln cap="flat" cmpd="sng" w="38100">
            <a:solidFill>
              <a:srgbClr val="2B59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26"/>
          <p:cNvSpPr/>
          <p:nvPr/>
        </p:nvSpPr>
        <p:spPr>
          <a:xfrm>
            <a:off x="2638425" y="2493648"/>
            <a:ext cx="651986" cy="217170"/>
          </a:xfrm>
          <a:custGeom>
            <a:rect b="b" l="l" r="r" t="t"/>
            <a:pathLst>
              <a:path extrusionOk="0" h="289560" w="869315">
                <a:moveTo>
                  <a:pt x="144780" y="0"/>
                </a:moveTo>
                <a:lnTo>
                  <a:pt x="724535" y="0"/>
                </a:lnTo>
                <a:cubicBezTo>
                  <a:pt x="762933" y="0"/>
                  <a:pt x="799758" y="15254"/>
                  <a:pt x="826910" y="42405"/>
                </a:cubicBezTo>
                <a:cubicBezTo>
                  <a:pt x="854061" y="69557"/>
                  <a:pt x="869315" y="106382"/>
                  <a:pt x="869315" y="144780"/>
                </a:cubicBezTo>
                <a:lnTo>
                  <a:pt x="869315" y="144780"/>
                </a:lnTo>
                <a:cubicBezTo>
                  <a:pt x="869315" y="224740"/>
                  <a:pt x="804495" y="289560"/>
                  <a:pt x="724535" y="289560"/>
                </a:cubicBezTo>
                <a:lnTo>
                  <a:pt x="144780" y="289560"/>
                </a:lnTo>
                <a:cubicBezTo>
                  <a:pt x="64820" y="289560"/>
                  <a:pt x="0" y="224740"/>
                  <a:pt x="0" y="144780"/>
                </a:cubicBezTo>
                <a:lnTo>
                  <a:pt x="0" y="144780"/>
                </a:lnTo>
                <a:cubicBezTo>
                  <a:pt x="0" y="64820"/>
                  <a:pt x="64820" y="0"/>
                  <a:pt x="144780" y="0"/>
                </a:cubicBezTo>
                <a:close/>
              </a:path>
            </a:pathLst>
          </a:custGeom>
          <a:solidFill>
            <a:srgbClr val="2B59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DF8"/>
              </a:buClr>
              <a:buSzPts val="900"/>
              <a:buFont typeface="DM Sans"/>
              <a:buNone/>
            </a:pPr>
            <a:r>
              <a:rPr b="1" i="0" lang="en-GB" sz="900" u="none" cap="none" strike="noStrike">
                <a:solidFill>
                  <a:srgbClr val="FFFDF8"/>
                </a:solidFill>
                <a:latin typeface="DM Sans"/>
                <a:ea typeface="DM Sans"/>
                <a:cs typeface="DM Sans"/>
                <a:sym typeface="DM Sans"/>
              </a:rPr>
              <a:t>PHASE 2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2638425" y="2787016"/>
            <a:ext cx="1893475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By 25 Oct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2638425" y="3023234"/>
            <a:ext cx="18934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500"/>
              <a:buFont typeface="Fredoka"/>
              <a:buNone/>
            </a:pPr>
            <a:r>
              <a:rPr b="1" i="0" lang="en-GB" sz="1500" u="none" cap="none" strike="noStrike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Stock the shelf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9" name="Google Shape;219;p26"/>
          <p:cNvSpPr/>
          <p:nvPr/>
        </p:nvSpPr>
        <p:spPr>
          <a:xfrm>
            <a:off x="2638425" y="3328034"/>
            <a:ext cx="189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Festive and winter online, or a store bridge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20" name="Google Shape;220;p26"/>
          <p:cNvCxnSpPr/>
          <p:nvPr/>
        </p:nvCxnSpPr>
        <p:spPr>
          <a:xfrm>
            <a:off x="4667250" y="2328863"/>
            <a:ext cx="1838325" cy="0"/>
          </a:xfrm>
          <a:prstGeom prst="straightConnector1">
            <a:avLst/>
          </a:prstGeom>
          <a:noFill/>
          <a:ln cap="flat" cmpd="sng" w="38100">
            <a:solidFill>
              <a:srgbClr val="2B59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26"/>
          <p:cNvSpPr/>
          <p:nvPr/>
        </p:nvSpPr>
        <p:spPr>
          <a:xfrm>
            <a:off x="4667250" y="2493648"/>
            <a:ext cx="654903" cy="217170"/>
          </a:xfrm>
          <a:custGeom>
            <a:rect b="b" l="l" r="r" t="t"/>
            <a:pathLst>
              <a:path extrusionOk="0" h="289560" w="873204">
                <a:moveTo>
                  <a:pt x="144780" y="0"/>
                </a:moveTo>
                <a:lnTo>
                  <a:pt x="728424" y="0"/>
                </a:lnTo>
                <a:cubicBezTo>
                  <a:pt x="766822" y="0"/>
                  <a:pt x="803647" y="15254"/>
                  <a:pt x="830799" y="42405"/>
                </a:cubicBezTo>
                <a:cubicBezTo>
                  <a:pt x="857950" y="69557"/>
                  <a:pt x="873204" y="106382"/>
                  <a:pt x="873204" y="144780"/>
                </a:cubicBezTo>
                <a:lnTo>
                  <a:pt x="873204" y="144780"/>
                </a:lnTo>
                <a:cubicBezTo>
                  <a:pt x="873204" y="224740"/>
                  <a:pt x="808384" y="289560"/>
                  <a:pt x="728424" y="289560"/>
                </a:cubicBezTo>
                <a:lnTo>
                  <a:pt x="144780" y="289560"/>
                </a:lnTo>
                <a:cubicBezTo>
                  <a:pt x="64820" y="289560"/>
                  <a:pt x="0" y="224740"/>
                  <a:pt x="0" y="144780"/>
                </a:cubicBezTo>
                <a:lnTo>
                  <a:pt x="0" y="144780"/>
                </a:lnTo>
                <a:cubicBezTo>
                  <a:pt x="0" y="64820"/>
                  <a:pt x="64820" y="0"/>
                  <a:pt x="144780" y="0"/>
                </a:cubicBezTo>
                <a:close/>
              </a:path>
            </a:pathLst>
          </a:custGeom>
          <a:solidFill>
            <a:srgbClr val="2B59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DF8"/>
              </a:buClr>
              <a:buSzPts val="900"/>
              <a:buFont typeface="DM Sans"/>
              <a:buNone/>
            </a:pPr>
            <a:r>
              <a:rPr b="1" i="0" lang="en-GB" sz="900" u="none" cap="none" strike="noStrike">
                <a:solidFill>
                  <a:srgbClr val="FFFDF8"/>
                </a:solidFill>
                <a:latin typeface="DM Sans"/>
                <a:ea typeface="DM Sans"/>
                <a:cs typeface="DM Sans"/>
                <a:sym typeface="DM Sans"/>
              </a:rPr>
              <a:t>PHASE 3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4667250" y="2787016"/>
            <a:ext cx="1893475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25 Oct – 15 Nov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4667250" y="3023234"/>
            <a:ext cx="18934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500"/>
              <a:buFont typeface="Fredoka"/>
              <a:buNone/>
            </a:pPr>
            <a:r>
              <a:rPr b="1" i="0" lang="en-GB" sz="1500" u="none" cap="none" strike="noStrike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Festive freeze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26"/>
          <p:cNvSpPr/>
          <p:nvPr/>
        </p:nvSpPr>
        <p:spPr>
          <a:xfrm>
            <a:off x="4667250" y="3328034"/>
            <a:ext cx="189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Reversible changes only; free-shipping nudge as a holdout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25" name="Google Shape;225;p26"/>
          <p:cNvCxnSpPr/>
          <p:nvPr/>
        </p:nvCxnSpPr>
        <p:spPr>
          <a:xfrm>
            <a:off x="6696075" y="2328863"/>
            <a:ext cx="1838325" cy="0"/>
          </a:xfrm>
          <a:prstGeom prst="straightConnector1">
            <a:avLst/>
          </a:prstGeom>
          <a:noFill/>
          <a:ln cap="flat" cmpd="sng" w="38100">
            <a:solidFill>
              <a:srgbClr val="2B59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26"/>
          <p:cNvSpPr/>
          <p:nvPr/>
        </p:nvSpPr>
        <p:spPr>
          <a:xfrm>
            <a:off x="6696075" y="2493648"/>
            <a:ext cx="660321" cy="217170"/>
          </a:xfrm>
          <a:custGeom>
            <a:rect b="b" l="l" r="r" t="t"/>
            <a:pathLst>
              <a:path extrusionOk="0" h="289560" w="880428">
                <a:moveTo>
                  <a:pt x="144780" y="0"/>
                </a:moveTo>
                <a:lnTo>
                  <a:pt x="735648" y="0"/>
                </a:lnTo>
                <a:cubicBezTo>
                  <a:pt x="774046" y="0"/>
                  <a:pt x="810871" y="15254"/>
                  <a:pt x="838023" y="42405"/>
                </a:cubicBezTo>
                <a:cubicBezTo>
                  <a:pt x="865174" y="69557"/>
                  <a:pt x="880428" y="106382"/>
                  <a:pt x="880428" y="144780"/>
                </a:cubicBezTo>
                <a:lnTo>
                  <a:pt x="880428" y="144780"/>
                </a:lnTo>
                <a:cubicBezTo>
                  <a:pt x="880428" y="224740"/>
                  <a:pt x="815608" y="289560"/>
                  <a:pt x="735648" y="289560"/>
                </a:cubicBezTo>
                <a:lnTo>
                  <a:pt x="144780" y="289560"/>
                </a:lnTo>
                <a:cubicBezTo>
                  <a:pt x="64820" y="289560"/>
                  <a:pt x="0" y="224740"/>
                  <a:pt x="0" y="144780"/>
                </a:cubicBezTo>
                <a:lnTo>
                  <a:pt x="0" y="144780"/>
                </a:lnTo>
                <a:cubicBezTo>
                  <a:pt x="0" y="64820"/>
                  <a:pt x="64820" y="0"/>
                  <a:pt x="144780" y="0"/>
                </a:cubicBezTo>
                <a:close/>
              </a:path>
            </a:pathLst>
          </a:custGeom>
          <a:solidFill>
            <a:srgbClr val="2B59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DF8"/>
              </a:buClr>
              <a:buSzPts val="900"/>
              <a:buFont typeface="DM Sans"/>
              <a:buNone/>
            </a:pPr>
            <a:r>
              <a:rPr b="1" i="0" lang="en-GB" sz="900" u="none" cap="none" strike="noStrike">
                <a:solidFill>
                  <a:srgbClr val="FFFDF8"/>
                </a:solidFill>
                <a:latin typeface="DM Sans"/>
                <a:ea typeface="DM Sans"/>
                <a:cs typeface="DM Sans"/>
                <a:sym typeface="DM Sans"/>
              </a:rPr>
              <a:t>PHASE 4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7" name="Google Shape;227;p26"/>
          <p:cNvSpPr/>
          <p:nvPr/>
        </p:nvSpPr>
        <p:spPr>
          <a:xfrm>
            <a:off x="6696075" y="2787016"/>
            <a:ext cx="1893475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From 16 Nov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8" name="Google Shape;228;p26"/>
          <p:cNvSpPr/>
          <p:nvPr/>
        </p:nvSpPr>
        <p:spPr>
          <a:xfrm>
            <a:off x="6696075" y="3023234"/>
            <a:ext cx="18934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500"/>
              <a:buFont typeface="Fredoka"/>
              <a:buNone/>
            </a:pPr>
            <a:r>
              <a:rPr b="1" i="0" lang="en-GB" sz="1500" u="none" cap="none" strike="noStrike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Test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9" name="Google Shape;229;p26"/>
          <p:cNvSpPr/>
          <p:nvPr/>
        </p:nvSpPr>
        <p:spPr>
          <a:xfrm>
            <a:off x="6696075" y="3328034"/>
            <a:ext cx="189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Age-labelled sizes, size filter, buy button on first screen, phone checkout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0" name="Google Shape;230;p26"/>
          <p:cNvSpPr/>
          <p:nvPr/>
        </p:nvSpPr>
        <p:spPr>
          <a:xfrm>
            <a:off x="609600" y="4678682"/>
            <a:ext cx="441483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Gini &amp; Jony · Schbang · CRO Audit, Phase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1" name="Google Shape;231;p26"/>
          <p:cNvSpPr/>
          <p:nvPr/>
        </p:nvSpPr>
        <p:spPr>
          <a:xfrm>
            <a:off x="7543800" y="4678682"/>
            <a:ext cx="99060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C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6" name="Google Shape;1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1900" y="495300"/>
            <a:ext cx="9525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609600" y="609600"/>
            <a:ext cx="8162544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59D6"/>
              </a:buClr>
              <a:buSzPts val="900"/>
              <a:buFont typeface="DM Sans"/>
              <a:buNone/>
            </a:pPr>
            <a:r>
              <a:rPr b="1" i="0" lang="en-GB" spc="200" sz="900" u="none" cap="none" strike="noStrike">
                <a:solidFill>
                  <a:srgbClr val="2B59D6"/>
                </a:solidFill>
                <a:latin typeface="DM Sans"/>
                <a:ea typeface="DM Sans"/>
                <a:cs typeface="DM Sans"/>
                <a:sym typeface="DM Sans"/>
              </a:rPr>
              <a:t>TEST BACKLOG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8" name="Google Shape;138;p21"/>
          <p:cNvSpPr txBox="1"/>
          <p:nvPr>
            <p:ph type="title"/>
          </p:nvPr>
        </p:nvSpPr>
        <p:spPr>
          <a:xfrm>
            <a:off x="609600" y="883921"/>
            <a:ext cx="816254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400"/>
              <a:buFont typeface="Fredoka"/>
              <a:buNone/>
            </a:pPr>
            <a:r>
              <a:rPr b="1" i="0" lang="en-GB" sz="24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Tests in priority order, after the freeze</a:t>
            </a:r>
            <a:endParaRPr sz="2400"/>
          </a:p>
        </p:txBody>
      </p:sp>
      <p:sp>
        <p:nvSpPr>
          <p:cNvPr id="151" name="Google Shape;151;p21"/>
          <p:cNvSpPr/>
          <p:nvPr/>
        </p:nvSpPr>
        <p:spPr>
          <a:xfrm>
            <a:off x="609600" y="4678679"/>
            <a:ext cx="441483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Gini &amp; Jony · Schbang · CRO Audit, Phase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7543800" y="4678679"/>
            <a:ext cx="99060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153" name="Table 152"/>
          <p:cNvGraphicFramePr>
            <a:graphicFrameLocks noGrp="1"/>
          </p:cNvGraphicFramePr>
          <p:nvPr/>
        </p:nvGraphicFramePr>
        <p:xfrm>
          <a:off x="612648" y="1417320"/>
          <a:ext cx="7918704" cy="277977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0040"/>
                <a:gridCol w="2743200"/>
                <a:gridCol w="2798064"/>
                <a:gridCol w="20574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DF8"/>
                          </a:solidFill>
                          <a:latin typeface="DM Sans"/>
                        </a:rPr>
                        <a:t>#</a:t>
                      </a:r>
                    </a:p>
                  </a:txBody>
                  <a:tcPr marL="64008" marR="64008" marT="32004" marB="32004" anchor="ctr">
                    <a:solidFill>
                      <a:srgbClr val="2B59D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DF8"/>
                          </a:solidFill>
                          <a:latin typeface="DM Sans"/>
                        </a:rPr>
                        <a:t>Change</a:t>
                      </a:r>
                    </a:p>
                  </a:txBody>
                  <a:tcPr marL="64008" marR="64008" marT="32004" marB="32004" anchor="ctr">
                    <a:solidFill>
                      <a:srgbClr val="2B59D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DF8"/>
                          </a:solidFill>
                          <a:latin typeface="DM Sans"/>
                        </a:rPr>
                        <a:t>Because</a:t>
                      </a:r>
                    </a:p>
                  </a:txBody>
                  <a:tcPr marL="64008" marR="64008" marT="32004" marB="32004" anchor="ctr">
                    <a:solidFill>
                      <a:srgbClr val="2B59D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DF8"/>
                          </a:solidFill>
                          <a:latin typeface="DM Sans"/>
                        </a:rPr>
                        <a:t>Primary metric · guardrail</a:t>
                      </a:r>
                    </a:p>
                  </a:txBody>
                  <a:tcPr marL="64008" marR="64008" marT="32004" marB="32004" anchor="ctr">
                    <a:solidFill>
                      <a:srgbClr val="2B59D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Label sizes by age (“3–4 Y”), chart as text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Parents shop by age; today they must translate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PDP→ATC · size exchanges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Size filter; in-stock-first sorting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38% of in-stock PDP visits hit a missing size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Sessions with ATC · listing exits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Free-shipping progress bar + sized add-on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95% of products start below ₹1,499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AOV · checkout completion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4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Buy button on the first screen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ATC starts at 981px on an 844px screen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PDP→ATC · accidental adds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5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Phone-first checkout with COD scoring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Email-first, 9 required fields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Checkout→order · RTO %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6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Reviews via WhatsApp + 5 photos per style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No reviews; median 3 photos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PDP→ATC by review band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E1B18"/>
                          </a:solidFill>
                          <a:latin typeface="DM Sans"/>
                        </a:rPr>
                        <a:t>7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Store pages with call / WhatsApp / directions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No store action exists today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1E1B18"/>
                          </a:solidFill>
                          <a:latin typeface="DM Sans"/>
                        </a:rPr>
                        <a:t>Store actions per 1,000 sessions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C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6" name="Google Shape;1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1900" y="495300"/>
            <a:ext cx="9525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609600" y="609600"/>
            <a:ext cx="8162544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59D6"/>
              </a:buClr>
              <a:buSzPts val="900"/>
              <a:buFont typeface="DM Sans"/>
              <a:buNone/>
            </a:pPr>
            <a:r>
              <a:rPr b="1" i="0" lang="en-GB" spc="200" sz="900" u="none" cap="none" strike="noStrike">
                <a:solidFill>
                  <a:srgbClr val="2B59D6"/>
                </a:solidFill>
                <a:latin typeface="DM Sans"/>
                <a:ea typeface="DM Sans"/>
                <a:cs typeface="DM Sans"/>
                <a:sym typeface="DM Sans"/>
              </a:rPr>
              <a:t>SIZING THE PRIZE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8" name="Google Shape;138;p21"/>
          <p:cNvSpPr txBox="1"/>
          <p:nvPr>
            <p:ph type="title"/>
          </p:nvPr>
        </p:nvSpPr>
        <p:spPr>
          <a:xfrm>
            <a:off x="609600" y="883921"/>
            <a:ext cx="816254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400"/>
              <a:buFont typeface="Fredoka"/>
              <a:buNone/>
            </a:pPr>
            <a:r>
              <a:rPr b="1" i="0" lang="en-GB" sz="24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The size-break leak, with assumptions visible</a:t>
            </a:r>
            <a:endParaRPr sz="2400"/>
          </a:p>
        </p:txBody>
      </p:sp>
      <p:sp>
        <p:nvSpPr>
          <p:cNvPr id="151" name="Google Shape;151;p21"/>
          <p:cNvSpPr/>
          <p:nvPr/>
        </p:nvSpPr>
        <p:spPr>
          <a:xfrm>
            <a:off x="609600" y="4678679"/>
            <a:ext cx="441483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Gini &amp; Jony · Schbang · CRO Audit, Phase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7543800" y="4678679"/>
            <a:ext cx="99060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612648" y="14173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E1B18"/>
                </a:solidFill>
                <a:latin typeface="DM Sans"/>
              </a:rPr>
              <a:t>On an in-stock product, a parent finds her child’s size missing about 38% of the time (measured). What she does next decides the loss: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612648" y="2011680"/>
          <a:ext cx="7918704" cy="13898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926080"/>
                <a:gridCol w="1463040"/>
                <a:gridCol w="3529584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DF8"/>
                          </a:solidFill>
                          <a:latin typeface="DM Sans"/>
                        </a:rPr>
                        <a:t>If she finds a substitute…</a:t>
                      </a:r>
                    </a:p>
                  </a:txBody>
                  <a:tcPr marL="64008" marR="64008" marT="32004" marB="32004" anchor="ctr">
                    <a:solidFill>
                      <a:srgbClr val="2B59D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DF8"/>
                          </a:solidFill>
                          <a:latin typeface="DM Sans"/>
                        </a:rPr>
                        <a:t>Visits lost</a:t>
                      </a:r>
                    </a:p>
                  </a:txBody>
                  <a:tcPr marL="64008" marR="64008" marT="32004" marB="32004" anchor="ctr">
                    <a:solidFill>
                      <a:srgbClr val="2B59D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DF8"/>
                          </a:solidFill>
                          <a:latin typeface="DM Sans"/>
                        </a:rPr>
                        <a:t>Per 100,000 product-page visits</a:t>
                      </a:r>
                    </a:p>
                  </a:txBody>
                  <a:tcPr marL="64008" marR="64008" marT="32004" marB="32004" anchor="ctr">
                    <a:solidFill>
                      <a:srgbClr val="2B59D6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1B18"/>
                          </a:solidFill>
                          <a:latin typeface="DM Sans"/>
                        </a:rPr>
                        <a:t>70% of the time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1B18"/>
                          </a:solidFill>
                          <a:latin typeface="DM Sans"/>
                        </a:rPr>
                        <a:t>11%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1B18"/>
                          </a:solidFill>
                          <a:latin typeface="DM Sans"/>
                        </a:rPr>
                        <a:t>≈ 460 carts · ≈ ₹2.8 lakh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1B18"/>
                          </a:solidFill>
                          <a:latin typeface="DM Sans"/>
                        </a:rPr>
                        <a:t>50% of the time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1B18"/>
                          </a:solidFill>
                          <a:latin typeface="DM Sans"/>
                        </a:rPr>
                        <a:t>19%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1B18"/>
                          </a:solidFill>
                          <a:latin typeface="DM Sans"/>
                        </a:rPr>
                        <a:t>≈ 760 carts · ≈ ₹4.6 lakh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1B18"/>
                          </a:solidFill>
                          <a:latin typeface="DM Sans"/>
                        </a:rPr>
                        <a:t>30% of the time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1B18"/>
                          </a:solidFill>
                          <a:latin typeface="DM Sans"/>
                        </a:rPr>
                        <a:t>27%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1B18"/>
                          </a:solidFill>
                          <a:latin typeface="DM Sans"/>
                        </a:rPr>
                        <a:t>≈ 1,060 carts · ≈ ₹6.4 lakh</a:t>
                      </a:r>
                    </a:p>
                  </a:txBody>
                  <a:tcPr marL="64008" marR="64008" marT="32004" marB="32004" anchor="ctr">
                    <a:solidFill>
                      <a:srgbClr val="FFFDF8"/>
                    </a:solidFill>
                    <a:lnL w="9525">
                      <a:solidFill>
                        <a:srgbClr val="D9D4CA"/>
                      </a:solidFill>
                    </a:lnL>
                    <a:lnR w="9525">
                      <a:solidFill>
                        <a:srgbClr val="D9D4CA"/>
                      </a:solidFill>
                    </a:lnR>
                    <a:lnT w="9525">
                      <a:solidFill>
                        <a:srgbClr val="D9D4CA"/>
                      </a:solidFill>
                    </a:lnT>
                    <a:lnB w="9525">
                      <a:solidFill>
                        <a:srgbClr val="D9D4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5" name="TextBox 154"/>
          <p:cNvSpPr txBox="1"/>
          <p:nvPr/>
        </p:nvSpPr>
        <p:spPr>
          <a:xfrm>
            <a:off x="612648" y="3566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E5A55"/>
                </a:solidFill>
                <a:latin typeface="DM Sans"/>
              </a:rPr>
              <a:t>Placeholders until GA4 access: 4% add-to-cart, 55% checkout completion, ₹1,100 order value. Only the 38% is measured. The substitution rate is what the size filter and in-stock sorting are meant to move.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EEFB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4" name="Google Shape;11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1900" y="495300"/>
            <a:ext cx="9525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/>
          <p:nvPr/>
        </p:nvSpPr>
        <p:spPr>
          <a:xfrm>
            <a:off x="609600" y="609600"/>
            <a:ext cx="8162544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59D6"/>
              </a:buClr>
              <a:buSzPts val="900"/>
              <a:buFont typeface="DM Sans"/>
              <a:buNone/>
            </a:pPr>
            <a:r>
              <a:rPr b="1" i="0" lang="en-GB" spc="200" sz="900" u="none" cap="none" strike="noStrike">
                <a:solidFill>
                  <a:srgbClr val="2B59D6"/>
                </a:solidFill>
                <a:latin typeface="DM Sans"/>
                <a:ea typeface="DM Sans"/>
                <a:cs typeface="DM Sans"/>
                <a:sym typeface="DM Sans"/>
              </a:rPr>
              <a:t>WHAT WE WOULD NOT DO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6" name="Google Shape;116;p20"/>
          <p:cNvSpPr txBox="1"/>
          <p:nvPr>
            <p:ph type="title"/>
          </p:nvPr>
        </p:nvSpPr>
        <p:spPr>
          <a:xfrm>
            <a:off x="609600" y="883921"/>
            <a:ext cx="816254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400"/>
              <a:buFont typeface="Fredoka"/>
              <a:buNone/>
            </a:pPr>
            <a:r>
              <a:rPr b="1" i="0" lang="en-GB" sz="24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Three things we’d hold off on</a:t>
            </a:r>
            <a:endParaRPr sz="2400"/>
          </a:p>
        </p:txBody>
      </p:sp>
      <p:sp>
        <p:nvSpPr>
          <p:cNvPr id="117" name="Google Shape;117;p20"/>
          <p:cNvSpPr/>
          <p:nvPr/>
        </p:nvSpPr>
        <p:spPr>
          <a:xfrm>
            <a:off x="616744" y="1454944"/>
            <a:ext cx="2500313" cy="2514600"/>
          </a:xfrm>
          <a:prstGeom prst="roundRect">
            <a:avLst>
              <a:gd fmla="val 9597" name="adj"/>
            </a:avLst>
          </a:prstGeom>
          <a:solidFill>
            <a:srgbClr val="FFFDF8"/>
          </a:solidFill>
          <a:ln cap="flat" cmpd="sng" w="19050">
            <a:solidFill>
              <a:srgbClr val="1E1B1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5400000" dist="50800">
              <a:srgbClr val="1E1B18"/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/>
          <p:nvPr/>
        </p:nvSpPr>
        <p:spPr>
          <a:xfrm>
            <a:off x="849630" y="1687829"/>
            <a:ext cx="312599" cy="217170"/>
          </a:xfrm>
          <a:custGeom>
            <a:rect b="b" l="l" r="r" t="t"/>
            <a:pathLst>
              <a:path extrusionOk="0" h="289560" w="416798">
                <a:moveTo>
                  <a:pt x="144780" y="0"/>
                </a:moveTo>
                <a:lnTo>
                  <a:pt x="272018" y="0"/>
                </a:lnTo>
                <a:cubicBezTo>
                  <a:pt x="310416" y="0"/>
                  <a:pt x="347241" y="15254"/>
                  <a:pt x="374393" y="42405"/>
                </a:cubicBezTo>
                <a:cubicBezTo>
                  <a:pt x="401544" y="69557"/>
                  <a:pt x="416798" y="106382"/>
                  <a:pt x="416798" y="144780"/>
                </a:cubicBezTo>
                <a:lnTo>
                  <a:pt x="416798" y="144780"/>
                </a:lnTo>
                <a:cubicBezTo>
                  <a:pt x="416798" y="224740"/>
                  <a:pt x="351978" y="289560"/>
                  <a:pt x="272018" y="289560"/>
                </a:cubicBezTo>
                <a:lnTo>
                  <a:pt x="144780" y="289560"/>
                </a:lnTo>
                <a:cubicBezTo>
                  <a:pt x="64820" y="289560"/>
                  <a:pt x="0" y="224740"/>
                  <a:pt x="0" y="144780"/>
                </a:cubicBezTo>
                <a:lnTo>
                  <a:pt x="0" y="144780"/>
                </a:lnTo>
                <a:cubicBezTo>
                  <a:pt x="0" y="64820"/>
                  <a:pt x="64820" y="0"/>
                  <a:pt x="144780" y="0"/>
                </a:cubicBezTo>
                <a:close/>
              </a:path>
            </a:pathLst>
          </a:custGeom>
          <a:solidFill>
            <a:srgbClr val="FFC8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900"/>
              <a:buFont typeface="DM Sans"/>
              <a:buNone/>
            </a:pPr>
            <a:r>
              <a:rPr b="1" i="0" lang="en-GB" sz="900" u="none" cap="none" strike="noStrike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849630" y="2019300"/>
            <a:ext cx="20955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500"/>
              <a:buFont typeface="Fredoka"/>
              <a:buNone/>
            </a:pPr>
            <a:r>
              <a:rPr b="1" i="0" lang="en-GB" sz="1500" u="none" cap="none" strike="noStrike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Deeper discounts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849630" y="2514600"/>
            <a:ext cx="2095577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Every product is already marked down. More depth erodes margin without fixing a missing size or an empty festive shelf.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1" name="Google Shape;121;p20"/>
          <p:cNvSpPr/>
          <p:nvPr/>
        </p:nvSpPr>
        <p:spPr>
          <a:xfrm>
            <a:off x="3321844" y="1454944"/>
            <a:ext cx="2500313" cy="2514600"/>
          </a:xfrm>
          <a:prstGeom prst="roundRect">
            <a:avLst>
              <a:gd fmla="val 9597" name="adj"/>
            </a:avLst>
          </a:prstGeom>
          <a:solidFill>
            <a:srgbClr val="FFFDF8"/>
          </a:solidFill>
          <a:ln cap="flat" cmpd="sng" w="19050">
            <a:solidFill>
              <a:srgbClr val="1E1B1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5400000" dist="50800">
              <a:srgbClr val="1E1B18"/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0"/>
          <p:cNvSpPr/>
          <p:nvPr/>
        </p:nvSpPr>
        <p:spPr>
          <a:xfrm>
            <a:off x="3554730" y="1687829"/>
            <a:ext cx="336471" cy="217170"/>
          </a:xfrm>
          <a:custGeom>
            <a:rect b="b" l="l" r="r" t="t"/>
            <a:pathLst>
              <a:path extrusionOk="0" h="289560" w="448628">
                <a:moveTo>
                  <a:pt x="144780" y="0"/>
                </a:moveTo>
                <a:lnTo>
                  <a:pt x="303848" y="0"/>
                </a:lnTo>
                <a:cubicBezTo>
                  <a:pt x="342246" y="0"/>
                  <a:pt x="379071" y="15254"/>
                  <a:pt x="406223" y="42405"/>
                </a:cubicBezTo>
                <a:cubicBezTo>
                  <a:pt x="433374" y="69557"/>
                  <a:pt x="448628" y="106382"/>
                  <a:pt x="448628" y="144780"/>
                </a:cubicBezTo>
                <a:lnTo>
                  <a:pt x="448628" y="144780"/>
                </a:lnTo>
                <a:cubicBezTo>
                  <a:pt x="448628" y="224740"/>
                  <a:pt x="383808" y="289560"/>
                  <a:pt x="303848" y="289560"/>
                </a:cubicBezTo>
                <a:lnTo>
                  <a:pt x="144780" y="289560"/>
                </a:lnTo>
                <a:cubicBezTo>
                  <a:pt x="64820" y="289560"/>
                  <a:pt x="0" y="224740"/>
                  <a:pt x="0" y="144780"/>
                </a:cubicBezTo>
                <a:lnTo>
                  <a:pt x="0" y="144780"/>
                </a:lnTo>
                <a:cubicBezTo>
                  <a:pt x="0" y="64820"/>
                  <a:pt x="64820" y="0"/>
                  <a:pt x="144780" y="0"/>
                </a:cubicBezTo>
                <a:close/>
              </a:path>
            </a:pathLst>
          </a:custGeom>
          <a:solidFill>
            <a:srgbClr val="FFC8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900"/>
              <a:buFont typeface="DM Sans"/>
              <a:buNone/>
            </a:pPr>
            <a:r>
              <a:rPr b="1" i="0" lang="en-GB" sz="900" u="none" cap="none" strike="noStrike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3554730" y="2019300"/>
            <a:ext cx="20955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500"/>
              <a:buFont typeface="Fredoka"/>
              <a:buNone/>
            </a:pPr>
            <a:r>
              <a:rPr b="1" i="0" lang="en-GB" sz="1500" u="none" cap="none" strike="noStrike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Hero tests first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3554730" y="2514600"/>
            <a:ext cx="2095577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They would optimise the route to a listing that can’t yet deliver the right size.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20"/>
          <p:cNvSpPr/>
          <p:nvPr/>
        </p:nvSpPr>
        <p:spPr>
          <a:xfrm>
            <a:off x="6026944" y="1454944"/>
            <a:ext cx="2500313" cy="2514600"/>
          </a:xfrm>
          <a:prstGeom prst="roundRect">
            <a:avLst>
              <a:gd fmla="val 9597" name="adj"/>
            </a:avLst>
          </a:prstGeom>
          <a:solidFill>
            <a:srgbClr val="FFFDF8"/>
          </a:solidFill>
          <a:ln cap="flat" cmpd="sng" w="19050">
            <a:solidFill>
              <a:srgbClr val="1E1B1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5400000" dist="50800">
              <a:srgbClr val="1E1B18"/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/>
          <p:nvPr/>
        </p:nvSpPr>
        <p:spPr>
          <a:xfrm>
            <a:off x="6259830" y="1687829"/>
            <a:ext cx="339923" cy="217170"/>
          </a:xfrm>
          <a:custGeom>
            <a:rect b="b" l="l" r="r" t="t"/>
            <a:pathLst>
              <a:path extrusionOk="0" h="289560" w="453231">
                <a:moveTo>
                  <a:pt x="144780" y="0"/>
                </a:moveTo>
                <a:lnTo>
                  <a:pt x="308451" y="0"/>
                </a:lnTo>
                <a:cubicBezTo>
                  <a:pt x="346849" y="0"/>
                  <a:pt x="383674" y="15254"/>
                  <a:pt x="410826" y="42405"/>
                </a:cubicBezTo>
                <a:cubicBezTo>
                  <a:pt x="437977" y="69557"/>
                  <a:pt x="453231" y="106382"/>
                  <a:pt x="453231" y="144780"/>
                </a:cubicBezTo>
                <a:lnTo>
                  <a:pt x="453231" y="144780"/>
                </a:lnTo>
                <a:cubicBezTo>
                  <a:pt x="453231" y="224740"/>
                  <a:pt x="388411" y="289560"/>
                  <a:pt x="308451" y="289560"/>
                </a:cubicBezTo>
                <a:lnTo>
                  <a:pt x="144780" y="289560"/>
                </a:lnTo>
                <a:cubicBezTo>
                  <a:pt x="64820" y="289560"/>
                  <a:pt x="0" y="224740"/>
                  <a:pt x="0" y="144780"/>
                </a:cubicBezTo>
                <a:lnTo>
                  <a:pt x="0" y="144780"/>
                </a:lnTo>
                <a:cubicBezTo>
                  <a:pt x="0" y="64820"/>
                  <a:pt x="64820" y="0"/>
                  <a:pt x="144780" y="0"/>
                </a:cubicBezTo>
                <a:close/>
              </a:path>
            </a:pathLst>
          </a:custGeom>
          <a:solidFill>
            <a:srgbClr val="FFC8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900"/>
              <a:buFont typeface="DM Sans"/>
              <a:buNone/>
            </a:pPr>
            <a:r>
              <a:rPr b="1" i="0" lang="en-GB" sz="900" u="none" cap="none" strike="noStrike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6259830" y="2019300"/>
            <a:ext cx="209557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500"/>
              <a:buFont typeface="Fredoka"/>
              <a:buNone/>
            </a:pPr>
            <a:r>
              <a:rPr b="1" i="0" lang="en-GB" sz="1500" u="none" cap="none" strike="noStrike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Personalisation tools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6259830" y="2514600"/>
            <a:ext cx="2095577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Not before the age data and tracking are right. Three simple rules with holdouts come first.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609600" y="4678679"/>
            <a:ext cx="4414838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Gini &amp; Jony · Schbang · CRO Audit, Phase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7543800" y="4678679"/>
            <a:ext cx="990600" cy="17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59D6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layful kidswear doodles: kite, tee, sneaker, paper plane, sun and stars" id="237" name="Google Shape;23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7"/>
          <p:cNvSpPr/>
          <p:nvPr/>
        </p:nvSpPr>
        <p:spPr>
          <a:xfrm>
            <a:off x="2762250" y="714375"/>
            <a:ext cx="3619500" cy="3619500"/>
          </a:xfrm>
          <a:prstGeom prst="roundRect">
            <a:avLst>
              <a:gd fmla="val 33684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7"/>
          <p:cNvSpPr/>
          <p:nvPr/>
        </p:nvSpPr>
        <p:spPr>
          <a:xfrm>
            <a:off x="4018895" y="1939291"/>
            <a:ext cx="1106100" cy="236100"/>
          </a:xfrm>
          <a:prstGeom prst="roundRect">
            <a:avLst>
              <a:gd fmla="val 50000" name="adj"/>
            </a:avLst>
          </a:prstGeom>
          <a:solidFill>
            <a:srgbClr val="FFC83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900"/>
              <a:buFont typeface="DM Sans"/>
              <a:buNone/>
            </a:pPr>
            <a:r>
              <a:rPr b="1" i="0" lang="en-GB" spc="200" sz="900" u="none" cap="none" strike="noStrike">
                <a:solidFill>
                  <a:srgbClr val="1E1B18"/>
                </a:solidFill>
                <a:latin typeface="DM Sans"/>
                <a:ea typeface="DM Sans"/>
                <a:cs typeface="DM Sans"/>
                <a:sym typeface="DM Sans"/>
              </a:rPr>
              <a:t>SECTION 04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0" name="Google Shape;240;p27"/>
          <p:cNvSpPr txBox="1"/>
          <p:nvPr>
            <p:ph type="title"/>
          </p:nvPr>
        </p:nvSpPr>
        <p:spPr>
          <a:xfrm>
            <a:off x="3388100" y="2308850"/>
            <a:ext cx="23877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ct val="100000"/>
              <a:buFont typeface="Fredoka"/>
              <a:buNone/>
            </a:pPr>
            <a:r>
              <a:rPr b="1" lang="en-GB" sz="3600"/>
              <a:t>Phase 2</a:t>
            </a:r>
            <a:endParaRPr sz="3600"/>
          </a:p>
        </p:txBody>
      </p:sp>
      <p:sp>
        <p:nvSpPr>
          <p:cNvPr id="241" name="Google Shape;241;p27"/>
          <p:cNvSpPr/>
          <p:nvPr/>
        </p:nvSpPr>
        <p:spPr>
          <a:xfrm>
            <a:off x="3180612" y="2922273"/>
            <a:ext cx="2782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Turning estimates into measured numbers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2" name="Google Shape;242;p27"/>
          <p:cNvSpPr/>
          <p:nvPr/>
        </p:nvSpPr>
        <p:spPr>
          <a:xfrm>
            <a:off x="614363" y="4592003"/>
            <a:ext cx="1419300" cy="279900"/>
          </a:xfrm>
          <a:prstGeom prst="roundRect">
            <a:avLst>
              <a:gd fmla="val 25510" name="adj"/>
            </a:avLst>
          </a:prstGeom>
          <a:noFill/>
          <a:ln cap="flat" cmpd="sng" w="12700">
            <a:solidFill>
              <a:srgbClr val="FFF8E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20025" lIns="58125" spcFirstLastPara="1" rIns="58125" wrap="square" tIns="39075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8EC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FFF8EC"/>
                </a:solidFill>
                <a:latin typeface="DM Sans"/>
                <a:ea typeface="DM Sans"/>
                <a:cs typeface="DM Sans"/>
                <a:sym typeface="DM Sans"/>
              </a:rPr>
              <a:t>GINI &amp; JONY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27"/>
          <p:cNvSpPr/>
          <p:nvPr/>
        </p:nvSpPr>
        <p:spPr>
          <a:xfrm>
            <a:off x="7110413" y="4592003"/>
            <a:ext cx="1419300" cy="279900"/>
          </a:xfrm>
          <a:prstGeom prst="roundRect">
            <a:avLst>
              <a:gd fmla="val 25510" name="adj"/>
            </a:avLst>
          </a:prstGeom>
          <a:noFill/>
          <a:ln cap="flat" cmpd="sng" w="12700">
            <a:solidFill>
              <a:srgbClr val="FFF8E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20025" lIns="58125" spcFirstLastPara="1" rIns="58125" wrap="square" tIns="39075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8EC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FFF8EC"/>
                </a:solidFill>
                <a:latin typeface="DM Sans"/>
                <a:ea typeface="DM Sans"/>
                <a:cs typeface="DM Sans"/>
                <a:sym typeface="DM Sans"/>
              </a:rPr>
              <a:t>SCHBANG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EEFB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9" name="Google Shape;24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1900" y="495300"/>
            <a:ext cx="9525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8"/>
          <p:cNvSpPr/>
          <p:nvPr/>
        </p:nvSpPr>
        <p:spPr>
          <a:xfrm>
            <a:off x="609600" y="609600"/>
            <a:ext cx="81624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59D6"/>
              </a:buClr>
              <a:buSzPts val="900"/>
              <a:buFont typeface="DM Sans"/>
              <a:buNone/>
            </a:pPr>
            <a:r>
              <a:rPr b="1" i="0" lang="en-GB" spc="200" sz="900" u="none" cap="none" strike="noStrike">
                <a:solidFill>
                  <a:srgbClr val="2B59D6"/>
                </a:solidFill>
                <a:latin typeface="DM Sans"/>
                <a:ea typeface="DM Sans"/>
                <a:cs typeface="DM Sans"/>
                <a:sym typeface="DM Sans"/>
              </a:rPr>
              <a:t>PHASE 2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1" name="Google Shape;251;p28"/>
          <p:cNvSpPr txBox="1"/>
          <p:nvPr>
            <p:ph type="title"/>
          </p:nvPr>
        </p:nvSpPr>
        <p:spPr>
          <a:xfrm>
            <a:off x="609600" y="883923"/>
            <a:ext cx="81624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ct val="100000"/>
              <a:buFont typeface="Fredoka"/>
              <a:buNone/>
            </a:pPr>
            <a:r>
              <a:rPr b="1" i="0" lang="en-GB" sz="2400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What we need from Gini &amp; Jony</a:t>
            </a:r>
            <a:endParaRPr sz="2400"/>
          </a:p>
        </p:txBody>
      </p:sp>
      <p:cxnSp>
        <p:nvCxnSpPr>
          <p:cNvPr id="252" name="Google Shape;252;p28"/>
          <p:cNvCxnSpPr/>
          <p:nvPr/>
        </p:nvCxnSpPr>
        <p:spPr>
          <a:xfrm>
            <a:off x="609600" y="2328863"/>
            <a:ext cx="1838400" cy="0"/>
          </a:xfrm>
          <a:prstGeom prst="straightConnector1">
            <a:avLst/>
          </a:prstGeom>
          <a:noFill/>
          <a:ln cap="flat" cmpd="sng" w="38100">
            <a:solidFill>
              <a:srgbClr val="2B59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28"/>
          <p:cNvSpPr/>
          <p:nvPr/>
        </p:nvSpPr>
        <p:spPr>
          <a:xfrm>
            <a:off x="609600" y="2493648"/>
            <a:ext cx="627638" cy="217170"/>
          </a:xfrm>
          <a:custGeom>
            <a:rect b="b" l="l" r="r" t="t"/>
            <a:pathLst>
              <a:path extrusionOk="0" h="289560" w="836851">
                <a:moveTo>
                  <a:pt x="144780" y="0"/>
                </a:moveTo>
                <a:lnTo>
                  <a:pt x="692071" y="0"/>
                </a:lnTo>
                <a:cubicBezTo>
                  <a:pt x="730469" y="0"/>
                  <a:pt x="767294" y="15254"/>
                  <a:pt x="794446" y="42405"/>
                </a:cubicBezTo>
                <a:cubicBezTo>
                  <a:pt x="821597" y="69557"/>
                  <a:pt x="836851" y="106382"/>
                  <a:pt x="836851" y="144780"/>
                </a:cubicBezTo>
                <a:lnTo>
                  <a:pt x="836851" y="144780"/>
                </a:lnTo>
                <a:cubicBezTo>
                  <a:pt x="836851" y="224740"/>
                  <a:pt x="772031" y="289560"/>
                  <a:pt x="692071" y="289560"/>
                </a:cubicBezTo>
                <a:lnTo>
                  <a:pt x="144780" y="289560"/>
                </a:lnTo>
                <a:cubicBezTo>
                  <a:pt x="64820" y="289560"/>
                  <a:pt x="0" y="224740"/>
                  <a:pt x="0" y="144780"/>
                </a:cubicBezTo>
                <a:lnTo>
                  <a:pt x="0" y="144780"/>
                </a:lnTo>
                <a:cubicBezTo>
                  <a:pt x="0" y="64820"/>
                  <a:pt x="64820" y="0"/>
                  <a:pt x="144780" y="0"/>
                </a:cubicBezTo>
                <a:close/>
              </a:path>
            </a:pathLst>
          </a:custGeom>
          <a:solidFill>
            <a:srgbClr val="2B59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DF8"/>
              </a:buClr>
              <a:buSzPts val="900"/>
              <a:buFont typeface="DM Sans"/>
              <a:buNone/>
            </a:pPr>
            <a:r>
              <a:rPr b="1" i="0" lang="en-GB" sz="900" u="none" cap="none" strike="noStrike">
                <a:solidFill>
                  <a:srgbClr val="FFFDF8"/>
                </a:solidFill>
                <a:latin typeface="DM Sans"/>
                <a:ea typeface="DM Sans"/>
                <a:cs typeface="DM Sans"/>
                <a:sym typeface="DM Sans"/>
              </a:rPr>
              <a:t>STEP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4" name="Google Shape;254;p28"/>
          <p:cNvSpPr/>
          <p:nvPr/>
        </p:nvSpPr>
        <p:spPr>
          <a:xfrm>
            <a:off x="609600" y="2787016"/>
            <a:ext cx="18936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Week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5" name="Google Shape;255;p28"/>
          <p:cNvSpPr/>
          <p:nvPr/>
        </p:nvSpPr>
        <p:spPr>
          <a:xfrm>
            <a:off x="609600" y="3023234"/>
            <a:ext cx="1893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500"/>
              <a:buFont typeface="Fredoka"/>
              <a:buNone/>
            </a:pPr>
            <a:r>
              <a:rPr b="1" i="0" lang="en-GB" sz="1500" u="none" cap="none" strike="noStrike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Data access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6" name="Google Shape;256;p28"/>
          <p:cNvSpPr/>
          <p:nvPr/>
        </p:nvSpPr>
        <p:spPr>
          <a:xfrm>
            <a:off x="609600" y="3328034"/>
            <a:ext cx="189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GA4, Shopify orders with COD/RTO and exchange reasons, Ads and Meta settings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57" name="Google Shape;257;p28"/>
          <p:cNvCxnSpPr/>
          <p:nvPr/>
        </p:nvCxnSpPr>
        <p:spPr>
          <a:xfrm>
            <a:off x="2638425" y="2328863"/>
            <a:ext cx="1838400" cy="0"/>
          </a:xfrm>
          <a:prstGeom prst="straightConnector1">
            <a:avLst/>
          </a:prstGeom>
          <a:noFill/>
          <a:ln cap="flat" cmpd="sng" w="38100">
            <a:solidFill>
              <a:srgbClr val="2B59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28"/>
          <p:cNvSpPr/>
          <p:nvPr/>
        </p:nvSpPr>
        <p:spPr>
          <a:xfrm>
            <a:off x="2638425" y="2493648"/>
            <a:ext cx="651986" cy="217170"/>
          </a:xfrm>
          <a:custGeom>
            <a:rect b="b" l="l" r="r" t="t"/>
            <a:pathLst>
              <a:path extrusionOk="0" h="289560" w="869315">
                <a:moveTo>
                  <a:pt x="144780" y="0"/>
                </a:moveTo>
                <a:lnTo>
                  <a:pt x="724535" y="0"/>
                </a:lnTo>
                <a:cubicBezTo>
                  <a:pt x="762933" y="0"/>
                  <a:pt x="799758" y="15254"/>
                  <a:pt x="826910" y="42405"/>
                </a:cubicBezTo>
                <a:cubicBezTo>
                  <a:pt x="854061" y="69557"/>
                  <a:pt x="869315" y="106382"/>
                  <a:pt x="869315" y="144780"/>
                </a:cubicBezTo>
                <a:lnTo>
                  <a:pt x="869315" y="144780"/>
                </a:lnTo>
                <a:cubicBezTo>
                  <a:pt x="869315" y="224740"/>
                  <a:pt x="804495" y="289560"/>
                  <a:pt x="724535" y="289560"/>
                </a:cubicBezTo>
                <a:lnTo>
                  <a:pt x="144780" y="289560"/>
                </a:lnTo>
                <a:cubicBezTo>
                  <a:pt x="64820" y="289560"/>
                  <a:pt x="0" y="224740"/>
                  <a:pt x="0" y="144780"/>
                </a:cubicBezTo>
                <a:lnTo>
                  <a:pt x="0" y="144780"/>
                </a:lnTo>
                <a:cubicBezTo>
                  <a:pt x="0" y="64820"/>
                  <a:pt x="64820" y="0"/>
                  <a:pt x="144780" y="0"/>
                </a:cubicBezTo>
                <a:close/>
              </a:path>
            </a:pathLst>
          </a:custGeom>
          <a:solidFill>
            <a:srgbClr val="2B59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DF8"/>
              </a:buClr>
              <a:buSzPts val="900"/>
              <a:buFont typeface="DM Sans"/>
              <a:buNone/>
            </a:pPr>
            <a:r>
              <a:rPr b="1" i="0" lang="en-GB" sz="900" u="none" cap="none" strike="noStrike">
                <a:solidFill>
                  <a:srgbClr val="FFFDF8"/>
                </a:solidFill>
                <a:latin typeface="DM Sans"/>
                <a:ea typeface="DM Sans"/>
                <a:cs typeface="DM Sans"/>
                <a:sym typeface="DM Sans"/>
              </a:rPr>
              <a:t>STEP 2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9" name="Google Shape;259;p28"/>
          <p:cNvSpPr/>
          <p:nvPr/>
        </p:nvSpPr>
        <p:spPr>
          <a:xfrm>
            <a:off x="2638425" y="2787016"/>
            <a:ext cx="18936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Week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0" name="Google Shape;260;p28"/>
          <p:cNvSpPr/>
          <p:nvPr/>
        </p:nvSpPr>
        <p:spPr>
          <a:xfrm>
            <a:off x="2638425" y="3023234"/>
            <a:ext cx="1893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500"/>
              <a:buFont typeface="Fredoka"/>
              <a:buNone/>
            </a:pPr>
            <a:r>
              <a:rPr b="1" i="0" lang="en-GB" sz="1500" u="none" cap="none" strike="noStrike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Merch answer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1" name="Google Shape;261;p28"/>
          <p:cNvSpPr/>
          <p:nvPr/>
        </p:nvSpPr>
        <p:spPr>
          <a:xfrm>
            <a:off x="2638425" y="3328034"/>
            <a:ext cx="189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Is a festive or winter range in stores or the warehouse, ready to go online?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62" name="Google Shape;262;p28"/>
          <p:cNvCxnSpPr/>
          <p:nvPr/>
        </p:nvCxnSpPr>
        <p:spPr>
          <a:xfrm>
            <a:off x="4667250" y="2328863"/>
            <a:ext cx="1838400" cy="0"/>
          </a:xfrm>
          <a:prstGeom prst="straightConnector1">
            <a:avLst/>
          </a:prstGeom>
          <a:noFill/>
          <a:ln cap="flat" cmpd="sng" w="38100">
            <a:solidFill>
              <a:srgbClr val="2B59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28"/>
          <p:cNvSpPr/>
          <p:nvPr/>
        </p:nvSpPr>
        <p:spPr>
          <a:xfrm>
            <a:off x="4667250" y="2493648"/>
            <a:ext cx="654903" cy="217170"/>
          </a:xfrm>
          <a:custGeom>
            <a:rect b="b" l="l" r="r" t="t"/>
            <a:pathLst>
              <a:path extrusionOk="0" h="289560" w="873204">
                <a:moveTo>
                  <a:pt x="144780" y="0"/>
                </a:moveTo>
                <a:lnTo>
                  <a:pt x="728424" y="0"/>
                </a:lnTo>
                <a:cubicBezTo>
                  <a:pt x="766822" y="0"/>
                  <a:pt x="803647" y="15254"/>
                  <a:pt x="830799" y="42405"/>
                </a:cubicBezTo>
                <a:cubicBezTo>
                  <a:pt x="857950" y="69557"/>
                  <a:pt x="873204" y="106382"/>
                  <a:pt x="873204" y="144780"/>
                </a:cubicBezTo>
                <a:lnTo>
                  <a:pt x="873204" y="144780"/>
                </a:lnTo>
                <a:cubicBezTo>
                  <a:pt x="873204" y="224740"/>
                  <a:pt x="808384" y="289560"/>
                  <a:pt x="728424" y="289560"/>
                </a:cubicBezTo>
                <a:lnTo>
                  <a:pt x="144780" y="289560"/>
                </a:lnTo>
                <a:cubicBezTo>
                  <a:pt x="64820" y="289560"/>
                  <a:pt x="0" y="224740"/>
                  <a:pt x="0" y="144780"/>
                </a:cubicBezTo>
                <a:lnTo>
                  <a:pt x="0" y="144780"/>
                </a:lnTo>
                <a:cubicBezTo>
                  <a:pt x="0" y="64820"/>
                  <a:pt x="64820" y="0"/>
                  <a:pt x="144780" y="0"/>
                </a:cubicBezTo>
                <a:close/>
              </a:path>
            </a:pathLst>
          </a:custGeom>
          <a:solidFill>
            <a:srgbClr val="2B59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DF8"/>
              </a:buClr>
              <a:buSzPts val="900"/>
              <a:buFont typeface="DM Sans"/>
              <a:buNone/>
            </a:pPr>
            <a:r>
              <a:rPr b="1" i="0" lang="en-GB" sz="900" u="none" cap="none" strike="noStrike">
                <a:solidFill>
                  <a:srgbClr val="FFFDF8"/>
                </a:solidFill>
                <a:latin typeface="DM Sans"/>
                <a:ea typeface="DM Sans"/>
                <a:cs typeface="DM Sans"/>
                <a:sym typeface="DM Sans"/>
              </a:rPr>
              <a:t>STEP 3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4" name="Google Shape;264;p28"/>
          <p:cNvSpPr/>
          <p:nvPr/>
        </p:nvSpPr>
        <p:spPr>
          <a:xfrm>
            <a:off x="4667250" y="2787016"/>
            <a:ext cx="18936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Week 2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5" name="Google Shape;265;p28"/>
          <p:cNvSpPr/>
          <p:nvPr/>
        </p:nvSpPr>
        <p:spPr>
          <a:xfrm>
            <a:off x="4667250" y="3023234"/>
            <a:ext cx="1893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500"/>
              <a:buFont typeface="Fredoka"/>
              <a:buNone/>
            </a:pPr>
            <a:r>
              <a:rPr b="1" i="0" lang="en-GB" sz="1500" u="none" cap="none" strike="noStrike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Intent inventory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4667250" y="3328034"/>
            <a:ext cx="189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Site-search terms, Search Console, WhatsApp and store-staff questions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67" name="Google Shape;267;p28"/>
          <p:cNvCxnSpPr/>
          <p:nvPr/>
        </p:nvCxnSpPr>
        <p:spPr>
          <a:xfrm>
            <a:off x="6696075" y="2328863"/>
            <a:ext cx="1838400" cy="0"/>
          </a:xfrm>
          <a:prstGeom prst="straightConnector1">
            <a:avLst/>
          </a:prstGeom>
          <a:noFill/>
          <a:ln cap="flat" cmpd="sng" w="38100">
            <a:solidFill>
              <a:srgbClr val="2B59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28"/>
          <p:cNvSpPr/>
          <p:nvPr/>
        </p:nvSpPr>
        <p:spPr>
          <a:xfrm>
            <a:off x="6696075" y="2493648"/>
            <a:ext cx="660321" cy="217170"/>
          </a:xfrm>
          <a:custGeom>
            <a:rect b="b" l="l" r="r" t="t"/>
            <a:pathLst>
              <a:path extrusionOk="0" h="289560" w="880428">
                <a:moveTo>
                  <a:pt x="144780" y="0"/>
                </a:moveTo>
                <a:lnTo>
                  <a:pt x="735648" y="0"/>
                </a:lnTo>
                <a:cubicBezTo>
                  <a:pt x="774046" y="0"/>
                  <a:pt x="810871" y="15254"/>
                  <a:pt x="838023" y="42405"/>
                </a:cubicBezTo>
                <a:cubicBezTo>
                  <a:pt x="865174" y="69557"/>
                  <a:pt x="880428" y="106382"/>
                  <a:pt x="880428" y="144780"/>
                </a:cubicBezTo>
                <a:lnTo>
                  <a:pt x="880428" y="144780"/>
                </a:lnTo>
                <a:cubicBezTo>
                  <a:pt x="880428" y="224740"/>
                  <a:pt x="815608" y="289560"/>
                  <a:pt x="735648" y="289560"/>
                </a:cubicBezTo>
                <a:lnTo>
                  <a:pt x="144780" y="289560"/>
                </a:lnTo>
                <a:cubicBezTo>
                  <a:pt x="64820" y="289560"/>
                  <a:pt x="0" y="224740"/>
                  <a:pt x="0" y="144780"/>
                </a:cubicBezTo>
                <a:lnTo>
                  <a:pt x="0" y="144780"/>
                </a:lnTo>
                <a:cubicBezTo>
                  <a:pt x="0" y="64820"/>
                  <a:pt x="64820" y="0"/>
                  <a:pt x="144780" y="0"/>
                </a:cubicBezTo>
                <a:close/>
              </a:path>
            </a:pathLst>
          </a:custGeom>
          <a:solidFill>
            <a:srgbClr val="2B59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DF8"/>
              </a:buClr>
              <a:buSzPts val="900"/>
              <a:buFont typeface="DM Sans"/>
              <a:buNone/>
            </a:pPr>
            <a:r>
              <a:rPr b="1" i="0" lang="en-GB" sz="900" u="none" cap="none" strike="noStrike">
                <a:solidFill>
                  <a:srgbClr val="FFFDF8"/>
                </a:solidFill>
                <a:latin typeface="DM Sans"/>
                <a:ea typeface="DM Sans"/>
                <a:cs typeface="DM Sans"/>
                <a:sym typeface="DM Sans"/>
              </a:rPr>
              <a:t>STEP 4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6696075" y="2787016"/>
            <a:ext cx="18936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Week 3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6696075" y="3023234"/>
            <a:ext cx="1893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500"/>
              <a:buFont typeface="Fredoka"/>
              <a:buNone/>
            </a:pPr>
            <a:r>
              <a:rPr b="1" i="0" lang="en-GB" sz="1500" u="none" cap="none" strike="noStrike">
                <a:solidFill>
                  <a:srgbClr val="1E1B18"/>
                </a:solidFill>
                <a:latin typeface="Fredoka"/>
                <a:ea typeface="Fredoka"/>
                <a:cs typeface="Fredoka"/>
                <a:sym typeface="Fredoka"/>
              </a:rPr>
              <a:t>Store list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6696075" y="3328034"/>
            <a:ext cx="189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Current store master: ID, address, phone and hours, per store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609600" y="4678682"/>
            <a:ext cx="44148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Gini &amp; Jony · Schbang · CRO Audit, Phase 1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7543800" y="4678682"/>
            <a:ext cx="9906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E5A55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5E5A55"/>
                </a:solidFill>
                <a:latin typeface="DM Sans"/>
                <a:ea typeface="DM Sans"/>
                <a:cs typeface="DM Sans"/>
                <a:sym typeface="DM Sans"/>
              </a:rPr>
              <a:t>25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59D6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odle cluster: kite, sun, tee, sneaker and stars" id="279" name="Google Shape;27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0" y="571500"/>
            <a:ext cx="3429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9"/>
          <p:cNvSpPr txBox="1"/>
          <p:nvPr>
            <p:ph type="title"/>
          </p:nvPr>
        </p:nvSpPr>
        <p:spPr>
          <a:xfrm>
            <a:off x="609600" y="2085975"/>
            <a:ext cx="4414838" cy="499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8EC"/>
              </a:buClr>
              <a:buSzPts val="3600"/>
              <a:buFont typeface="Fredoka"/>
              <a:buNone/>
            </a:pPr>
            <a:r>
              <a:rPr b="1" i="0" lang="en-GB" sz="3600">
                <a:solidFill>
                  <a:srgbClr val="FFF8EC"/>
                </a:solidFill>
                <a:latin typeface="Fredoka"/>
                <a:ea typeface="Fredoka"/>
                <a:cs typeface="Fredoka"/>
                <a:sym typeface="Fredoka"/>
              </a:rPr>
              <a:t>Thank you</a:t>
            </a:r>
            <a:endParaRPr sz="3600"/>
          </a:p>
        </p:txBody>
      </p:sp>
      <p:sp>
        <p:nvSpPr>
          <p:cNvPr id="281" name="Google Shape;281;p29"/>
          <p:cNvSpPr/>
          <p:nvPr/>
        </p:nvSpPr>
        <p:spPr>
          <a:xfrm>
            <a:off x="609600" y="2718434"/>
            <a:ext cx="441483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8EC"/>
              </a:buClr>
              <a:buSzPts val="1100"/>
              <a:buFont typeface="DM Sans"/>
              <a:buNone/>
            </a:pPr>
            <a:r>
              <a:rPr b="0" i="0" lang="en-GB" sz="1100" u="none" cap="none" strike="noStrike">
                <a:solidFill>
                  <a:srgbClr val="FFF8EC"/>
                </a:solidFill>
                <a:latin typeface="DM Sans"/>
                <a:ea typeface="DM Sans"/>
                <a:cs typeface="DM Sans"/>
                <a:sym typeface="DM Sans"/>
              </a:rPr>
              <a:t>Schbang CRO · CRO Audit, Phase 1 · October 2026</a:t>
            </a:r>
            <a:endParaRPr b="0" i="0" sz="11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2" name="Google Shape;282;p29"/>
          <p:cNvSpPr/>
          <p:nvPr/>
        </p:nvSpPr>
        <p:spPr>
          <a:xfrm>
            <a:off x="614363" y="4592003"/>
            <a:ext cx="1419225" cy="280035"/>
          </a:xfrm>
          <a:prstGeom prst="roundRect">
            <a:avLst>
              <a:gd fmla="val 25510" name="adj"/>
            </a:avLst>
          </a:prstGeom>
          <a:noFill/>
          <a:ln cap="flat" cmpd="sng" w="12700">
            <a:solidFill>
              <a:srgbClr val="FFF8E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20025" lIns="58125" spcFirstLastPara="1" rIns="58125" wrap="square" tIns="39075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8EC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FFF8EC"/>
                </a:solidFill>
                <a:latin typeface="DM Sans"/>
                <a:ea typeface="DM Sans"/>
                <a:cs typeface="DM Sans"/>
                <a:sym typeface="DM Sans"/>
              </a:rPr>
              <a:t>GINI &amp; JONY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3" name="Google Shape;283;p29"/>
          <p:cNvSpPr/>
          <p:nvPr/>
        </p:nvSpPr>
        <p:spPr>
          <a:xfrm>
            <a:off x="7110413" y="4592003"/>
            <a:ext cx="1419225" cy="280035"/>
          </a:xfrm>
          <a:prstGeom prst="roundRect">
            <a:avLst>
              <a:gd fmla="val 25510" name="adj"/>
            </a:avLst>
          </a:prstGeom>
          <a:noFill/>
          <a:ln cap="flat" cmpd="sng" w="12700">
            <a:solidFill>
              <a:srgbClr val="FFF8E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20025" lIns="58125" spcFirstLastPara="1" rIns="58125" wrap="square" tIns="39075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8EC"/>
              </a:buClr>
              <a:buSzPts val="900"/>
              <a:buFont typeface="DM Sans"/>
              <a:buNone/>
            </a:pPr>
            <a:r>
              <a:rPr b="0" i="0" lang="en-GB" sz="900" u="none" cap="none" strike="noStrike">
                <a:solidFill>
                  <a:srgbClr val="FFF8EC"/>
                </a:solidFill>
                <a:latin typeface="DM Sans"/>
                <a:ea typeface="DM Sans"/>
                <a:cs typeface="DM Sans"/>
                <a:sym typeface="DM Sans"/>
              </a:rPr>
              <a:t>SCHBANG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ini &amp; Jony — Pitch Template">
  <a:themeElements>
    <a:clrScheme name="Gini &amp; Jony — Pitch Template">
      <a:dk1>
        <a:srgbClr val="1E1B18"/>
      </a:dk1>
      <a:lt1>
        <a:srgbClr val="FFF8EC"/>
      </a:lt1>
      <a:dk2>
        <a:srgbClr val="56524D"/>
      </a:dk2>
      <a:lt2>
        <a:srgbClr val="E9E2D7"/>
      </a:lt2>
      <a:accent1>
        <a:srgbClr val="2B59D6"/>
      </a:accent1>
      <a:accent2>
        <a:srgbClr val="FFC83D"/>
      </a:accent2>
      <a:accent3>
        <a:srgbClr val="5E5A55"/>
      </a:accent3>
      <a:accent4>
        <a:srgbClr val="E6EEFB"/>
      </a:accent4>
      <a:accent5>
        <a:srgbClr val="9AA0A6"/>
      </a:accent5>
      <a:accent6>
        <a:srgbClr val="78736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